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8" r:id="rId10"/>
    <p:sldId id="269" r:id="rId11"/>
    <p:sldId id="270" r:id="rId12"/>
    <p:sldId id="264" r:id="rId13"/>
    <p:sldId id="265" r:id="rId14"/>
    <p:sldId id="271" r:id="rId22"/>
    <p:sldId id="272" r:id="rId23"/>
    <p:sldId id="273" r:id="rId24"/>
    <p:sldId id="274" r:id="rId25"/>
    <p:sldId id="275" r:id="rId26"/>
    <p:sldId id="276" r:id="rId27"/>
    <p:sldId id="266" r:id="rId15"/>
    <p:sldId id="267" r:id="rId16"/>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8" d="100"/>
          <a:sy n="108" d="100"/>
        </p:scale>
        <p:origin x="492"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1"/>
        <c:ser>
          <c:idx val="0"/>
          <c:order val="0"/>
          <c:tx>
            <c:strRef>
              <c:f>Sheet1!$B$1</c:f>
              <c:strCache>
                <c:ptCount val="1"/>
                <c:pt idx="0">
                  <c:v>Horas sin red</c:v>
                </c:pt>
              </c:strCache>
            </c:strRef>
          </c:tx>
          <c:spPr>
            <a:solidFill>
              <a:srgbClr val="2B5BA3"/>
            </a:solidFill>
          </c:spPr>
          <c:invertIfNegative val="0"/>
          <c:dPt>
            <c:idx val="0"/>
            <c:invertIfNegative val="1"/>
            <c:bubble3D val="0"/>
            <c:spPr>
              <a:solidFill>
                <a:srgbClr val="A9C1E8"/>
              </a:solidFill>
            </c:spPr>
            <c:extLst>
              <c:ext xmlns:c16="http://schemas.microsoft.com/office/drawing/2014/chart" uri="{C3380CC4-5D6E-409C-BE32-E72D297353CC}">
                <c16:uniqueId val="{00000001-2ABF-4C7A-974E-9A3A87970076}"/>
              </c:ext>
            </c:extLst>
          </c:dPt>
          <c:dPt>
            <c:idx val="1"/>
            <c:invertIfNegative val="1"/>
            <c:bubble3D val="0"/>
            <c:spPr>
              <a:solidFill>
                <a:srgbClr val="F5A623"/>
              </a:solidFill>
            </c:spPr>
            <c:extLst>
              <c:ext xmlns:c16="http://schemas.microsoft.com/office/drawing/2014/chart" uri="{C3380CC4-5D6E-409C-BE32-E72D297353CC}">
                <c16:uniqueId val="{00000003-2ABF-4C7A-974E-9A3A87970076}"/>
              </c:ext>
            </c:extLst>
          </c:dPt>
          <c:dPt>
            <c:idx val="2"/>
            <c:invertIfNegative val="1"/>
            <c:bubble3D val="0"/>
            <c:spPr>
              <a:solidFill>
                <a:srgbClr val="F5A623"/>
              </a:solidFill>
            </c:spPr>
            <c:extLst>
              <c:ext xmlns:c16="http://schemas.microsoft.com/office/drawing/2014/chart" uri="{C3380CC4-5D6E-409C-BE32-E72D297353CC}">
                <c16:uniqueId val="{00000005-2ABF-4C7A-974E-9A3A87970076}"/>
              </c:ext>
            </c:extLst>
          </c:dPt>
          <c:dPt>
            <c:idx val="3"/>
            <c:invertIfNegative val="1"/>
            <c:bubble3D val="0"/>
            <c:spPr>
              <a:solidFill>
                <a:srgbClr val="A9C1E8"/>
              </a:solidFill>
            </c:spPr>
            <c:extLst>
              <c:ext xmlns:c16="http://schemas.microsoft.com/office/drawing/2014/chart" uri="{C3380CC4-5D6E-409C-BE32-E72D297353CC}">
                <c16:uniqueId val="{00000007-2ABF-4C7A-974E-9A3A87970076}"/>
              </c:ext>
            </c:extLst>
          </c:dPt>
          <c:dPt>
            <c:idx val="4"/>
            <c:invertIfNegative val="1"/>
            <c:bubble3D val="0"/>
            <c:spPr>
              <a:solidFill>
                <a:srgbClr val="A9C1E8"/>
              </a:solidFill>
            </c:spPr>
            <c:extLst>
              <c:ext xmlns:c16="http://schemas.microsoft.com/office/drawing/2014/chart" uri="{C3380CC4-5D6E-409C-BE32-E72D297353CC}">
                <c16:uniqueId val="{00000009-2ABF-4C7A-974E-9A3A87970076}"/>
              </c:ext>
            </c:extLst>
          </c:dPt>
          <c:dPt>
            <c:idx val="5"/>
            <c:invertIfNegative val="1"/>
            <c:bubble3D val="0"/>
            <c:spPr>
              <a:solidFill>
                <a:srgbClr val="F5A623"/>
              </a:solidFill>
            </c:spPr>
            <c:extLst>
              <c:ext xmlns:c16="http://schemas.microsoft.com/office/drawing/2014/chart" uri="{C3380CC4-5D6E-409C-BE32-E72D297353CC}">
                <c16:uniqueId val="{0000000B-2ABF-4C7A-974E-9A3A87970076}"/>
              </c:ext>
            </c:extLst>
          </c:dPt>
          <c:dPt>
            <c:idx val="6"/>
            <c:invertIfNegative val="1"/>
            <c:bubble3D val="0"/>
            <c:spPr>
              <a:solidFill>
                <a:srgbClr val="A9C1E8"/>
              </a:solidFill>
            </c:spPr>
            <c:extLst>
              <c:ext xmlns:c16="http://schemas.microsoft.com/office/drawing/2014/chart" uri="{C3380CC4-5D6E-409C-BE32-E72D297353CC}">
                <c16:uniqueId val="{0000000D-2ABF-4C7A-974E-9A3A87970076}"/>
              </c:ext>
            </c:extLst>
          </c:dPt>
          <c:dPt>
            <c:idx val="7"/>
            <c:invertIfNegative val="1"/>
            <c:bubble3D val="0"/>
            <c:spPr>
              <a:solidFill>
                <a:srgbClr val="A9C1E8"/>
              </a:solidFill>
            </c:spPr>
            <c:extLst>
              <c:ext xmlns:c16="http://schemas.microsoft.com/office/drawing/2014/chart" uri="{C3380CC4-5D6E-409C-BE32-E72D297353CC}">
                <c16:uniqueId val="{0000000F-2ABF-4C7A-974E-9A3A87970076}"/>
              </c:ext>
            </c:extLst>
          </c:dPt>
          <c:dPt>
            <c:idx val="8"/>
            <c:invertIfNegative val="1"/>
            <c:bubble3D val="0"/>
            <c:spPr>
              <a:solidFill>
                <a:srgbClr val="A9C1E8"/>
              </a:solidFill>
            </c:spPr>
            <c:extLst>
              <c:ext xmlns:c16="http://schemas.microsoft.com/office/drawing/2014/chart" uri="{C3380CC4-5D6E-409C-BE32-E72D297353CC}">
                <c16:uniqueId val="{00000011-2ABF-4C7A-974E-9A3A87970076}"/>
              </c:ext>
            </c:extLst>
          </c:dPt>
          <c:dPt>
            <c:idx val="9"/>
            <c:invertIfNegative val="1"/>
            <c:bubble3D val="0"/>
            <c:spPr>
              <a:solidFill>
                <a:srgbClr val="A9C1E8"/>
              </a:solidFill>
            </c:spPr>
            <c:extLst>
              <c:ext xmlns:c16="http://schemas.microsoft.com/office/drawing/2014/chart" uri="{C3380CC4-5D6E-409C-BE32-E72D297353CC}">
                <c16:uniqueId val="{00000013-2ABF-4C7A-974E-9A3A87970076}"/>
              </c:ext>
            </c:extLst>
          </c:dPt>
          <c:dPt>
            <c:idx val="10"/>
            <c:invertIfNegative val="1"/>
            <c:bubble3D val="0"/>
            <c:spPr>
              <a:solidFill>
                <a:srgbClr val="A9C1E8"/>
              </a:solidFill>
            </c:spPr>
            <c:extLst>
              <c:ext xmlns:c16="http://schemas.microsoft.com/office/drawing/2014/chart" uri="{C3380CC4-5D6E-409C-BE32-E72D297353CC}">
                <c16:uniqueId val="{00000015-2ABF-4C7A-974E-9A3A87970076}"/>
              </c:ext>
            </c:extLst>
          </c:dPt>
          <c:dPt>
            <c:idx val="11"/>
            <c:invertIfNegative val="1"/>
            <c:bubble3D val="0"/>
            <c:spPr>
              <a:solidFill>
                <a:srgbClr val="A9C1E8"/>
              </a:solidFill>
            </c:spPr>
            <c:extLst>
              <c:ext xmlns:c16="http://schemas.microsoft.com/office/drawing/2014/chart" uri="{C3380CC4-5D6E-409C-BE32-E72D297353CC}">
                <c16:uniqueId val="{00000017-97D3-4031-9A72-39F1860E2EA7}"/>
              </c:ext>
            </c:extLst>
          </c:dPt>
          <c:dPt>
            <c:idx val="12"/>
            <c:invertIfNegative val="1"/>
            <c:bubble3D val="0"/>
            <c:spPr>
              <a:solidFill>
                <a:srgbClr val="A9C1E8"/>
              </a:solidFill>
            </c:spPr>
            <c:extLst>
              <c:ext xmlns:c16="http://schemas.microsoft.com/office/drawing/2014/chart" uri="{C3380CC4-5D6E-409C-BE32-E72D297353CC}">
                <c16:uniqueId val="{00000019-97D3-4031-9A72-39F1860E2EA7}"/>
              </c:ext>
            </c:extLst>
          </c:dPt>
          <c:dPt>
            <c:idx val="13"/>
            <c:invertIfNegative val="1"/>
            <c:bubble3D val="0"/>
            <c:spPr>
              <a:solidFill>
                <a:srgbClr val="A9C1E8"/>
              </a:solidFill>
            </c:spPr>
            <c:extLst>
              <c:ext xmlns:c16="http://schemas.microsoft.com/office/drawing/2014/chart" uri="{C3380CC4-5D6E-409C-BE32-E72D297353CC}">
                <c16:uniqueId val="{0000001B-97D3-4031-9A72-39F1860E2EA7}"/>
              </c:ext>
            </c:extLst>
          </c:dPt>
          <c:dPt>
            <c:idx val="14"/>
            <c:invertIfNegative val="1"/>
            <c:bubble3D val="0"/>
            <c:spPr>
              <a:solidFill>
                <a:srgbClr val="A9C1E8"/>
              </a:solidFill>
            </c:spPr>
            <c:extLst>
              <c:ext xmlns:c16="http://schemas.microsoft.com/office/drawing/2014/chart" uri="{C3380CC4-5D6E-409C-BE32-E72D297353CC}">
                <c16:uniqueId val="{0000001D-97D3-4031-9A72-39F1860E2EA7}"/>
              </c:ext>
            </c:extLst>
          </c:dPt>
          <c:dLbls>
            <c:numFmt formatCode="0.0" sourceLinked="0"/>
            <c:spPr>
              <a:noFill/>
              <a:ln>
                <a:noFill/>
              </a:ln>
              <a:effectLst/>
            </c:spPr>
            <c:txPr>
              <a:bodyPr/>
              <a:lstStyle/>
              <a:p>
                <a:pPr>
                  <a:defRPr sz="800">
                    <a:solidFill>
                      <a:srgbClr val="404040"/>
                    </a:solidFill>
                    <a:latin typeface="Calibri"/>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Sheet1!$A$2:$A$16</c:f>
              <c:strCache>
                <c:ptCount val="15"/>
                <c:pt idx="0">
                  <c:v>01/10</c:v>
                </c:pt>
                <c:pt idx="1">
                  <c:v>02/10</c:v>
                </c:pt>
                <c:pt idx="2">
                  <c:v>03/10</c:v>
                </c:pt>
                <c:pt idx="3">
                  <c:v>04/10</c:v>
                </c:pt>
                <c:pt idx="4">
                  <c:v>05/10</c:v>
                </c:pt>
                <c:pt idx="5">
                  <c:v>06/10</c:v>
                </c:pt>
                <c:pt idx="6">
                  <c:v>07/10</c:v>
                </c:pt>
                <c:pt idx="7">
                  <c:v>08/10</c:v>
                </c:pt>
                <c:pt idx="8">
                  <c:v>10/10</c:v>
                </c:pt>
                <c:pt idx="9">
                  <c:v>11/10</c:v>
                </c:pt>
                <c:pt idx="10">
                  <c:v>12/10</c:v>
                </c:pt>
                <c:pt idx="11">
                  <c:v>14/10</c:v>
                </c:pt>
                <c:pt idx="12">
                  <c:v>18/10</c:v>
                </c:pt>
                <c:pt idx="13">
                  <c:v>19/10</c:v>
                </c:pt>
                <c:pt idx="14">
                  <c:v>20/10</c:v>
                </c:pt>
              </c:strCache>
            </c:strRef>
          </c:cat>
          <c:val>
            <c:numRef>
              <c:f>Sheet1!$B$2:$B$16</c:f>
              <c:numCache>
                <c:formatCode>General</c:formatCode>
                <c:ptCount val="15"/>
                <c:pt idx="0">
                  <c:v>5</c:v>
                </c:pt>
                <c:pt idx="1">
                  <c:v>60</c:v>
                </c:pt>
                <c:pt idx="2">
                  <c:v>211</c:v>
                </c:pt>
                <c:pt idx="3">
                  <c:v>39.6</c:v>
                </c:pt>
                <c:pt idx="4">
                  <c:v>6</c:v>
                </c:pt>
                <c:pt idx="5">
                  <c:v>96.1</c:v>
                </c:pt>
                <c:pt idx="6">
                  <c:v>11</c:v>
                </c:pt>
                <c:pt idx="7">
                  <c:v>1.4</c:v>
                </c:pt>
                <c:pt idx="8">
                  <c:v>3.4</c:v>
                </c:pt>
                <c:pt idx="9">
                  <c:v>0.1</c:v>
                </c:pt>
                <c:pt idx="10">
                  <c:v>3.4</c:v>
                </c:pt>
                <c:pt idx="11">
                  <c:v>9.6999999999999993</c:v>
                </c:pt>
                <c:pt idx="12">
                  <c:v>5.7</c:v>
                </c:pt>
                <c:pt idx="13">
                  <c:v>4.8</c:v>
                </c:pt>
                <c:pt idx="14">
                  <c:v>0.1</c:v>
                </c:pt>
              </c:numCache>
            </c:numRef>
          </c:val>
          <c:extLst>
            <c:ext xmlns:c16="http://schemas.microsoft.com/office/drawing/2014/chart" uri="{C3380CC4-5D6E-409C-BE32-E72D297353CC}">
              <c16:uniqueId val="{00000016-2ABF-4C7A-974E-9A3A87970076}"/>
            </c:ext>
          </c:extLst>
        </c:ser>
        <c:dLbls>
          <c:dLblPos val="outEnd"/>
          <c:showLegendKey val="0"/>
          <c:showVal val="1"/>
          <c:showCatName val="0"/>
          <c:showSerName val="0"/>
          <c:showPercent val="0"/>
          <c:showBubbleSize val="0"/>
        </c:dLbls>
        <c:gapWidth val="4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8CDD2"/>
            </a:solidFill>
          </a:ln>
        </c:spPr>
        <c:txPr>
          <a:bodyPr/>
          <a:lstStyle/>
          <a:p>
            <a:pPr>
              <a:defRPr sz="800">
                <a:solidFill>
                  <a:srgbClr val="404040"/>
                </a:solidFill>
                <a:latin typeface="Calibri"/>
              </a:defRPr>
            </a:pPr>
            <a:endParaRPr lang="es-CO"/>
          </a:p>
        </c:txPr>
        <c:crossAx val="-2113994440"/>
        <c:crosses val="autoZero"/>
        <c:auto val="1"/>
        <c:lblAlgn val="ctr"/>
        <c:lblOffset val="100"/>
        <c:noMultiLvlLbl val="0"/>
      </c:catAx>
      <c:valAx>
        <c:axId val="-2113994440"/>
        <c:scaling>
          <c:orientation val="minMax"/>
          <c:max val="240"/>
          <c:min val="0"/>
        </c:scaling>
        <c:delete val="0"/>
        <c:axPos val="l"/>
        <c:majorGridlines>
          <c:spPr>
            <a:ln w="6350">
              <a:solidFill>
                <a:srgbClr val="E5E8EB"/>
              </a:solidFill>
            </a:ln>
          </c:spPr>
        </c:majorGridlines>
        <c:numFmt formatCode="0.0" sourceLinked="0"/>
        <c:majorTickMark val="out"/>
        <c:minorTickMark val="none"/>
        <c:tickLblPos val="nextTo"/>
        <c:spPr>
          <a:ln>
            <a:noFill/>
          </a:ln>
        </c:spPr>
        <c:txPr>
          <a:bodyPr/>
          <a:lstStyle/>
          <a:p>
            <a:pPr>
              <a:defRPr sz="750">
                <a:solidFill>
                  <a:srgbClr val="808080"/>
                </a:solidFill>
                <a:latin typeface="Calibri"/>
              </a:defRPr>
            </a:pPr>
            <a:endParaRPr lang="es-CO"/>
          </a:p>
        </c:txPr>
        <c:crossAx val="-2068027336"/>
        <c:crosses val="autoZero"/>
        <c:crossBetween val="between"/>
        <c:majorUnit val="60"/>
      </c:valAx>
    </c:plotArea>
    <c:plotVisOnly val="1"/>
    <c:dispBlanksAs val="gap"/>
    <c:showDLblsOverMax val="1"/>
  </c:chart>
  <c:txPr>
    <a:bodyPr/>
    <a:lstStyle/>
    <a:p>
      <a:pPr>
        <a:defRPr sz="800">
          <a:solidFill>
            <a:srgbClr val="40404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bar"/>
        <c:grouping val="clustered"/>
        <c:varyColors val="1"/>
        <c:ser>
          <c:idx val="0"/>
          <c:order val="0"/>
          <c:tx>
            <c:strRef>
              <c:f>Sheet1!$B$1</c:f>
              <c:strCache>
                <c:ptCount val="1"/>
                <c:pt idx="0">
                  <c:v>Horas</c:v>
                </c:pt>
              </c:strCache>
            </c:strRef>
          </c:tx>
          <c:spPr>
            <a:solidFill>
              <a:srgbClr val="F5A623"/>
            </a:solidFill>
          </c:spPr>
          <c:invertIfNegative val="0"/>
          <c:dPt>
            <c:idx val="0"/>
            <c:invertIfNegative val="1"/>
            <c:bubble3D val="0"/>
            <c:spPr>
              <a:solidFill>
                <a:srgbClr val="E58A8F"/>
              </a:solidFill>
            </c:spPr>
            <c:extLst>
              <c:ext xmlns:c16="http://schemas.microsoft.com/office/drawing/2014/chart" uri="{C3380CC4-5D6E-409C-BE32-E72D297353CC}">
                <c16:uniqueId val="{00000003-0095-44FE-B144-F0234144492E}"/>
              </c:ext>
            </c:extLst>
          </c:dPt>
          <c:dPt>
            <c:idx val="1"/>
            <c:invertIfNegative val="1"/>
            <c:bubble3D val="0"/>
            <c:spPr>
              <a:solidFill>
                <a:srgbClr val="C0392B"/>
              </a:solidFill>
            </c:spPr>
            <c:extLst>
              <c:ext xmlns:c16="http://schemas.microsoft.com/office/drawing/2014/chart" uri="{C3380CC4-5D6E-409C-BE32-E72D297353CC}">
                <c16:uniqueId val="{00000005-0095-44FE-B144-F0234144492E}"/>
              </c:ext>
            </c:extLst>
          </c:dPt>
          <c:dPt>
            <c:idx val="2"/>
            <c:invertIfNegative val="1"/>
            <c:bubble3D val="0"/>
            <c:spPr>
              <a:solidFill>
                <a:srgbClr val="E63946"/>
              </a:solidFill>
            </c:spPr>
            <c:extLst>
              <c:ext xmlns:c16="http://schemas.microsoft.com/office/drawing/2014/chart" uri="{C3380CC4-5D6E-409C-BE32-E72D297353CC}">
                <c16:uniqueId val="{00000007-0095-44FE-B144-F0234144492E}"/>
              </c:ext>
            </c:extLst>
          </c:dPt>
          <c:dPt>
            <c:idx val="3"/>
            <c:invertIfNegative val="1"/>
            <c:bubble3D val="0"/>
            <c:extLst>
              <c:ext xmlns:c16="http://schemas.microsoft.com/office/drawing/2014/chart" uri="{C3380CC4-5D6E-409C-BE32-E72D297353CC}">
                <c16:uniqueId val="{00000009-0095-44FE-B144-F0234144492E}"/>
              </c:ext>
            </c:extLst>
          </c:dPt>
          <c:dLbls>
            <c:numFmt formatCode="0.00" sourceLinked="0"/>
            <c:spPr>
              <a:noFill/>
              <a:ln>
                <a:noFill/>
              </a:ln>
              <a:effectLst/>
            </c:spPr>
            <c:txPr>
              <a:bodyPr/>
              <a:lstStyle/>
              <a:p>
                <a:pPr>
                  <a:defRPr sz="850">
                    <a:solidFill>
                      <a:srgbClr val="404040"/>
                    </a:solidFill>
                    <a:latin typeface="Calibri"/>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Demora al volver a la red*</c:v>
                </c:pt>
                <c:pt idx="1">
                  <c:v>Falla durante el corte*</c:v>
                </c:pt>
                <c:pt idx="2">
                  <c:v>Falla al pasar a OFF-GRID*</c:v>
                </c:pt>
                <c:pt idx="3">
                  <c:v>Batería sin carga (SOC ≤ 21%)*</c:v>
                </c:pt>
              </c:strCache>
            </c:strRef>
          </c:cat>
          <c:val>
            <c:numRef>
              <c:f>Sheet1!$B$2:$B$5</c:f>
              <c:numCache>
                <c:formatCode>0.00</c:formatCode>
                <c:ptCount val="4"/>
                <c:pt idx="0">
                  <c:v>0.86</c:v>
                </c:pt>
                <c:pt idx="1">
                  <c:v>4.82</c:v>
                </c:pt>
                <c:pt idx="2">
                  <c:v>8.99</c:v>
                </c:pt>
                <c:pt idx="3">
                  <c:v>10.4</c:v>
                </c:pt>
              </c:numCache>
            </c:numRef>
          </c:val>
          <c:extLst>
            <c:ext xmlns:c16="http://schemas.microsoft.com/office/drawing/2014/chart" uri="{C3380CC4-5D6E-409C-BE32-E72D297353CC}">
              <c16:uniqueId val="{0000000A-0095-44FE-B144-F0234144492E}"/>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C8CDD2"/>
            </a:solidFill>
          </a:ln>
        </c:spPr>
        <c:txPr>
          <a:bodyPr/>
          <a:lstStyle/>
          <a:p>
            <a:pPr>
              <a:defRPr sz="850">
                <a:solidFill>
                  <a:srgbClr val="404040"/>
                </a:solidFill>
                <a:latin typeface="Calibri"/>
              </a:defRPr>
            </a:pPr>
            <a:endParaRPr lang="es-CO"/>
          </a:p>
        </c:txPr>
        <c:crossAx val="-2113994440"/>
        <c:crosses val="autoZero"/>
        <c:auto val="1"/>
        <c:lblAlgn val="ctr"/>
        <c:lblOffset val="100"/>
        <c:noMultiLvlLbl val="0"/>
      </c:catAx>
      <c:valAx>
        <c:axId val="-2113994440"/>
        <c:scaling>
          <c:orientation val="minMax"/>
          <c:max val="12"/>
          <c:min val="0"/>
        </c:scaling>
        <c:delete val="1"/>
        <c:axPos val="t"/>
        <c:numFmt formatCode="0.00" sourceLinked="0"/>
        <c:majorTickMark val="out"/>
        <c:minorTickMark val="none"/>
        <c:tickLblPos val="nextTo"/>
        <c:crossAx val="-2068027336"/>
        <c:crosses val="autoZero"/>
        <c:crossBetween val="between"/>
      </c:valAx>
    </c:plotArea>
    <c:plotVisOnly val="1"/>
    <c:dispBlanksAs val="gap"/>
    <c:showDLblsOverMax val="1"/>
  </c:chart>
  <c:txPr>
    <a:bodyPr/>
    <a:lstStyle/>
    <a:p>
      <a:pPr>
        <a:defRPr sz="800">
          <a:solidFill>
            <a:srgbClr val="404040"/>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Casa 121 CR</c:v>
                </c:pt>
              </c:strCache>
            </c:strRef>
          </c:tx>
          <c:spPr>
            <a:ln w="38100">
              <a:solidFill>
                <a:srgbClr val="CA6F1E"/>
              </a:solidFill>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Sheet1!$B$2:$B$25</c:f>
              <c:numCache>
                <c:formatCode>0</c:formatCode>
                <c:ptCount val="24"/>
                <c:pt idx="0">
                  <c:v>25</c:v>
                </c:pt>
                <c:pt idx="1">
                  <c:v>25</c:v>
                </c:pt>
                <c:pt idx="2">
                  <c:v>25</c:v>
                </c:pt>
                <c:pt idx="3">
                  <c:v>25</c:v>
                </c:pt>
                <c:pt idx="4">
                  <c:v>24</c:v>
                </c:pt>
                <c:pt idx="5">
                  <c:v>24</c:v>
                </c:pt>
                <c:pt idx="6">
                  <c:v>24</c:v>
                </c:pt>
                <c:pt idx="7">
                  <c:v>24</c:v>
                </c:pt>
                <c:pt idx="8">
                  <c:v>27</c:v>
                </c:pt>
                <c:pt idx="9">
                  <c:v>36</c:v>
                </c:pt>
                <c:pt idx="10">
                  <c:v>46</c:v>
                </c:pt>
                <c:pt idx="11">
                  <c:v>57</c:v>
                </c:pt>
                <c:pt idx="12">
                  <c:v>66</c:v>
                </c:pt>
                <c:pt idx="13">
                  <c:v>69</c:v>
                </c:pt>
                <c:pt idx="14">
                  <c:v>70</c:v>
                </c:pt>
                <c:pt idx="15">
                  <c:v>68</c:v>
                </c:pt>
                <c:pt idx="16">
                  <c:v>62</c:v>
                </c:pt>
                <c:pt idx="17">
                  <c:v>54</c:v>
                </c:pt>
                <c:pt idx="18">
                  <c:v>45</c:v>
                </c:pt>
                <c:pt idx="19">
                  <c:v>37</c:v>
                </c:pt>
                <c:pt idx="20">
                  <c:v>30</c:v>
                </c:pt>
                <c:pt idx="21">
                  <c:v>27</c:v>
                </c:pt>
                <c:pt idx="22">
                  <c:v>26</c:v>
                </c:pt>
                <c:pt idx="23">
                  <c:v>25</c:v>
                </c:pt>
              </c:numCache>
            </c:numRef>
          </c:val>
          <c:smooth val="0"/>
          <c:extLst>
            <c:ext xmlns:c16="http://schemas.microsoft.com/office/drawing/2014/chart" uri="{C3380CC4-5D6E-409C-BE32-E72D297353CC}">
              <c16:uniqueId val="{00000000-F2E0-4F63-8BCB-A39883D79E04}"/>
            </c:ext>
          </c:extLst>
        </c:ser>
        <c:ser>
          <c:idx val="1"/>
          <c:order val="1"/>
          <c:tx>
            <c:strRef>
              <c:f>Sheet1!$C$1</c:f>
              <c:strCache>
                <c:ptCount val="1"/>
                <c:pt idx="0">
                  <c:v>Promedio 48 casas</c:v>
                </c:pt>
              </c:strCache>
            </c:strRef>
          </c:tx>
          <c:spPr>
            <a:ln w="25400">
              <a:solidFill>
                <a:srgbClr val="2B5BA3"/>
              </a:solidFill>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Sheet1!$C$2:$C$25</c:f>
              <c:numCache>
                <c:formatCode>0</c:formatCode>
                <c:ptCount val="24"/>
                <c:pt idx="0">
                  <c:v>43</c:v>
                </c:pt>
                <c:pt idx="1">
                  <c:v>39</c:v>
                </c:pt>
                <c:pt idx="2">
                  <c:v>36</c:v>
                </c:pt>
                <c:pt idx="3">
                  <c:v>34</c:v>
                </c:pt>
                <c:pt idx="4">
                  <c:v>32</c:v>
                </c:pt>
                <c:pt idx="5">
                  <c:v>31</c:v>
                </c:pt>
                <c:pt idx="6">
                  <c:v>29</c:v>
                </c:pt>
                <c:pt idx="7">
                  <c:v>30</c:v>
                </c:pt>
                <c:pt idx="8">
                  <c:v>35</c:v>
                </c:pt>
                <c:pt idx="9">
                  <c:v>46</c:v>
                </c:pt>
                <c:pt idx="10">
                  <c:v>59</c:v>
                </c:pt>
                <c:pt idx="11">
                  <c:v>71</c:v>
                </c:pt>
                <c:pt idx="12">
                  <c:v>80</c:v>
                </c:pt>
                <c:pt idx="13">
                  <c:v>85</c:v>
                </c:pt>
                <c:pt idx="14">
                  <c:v>88</c:v>
                </c:pt>
                <c:pt idx="15">
                  <c:v>88</c:v>
                </c:pt>
                <c:pt idx="16">
                  <c:v>86</c:v>
                </c:pt>
                <c:pt idx="17">
                  <c:v>83</c:v>
                </c:pt>
                <c:pt idx="18">
                  <c:v>78</c:v>
                </c:pt>
                <c:pt idx="19">
                  <c:v>72</c:v>
                </c:pt>
                <c:pt idx="20">
                  <c:v>66</c:v>
                </c:pt>
                <c:pt idx="21">
                  <c:v>59</c:v>
                </c:pt>
                <c:pt idx="22">
                  <c:v>53</c:v>
                </c:pt>
                <c:pt idx="23">
                  <c:v>47</c:v>
                </c:pt>
              </c:numCache>
            </c:numRef>
          </c:val>
          <c:smooth val="0"/>
          <c:extLst>
            <c:ext xmlns:c16="http://schemas.microsoft.com/office/drawing/2014/chart" uri="{C3380CC4-5D6E-409C-BE32-E72D297353CC}">
              <c16:uniqueId val="{00000001-F2E0-4F63-8BCB-A39883D79E04}"/>
            </c:ext>
          </c:extLst>
        </c:ser>
        <c:ser>
          <c:idx val="2"/>
          <c:order val="2"/>
          <c:tx>
            <c:strRef>
              <c:f>Sheet1!$D$1</c:f>
              <c:strCache>
                <c:ptCount val="1"/>
                <c:pt idx="0">
                  <c:v>Piso ≈ 15 - 20%</c:v>
                </c:pt>
              </c:strCache>
            </c:strRef>
          </c:tx>
          <c:spPr>
            <a:ln w="15240">
              <a:solidFill>
                <a:srgbClr val="E63946"/>
              </a:solidFill>
              <a:prstDash val="dash"/>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Sheet1!$D$2:$D$25</c:f>
              <c:numCache>
                <c:formatCode>0</c:formatCode>
                <c:ptCount val="24"/>
                <c:pt idx="0">
                  <c:v>18</c:v>
                </c:pt>
                <c:pt idx="1">
                  <c:v>18</c:v>
                </c:pt>
                <c:pt idx="2">
                  <c:v>18</c:v>
                </c:pt>
                <c:pt idx="3">
                  <c:v>18</c:v>
                </c:pt>
                <c:pt idx="4">
                  <c:v>18</c:v>
                </c:pt>
                <c:pt idx="5">
                  <c:v>18</c:v>
                </c:pt>
                <c:pt idx="6">
                  <c:v>18</c:v>
                </c:pt>
                <c:pt idx="7">
                  <c:v>18</c:v>
                </c:pt>
                <c:pt idx="8">
                  <c:v>18</c:v>
                </c:pt>
                <c:pt idx="9">
                  <c:v>18</c:v>
                </c:pt>
                <c:pt idx="10">
                  <c:v>18</c:v>
                </c:pt>
                <c:pt idx="11">
                  <c:v>18</c:v>
                </c:pt>
                <c:pt idx="12">
                  <c:v>18</c:v>
                </c:pt>
                <c:pt idx="13">
                  <c:v>18</c:v>
                </c:pt>
                <c:pt idx="14">
                  <c:v>18</c:v>
                </c:pt>
                <c:pt idx="15">
                  <c:v>18</c:v>
                </c:pt>
                <c:pt idx="16">
                  <c:v>18</c:v>
                </c:pt>
                <c:pt idx="17">
                  <c:v>18</c:v>
                </c:pt>
                <c:pt idx="18">
                  <c:v>18</c:v>
                </c:pt>
                <c:pt idx="19">
                  <c:v>18</c:v>
                </c:pt>
                <c:pt idx="20">
                  <c:v>18</c:v>
                </c:pt>
                <c:pt idx="21">
                  <c:v>18</c:v>
                </c:pt>
                <c:pt idx="22">
                  <c:v>18</c:v>
                </c:pt>
                <c:pt idx="23">
                  <c:v>18</c:v>
                </c:pt>
              </c:numCache>
            </c:numRef>
          </c:val>
          <c:smooth val="0"/>
          <c:extLst>
            <c:ext xmlns:c16="http://schemas.microsoft.com/office/drawing/2014/chart" uri="{C3380CC4-5D6E-409C-BE32-E72D297353CC}">
              <c16:uniqueId val="{00000002-F2E0-4F63-8BCB-A39883D79E04}"/>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C8CDD2"/>
            </a:solidFill>
          </a:ln>
        </c:spPr>
        <c:txPr>
          <a:bodyPr/>
          <a:lstStyle/>
          <a:p>
            <a:pPr>
              <a:defRPr sz="750">
                <a:solidFill>
                  <a:srgbClr val="404040"/>
                </a:solidFill>
                <a:latin typeface="Calibri"/>
              </a:defRPr>
            </a:pPr>
            <a:endParaRPr lang="es-CO"/>
          </a:p>
        </c:txPr>
        <c:crossAx val="2140495176"/>
        <c:crosses val="autoZero"/>
        <c:auto val="1"/>
        <c:lblAlgn val="ctr"/>
        <c:lblOffset val="100"/>
        <c:noMultiLvlLbl val="0"/>
      </c:catAx>
      <c:valAx>
        <c:axId val="2140495176"/>
        <c:scaling>
          <c:orientation val="minMax"/>
          <c:max val="100"/>
          <c:min val="0"/>
        </c:scaling>
        <c:delete val="0"/>
        <c:axPos val="l"/>
        <c:majorGridlines>
          <c:spPr>
            <a:ln w="6350">
              <a:solidFill>
                <a:srgbClr val="E5E8EB"/>
              </a:solidFill>
            </a:ln>
          </c:spPr>
        </c:majorGridlines>
        <c:numFmt formatCode="0" sourceLinked="0"/>
        <c:majorTickMark val="out"/>
        <c:minorTickMark val="none"/>
        <c:tickLblPos val="nextTo"/>
        <c:spPr>
          <a:ln>
            <a:noFill/>
          </a:ln>
        </c:spPr>
        <c:txPr>
          <a:bodyPr/>
          <a:lstStyle/>
          <a:p>
            <a:pPr>
              <a:defRPr sz="750">
                <a:solidFill>
                  <a:srgbClr val="808080"/>
                </a:solidFill>
                <a:latin typeface="Calibri"/>
              </a:defRPr>
            </a:pPr>
            <a:endParaRPr lang="es-CO"/>
          </a:p>
        </c:txPr>
        <c:crossAx val="2118791784"/>
        <c:crosses val="autoZero"/>
        <c:crossBetween val="between"/>
        <c:majorUnit val="20"/>
      </c:valAx>
    </c:plotArea>
    <c:legend>
      <c:legendPos val="b"/>
      <c:overlay val="0"/>
      <c:txPr>
        <a:bodyPr/>
        <a:lstStyle/>
        <a:p>
          <a:pPr>
            <a:defRPr sz="800">
              <a:latin typeface="Calibri"/>
            </a:defRPr>
          </a:pPr>
          <a:endParaRPr lang="es-CO"/>
        </a:p>
      </c:txPr>
    </c:legend>
    <c:plotVisOnly val="1"/>
    <c:dispBlanksAs val="gap"/>
    <c:showDLblsOverMax val="0"/>
  </c:chart>
  <c:txPr>
    <a:bodyPr/>
    <a:lstStyle/>
    <a:p>
      <a:pPr>
        <a:defRPr sz="800">
          <a:solidFill>
            <a:srgbClr val="404040"/>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Casa 121 CR</c:v>
                </c:pt>
              </c:strCache>
            </c:strRef>
          </c:tx>
          <c:spPr>
            <a:ln w="38100">
              <a:solidFill>
                <a:srgbClr val="CA6F1E"/>
              </a:solidFill>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Sheet1!$B$2:$B$25</c:f>
              <c:numCache>
                <c:formatCode>0.0</c:formatCode>
                <c:ptCount val="24"/>
                <c:pt idx="0">
                  <c:v>2</c:v>
                </c:pt>
                <c:pt idx="1">
                  <c:v>1.9</c:v>
                </c:pt>
                <c:pt idx="2">
                  <c:v>1.7</c:v>
                </c:pt>
                <c:pt idx="3">
                  <c:v>1.6</c:v>
                </c:pt>
                <c:pt idx="4">
                  <c:v>1.8</c:v>
                </c:pt>
                <c:pt idx="5">
                  <c:v>2.1</c:v>
                </c:pt>
                <c:pt idx="6">
                  <c:v>2</c:v>
                </c:pt>
                <c:pt idx="7">
                  <c:v>2.2000000000000002</c:v>
                </c:pt>
                <c:pt idx="8">
                  <c:v>2.4</c:v>
                </c:pt>
                <c:pt idx="9">
                  <c:v>2.2999999999999998</c:v>
                </c:pt>
                <c:pt idx="10">
                  <c:v>2.4</c:v>
                </c:pt>
                <c:pt idx="11">
                  <c:v>2.2000000000000002</c:v>
                </c:pt>
                <c:pt idx="12">
                  <c:v>2.9</c:v>
                </c:pt>
                <c:pt idx="13">
                  <c:v>3.2</c:v>
                </c:pt>
                <c:pt idx="14">
                  <c:v>2.9</c:v>
                </c:pt>
                <c:pt idx="15">
                  <c:v>3.4</c:v>
                </c:pt>
                <c:pt idx="16">
                  <c:v>3.5</c:v>
                </c:pt>
                <c:pt idx="17">
                  <c:v>3.2</c:v>
                </c:pt>
                <c:pt idx="18">
                  <c:v>3.4</c:v>
                </c:pt>
                <c:pt idx="19">
                  <c:v>3.8</c:v>
                </c:pt>
                <c:pt idx="20">
                  <c:v>3.7</c:v>
                </c:pt>
                <c:pt idx="21">
                  <c:v>3.4</c:v>
                </c:pt>
                <c:pt idx="22">
                  <c:v>3.1</c:v>
                </c:pt>
                <c:pt idx="23">
                  <c:v>2.2999999999999998</c:v>
                </c:pt>
              </c:numCache>
            </c:numRef>
          </c:val>
          <c:smooth val="0"/>
          <c:extLst>
            <c:ext xmlns:c16="http://schemas.microsoft.com/office/drawing/2014/chart" uri="{C3380CC4-5D6E-409C-BE32-E72D297353CC}">
              <c16:uniqueId val="{00000000-8941-466B-A591-275A46F6C22D}"/>
            </c:ext>
          </c:extLst>
        </c:ser>
        <c:ser>
          <c:idx val="1"/>
          <c:order val="1"/>
          <c:tx>
            <c:strRef>
              <c:f>Sheet1!$C$1</c:f>
              <c:strCache>
                <c:ptCount val="1"/>
                <c:pt idx="0">
                  <c:v>Mediana de 40 casas</c:v>
                </c:pt>
              </c:strCache>
            </c:strRef>
          </c:tx>
          <c:spPr>
            <a:ln w="25400">
              <a:solidFill>
                <a:srgbClr val="2B5BA3"/>
              </a:solidFill>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Sheet1!$C$2:$C$25</c:f>
              <c:numCache>
                <c:formatCode>0.0</c:formatCode>
                <c:ptCount val="24"/>
                <c:pt idx="0">
                  <c:v>0.8</c:v>
                </c:pt>
                <c:pt idx="1">
                  <c:v>0.7</c:v>
                </c:pt>
                <c:pt idx="2">
                  <c:v>0.7</c:v>
                </c:pt>
                <c:pt idx="3">
                  <c:v>0.6</c:v>
                </c:pt>
                <c:pt idx="4">
                  <c:v>0.6</c:v>
                </c:pt>
                <c:pt idx="5">
                  <c:v>0.5</c:v>
                </c:pt>
                <c:pt idx="6">
                  <c:v>0.4</c:v>
                </c:pt>
                <c:pt idx="7">
                  <c:v>0.5</c:v>
                </c:pt>
                <c:pt idx="8">
                  <c:v>0.4</c:v>
                </c:pt>
                <c:pt idx="9">
                  <c:v>0.4</c:v>
                </c:pt>
                <c:pt idx="10">
                  <c:v>0.4</c:v>
                </c:pt>
                <c:pt idx="11">
                  <c:v>0.5</c:v>
                </c:pt>
                <c:pt idx="12">
                  <c:v>0.5</c:v>
                </c:pt>
                <c:pt idx="13">
                  <c:v>0.6</c:v>
                </c:pt>
                <c:pt idx="14">
                  <c:v>0.6</c:v>
                </c:pt>
                <c:pt idx="15">
                  <c:v>0.6</c:v>
                </c:pt>
                <c:pt idx="16">
                  <c:v>0.5</c:v>
                </c:pt>
                <c:pt idx="17">
                  <c:v>0.5</c:v>
                </c:pt>
                <c:pt idx="18">
                  <c:v>0.5</c:v>
                </c:pt>
                <c:pt idx="19">
                  <c:v>0.7</c:v>
                </c:pt>
                <c:pt idx="20">
                  <c:v>0.9</c:v>
                </c:pt>
                <c:pt idx="21">
                  <c:v>0.9</c:v>
                </c:pt>
                <c:pt idx="22">
                  <c:v>1</c:v>
                </c:pt>
                <c:pt idx="23">
                  <c:v>0.9</c:v>
                </c:pt>
              </c:numCache>
            </c:numRef>
          </c:val>
          <c:smooth val="0"/>
          <c:extLst>
            <c:ext xmlns:c16="http://schemas.microsoft.com/office/drawing/2014/chart" uri="{C3380CC4-5D6E-409C-BE32-E72D297353CC}">
              <c16:uniqueId val="{00000001-8941-466B-A591-275A46F6C22D}"/>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C8CDD2"/>
            </a:solidFill>
          </a:ln>
        </c:spPr>
        <c:txPr>
          <a:bodyPr/>
          <a:lstStyle/>
          <a:p>
            <a:pPr>
              <a:defRPr sz="750">
                <a:solidFill>
                  <a:srgbClr val="404040"/>
                </a:solidFill>
                <a:latin typeface="Calibri"/>
              </a:defRPr>
            </a:pPr>
            <a:endParaRPr lang="es-CO"/>
          </a:p>
        </c:txPr>
        <c:crossAx val="2140495176"/>
        <c:crosses val="autoZero"/>
        <c:auto val="1"/>
        <c:lblAlgn val="ctr"/>
        <c:lblOffset val="100"/>
        <c:noMultiLvlLbl val="0"/>
      </c:catAx>
      <c:valAx>
        <c:axId val="2140495176"/>
        <c:scaling>
          <c:orientation val="minMax"/>
          <c:max val="4"/>
          <c:min val="0"/>
        </c:scaling>
        <c:delete val="0"/>
        <c:axPos val="l"/>
        <c:majorGridlines>
          <c:spPr>
            <a:ln w="6350">
              <a:solidFill>
                <a:srgbClr val="E5E8EB"/>
              </a:solidFill>
            </a:ln>
          </c:spPr>
        </c:majorGridlines>
        <c:numFmt formatCode="0" sourceLinked="0"/>
        <c:majorTickMark val="out"/>
        <c:minorTickMark val="none"/>
        <c:tickLblPos val="nextTo"/>
        <c:spPr>
          <a:ln>
            <a:noFill/>
          </a:ln>
        </c:spPr>
        <c:txPr>
          <a:bodyPr/>
          <a:lstStyle/>
          <a:p>
            <a:pPr>
              <a:defRPr sz="750">
                <a:solidFill>
                  <a:srgbClr val="808080"/>
                </a:solidFill>
                <a:latin typeface="Calibri"/>
              </a:defRPr>
            </a:pPr>
            <a:endParaRPr lang="es-CO"/>
          </a:p>
        </c:txPr>
        <c:crossAx val="2118791784"/>
        <c:crosses val="autoZero"/>
        <c:crossBetween val="between"/>
        <c:majorUnit val="1"/>
      </c:valAx>
    </c:plotArea>
    <c:legend>
      <c:legendPos val="b"/>
      <c:overlay val="0"/>
      <c:txPr>
        <a:bodyPr/>
        <a:lstStyle/>
        <a:p>
          <a:pPr>
            <a:defRPr sz="800">
              <a:latin typeface="Calibri"/>
            </a:defRPr>
          </a:pPr>
          <a:endParaRPr lang="es-CO"/>
        </a:p>
      </c:txPr>
    </c:legend>
    <c:plotVisOnly val="1"/>
    <c:dispBlanksAs val="gap"/>
    <c:showDLblsOverMax val="0"/>
  </c:chart>
  <c:txPr>
    <a:bodyPr/>
    <a:lstStyle/>
    <a:p>
      <a:pPr>
        <a:defRPr sz="800">
          <a:solidFill>
            <a:srgbClr val="404040"/>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1"/>
        <c:ser>
          <c:idx val="0"/>
          <c:order val="0"/>
          <c:tx>
            <c:strRef>
              <c:f>Sheet1!$B$1</c:f>
              <c:strCache>
                <c:ptCount val="1"/>
                <c:pt idx="0">
                  <c:v>Yield real</c:v>
                </c:pt>
              </c:strCache>
            </c:strRef>
          </c:tx>
          <c:spPr>
            <a:solidFill>
              <a:srgbClr val="2B5BA3"/>
            </a:solidFill>
          </c:spPr>
          <c:invertIfNegative val="0"/>
          <c:dLbls>
            <c:numFmt formatCode="0" sourceLinked="0"/>
            <c:spPr>
              <a:noFill/>
              <a:ln>
                <a:noFill/>
              </a:ln>
              <a:effectLst/>
            </c:spPr>
            <c:txPr>
              <a:bodyPr/>
              <a:lstStyle/>
              <a:p>
                <a:pPr>
                  <a:defRPr sz="700">
                    <a:solidFill>
                      <a:srgbClr val="404040"/>
                    </a:solidFill>
                    <a:latin typeface="Calibri"/>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Reservas</c:v>
                </c:pt>
                <c:pt idx="1">
                  <c:v>Prado V.</c:v>
                </c:pt>
                <c:pt idx="2">
                  <c:v>Terra by Kaia</c:v>
                </c:pt>
                <c:pt idx="3">
                  <c:v>Terranova</c:v>
                </c:pt>
                <c:pt idx="4">
                  <c:v>Los Abedules</c:v>
                </c:pt>
                <c:pt idx="5">
                  <c:v>Llanos de Pance</c:v>
                </c:pt>
                <c:pt idx="6">
                  <c:v>Portón Rivera</c:v>
                </c:pt>
                <c:pt idx="7">
                  <c:v>Pance Camp.</c:v>
                </c:pt>
                <c:pt idx="8">
                  <c:v>Gerona</c:v>
                </c:pt>
                <c:pt idx="9">
                  <c:v>Castellana</c:v>
                </c:pt>
              </c:strCache>
            </c:strRef>
          </c:cat>
          <c:val>
            <c:numRef>
              <c:f>Sheet1!$B$2:$B$11</c:f>
              <c:numCache>
                <c:formatCode>#,##0</c:formatCode>
                <c:ptCount val="10"/>
                <c:pt idx="0">
                  <c:v>818</c:v>
                </c:pt>
                <c:pt idx="1">
                  <c:v>1059</c:v>
                </c:pt>
                <c:pt idx="2">
                  <c:v>1165</c:v>
                </c:pt>
                <c:pt idx="3">
                  <c:v>1321</c:v>
                </c:pt>
                <c:pt idx="4">
                  <c:v>863</c:v>
                </c:pt>
                <c:pt idx="5">
                  <c:v>923</c:v>
                </c:pt>
                <c:pt idx="6">
                  <c:v>896</c:v>
                </c:pt>
                <c:pt idx="7">
                  <c:v>1083</c:v>
                </c:pt>
                <c:pt idx="8">
                  <c:v>1067</c:v>
                </c:pt>
                <c:pt idx="9">
                  <c:v>976</c:v>
                </c:pt>
              </c:numCache>
            </c:numRef>
          </c:val>
          <c:extLst>
            <c:ext xmlns:c16="http://schemas.microsoft.com/office/drawing/2014/chart" uri="{C3380CC4-5D6E-409C-BE32-E72D297353CC}">
              <c16:uniqueId val="{00000000-3CC9-489F-922A-7CB9B05C4756}"/>
            </c:ext>
          </c:extLst>
        </c:ser>
        <c:ser>
          <c:idx val="1"/>
          <c:order val="1"/>
          <c:tx>
            <c:strRef>
              <c:f>Sheet1!$C$1</c:f>
              <c:strCache>
                <c:ptCount val="1"/>
                <c:pt idx="0">
                  <c:v>Yield de diseño</c:v>
                </c:pt>
              </c:strCache>
            </c:strRef>
          </c:tx>
          <c:spPr>
            <a:solidFill>
              <a:srgbClr val="C9D2E3"/>
            </a:solidFill>
          </c:spPr>
          <c:invertIfNegative val="0"/>
          <c:dLbls>
            <c:numFmt formatCode="0" sourceLinked="0"/>
            <c:spPr>
              <a:noFill/>
              <a:ln>
                <a:noFill/>
              </a:ln>
              <a:effectLst/>
            </c:spPr>
            <c:txPr>
              <a:bodyPr/>
              <a:lstStyle/>
              <a:p>
                <a:pPr>
                  <a:defRPr sz="700">
                    <a:solidFill>
                      <a:srgbClr val="404040"/>
                    </a:solidFill>
                    <a:latin typeface="Calibri"/>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Reservas</c:v>
                </c:pt>
                <c:pt idx="1">
                  <c:v>Prado V.</c:v>
                </c:pt>
                <c:pt idx="2">
                  <c:v>Terra by Kaia</c:v>
                </c:pt>
                <c:pt idx="3">
                  <c:v>Terranova</c:v>
                </c:pt>
                <c:pt idx="4">
                  <c:v>Los Abedules</c:v>
                </c:pt>
                <c:pt idx="5">
                  <c:v>Llanos de Pance</c:v>
                </c:pt>
                <c:pt idx="6">
                  <c:v>Portón Rivera</c:v>
                </c:pt>
                <c:pt idx="7">
                  <c:v>Pance Camp.</c:v>
                </c:pt>
                <c:pt idx="8">
                  <c:v>Gerona</c:v>
                </c:pt>
                <c:pt idx="9">
                  <c:v>Castellana</c:v>
                </c:pt>
              </c:strCache>
            </c:strRef>
          </c:cat>
          <c:val>
            <c:numRef>
              <c:f>Sheet1!$C$2:$C$11</c:f>
              <c:numCache>
                <c:formatCode>#,##0</c:formatCode>
                <c:ptCount val="10"/>
                <c:pt idx="0">
                  <c:v>1188</c:v>
                </c:pt>
                <c:pt idx="1">
                  <c:v>1323</c:v>
                </c:pt>
                <c:pt idx="2">
                  <c:v>1323</c:v>
                </c:pt>
                <c:pt idx="3">
                  <c:v>1323</c:v>
                </c:pt>
                <c:pt idx="4">
                  <c:v>1188</c:v>
                </c:pt>
                <c:pt idx="5">
                  <c:v>1188</c:v>
                </c:pt>
                <c:pt idx="6">
                  <c:v>1188</c:v>
                </c:pt>
                <c:pt idx="7">
                  <c:v>1188</c:v>
                </c:pt>
                <c:pt idx="8">
                  <c:v>1323</c:v>
                </c:pt>
                <c:pt idx="9">
                  <c:v>1323</c:v>
                </c:pt>
              </c:numCache>
            </c:numRef>
          </c:val>
          <c:extLst>
            <c:ext xmlns:c16="http://schemas.microsoft.com/office/drawing/2014/chart" uri="{C3380CC4-5D6E-409C-BE32-E72D297353CC}">
              <c16:uniqueId val="{00000001-3CC9-489F-922A-7CB9B05C4756}"/>
            </c:ext>
          </c:extLst>
        </c:ser>
        <c:dLbls>
          <c:dLblPos val="outEnd"/>
          <c:showLegendKey val="0"/>
          <c:showVal val="1"/>
          <c:showCatName val="0"/>
          <c:showSerName val="0"/>
          <c:showPercent val="0"/>
          <c:showBubbleSize val="0"/>
        </c:dLbls>
        <c:gapWidth val="5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8CDD2"/>
            </a:solidFill>
          </a:ln>
        </c:spPr>
        <c:txPr>
          <a:bodyPr/>
          <a:lstStyle/>
          <a:p>
            <a:pPr>
              <a:defRPr sz="800">
                <a:solidFill>
                  <a:srgbClr val="404040"/>
                </a:solidFill>
                <a:latin typeface="Calibri"/>
              </a:defRPr>
            </a:pPr>
            <a:endParaRPr lang="es-CO"/>
          </a:p>
        </c:txPr>
        <c:crossAx val="-2113994440"/>
        <c:crosses val="autoZero"/>
        <c:auto val="1"/>
        <c:lblAlgn val="ctr"/>
        <c:lblOffset val="100"/>
        <c:noMultiLvlLbl val="0"/>
      </c:catAx>
      <c:valAx>
        <c:axId val="-2113994440"/>
        <c:scaling>
          <c:orientation val="minMax"/>
          <c:max val="1500"/>
          <c:min val="0"/>
        </c:scaling>
        <c:delete val="0"/>
        <c:axPos val="l"/>
        <c:majorGridlines>
          <c:spPr>
            <a:ln w="6350">
              <a:solidFill>
                <a:srgbClr val="E5E8EB"/>
              </a:solidFill>
            </a:ln>
          </c:spPr>
        </c:majorGridlines>
        <c:numFmt formatCode="#,##0" sourceLinked="0"/>
        <c:majorTickMark val="out"/>
        <c:minorTickMark val="none"/>
        <c:tickLblPos val="nextTo"/>
        <c:spPr>
          <a:ln>
            <a:noFill/>
          </a:ln>
        </c:spPr>
        <c:txPr>
          <a:bodyPr/>
          <a:lstStyle/>
          <a:p>
            <a:pPr>
              <a:defRPr sz="750">
                <a:solidFill>
                  <a:srgbClr val="808080"/>
                </a:solidFill>
                <a:latin typeface="Calibri"/>
              </a:defRPr>
            </a:pPr>
            <a:endParaRPr lang="es-CO"/>
          </a:p>
        </c:txPr>
        <c:crossAx val="-2068027336"/>
        <c:crosses val="autoZero"/>
        <c:crossBetween val="between"/>
      </c:valAx>
    </c:plotArea>
    <c:legend>
      <c:legendPos val="b"/>
      <c:overlay val="0"/>
      <c:txPr>
        <a:bodyPr/>
        <a:lstStyle/>
        <a:p>
          <a:pPr>
            <a:defRPr sz="800">
              <a:latin typeface="Calibri"/>
            </a:defRPr>
          </a:pPr>
          <a:endParaRPr lang="es-CO"/>
        </a:p>
      </c:txPr>
    </c:legend>
    <c:plotVisOnly val="1"/>
    <c:dispBlanksAs val="gap"/>
    <c:showDLblsOverMax val="1"/>
  </c:chart>
  <c:txPr>
    <a:bodyPr/>
    <a:lstStyle/>
    <a:p>
      <a:pPr>
        <a:defRPr sz="800">
          <a:solidFill>
            <a:srgbClr val="404040"/>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stacked"/>
        <c:varyColors val="0"/>
        <c:ser>
          <c:idx val="0"/>
          <c:order val="0"/>
          <c:tx>
            <c:strRef>
              <c:f>Sheet1!$B$1</c:f>
              <c:strCache>
                <c:ptCount val="1"/>
                <c:pt idx="0">
                  <c:v>Producción medida</c:v>
                </c:pt>
              </c:strCache>
            </c:strRef>
          </c:tx>
          <c:spPr>
            <a:solidFill>
              <a:srgbClr val="2B5BA3"/>
            </a:solidFill>
          </c:spPr>
          <c:invertIfNegative val="1"/>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formatCode>#,##0</c:formatCode>
                <c:ptCount val="20"/>
                <c:pt idx="0">
                  <c:v>817</c:v>
                </c:pt>
                <c:pt idx="1">
                  <c:v>730</c:v>
                </c:pt>
                <c:pt idx="2">
                  <c:v>698</c:v>
                </c:pt>
                <c:pt idx="3">
                  <c:v>788</c:v>
                </c:pt>
                <c:pt idx="4">
                  <c:v>863</c:v>
                </c:pt>
                <c:pt idx="5">
                  <c:v>674</c:v>
                </c:pt>
                <c:pt idx="6">
                  <c:v>658</c:v>
                </c:pt>
                <c:pt idx="7">
                  <c:v>718</c:v>
                </c:pt>
                <c:pt idx="8">
                  <c:v>808</c:v>
                </c:pt>
                <c:pt idx="9">
                  <c:v>772</c:v>
                </c:pt>
                <c:pt idx="10">
                  <c:v>748</c:v>
                </c:pt>
                <c:pt idx="11">
                  <c:v>688</c:v>
                </c:pt>
                <c:pt idx="12">
                  <c:v>710</c:v>
                </c:pt>
                <c:pt idx="13">
                  <c:v>924</c:v>
                </c:pt>
                <c:pt idx="14">
                  <c:v>835</c:v>
                </c:pt>
                <c:pt idx="15">
                  <c:v>706</c:v>
                </c:pt>
                <c:pt idx="16">
                  <c:v>877</c:v>
                </c:pt>
                <c:pt idx="17">
                  <c:v>823</c:v>
                </c:pt>
                <c:pt idx="18">
                  <c:v>646</c:v>
                </c:pt>
                <c:pt idx="19">
                  <c:v>711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14D4-411C-ACD4-A9F66662FE47}"/>
            </c:ext>
          </c:extLst>
        </c:ser>
        <c:ser>
          <c:idx val="1"/>
          <c:order val="1"/>
          <c:tx>
            <c:strRef>
              <c:f>Sheet1!$C$1</c:f>
              <c:strCache>
                <c:ptCount val="1"/>
                <c:pt idx="0">
                  <c:v>Recorte estimado</c:v>
                </c:pt>
              </c:strCache>
            </c:strRef>
          </c:tx>
          <c:spPr>
            <a:solidFill>
              <a:srgbClr val="CA6F1E"/>
            </a:solidFill>
          </c:spPr>
          <c:invertIfNegative val="1"/>
          <c:dLbls>
            <c:numFmt formatCode="#,##0" sourceLinked="0"/>
            <c:spPr>
              <a:noFill/>
              <a:ln>
                <a:noFill/>
              </a:ln>
              <a:effectLst/>
            </c:spPr>
            <c:txPr>
              <a:bodyPr/>
              <a:lstStyle/>
              <a:p>
                <a:pPr>
                  <a:defRPr sz="650" b="1">
                    <a:solidFill>
                      <a:srgbClr val="FFFFFF"/>
                    </a:solidFill>
                  </a:defRPr>
                </a:pPr>
                <a:endParaRPr lang="es-CO"/>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Sheet1!$C$2:$C$21</c:f>
              <c:numCache>
                <c:formatCode>#,##0</c:formatCode>
                <c:ptCount val="20"/>
                <c:pt idx="0">
                  <c:v>144</c:v>
                </c:pt>
                <c:pt idx="1">
                  <c:v>189</c:v>
                </c:pt>
                <c:pt idx="2">
                  <c:v>120</c:v>
                </c:pt>
                <c:pt idx="3">
                  <c:v>393</c:v>
                </c:pt>
                <c:pt idx="4">
                  <c:v>266</c:v>
                </c:pt>
                <c:pt idx="5">
                  <c:v>182</c:v>
                </c:pt>
                <c:pt idx="6">
                  <c:v>89</c:v>
                </c:pt>
                <c:pt idx="7">
                  <c:v>248</c:v>
                </c:pt>
                <c:pt idx="8">
                  <c:v>429</c:v>
                </c:pt>
                <c:pt idx="9">
                  <c:v>185</c:v>
                </c:pt>
                <c:pt idx="10">
                  <c:v>266</c:v>
                </c:pt>
                <c:pt idx="11">
                  <c:v>168</c:v>
                </c:pt>
                <c:pt idx="12">
                  <c:v>131</c:v>
                </c:pt>
                <c:pt idx="13">
                  <c:v>351</c:v>
                </c:pt>
                <c:pt idx="14">
                  <c:v>400</c:v>
                </c:pt>
                <c:pt idx="15">
                  <c:v>83</c:v>
                </c:pt>
                <c:pt idx="16">
                  <c:v>128</c:v>
                </c:pt>
                <c:pt idx="17">
                  <c:v>172</c:v>
                </c:pt>
                <c:pt idx="18">
                  <c:v>156</c:v>
                </c:pt>
                <c:pt idx="19">
                  <c:v>276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14D4-411C-ACD4-A9F66662FE47}"/>
            </c:ext>
          </c:extLst>
        </c:ser>
        <c:dLbls>
          <c:showLegendKey val="0"/>
          <c:showVal val="0"/>
          <c:showCatName val="0"/>
          <c:showSerName val="0"/>
          <c:showPercent val="0"/>
          <c:showBubbleSize val="0"/>
        </c:dLbls>
        <c:gapWidth val="4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8CDD2"/>
            </a:solidFill>
          </a:ln>
        </c:spPr>
        <c:txPr>
          <a:bodyPr/>
          <a:lstStyle/>
          <a:p>
            <a:pPr>
              <a:defRPr sz="750"/>
            </a:pPr>
            <a:endParaRPr lang="es-CO"/>
          </a:p>
        </c:txPr>
        <c:crossAx val="-2113994440"/>
        <c:crosses val="autoZero"/>
        <c:auto val="1"/>
        <c:lblAlgn val="ctr"/>
        <c:lblOffset val="100"/>
        <c:noMultiLvlLbl val="0"/>
      </c:catAx>
      <c:valAx>
        <c:axId val="-2113994440"/>
        <c:scaling>
          <c:orientation val="minMax"/>
          <c:max val="1400"/>
          <c:min val="0"/>
        </c:scaling>
        <c:delete val="0"/>
        <c:axPos val="l"/>
        <c:majorGridlines>
          <c:spPr>
            <a:ln w="6350">
              <a:solidFill>
                <a:srgbClr val="E5E8EB"/>
              </a:solidFill>
            </a:ln>
          </c:spPr>
        </c:majorGridlines>
        <c:numFmt formatCode="#,##0" sourceLinked="0"/>
        <c:majorTickMark val="out"/>
        <c:minorTickMark val="none"/>
        <c:tickLblPos val="nextTo"/>
        <c:spPr>
          <a:ln>
            <a:noFill/>
          </a:ln>
        </c:spPr>
        <c:txPr>
          <a:bodyPr/>
          <a:lstStyle/>
          <a:p>
            <a:pPr>
              <a:defRPr sz="750"/>
            </a:pPr>
            <a:endParaRPr lang="es-CO"/>
          </a:p>
        </c:txPr>
        <c:crossAx val="-2068027336"/>
        <c:crosses val="autoZero"/>
        <c:crossBetween val="between"/>
        <c:majorUnit val="200"/>
      </c:valAx>
    </c:plotArea>
    <c:legend>
      <c:legendPos val="b"/>
      <c:overlay val="0"/>
      <c:txPr>
        <a:bodyPr/>
        <a:lstStyle/>
        <a:p>
          <a:pPr>
            <a:defRPr sz="800"/>
          </a:pPr>
          <a:endParaRPr lang="es-CO"/>
        </a:p>
      </c:txPr>
    </c:legend>
    <c:plotVisOnly val="1"/>
    <c:dispBlanksAs val="gap"/>
    <c:showDLblsOverMax val="1"/>
  </c:chart>
  <c:txPr>
    <a:bodyPr/>
    <a:lstStyle/>
    <a:p>
      <a:pPr>
        <a:defRPr sz="800">
          <a:solidFill>
            <a:srgbClr val="404040"/>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style val="2"/>
  <c:chart>
    <c:autoTitleDeleted val="1"/>
    <c:plotArea>
      <c:barChart>
        <c:barDir val="col"/>
        <c:grouping val="clustered"/>
        <c:varyColors val="0"/>
        <c:ser>
          <c:idx val="0"/>
          <c:order val="0"/>
          <c:tx>
            <c:strRef>
              <c:f>Sheet1!$B$1</c:f>
              <c:strCache>
                <c:ptCount val="1"/>
                <c:pt idx="0">
                  <c:v>Rendimiento vs diseño (%)</c:v>
                </c:pt>
              </c:strCache>
            </c:strRef>
          </c:tx>
          <c:spPr>
            <a:solidFill>
              <a:srgbClr val="2B5BA3"/>
            </a:solidFill>
          </c:spPr>
          <c:invertIfNegative val="0"/>
          <c:dLbls>
            <c:numFmt formatCode="0.0" sourceLinked="0"/>
            <c:txPr>
              <a:bodyPr/>
              <a:lstStyle/>
              <a:p>
                <a:pPr>
                  <a:defRPr sz="700" b="0">
                    <a:solidFill>
                      <a:srgbClr val="404040"/>
                    </a:solidFill>
                    <a:latin typeface="Calibri"/>
                  </a:defRPr>
                </a:pPr>
              </a:p>
            </c:txPr>
            <c:dLblPos val="outEnd"/>
            <c:showLegendKey val="0"/>
            <c:showVal val="1"/>
            <c:showCatName val="0"/>
            <c:showSerName val="0"/>
            <c:showPercent val="0"/>
            <c:showBubbleSize val="0"/>
            <c:showLeaderLines val="1"/>
          </c:dLbls>
          <c:cat>
            <c:strRef>
              <c:f>Sheet1!$A$2:$A$5</c:f>
              <c:strCache>
                <c:ptCount val="4"/>
                <c:pt idx="0">
                  <c:v>Jul</c:v>
                </c:pt>
                <c:pt idx="1">
                  <c:v>Ago</c:v>
                </c:pt>
                <c:pt idx="2">
                  <c:v>Sep</c:v>
                </c:pt>
                <c:pt idx="3">
                  <c:v>Oct (1 al 20)</c:v>
                </c:pt>
              </c:strCache>
            </c:strRef>
          </c:cat>
          <c:val>
            <c:numRef>
              <c:f>Sheet1!$B$2:$B$5</c:f>
              <c:numCache>
                <c:formatCode>General</c:formatCode>
                <c:ptCount val="4"/>
                <c:pt idx="0">
                  <c:v>82.2</c:v>
                </c:pt>
                <c:pt idx="1">
                  <c:v>90.2</c:v>
                </c:pt>
                <c:pt idx="2">
                  <c:v>87.2</c:v>
                </c:pt>
                <c:pt idx="3">
                  <c:v>73.2</c:v>
                </c:pt>
              </c:numCache>
            </c:numRef>
          </c:val>
        </c:ser>
        <c:ser>
          <c:idx val="1"/>
          <c:order val="1"/>
          <c:tx>
            <c:strRef>
              <c:f>Sheet1!$C$1</c:f>
              <c:strCache>
                <c:ptCount val="1"/>
                <c:pt idx="0">
                  <c:v>Cobertura solar (%)</c:v>
                </c:pt>
              </c:strCache>
            </c:strRef>
          </c:tx>
          <c:spPr>
            <a:solidFill>
              <a:srgbClr val="A9C1E8"/>
            </a:solidFill>
          </c:spPr>
          <c:invertIfNegative val="0"/>
          <c:dLbls>
            <c:numFmt formatCode="0.0" sourceLinked="0"/>
            <c:txPr>
              <a:bodyPr/>
              <a:lstStyle/>
              <a:p>
                <a:pPr>
                  <a:defRPr sz="700" b="0">
                    <a:solidFill>
                      <a:srgbClr val="404040"/>
                    </a:solidFill>
                    <a:latin typeface="Calibri"/>
                  </a:defRPr>
                </a:pPr>
              </a:p>
            </c:txPr>
            <c:dLblPos val="outEnd"/>
            <c:showLegendKey val="0"/>
            <c:showVal val="1"/>
            <c:showCatName val="0"/>
            <c:showSerName val="0"/>
            <c:showPercent val="0"/>
            <c:showBubbleSize val="0"/>
            <c:showLeaderLines val="1"/>
          </c:dLbls>
          <c:cat>
            <c:strRef>
              <c:f>Sheet1!$A$2:$A$5</c:f>
              <c:strCache>
                <c:ptCount val="4"/>
                <c:pt idx="0">
                  <c:v>Jul</c:v>
                </c:pt>
                <c:pt idx="1">
                  <c:v>Ago</c:v>
                </c:pt>
                <c:pt idx="2">
                  <c:v>Sep</c:v>
                </c:pt>
                <c:pt idx="3">
                  <c:v>Oct (1 al 20)</c:v>
                </c:pt>
              </c:strCache>
            </c:strRef>
          </c:cat>
          <c:val>
            <c:numRef>
              <c:f>Sheet1!$C$2:$C$5</c:f>
              <c:numCache>
                <c:formatCode>General</c:formatCode>
                <c:ptCount val="4"/>
                <c:pt idx="0">
                  <c:v>70.3</c:v>
                </c:pt>
                <c:pt idx="1">
                  <c:v>69.5</c:v>
                </c:pt>
                <c:pt idx="2">
                  <c:v>67.8</c:v>
                </c:pt>
                <c:pt idx="3">
                  <c:v>71.8</c:v>
                </c:pt>
              </c:numCache>
            </c:numRef>
          </c:val>
        </c:ser>
        <c:gapWidth val="60"/>
        <c:axId val="-2068027336"/>
        <c:axId val="-2113994440"/>
      </c:barChart>
      <c:catAx>
        <c:axId val="-2068027336"/>
        <c:scaling>
          <c:orientation val="minMax"/>
        </c:scaling>
        <c:delete val="0"/>
        <c:axPos val="b"/>
        <c:majorTickMark val="out"/>
        <c:minorTickMark val="none"/>
        <c:tickLblPos val="nextTo"/>
        <c:spPr>
          <a:ln>
            <a:solidFill>
              <a:srgbClr val="C8CDD2"/>
            </a:solidFill>
          </a:ln>
        </c:spPr>
        <c:txPr>
          <a:bodyPr/>
          <a:lstStyle/>
          <a:p>
            <a:pPr>
              <a:defRPr sz="800">
                <a:solidFill>
                  <a:srgbClr val="404040"/>
                </a:solidFill>
                <a:latin typeface="Calibri"/>
              </a:defRPr>
            </a:pPr>
          </a:p>
        </c:txPr>
        <c:crossAx val="-2113994440"/>
        <c:crosses val="autoZero"/>
        <c:auto val="1"/>
        <c:lblAlgn val="ctr"/>
        <c:lblOffset val="100"/>
        <c:noMultiLvlLbl val="0"/>
      </c:catAx>
      <c:valAx>
        <c:axId val="-2113994440"/>
        <c:scaling>
          <c:max val="100.0"/>
          <c:min val="0.0"/>
        </c:scaling>
        <c:delete val="0"/>
        <c:axPos val="l"/>
        <c:majorGridlines>
          <c:spPr>
            <a:ln w="6350">
              <a:solidFill>
                <a:srgbClr val="E5E8EB"/>
              </a:solidFill>
            </a:ln>
          </c:spPr>
        </c:majorGridlines>
        <c:numFmt formatCode="#,##0" sourceLinked="0"/>
        <c:majorTickMark val="out"/>
        <c:minorTickMark val="none"/>
        <c:tickLblPos val="nextTo"/>
        <c:spPr>
          <a:ln>
            <a:noFill/>
          </a:ln>
        </c:spPr>
        <c:txPr>
          <a:bodyPr/>
          <a:lstStyle/>
          <a:p>
            <a:pPr>
              <a:defRPr sz="750">
                <a:solidFill>
                  <a:srgbClr val="808080"/>
                </a:solidFill>
                <a:latin typeface="Calibri"/>
              </a:defRPr>
            </a:pPr>
          </a:p>
        </c:txPr>
        <c:crossAx val="-2068027336"/>
        <c:crosses val="autoZero"/>
        <c:majorUnit val="20.0"/>
      </c:valAx>
    </c:plotArea>
    <c:legend>
      <c:legendPos val="b"/>
      <c:overlay val="0"/>
      <c:txPr>
        <a:bodyPr/>
        <a:lstStyle/>
        <a:p>
          <a:pPr>
            <a:defRPr sz="800">
              <a:latin typeface="Calibri"/>
            </a:defRPr>
          </a:pPr>
        </a:p>
      </c:txPr>
    </c:legend>
    <c:dispBlanksAs val="gap"/>
  </c:chart>
  <c:txPr>
    <a:bodyPr/>
    <a:lstStyle/>
    <a:p>
      <a:pPr>
        <a:defRPr sz="800">
          <a:solidFill>
            <a:srgbClr val="404040"/>
          </a:solidFill>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style val="2"/>
  <c:chart>
    <c:autoTitleDeleted val="1"/>
    <c:plotArea>
      <c:barChart>
        <c:barDir val="col"/>
        <c:grouping val="clustered"/>
        <c:varyColors val="0"/>
        <c:ser>
          <c:idx val="0"/>
          <c:order val="0"/>
          <c:tx>
            <c:strRef>
              <c:f>Sheet1!$B$1</c:f>
              <c:strCache>
                <c:ptCount val="1"/>
                <c:pt idx="0">
                  <c:v>Jul</c:v>
                </c:pt>
              </c:strCache>
            </c:strRef>
          </c:tx>
          <c:spPr>
            <a:solidFill>
              <a:srgbClr val="C9D2E3"/>
            </a:solidFill>
          </c:spPr>
          <c:invertIfNegative val="0"/>
          <c:cat>
            <c:strRef>
              <c:f>Sheet1!$A$2:$A$11</c:f>
              <c:strCache>
                <c:ptCount val="10"/>
                <c:pt idx="0">
                  <c:v>Reservas</c:v>
                </c:pt>
                <c:pt idx="1">
                  <c:v>Prado V.</c:v>
                </c:pt>
                <c:pt idx="2">
                  <c:v>Terra by Kaia</c:v>
                </c:pt>
                <c:pt idx="3">
                  <c:v>Terranova</c:v>
                </c:pt>
                <c:pt idx="4">
                  <c:v>Los Abedules</c:v>
                </c:pt>
                <c:pt idx="5">
                  <c:v>Llanos de Pance</c:v>
                </c:pt>
                <c:pt idx="6">
                  <c:v>Portón Rivera</c:v>
                </c:pt>
                <c:pt idx="7">
                  <c:v>Pance Camp.</c:v>
                </c:pt>
                <c:pt idx="8">
                  <c:v>Gerona</c:v>
                </c:pt>
                <c:pt idx="9">
                  <c:v>Castellana</c:v>
                </c:pt>
              </c:strCache>
            </c:strRef>
          </c:cat>
          <c:val>
            <c:numRef>
              <c:f>Sheet1!$B$2:$B$11</c:f>
              <c:numCache>
                <c:formatCode>General</c:formatCode>
                <c:ptCount val="10"/>
                <c:pt idx="0">
                  <c:v>938</c:v>
                </c:pt>
                <c:pt idx="1">
                  <c:v>1166</c:v>
                </c:pt>
                <c:pt idx="2">
                  <c:v>1183</c:v>
                </c:pt>
                <c:pt idx="4">
                  <c:v>995</c:v>
                </c:pt>
                <c:pt idx="6">
                  <c:v>996</c:v>
                </c:pt>
              </c:numCache>
            </c:numRef>
          </c:val>
        </c:ser>
        <c:ser>
          <c:idx val="1"/>
          <c:order val="1"/>
          <c:tx>
            <c:strRef>
              <c:f>Sheet1!$C$1</c:f>
              <c:strCache>
                <c:ptCount val="1"/>
                <c:pt idx="0">
                  <c:v>Ago</c:v>
                </c:pt>
              </c:strCache>
            </c:strRef>
          </c:tx>
          <c:spPr>
            <a:solidFill>
              <a:srgbClr val="A9C1E8"/>
            </a:solidFill>
          </c:spPr>
          <c:invertIfNegative val="0"/>
          <c:cat>
            <c:strRef>
              <c:f>Sheet1!$A$2:$A$11</c:f>
              <c:strCache>
                <c:ptCount val="10"/>
                <c:pt idx="0">
                  <c:v>Reservas</c:v>
                </c:pt>
                <c:pt idx="1">
                  <c:v>Prado V.</c:v>
                </c:pt>
                <c:pt idx="2">
                  <c:v>Terra by Kaia</c:v>
                </c:pt>
                <c:pt idx="3">
                  <c:v>Terranova</c:v>
                </c:pt>
                <c:pt idx="4">
                  <c:v>Los Abedules</c:v>
                </c:pt>
                <c:pt idx="5">
                  <c:v>Llanos de Pance</c:v>
                </c:pt>
                <c:pt idx="6">
                  <c:v>Portón Rivera</c:v>
                </c:pt>
                <c:pt idx="7">
                  <c:v>Pance Camp.</c:v>
                </c:pt>
                <c:pt idx="8">
                  <c:v>Gerona</c:v>
                </c:pt>
                <c:pt idx="9">
                  <c:v>Castellana</c:v>
                </c:pt>
              </c:strCache>
            </c:strRef>
          </c:cat>
          <c:val>
            <c:numRef>
              <c:f>Sheet1!$C$2:$C$11</c:f>
              <c:numCache>
                <c:formatCode>General</c:formatCode>
                <c:ptCount val="10"/>
                <c:pt idx="0">
                  <c:v>1059</c:v>
                </c:pt>
                <c:pt idx="1">
                  <c:v>1200</c:v>
                </c:pt>
                <c:pt idx="2">
                  <c:v>1306</c:v>
                </c:pt>
                <c:pt idx="3">
                  <c:v>203</c:v>
                </c:pt>
                <c:pt idx="4">
                  <c:v>1013</c:v>
                </c:pt>
                <c:pt idx="5">
                  <c:v>1126</c:v>
                </c:pt>
                <c:pt idx="6">
                  <c:v>1077</c:v>
                </c:pt>
                <c:pt idx="7">
                  <c:v>771</c:v>
                </c:pt>
              </c:numCache>
            </c:numRef>
          </c:val>
        </c:ser>
        <c:ser>
          <c:idx val="2"/>
          <c:order val="2"/>
          <c:tx>
            <c:strRef>
              <c:f>Sheet1!$D$1</c:f>
              <c:strCache>
                <c:ptCount val="1"/>
                <c:pt idx="0">
                  <c:v>Sep</c:v>
                </c:pt>
              </c:strCache>
            </c:strRef>
          </c:tx>
          <c:spPr>
            <a:solidFill>
              <a:srgbClr val="2B5BA3"/>
            </a:solidFill>
          </c:spPr>
          <c:invertIfNegative val="0"/>
          <c:cat>
            <c:strRef>
              <c:f>Sheet1!$A$2:$A$11</c:f>
              <c:strCache>
                <c:ptCount val="10"/>
                <c:pt idx="0">
                  <c:v>Reservas</c:v>
                </c:pt>
                <c:pt idx="1">
                  <c:v>Prado V.</c:v>
                </c:pt>
                <c:pt idx="2">
                  <c:v>Terra by Kaia</c:v>
                </c:pt>
                <c:pt idx="3">
                  <c:v>Terranova</c:v>
                </c:pt>
                <c:pt idx="4">
                  <c:v>Los Abedules</c:v>
                </c:pt>
                <c:pt idx="5">
                  <c:v>Llanos de Pance</c:v>
                </c:pt>
                <c:pt idx="6">
                  <c:v>Portón Rivera</c:v>
                </c:pt>
                <c:pt idx="7">
                  <c:v>Pance Camp.</c:v>
                </c:pt>
                <c:pt idx="8">
                  <c:v>Gerona</c:v>
                </c:pt>
                <c:pt idx="9">
                  <c:v>Castellana</c:v>
                </c:pt>
              </c:strCache>
            </c:strRef>
          </c:cat>
          <c:val>
            <c:numRef>
              <c:f>Sheet1!$D$2:$D$11</c:f>
              <c:numCache>
                <c:formatCode>General</c:formatCode>
                <c:ptCount val="10"/>
                <c:pt idx="0">
                  <c:v>1048</c:v>
                </c:pt>
                <c:pt idx="1">
                  <c:v>1111</c:v>
                </c:pt>
                <c:pt idx="2">
                  <c:v>1186</c:v>
                </c:pt>
                <c:pt idx="3">
                  <c:v>1287</c:v>
                </c:pt>
                <c:pt idx="4">
                  <c:v>962</c:v>
                </c:pt>
                <c:pt idx="5">
                  <c:v>1114</c:v>
                </c:pt>
                <c:pt idx="6">
                  <c:v>961</c:v>
                </c:pt>
                <c:pt idx="7">
                  <c:v>582</c:v>
                </c:pt>
                <c:pt idx="8">
                  <c:v>958</c:v>
                </c:pt>
              </c:numCache>
            </c:numRef>
          </c:val>
        </c:ser>
        <c:ser>
          <c:idx val="3"/>
          <c:order val="3"/>
          <c:tx>
            <c:strRef>
              <c:f>Sheet1!$E$1</c:f>
              <c:strCache>
                <c:ptCount val="1"/>
                <c:pt idx="0">
                  <c:v>Oct</c:v>
                </c:pt>
              </c:strCache>
            </c:strRef>
          </c:tx>
          <c:spPr>
            <a:solidFill>
              <a:srgbClr val="F5A623"/>
            </a:solidFill>
          </c:spPr>
          <c:invertIfNegative val="0"/>
          <c:cat>
            <c:strRef>
              <c:f>Sheet1!$A$2:$A$11</c:f>
              <c:strCache>
                <c:ptCount val="10"/>
                <c:pt idx="0">
                  <c:v>Reservas</c:v>
                </c:pt>
                <c:pt idx="1">
                  <c:v>Prado V.</c:v>
                </c:pt>
                <c:pt idx="2">
                  <c:v>Terra by Kaia</c:v>
                </c:pt>
                <c:pt idx="3">
                  <c:v>Terranova</c:v>
                </c:pt>
                <c:pt idx="4">
                  <c:v>Los Abedules</c:v>
                </c:pt>
                <c:pt idx="5">
                  <c:v>Llanos de Pance</c:v>
                </c:pt>
                <c:pt idx="6">
                  <c:v>Portón Rivera</c:v>
                </c:pt>
                <c:pt idx="7">
                  <c:v>Pance Camp.</c:v>
                </c:pt>
                <c:pt idx="8">
                  <c:v>Gerona</c:v>
                </c:pt>
                <c:pt idx="9">
                  <c:v>Castellana</c:v>
                </c:pt>
              </c:strCache>
            </c:strRef>
          </c:cat>
          <c:val>
            <c:numRef>
              <c:f>Sheet1!$E$2:$E$11</c:f>
              <c:numCache>
                <c:formatCode>General</c:formatCode>
                <c:ptCount val="10"/>
                <c:pt idx="0">
                  <c:v>819</c:v>
                </c:pt>
                <c:pt idx="1">
                  <c:v>1040</c:v>
                </c:pt>
                <c:pt idx="2">
                  <c:v>1144</c:v>
                </c:pt>
                <c:pt idx="3">
                  <c:v>1321</c:v>
                </c:pt>
                <c:pt idx="4">
                  <c:v>863</c:v>
                </c:pt>
                <c:pt idx="5">
                  <c:v>925</c:v>
                </c:pt>
                <c:pt idx="6">
                  <c:v>894</c:v>
                </c:pt>
                <c:pt idx="7">
                  <c:v>1084</c:v>
                </c:pt>
                <c:pt idx="8">
                  <c:v>1086</c:v>
                </c:pt>
                <c:pt idx="9">
                  <c:v>1035</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C8CDD2"/>
            </a:solidFill>
          </a:ln>
        </c:spPr>
        <c:txPr>
          <a:bodyPr/>
          <a:lstStyle/>
          <a:p>
            <a:pPr>
              <a:defRPr sz="800">
                <a:solidFill>
                  <a:srgbClr val="404040"/>
                </a:solidFill>
                <a:latin typeface="Calibri"/>
              </a:defRPr>
            </a:pPr>
          </a:p>
        </c:txPr>
        <c:crossAx val="-2113994440"/>
        <c:crosses val="autoZero"/>
        <c:auto val="1"/>
        <c:lblAlgn val="ctr"/>
        <c:lblOffset val="100"/>
        <c:noMultiLvlLbl val="0"/>
      </c:catAx>
      <c:valAx>
        <c:axId val="-2113994440"/>
        <c:scaling>
          <c:max val="1400.0"/>
          <c:min val="0.0"/>
        </c:scaling>
        <c:delete val="0"/>
        <c:axPos val="l"/>
        <c:majorGridlines>
          <c:spPr>
            <a:ln w="6350">
              <a:solidFill>
                <a:srgbClr val="E5E8EB"/>
              </a:solidFill>
            </a:ln>
          </c:spPr>
        </c:majorGridlines>
        <c:numFmt formatCode="#,##0" sourceLinked="0"/>
        <c:majorTickMark val="out"/>
        <c:minorTickMark val="none"/>
        <c:tickLblPos val="nextTo"/>
        <c:spPr>
          <a:ln>
            <a:noFill/>
          </a:ln>
        </c:spPr>
        <c:txPr>
          <a:bodyPr/>
          <a:lstStyle/>
          <a:p>
            <a:pPr>
              <a:defRPr sz="750">
                <a:solidFill>
                  <a:srgbClr val="808080"/>
                </a:solidFill>
                <a:latin typeface="Calibri"/>
              </a:defRPr>
            </a:pPr>
          </a:p>
        </c:txPr>
        <c:crossAx val="-2068027336"/>
        <c:crosses val="autoZero"/>
        <c:majorUnit val="200.0"/>
      </c:valAx>
    </c:plotArea>
    <c:legend>
      <c:legendPos val="b"/>
      <c:overlay val="0"/>
      <c:txPr>
        <a:bodyPr/>
        <a:lstStyle/>
        <a:p>
          <a:pPr>
            <a:defRPr sz="800">
              <a:latin typeface="Calibri"/>
            </a:defRPr>
          </a:pPr>
        </a:p>
      </c:txPr>
    </c:legend>
    <c:dispBlanksAs val="gap"/>
  </c:chart>
  <c:txPr>
    <a:bodyPr/>
    <a:lstStyle/>
    <a:p>
      <a:pPr>
        <a:defRPr sz="800">
          <a:solidFill>
            <a:srgbClr val="404040"/>
          </a:solidFill>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style val="2"/>
  <c:chart>
    <c:autoTitleDeleted val="1"/>
    <c:plotArea>
      <c:barChart>
        <c:barDir val="col"/>
        <c:grouping val="stacked"/>
        <c:varyColors val="0"/>
        <c:ser>
          <c:idx val="0"/>
          <c:order val="0"/>
          <c:tx>
            <c:strRef>
              <c:f>Sheet1!$B$1</c:f>
              <c:strCache>
                <c:ptCount val="1"/>
                <c:pt idx="0">
                  <c:v>≥ 90%</c:v>
                </c:pt>
              </c:strCache>
            </c:strRef>
          </c:tx>
          <c:spPr>
            <a:solidFill>
              <a:srgbClr val="1E8449"/>
            </a:solidFill>
          </c:spPr>
          <c:invertIfNegative val="0"/>
          <c:dLbls>
            <c:numFmt formatCode="0;;;" sourceLinked="0"/>
            <c:txPr>
              <a:bodyPr/>
              <a:lstStyle/>
              <a:p>
                <a:pPr>
                  <a:defRPr sz="800" b="1">
                    <a:solidFill>
                      <a:srgbClr val="FFFFFF"/>
                    </a:solidFill>
                    <a:latin typeface="Calibri"/>
                  </a:defRPr>
                </a:pPr>
              </a:p>
            </c:txPr>
            <c:dLblPos val="ctr"/>
            <c:showLegendKey val="0"/>
            <c:showVal val="1"/>
            <c:showCatName val="0"/>
            <c:showSerName val="0"/>
            <c:showPercent val="0"/>
            <c:showBubbleSize val="0"/>
            <c:showLeaderLines val="1"/>
          </c:dLbls>
          <c:cat>
            <c:strRef>
              <c:f>Sheet1!$A$2:$A$5</c:f>
              <c:strCache>
                <c:ptCount val="4"/>
                <c:pt idx="0">
                  <c:v>Jul</c:v>
                </c:pt>
                <c:pt idx="1">
                  <c:v>Ago</c:v>
                </c:pt>
                <c:pt idx="2">
                  <c:v>Sep</c:v>
                </c:pt>
                <c:pt idx="3">
                  <c:v>Oct (1 al 20)</c:v>
                </c:pt>
              </c:strCache>
            </c:strRef>
          </c:cat>
          <c:val>
            <c:numRef>
              <c:f>Sheet1!$B$2:$B$5</c:f>
              <c:numCache>
                <c:formatCode>General</c:formatCode>
                <c:ptCount val="4"/>
                <c:pt idx="0">
                  <c:v>10</c:v>
                </c:pt>
                <c:pt idx="1">
                  <c:v>18</c:v>
                </c:pt>
                <c:pt idx="2">
                  <c:v>15</c:v>
                </c:pt>
                <c:pt idx="3">
                  <c:v>4</c:v>
                </c:pt>
              </c:numCache>
            </c:numRef>
          </c:val>
        </c:ser>
        <c:ser>
          <c:idx val="1"/>
          <c:order val="1"/>
          <c:tx>
            <c:strRef>
              <c:f>Sheet1!$C$1</c:f>
              <c:strCache>
                <c:ptCount val="1"/>
                <c:pt idx="0">
                  <c:v>80 – 90%</c:v>
                </c:pt>
              </c:strCache>
            </c:strRef>
          </c:tx>
          <c:spPr>
            <a:solidFill>
              <a:srgbClr val="2B5BA3"/>
            </a:solidFill>
          </c:spPr>
          <c:invertIfNegative val="0"/>
          <c:dLbls>
            <c:numFmt formatCode="0;;;" sourceLinked="0"/>
            <c:txPr>
              <a:bodyPr/>
              <a:lstStyle/>
              <a:p>
                <a:pPr>
                  <a:defRPr sz="800" b="1">
                    <a:solidFill>
                      <a:srgbClr val="FFFFFF"/>
                    </a:solidFill>
                    <a:latin typeface="Calibri"/>
                  </a:defRPr>
                </a:pPr>
              </a:p>
            </c:txPr>
            <c:dLblPos val="ctr"/>
            <c:showLegendKey val="0"/>
            <c:showVal val="1"/>
            <c:showCatName val="0"/>
            <c:showSerName val="0"/>
            <c:showPercent val="0"/>
            <c:showBubbleSize val="0"/>
            <c:showLeaderLines val="1"/>
          </c:dLbls>
          <c:cat>
            <c:strRef>
              <c:f>Sheet1!$A$2:$A$5</c:f>
              <c:strCache>
                <c:ptCount val="4"/>
                <c:pt idx="0">
                  <c:v>Jul</c:v>
                </c:pt>
                <c:pt idx="1">
                  <c:v>Ago</c:v>
                </c:pt>
                <c:pt idx="2">
                  <c:v>Sep</c:v>
                </c:pt>
                <c:pt idx="3">
                  <c:v>Oct (1 al 20)</c:v>
                </c:pt>
              </c:strCache>
            </c:strRef>
          </c:cat>
          <c:val>
            <c:numRef>
              <c:f>Sheet1!$C$2:$C$5</c:f>
              <c:numCache>
                <c:formatCode>General</c:formatCode>
                <c:ptCount val="4"/>
                <c:pt idx="0">
                  <c:v>12</c:v>
                </c:pt>
                <c:pt idx="1">
                  <c:v>10</c:v>
                </c:pt>
                <c:pt idx="2">
                  <c:v>11</c:v>
                </c:pt>
                <c:pt idx="3">
                  <c:v>9</c:v>
                </c:pt>
              </c:numCache>
            </c:numRef>
          </c:val>
        </c:ser>
        <c:ser>
          <c:idx val="2"/>
          <c:order val="2"/>
          <c:tx>
            <c:strRef>
              <c:f>Sheet1!$D$1</c:f>
              <c:strCache>
                <c:ptCount val="1"/>
                <c:pt idx="0">
                  <c:v>60 – 80%</c:v>
                </c:pt>
              </c:strCache>
            </c:strRef>
          </c:tx>
          <c:spPr>
            <a:solidFill>
              <a:srgbClr val="CA6F1E"/>
            </a:solidFill>
          </c:spPr>
          <c:invertIfNegative val="0"/>
          <c:dLbls>
            <c:numFmt formatCode="0;;;" sourceLinked="0"/>
            <c:txPr>
              <a:bodyPr/>
              <a:lstStyle/>
              <a:p>
                <a:pPr>
                  <a:defRPr sz="800" b="1">
                    <a:solidFill>
                      <a:srgbClr val="FFFFFF"/>
                    </a:solidFill>
                    <a:latin typeface="Calibri"/>
                  </a:defRPr>
                </a:pPr>
              </a:p>
            </c:txPr>
            <c:dLblPos val="ctr"/>
            <c:showLegendKey val="0"/>
            <c:showVal val="1"/>
            <c:showCatName val="0"/>
            <c:showSerName val="0"/>
            <c:showPercent val="0"/>
            <c:showBubbleSize val="0"/>
            <c:showLeaderLines val="1"/>
          </c:dLbls>
          <c:cat>
            <c:strRef>
              <c:f>Sheet1!$A$2:$A$5</c:f>
              <c:strCache>
                <c:ptCount val="4"/>
                <c:pt idx="0">
                  <c:v>Jul</c:v>
                </c:pt>
                <c:pt idx="1">
                  <c:v>Ago</c:v>
                </c:pt>
                <c:pt idx="2">
                  <c:v>Sep</c:v>
                </c:pt>
                <c:pt idx="3">
                  <c:v>Oct (1 al 20)</c:v>
                </c:pt>
              </c:strCache>
            </c:strRef>
          </c:cat>
          <c:val>
            <c:numRef>
              <c:f>Sheet1!$D$2:$D$5</c:f>
              <c:numCache>
                <c:formatCode>General</c:formatCode>
                <c:ptCount val="4"/>
                <c:pt idx="0">
                  <c:v>11</c:v>
                </c:pt>
                <c:pt idx="1">
                  <c:v>7</c:v>
                </c:pt>
                <c:pt idx="2">
                  <c:v>9</c:v>
                </c:pt>
                <c:pt idx="3">
                  <c:v>17</c:v>
                </c:pt>
              </c:numCache>
            </c:numRef>
          </c:val>
        </c:ser>
        <c:ser>
          <c:idx val="3"/>
          <c:order val="3"/>
          <c:tx>
            <c:strRef>
              <c:f>Sheet1!$E$1</c:f>
              <c:strCache>
                <c:ptCount val="1"/>
                <c:pt idx="0">
                  <c:v>&lt; 60%</c:v>
                </c:pt>
              </c:strCache>
            </c:strRef>
          </c:tx>
          <c:spPr>
            <a:solidFill>
              <a:srgbClr val="C0392B"/>
            </a:solidFill>
          </c:spPr>
          <c:invertIfNegative val="0"/>
          <c:dLbls>
            <c:numFmt formatCode="0;;;" sourceLinked="0"/>
            <c:txPr>
              <a:bodyPr/>
              <a:lstStyle/>
              <a:p>
                <a:pPr>
                  <a:defRPr sz="800" b="1">
                    <a:solidFill>
                      <a:srgbClr val="FFFFFF"/>
                    </a:solidFill>
                    <a:latin typeface="Calibri"/>
                  </a:defRPr>
                </a:pPr>
              </a:p>
            </c:txPr>
            <c:dLblPos val="ctr"/>
            <c:showLegendKey val="0"/>
            <c:showVal val="1"/>
            <c:showCatName val="0"/>
            <c:showSerName val="0"/>
            <c:showPercent val="0"/>
            <c:showBubbleSize val="0"/>
            <c:showLeaderLines val="1"/>
          </c:dLbls>
          <c:cat>
            <c:strRef>
              <c:f>Sheet1!$A$2:$A$5</c:f>
              <c:strCache>
                <c:ptCount val="4"/>
                <c:pt idx="0">
                  <c:v>Jul</c:v>
                </c:pt>
                <c:pt idx="1">
                  <c:v>Ago</c:v>
                </c:pt>
                <c:pt idx="2">
                  <c:v>Sep</c:v>
                </c:pt>
                <c:pt idx="3">
                  <c:v>Oct (1 al 20)</c:v>
                </c:pt>
              </c:strCache>
            </c:strRef>
          </c:cat>
          <c:val>
            <c:numRef>
              <c:f>Sheet1!$E$2:$E$5</c:f>
              <c:numCache>
                <c:formatCode>General</c:formatCode>
                <c:ptCount val="4"/>
                <c:pt idx="0">
                  <c:v>2</c:v>
                </c:pt>
                <c:pt idx="1">
                  <c:v>0</c:v>
                </c:pt>
                <c:pt idx="2">
                  <c:v>0</c:v>
                </c:pt>
                <c:pt idx="3">
                  <c:v>5</c:v>
                </c:pt>
              </c:numCache>
            </c:numRef>
          </c:val>
        </c:ser>
        <c:gapWidth val="40"/>
        <c:overlap val="100"/>
        <c:axId val="-2068027336"/>
        <c:axId val="-2113994440"/>
      </c:barChart>
      <c:catAx>
        <c:axId val="-2068027336"/>
        <c:scaling>
          <c:orientation val="minMax"/>
        </c:scaling>
        <c:delete val="0"/>
        <c:axPos val="b"/>
        <c:majorTickMark val="out"/>
        <c:minorTickMark val="none"/>
        <c:tickLblPos val="nextTo"/>
        <c:spPr>
          <a:ln>
            <a:solidFill>
              <a:srgbClr val="C8CDD2"/>
            </a:solidFill>
          </a:ln>
        </c:spPr>
        <c:txPr>
          <a:bodyPr/>
          <a:lstStyle/>
          <a:p>
            <a:pPr>
              <a:defRPr sz="800">
                <a:solidFill>
                  <a:srgbClr val="404040"/>
                </a:solidFill>
                <a:latin typeface="Calibri"/>
              </a:defRPr>
            </a:pPr>
          </a:p>
        </c:txPr>
        <c:crossAx val="-2113994440"/>
        <c:crosses val="autoZero"/>
        <c:auto val="1"/>
        <c:lblAlgn val="ctr"/>
        <c:lblOffset val="100"/>
        <c:noMultiLvlLbl val="0"/>
      </c:catAx>
      <c:valAx>
        <c:axId val="-2113994440"/>
        <c:scaling>
          <c:max val="40.0"/>
          <c:min val="0.0"/>
        </c:scaling>
        <c:delete val="0"/>
        <c:axPos val="l"/>
        <c:majorGridlines>
          <c:spPr>
            <a:ln w="6350">
              <a:solidFill>
                <a:srgbClr val="E5E8EB"/>
              </a:solidFill>
            </a:ln>
          </c:spPr>
        </c:majorGridlines>
        <c:numFmt formatCode="#,##0" sourceLinked="0"/>
        <c:majorTickMark val="out"/>
        <c:minorTickMark val="none"/>
        <c:tickLblPos val="nextTo"/>
        <c:spPr>
          <a:ln>
            <a:noFill/>
          </a:ln>
        </c:spPr>
        <c:txPr>
          <a:bodyPr/>
          <a:lstStyle/>
          <a:p>
            <a:pPr>
              <a:defRPr sz="750">
                <a:solidFill>
                  <a:srgbClr val="808080"/>
                </a:solidFill>
                <a:latin typeface="Calibri"/>
              </a:defRPr>
            </a:pPr>
          </a:p>
        </c:txPr>
        <c:crossAx val="-2068027336"/>
        <c:crosses val="autoZero"/>
        <c:majorUnit val="5.0"/>
      </c:valAx>
    </c:plotArea>
    <c:legend>
      <c:legendPos val="b"/>
      <c:overlay val="0"/>
      <c:txPr>
        <a:bodyPr/>
        <a:lstStyle/>
        <a:p>
          <a:pPr>
            <a:defRPr sz="800">
              <a:latin typeface="Calibri"/>
            </a:defRPr>
          </a:pPr>
        </a:p>
      </c:txPr>
    </c:legend>
    <c:dispBlanksAs val="gap"/>
  </c:chart>
  <c:txPr>
    <a:bodyPr/>
    <a:lstStyle/>
    <a:p>
      <a:pPr>
        <a:defRPr sz="800">
          <a:solidFill>
            <a:srgbClr val="404040"/>
          </a:solidFill>
          <a:latin typeface="Calibri"/>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style val="2"/>
  <c:chart>
    <c:autoTitleDeleted val="1"/>
    <c:plotArea>
      <c:lineChart>
        <c:grouping val="standard"/>
        <c:varyColors val="0"/>
        <c:ser>
          <c:idx val="0"/>
          <c:order val="0"/>
          <c:tx>
            <c:strRef>
              <c:f>Sheet1!$B$1</c:f>
              <c:strCache>
                <c:ptCount val="1"/>
                <c:pt idx="0">
                  <c:v>35 casas comparables</c:v>
                </c:pt>
              </c:strCache>
            </c:strRef>
          </c:tx>
          <c:spPr>
            <a:ln w="38100">
              <a:solidFill>
                <a:srgbClr val="2B5BA3"/>
              </a:solidFill>
            </a:ln>
          </c:spPr>
          <c:marker>
            <c:symbol val="circle"/>
            <c:size val="6"/>
            <c:spPr>
              <a:solidFill>
                <a:srgbClr val="2B5BA3"/>
              </a:solidFill>
              <a:ln>
                <a:solidFill>
                  <a:srgbClr val="FFFFFF"/>
                </a:solidFill>
              </a:ln>
            </c:spPr>
          </c:marker>
          <c:dLbls>
            <c:numFmt formatCode="0.0" sourceLinked="0"/>
            <c:txPr>
              <a:bodyPr/>
              <a:lstStyle/>
              <a:p>
                <a:pPr>
                  <a:defRPr sz="750" b="1">
                    <a:solidFill>
                      <a:srgbClr val="2B5BA3"/>
                    </a:solidFill>
                    <a:latin typeface="Calibri"/>
                  </a:defRPr>
                </a:pPr>
              </a:p>
            </c:txPr>
            <c:dLblPos val="t"/>
            <c:showLegendKey val="0"/>
            <c:showVal val="1"/>
            <c:showCatName val="0"/>
            <c:showSerName val="0"/>
            <c:showPercent val="0"/>
            <c:showBubbleSize val="0"/>
            <c:showLeaderLines val="1"/>
          </c:dLbls>
          <c:cat>
            <c:strRef>
              <c:f>Sheet1!$A$2:$A$5</c:f>
              <c:strCache>
                <c:ptCount val="4"/>
                <c:pt idx="0">
                  <c:v>Jul</c:v>
                </c:pt>
                <c:pt idx="1">
                  <c:v>Ago</c:v>
                </c:pt>
                <c:pt idx="2">
                  <c:v>Sep</c:v>
                </c:pt>
                <c:pt idx="3">
                  <c:v>Oct (1 al 20)</c:v>
                </c:pt>
              </c:strCache>
            </c:strRef>
          </c:cat>
          <c:val>
            <c:numRef>
              <c:f>Sheet1!$B$2:$B$5</c:f>
              <c:numCache>
                <c:formatCode>General</c:formatCode>
                <c:ptCount val="4"/>
                <c:pt idx="0">
                  <c:v>70.3</c:v>
                </c:pt>
                <c:pt idx="1">
                  <c:v>69.5</c:v>
                </c:pt>
                <c:pt idx="2">
                  <c:v>67.8</c:v>
                </c:pt>
                <c:pt idx="3">
                  <c:v>71.8</c:v>
                </c:pt>
              </c:numCache>
            </c:numRef>
          </c:val>
          <c:smooth val="0"/>
        </c:ser>
        <c:ser>
          <c:idx val="1"/>
          <c:order val="1"/>
          <c:tx>
            <c:strRef>
              <c:f>Sheet1!$C$1</c:f>
              <c:strCache>
                <c:ptCount val="1"/>
                <c:pt idx="0">
                  <c:v>Portafolio BD1</c:v>
                </c:pt>
              </c:strCache>
            </c:strRef>
          </c:tx>
          <c:spPr>
            <a:ln w="28575">
              <a:solidFill>
                <a:srgbClr val="A9C1E8"/>
              </a:solidFill>
            </a:ln>
          </c:spPr>
          <c:marker>
            <c:symbol val="circle"/>
            <c:size val="6"/>
            <c:spPr>
              <a:solidFill>
                <a:srgbClr val="A9C1E8"/>
              </a:solidFill>
              <a:ln>
                <a:solidFill>
                  <a:srgbClr val="FFFFFF"/>
                </a:solidFill>
              </a:ln>
            </c:spPr>
          </c:marker>
          <c:dLbls>
            <c:numFmt formatCode="0.0" sourceLinked="0"/>
            <c:txPr>
              <a:bodyPr/>
              <a:lstStyle/>
              <a:p>
                <a:pPr>
                  <a:defRPr sz="750" b="1">
                    <a:solidFill>
                      <a:srgbClr val="55636E"/>
                    </a:solidFill>
                    <a:latin typeface="Calibri"/>
                  </a:defRPr>
                </a:pPr>
              </a:p>
            </c:txPr>
            <c:dLblPos val="b"/>
            <c:showLegendKey val="0"/>
            <c:showVal val="1"/>
            <c:showCatName val="0"/>
            <c:showSerName val="0"/>
            <c:showPercent val="0"/>
            <c:showBubbleSize val="0"/>
            <c:showLeaderLines val="1"/>
          </c:dLbls>
          <c:cat>
            <c:strRef>
              <c:f>Sheet1!$A$2:$A$5</c:f>
              <c:strCache>
                <c:ptCount val="4"/>
                <c:pt idx="0">
                  <c:v>Jul</c:v>
                </c:pt>
                <c:pt idx="1">
                  <c:v>Ago</c:v>
                </c:pt>
                <c:pt idx="2">
                  <c:v>Sep</c:v>
                </c:pt>
                <c:pt idx="3">
                  <c:v>Oct (1 al 20)</c:v>
                </c:pt>
              </c:strCache>
            </c:strRef>
          </c:cat>
          <c:val>
            <c:numRef>
              <c:f>Sheet1!$C$2:$C$5</c:f>
              <c:numCache>
                <c:formatCode>General</c:formatCode>
                <c:ptCount val="4"/>
                <c:pt idx="0">
                  <c:v>70.2</c:v>
                </c:pt>
                <c:pt idx="1">
                  <c:v>68.1</c:v>
                </c:pt>
                <c:pt idx="2">
                  <c:v>66.6</c:v>
                </c:pt>
                <c:pt idx="3">
                  <c:v>70.4</c:v>
                </c:pt>
              </c:numCache>
            </c:numRef>
          </c:val>
          <c:smooth val="0"/>
        </c:ser>
        <c:ser>
          <c:idx val="2"/>
          <c:order val="2"/>
          <c:tx>
            <c:strRef>
              <c:f>Sheet1!$D$1</c:f>
              <c:strCache>
                <c:ptCount val="1"/>
                <c:pt idx="0">
                  <c:v>Referencia 70%</c:v>
                </c:pt>
              </c:strCache>
            </c:strRef>
          </c:tx>
          <c:spPr>
            <a:ln w="15875">
              <a:solidFill>
                <a:srgbClr val="1B3A6B"/>
              </a:solidFill>
              <a:prstDash val="dash"/>
            </a:ln>
          </c:spPr>
          <c:marker>
            <c:symbol val="none"/>
          </c:marker>
          <c:cat>
            <c:strRef>
              <c:f>Sheet1!$A$2:$A$5</c:f>
              <c:strCache>
                <c:ptCount val="4"/>
                <c:pt idx="0">
                  <c:v>Jul</c:v>
                </c:pt>
                <c:pt idx="1">
                  <c:v>Ago</c:v>
                </c:pt>
                <c:pt idx="2">
                  <c:v>Sep</c:v>
                </c:pt>
                <c:pt idx="3">
                  <c:v>Oct (1 al 20)</c:v>
                </c:pt>
              </c:strCache>
            </c:strRef>
          </c:cat>
          <c:val>
            <c:numRef>
              <c:f>Sheet1!$D$2:$D$5</c:f>
              <c:numCache>
                <c:formatCode>General</c:formatCode>
                <c:ptCount val="4"/>
                <c:pt idx="0">
                  <c:v>70</c:v>
                </c:pt>
                <c:pt idx="1">
                  <c:v>70</c:v>
                </c:pt>
                <c:pt idx="2">
                  <c:v>70</c:v>
                </c:pt>
                <c:pt idx="3">
                  <c:v>70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8CDD2"/>
            </a:solidFill>
          </a:ln>
        </c:spPr>
        <c:txPr>
          <a:bodyPr/>
          <a:lstStyle/>
          <a:p>
            <a:pPr>
              <a:defRPr sz="800">
                <a:solidFill>
                  <a:srgbClr val="404040"/>
                </a:solidFill>
                <a:latin typeface="Calibri"/>
              </a:defRPr>
            </a:pPr>
          </a:p>
        </c:txPr>
        <c:crossAx val="2140495176"/>
        <c:crosses val="autoZero"/>
        <c:auto val="1"/>
        <c:lblAlgn val="ctr"/>
        <c:lblOffset val="100"/>
        <c:noMultiLvlLbl val="0"/>
      </c:catAx>
      <c:valAx>
        <c:axId val="2140495176"/>
        <c:scaling>
          <c:max val="74.0"/>
          <c:min val="62.0"/>
        </c:scaling>
        <c:delete val="0"/>
        <c:axPos val="l"/>
        <c:majorGridlines>
          <c:spPr>
            <a:ln w="6350">
              <a:solidFill>
                <a:srgbClr val="E5E8EB"/>
              </a:solidFill>
            </a:ln>
          </c:spPr>
        </c:majorGridlines>
        <c:numFmt formatCode="0" sourceLinked="0"/>
        <c:majorTickMark val="out"/>
        <c:minorTickMark val="none"/>
        <c:tickLblPos val="nextTo"/>
        <c:spPr>
          <a:ln>
            <a:noFill/>
          </a:ln>
        </c:spPr>
        <c:txPr>
          <a:bodyPr/>
          <a:lstStyle/>
          <a:p>
            <a:pPr>
              <a:defRPr sz="750">
                <a:solidFill>
                  <a:srgbClr val="808080"/>
                </a:solidFill>
                <a:latin typeface="Calibri"/>
              </a:defRPr>
            </a:pPr>
          </a:p>
        </c:txPr>
        <c:crossAx val="2118791784"/>
        <c:crosses val="autoZero"/>
        <c:majorUnit val="2.0"/>
      </c:valAx>
    </c:plotArea>
    <c:legend>
      <c:legendPos val="b"/>
      <c:layout/>
      <c:overlay val="0"/>
      <c:txPr>
        <a:bodyPr/>
        <a:lstStyle/>
        <a:p>
          <a:pPr>
            <a:defRPr sz="800">
              <a:latin typeface="Calibri"/>
            </a:defRPr>
          </a:pPr>
        </a:p>
      </c:txPr>
    </c:legend>
    <c:plotVisOnly val="1"/>
    <c:dispBlanksAs val="gap"/>
    <c:showDLblsOverMax val="0"/>
  </c:chart>
  <c:txPr>
    <a:bodyPr/>
    <a:lstStyle/>
    <a:p>
      <a:pPr>
        <a:defRPr sz="800">
          <a:solidFill>
            <a:srgbClr val="404040"/>
          </a:solidFill>
          <a:latin typeface="Calibri"/>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style val="2"/>
  <c:chart>
    <c:autoTitleDeleted val="1"/>
    <c:plotArea>
      <c:barChart>
        <c:barDir val="col"/>
        <c:grouping val="clustered"/>
        <c:varyColors val="0"/>
        <c:ser>
          <c:idx val="0"/>
          <c:order val="0"/>
          <c:tx>
            <c:strRef>
              <c:f>Sheet1!$B$1</c:f>
              <c:strCache>
                <c:ptCount val="1"/>
                <c:pt idx="0">
                  <c:v>Jul</c:v>
                </c:pt>
              </c:strCache>
            </c:strRef>
          </c:tx>
          <c:spPr>
            <a:solidFill>
              <a:srgbClr val="C9D2E3"/>
            </a:solidFill>
          </c:spPr>
          <c:invertIfNegative val="0"/>
          <c:cat>
            <c:strRef>
              <c:f>Sheet1!$A$2:$A$11</c:f>
              <c:strCache>
                <c:ptCount val="10"/>
                <c:pt idx="0">
                  <c:v>Reservas</c:v>
                </c:pt>
                <c:pt idx="1">
                  <c:v>Prado V.</c:v>
                </c:pt>
                <c:pt idx="2">
                  <c:v>Terra by Kaia</c:v>
                </c:pt>
                <c:pt idx="3">
                  <c:v>Terranova</c:v>
                </c:pt>
                <c:pt idx="4">
                  <c:v>Los Abedules</c:v>
                </c:pt>
                <c:pt idx="5">
                  <c:v>Llanos de Pance</c:v>
                </c:pt>
                <c:pt idx="6">
                  <c:v>Portón Rivera</c:v>
                </c:pt>
                <c:pt idx="7">
                  <c:v>Pance Camp.</c:v>
                </c:pt>
                <c:pt idx="8">
                  <c:v>Gerona</c:v>
                </c:pt>
                <c:pt idx="9">
                  <c:v>Castellana</c:v>
                </c:pt>
              </c:strCache>
            </c:strRef>
          </c:cat>
          <c:val>
            <c:numRef>
              <c:f>Sheet1!$B$2:$B$11</c:f>
              <c:numCache>
                <c:formatCode>General</c:formatCode>
                <c:ptCount val="10"/>
                <c:pt idx="0">
                  <c:v>19.3</c:v>
                </c:pt>
                <c:pt idx="1">
                  <c:v>18.1</c:v>
                </c:pt>
                <c:pt idx="2">
                  <c:v>28.7</c:v>
                </c:pt>
                <c:pt idx="4">
                  <c:v>48.4</c:v>
                </c:pt>
                <c:pt idx="6">
                  <c:v>16.4</c:v>
                </c:pt>
              </c:numCache>
            </c:numRef>
          </c:val>
        </c:ser>
        <c:ser>
          <c:idx val="1"/>
          <c:order val="1"/>
          <c:tx>
            <c:strRef>
              <c:f>Sheet1!$C$1</c:f>
              <c:strCache>
                <c:ptCount val="1"/>
                <c:pt idx="0">
                  <c:v>Ago</c:v>
                </c:pt>
              </c:strCache>
            </c:strRef>
          </c:tx>
          <c:spPr>
            <a:solidFill>
              <a:srgbClr val="A9C1E8"/>
            </a:solidFill>
          </c:spPr>
          <c:invertIfNegative val="0"/>
          <c:cat>
            <c:strRef>
              <c:f>Sheet1!$A$2:$A$11</c:f>
              <c:strCache>
                <c:ptCount val="10"/>
                <c:pt idx="0">
                  <c:v>Reservas</c:v>
                </c:pt>
                <c:pt idx="1">
                  <c:v>Prado V.</c:v>
                </c:pt>
                <c:pt idx="2">
                  <c:v>Terra by Kaia</c:v>
                </c:pt>
                <c:pt idx="3">
                  <c:v>Terranova</c:v>
                </c:pt>
                <c:pt idx="4">
                  <c:v>Los Abedules</c:v>
                </c:pt>
                <c:pt idx="5">
                  <c:v>Llanos de Pance</c:v>
                </c:pt>
                <c:pt idx="6">
                  <c:v>Portón Rivera</c:v>
                </c:pt>
                <c:pt idx="7">
                  <c:v>Pance Camp.</c:v>
                </c:pt>
                <c:pt idx="8">
                  <c:v>Gerona</c:v>
                </c:pt>
                <c:pt idx="9">
                  <c:v>Castellana</c:v>
                </c:pt>
              </c:strCache>
            </c:strRef>
          </c:cat>
          <c:val>
            <c:numRef>
              <c:f>Sheet1!$C$2:$C$11</c:f>
              <c:numCache>
                <c:formatCode>General</c:formatCode>
                <c:ptCount val="10"/>
                <c:pt idx="0">
                  <c:v>22.4</c:v>
                </c:pt>
                <c:pt idx="1">
                  <c:v>18.1</c:v>
                </c:pt>
                <c:pt idx="2">
                  <c:v>30.0</c:v>
                </c:pt>
                <c:pt idx="3">
                  <c:v>15.7</c:v>
                </c:pt>
                <c:pt idx="4">
                  <c:v>50.8</c:v>
                </c:pt>
                <c:pt idx="5">
                  <c:v>20.6</c:v>
                </c:pt>
                <c:pt idx="6">
                  <c:v>19.8</c:v>
                </c:pt>
                <c:pt idx="7">
                  <c:v>41.6</c:v>
                </c:pt>
              </c:numCache>
            </c:numRef>
          </c:val>
        </c:ser>
        <c:ser>
          <c:idx val="2"/>
          <c:order val="2"/>
          <c:tx>
            <c:strRef>
              <c:f>Sheet1!$D$1</c:f>
              <c:strCache>
                <c:ptCount val="1"/>
                <c:pt idx="0">
                  <c:v>Sep</c:v>
                </c:pt>
              </c:strCache>
            </c:strRef>
          </c:tx>
          <c:spPr>
            <a:solidFill>
              <a:srgbClr val="2B5BA3"/>
            </a:solidFill>
          </c:spPr>
          <c:invertIfNegative val="0"/>
          <c:cat>
            <c:strRef>
              <c:f>Sheet1!$A$2:$A$11</c:f>
              <c:strCache>
                <c:ptCount val="10"/>
                <c:pt idx="0">
                  <c:v>Reservas</c:v>
                </c:pt>
                <c:pt idx="1">
                  <c:v>Prado V.</c:v>
                </c:pt>
                <c:pt idx="2">
                  <c:v>Terra by Kaia</c:v>
                </c:pt>
                <c:pt idx="3">
                  <c:v>Terranova</c:v>
                </c:pt>
                <c:pt idx="4">
                  <c:v>Los Abedules</c:v>
                </c:pt>
                <c:pt idx="5">
                  <c:v>Llanos de Pance</c:v>
                </c:pt>
                <c:pt idx="6">
                  <c:v>Portón Rivera</c:v>
                </c:pt>
                <c:pt idx="7">
                  <c:v>Pance Camp.</c:v>
                </c:pt>
                <c:pt idx="8">
                  <c:v>Gerona</c:v>
                </c:pt>
                <c:pt idx="9">
                  <c:v>Castellana</c:v>
                </c:pt>
              </c:strCache>
            </c:strRef>
          </c:cat>
          <c:val>
            <c:numRef>
              <c:f>Sheet1!$D$2:$D$11</c:f>
              <c:numCache>
                <c:formatCode>General</c:formatCode>
                <c:ptCount val="10"/>
                <c:pt idx="0">
                  <c:v>22.3</c:v>
                </c:pt>
                <c:pt idx="1">
                  <c:v>16.2</c:v>
                </c:pt>
                <c:pt idx="2">
                  <c:v>32.4</c:v>
                </c:pt>
                <c:pt idx="3">
                  <c:v>62.7</c:v>
                </c:pt>
                <c:pt idx="4">
                  <c:v>48.0</c:v>
                </c:pt>
                <c:pt idx="5">
                  <c:v>17.7</c:v>
                </c:pt>
                <c:pt idx="6">
                  <c:v>18.9</c:v>
                </c:pt>
                <c:pt idx="7">
                  <c:v>27.7</c:v>
                </c:pt>
                <c:pt idx="8">
                  <c:v>49.2</c:v>
                </c:pt>
              </c:numCache>
            </c:numRef>
          </c:val>
        </c:ser>
        <c:ser>
          <c:idx val="3"/>
          <c:order val="3"/>
          <c:tx>
            <c:strRef>
              <c:f>Sheet1!$E$1</c:f>
              <c:strCache>
                <c:ptCount val="1"/>
                <c:pt idx="0">
                  <c:v>Oct</c:v>
                </c:pt>
              </c:strCache>
            </c:strRef>
          </c:tx>
          <c:spPr>
            <a:solidFill>
              <a:srgbClr val="F5A623"/>
            </a:solidFill>
          </c:spPr>
          <c:invertIfNegative val="0"/>
          <c:cat>
            <c:strRef>
              <c:f>Sheet1!$A$2:$A$11</c:f>
              <c:strCache>
                <c:ptCount val="10"/>
                <c:pt idx="0">
                  <c:v>Reservas</c:v>
                </c:pt>
                <c:pt idx="1">
                  <c:v>Prado V.</c:v>
                </c:pt>
                <c:pt idx="2">
                  <c:v>Terra by Kaia</c:v>
                </c:pt>
                <c:pt idx="3">
                  <c:v>Terranova</c:v>
                </c:pt>
                <c:pt idx="4">
                  <c:v>Los Abedules</c:v>
                </c:pt>
                <c:pt idx="5">
                  <c:v>Llanos de Pance</c:v>
                </c:pt>
                <c:pt idx="6">
                  <c:v>Portón Rivera</c:v>
                </c:pt>
                <c:pt idx="7">
                  <c:v>Pance Camp.</c:v>
                </c:pt>
                <c:pt idx="8">
                  <c:v>Gerona</c:v>
                </c:pt>
                <c:pt idx="9">
                  <c:v>Castellana</c:v>
                </c:pt>
              </c:strCache>
            </c:strRef>
          </c:cat>
          <c:val>
            <c:numRef>
              <c:f>Sheet1!$E$2:$E$11</c:f>
              <c:numCache>
                <c:formatCode>General</c:formatCode>
                <c:ptCount val="10"/>
                <c:pt idx="0">
                  <c:v>16.1</c:v>
                </c:pt>
                <c:pt idx="1">
                  <c:v>15.9</c:v>
                </c:pt>
                <c:pt idx="2">
                  <c:v>29.5</c:v>
                </c:pt>
                <c:pt idx="3">
                  <c:v>52.8</c:v>
                </c:pt>
                <c:pt idx="4">
                  <c:v>34.8</c:v>
                </c:pt>
                <c:pt idx="5">
                  <c:v>12.0</c:v>
                </c:pt>
                <c:pt idx="6">
                  <c:v>18.1</c:v>
                </c:pt>
                <c:pt idx="7">
                  <c:v>44.1</c:v>
                </c:pt>
                <c:pt idx="8">
                  <c:v>52.9</c:v>
                </c:pt>
                <c:pt idx="9">
                  <c:v>64.6</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C8CDD2"/>
            </a:solidFill>
          </a:ln>
        </c:spPr>
        <c:txPr>
          <a:bodyPr/>
          <a:lstStyle/>
          <a:p>
            <a:pPr>
              <a:defRPr sz="800">
                <a:solidFill>
                  <a:srgbClr val="404040"/>
                </a:solidFill>
                <a:latin typeface="Calibri"/>
              </a:defRPr>
            </a:pPr>
          </a:p>
        </c:txPr>
        <c:crossAx val="-2113994440"/>
        <c:crosses val="autoZero"/>
        <c:auto val="1"/>
        <c:lblAlgn val="ctr"/>
        <c:lblOffset val="100"/>
        <c:noMultiLvlLbl val="0"/>
      </c:catAx>
      <c:valAx>
        <c:axId val="-2113994440"/>
        <c:scaling>
          <c:max val="70.0"/>
          <c:min val="0.0"/>
        </c:scaling>
        <c:delete val="0"/>
        <c:axPos val="l"/>
        <c:majorGridlines>
          <c:spPr>
            <a:ln w="6350">
              <a:solidFill>
                <a:srgbClr val="E5E8EB"/>
              </a:solidFill>
            </a:ln>
          </c:spPr>
        </c:majorGridlines>
        <c:numFmt formatCode="#,##0" sourceLinked="0"/>
        <c:majorTickMark val="out"/>
        <c:minorTickMark val="none"/>
        <c:tickLblPos val="nextTo"/>
        <c:spPr>
          <a:ln>
            <a:noFill/>
          </a:ln>
        </c:spPr>
        <c:txPr>
          <a:bodyPr/>
          <a:lstStyle/>
          <a:p>
            <a:pPr>
              <a:defRPr sz="750">
                <a:solidFill>
                  <a:srgbClr val="808080"/>
                </a:solidFill>
                <a:latin typeface="Calibri"/>
              </a:defRPr>
            </a:pPr>
          </a:p>
        </c:txPr>
        <c:crossAx val="-2068027336"/>
        <c:crosses val="autoZero"/>
        <c:majorUnit val="10.0"/>
      </c:valAx>
    </c:plotArea>
    <c:legend>
      <c:legendPos val="b"/>
      <c:overlay val="0"/>
      <c:txPr>
        <a:bodyPr/>
        <a:lstStyle/>
        <a:p>
          <a:pPr>
            <a:defRPr sz="800">
              <a:latin typeface="Calibri"/>
            </a:defRPr>
          </a:pPr>
        </a:p>
      </c:txPr>
    </c:legend>
    <c:dispBlanksAs val="gap"/>
  </c:chart>
  <c:txPr>
    <a:bodyPr/>
    <a:lstStyle/>
    <a:p>
      <a:pPr>
        <a:defRPr sz="800">
          <a:solidFill>
            <a:srgbClr val="404040"/>
          </a:solidFill>
          <a:latin typeface="Calibri"/>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roundedCorners val="1"/>
  <c:style val="2"/>
  <c:chart>
    <c:autoTitleDeleted val="1"/>
    <c:plotArea>
      <c:scatterChart>
        <c:scatterStyle val="lineMarker"/>
        <c:varyColors val="0"/>
        <c:ser>
          <c:idx val="0"/>
          <c:order val="0"/>
          <c:tx>
            <c:strRef>
              <c:f>Sheet1!$B$1</c:f>
              <c:strCache>
                <c:ptCount val="1"/>
                <c:pt idx="0">
                  <c:v>Casas</c:v>
                </c:pt>
              </c:strCache>
            </c:strRef>
          </c:tx>
          <c:spPr>
            <a:ln w="47625">
              <a:noFill/>
            </a:ln>
          </c:spPr>
          <c:marker>
            <c:symbol val="circle"/>
            <c:size val="6"/>
            <c:spPr>
              <a:solidFill>
                <a:srgbClr val="2B5BA3"/>
              </a:solidFill>
              <a:ln>
                <a:solidFill>
                  <a:srgbClr val="FFFFFF"/>
                </a:solidFill>
              </a:ln>
            </c:spPr>
          </c:marker>
          <c:trendline>
            <c:spPr>
              <a:ln w="15875">
                <a:solidFill>
                  <a:srgbClr val="1B3A6B"/>
                </a:solidFill>
                <a:prstDash val="dash"/>
              </a:ln>
            </c:spPr>
            <c:trendlineType val="linear"/>
            <c:dispRSqr val="0"/>
            <c:dispEq val="0"/>
          </c:trendline>
          <c:xVal>
            <c:numRef>
              <c:f>Sheet1!$A$2:$A$36</c:f>
              <c:numCache>
                <c:formatCode>General</c:formatCode>
                <c:ptCount val="35"/>
                <c:pt idx="0">
                  <c:v>-81.03144568058174</c:v>
                </c:pt>
                <c:pt idx="1">
                  <c:v>-55.84858802420587</c:v>
                </c:pt>
                <c:pt idx="2">
                  <c:v>-38.94718910439246</c:v>
                </c:pt>
                <c:pt idx="3">
                  <c:v>-36.40032210514976</c:v>
                </c:pt>
                <c:pt idx="4">
                  <c:v>-36.09853435736405</c:v>
                </c:pt>
                <c:pt idx="5">
                  <c:v>-34.07128127060082</c:v>
                </c:pt>
                <c:pt idx="6">
                  <c:v>-30.87120427845822</c:v>
                </c:pt>
                <c:pt idx="7">
                  <c:v>-29.131611803134728</c:v>
                </c:pt>
                <c:pt idx="8">
                  <c:v>-27.98951697715194</c:v>
                </c:pt>
                <c:pt idx="9">
                  <c:v>-26.533010024111036</c:v>
                </c:pt>
                <c:pt idx="10">
                  <c:v>-26.513837458083856</c:v>
                </c:pt>
                <c:pt idx="11">
                  <c:v>-26.022390682904707</c:v>
                </c:pt>
                <c:pt idx="12">
                  <c:v>-21.063156435722753</c:v>
                </c:pt>
                <c:pt idx="13">
                  <c:v>-18.975329225017855</c:v>
                </c:pt>
                <c:pt idx="14">
                  <c:v>-16.64431947509358</c:v>
                </c:pt>
                <c:pt idx="15">
                  <c:v>-16.16836647408364</c:v>
                </c:pt>
                <c:pt idx="16">
                  <c:v>-15.760725889942428</c:v>
                </c:pt>
                <c:pt idx="17">
                  <c:v>-15.033147768838662</c:v>
                </c:pt>
                <c:pt idx="18">
                  <c:v>-14.107454283968545</c:v>
                </c:pt>
                <c:pt idx="19">
                  <c:v>-13.5135508975896</c:v>
                </c:pt>
                <c:pt idx="20">
                  <c:v>-12.797637993226251</c:v>
                </c:pt>
                <c:pt idx="21">
                  <c:v>-11.230163662075121</c:v>
                </c:pt>
                <c:pt idx="22">
                  <c:v>-9.44713904664949</c:v>
                </c:pt>
                <c:pt idx="23">
                  <c:v>-9.416013135893763</c:v>
                </c:pt>
                <c:pt idx="24">
                  <c:v>-9.090738675074483</c:v>
                </c:pt>
                <c:pt idx="25">
                  <c:v>-8.328665524423906</c:v>
                </c:pt>
                <c:pt idx="26">
                  <c:v>-5.263066080214873</c:v>
                </c:pt>
                <c:pt idx="27">
                  <c:v>-4.718035046259972</c:v>
                </c:pt>
                <c:pt idx="28">
                  <c:v>-1.961846427265046</c:v>
                </c:pt>
                <c:pt idx="29">
                  <c:v>-1.3788173989983776</c:v>
                </c:pt>
                <c:pt idx="30">
                  <c:v>4.530304132130891</c:v>
                </c:pt>
                <c:pt idx="31">
                  <c:v>4.8377645933639135</c:v>
                </c:pt>
                <c:pt idx="32">
                  <c:v>5.437893961256268</c:v>
                </c:pt>
                <c:pt idx="33">
                  <c:v>8.053962228747636</c:v>
                </c:pt>
                <c:pt idx="34">
                  <c:v>8.589898927717577</c:v>
                </c:pt>
              </c:numCache>
            </c:numRef>
          </c:xVal>
          <c:yVal>
            <c:numRef>
              <c:f>Sheet1!$B$2:$B$36</c:f>
              <c:numCache>
                <c:formatCode>General</c:formatCode>
                <c:ptCount val="35"/>
                <c:pt idx="0">
                  <c:v>-59.36400415493666</c:v>
                </c:pt>
                <c:pt idx="1">
                  <c:v>-49.70104252192895</c:v>
                </c:pt>
                <c:pt idx="2">
                  <c:v>-22.288834022298197</c:v>
                </c:pt>
                <c:pt idx="3">
                  <c:v>-22.12178048449599</c:v>
                </c:pt>
                <c:pt idx="4">
                  <c:v>-18.49611063787595</c:v>
                </c:pt>
                <c:pt idx="5">
                  <c:v>-25.30833698503597</c:v>
                </c:pt>
                <c:pt idx="6">
                  <c:v>-24.63882287283692</c:v>
                </c:pt>
                <c:pt idx="7">
                  <c:v>-10.671619553789336</c:v>
                </c:pt>
                <c:pt idx="8">
                  <c:v>-19.58888280581652</c:v>
                </c:pt>
                <c:pt idx="9">
                  <c:v>-17.785245121545223</c:v>
                </c:pt>
                <c:pt idx="10">
                  <c:v>-14.570349516959414</c:v>
                </c:pt>
                <c:pt idx="11">
                  <c:v>-34.71138458400388</c:v>
                </c:pt>
                <c:pt idx="12">
                  <c:v>-20.10298325774338</c:v>
                </c:pt>
                <c:pt idx="13">
                  <c:v>-3.8836662973360747</c:v>
                </c:pt>
                <c:pt idx="14">
                  <c:v>-8.611690716437181</c:v>
                </c:pt>
                <c:pt idx="15">
                  <c:v>-8.083847944259304</c:v>
                </c:pt>
                <c:pt idx="16">
                  <c:v>-3.890619215073965</c:v>
                </c:pt>
                <c:pt idx="17">
                  <c:v>-8.498944319047641</c:v>
                </c:pt>
                <c:pt idx="18">
                  <c:v>-16.915735203606797</c:v>
                </c:pt>
                <c:pt idx="19">
                  <c:v>-3.1383497970348007</c:v>
                </c:pt>
                <c:pt idx="20">
                  <c:v>-0.33139672544040266</c:v>
                </c:pt>
                <c:pt idx="21">
                  <c:v>-7.081178382402187</c:v>
                </c:pt>
                <c:pt idx="22">
                  <c:v>-23.34983006835679</c:v>
                </c:pt>
                <c:pt idx="23">
                  <c:v>-0.03994567648732961</c:v>
                </c:pt>
                <c:pt idx="24">
                  <c:v>-2.2204131779426928</c:v>
                </c:pt>
                <c:pt idx="25">
                  <c:v>-11.90106658667337</c:v>
                </c:pt>
                <c:pt idx="26">
                  <c:v>-4.765555810246225</c:v>
                </c:pt>
                <c:pt idx="27">
                  <c:v>-13.329616219735396</c:v>
                </c:pt>
                <c:pt idx="28">
                  <c:v>-10.427021997166118</c:v>
                </c:pt>
                <c:pt idx="29">
                  <c:v>-9.830060335076974</c:v>
                </c:pt>
                <c:pt idx="30">
                  <c:v>4.107540333851589</c:v>
                </c:pt>
                <c:pt idx="31">
                  <c:v>-2.9530869557325756</c:v>
                </c:pt>
                <c:pt idx="32">
                  <c:v>-10.603921309093678</c:v>
                </c:pt>
                <c:pt idx="33">
                  <c:v>-13.644622701679033</c:v>
                </c:pt>
                <c:pt idx="34">
                  <c:v>10.824331376112406</c:v>
                </c:pt>
              </c:numCache>
            </c:numRef>
          </c:yVal>
          <c:smooth val="0"/>
        </c:ser>
        <c:axId val="-2128940872"/>
        <c:axId val="-2129643912"/>
      </c:scatterChart>
      <c:valAx>
        <c:axId val="-2128940872"/>
        <c:scaling>
          <c:orientation val="minMax"/>
          <c:max val="20.0"/>
          <c:min val="-100.0"/>
        </c:scaling>
        <c:delete val="0"/>
        <c:axPos val="b"/>
        <c:title>
          <c:tx>
            <c:rich>
              <a:bodyPr/>
              <a:lstStyle/>
              <a:p>
                <a:r>
                  <a:rPr sz="750" b="0">
                    <a:solidFill>
                      <a:srgbClr val="55636E"/>
                    </a:solidFill>
                    <a:latin typeface="Calibri"/>
                  </a:rPr>
                  <a:t>Cambio de demanda, oct vs jul–sep (%)</a:t>
                </a:r>
              </a:p>
            </c:rich>
          </c:tx>
          <c:layout/>
          <c:overlay val="0"/>
        </c:title>
        <c:numFmt formatCode="0" sourceLinked="0"/>
        <c:majorTickMark val="out"/>
        <c:minorTickMark val="none"/>
        <c:tickLblPos val="nextTo"/>
        <c:spPr>
          <a:ln>
            <a:solidFill>
              <a:srgbClr val="C8CDD2"/>
            </a:solidFill>
          </a:ln>
        </c:spPr>
        <c:txPr>
          <a:bodyPr/>
          <a:lstStyle/>
          <a:p>
            <a:pPr>
              <a:defRPr sz="750">
                <a:solidFill>
                  <a:srgbClr val="404040"/>
                </a:solidFill>
                <a:latin typeface="Calibri"/>
              </a:defRPr>
            </a:pPr>
          </a:p>
        </c:txPr>
        <c:crossAx val="-2129643912"/>
        <c:crosses val="min"/>
        <c:crossBetween val="midCat"/>
        <c:majorUnit val="20.0"/>
      </c:valAx>
      <c:valAx>
        <c:axId val="-2129643912"/>
        <c:scaling>
          <c:orientation val="minMax"/>
          <c:max val="20.0"/>
          <c:min val="-70.0"/>
        </c:scaling>
        <c:delete val="0"/>
        <c:axPos val="l"/>
        <c:majorGridlines>
          <c:spPr>
            <a:ln w="6350">
              <a:solidFill>
                <a:srgbClr val="E5E8EB"/>
              </a:solidFill>
            </a:ln>
          </c:spPr>
        </c:majorGridlines>
        <c:title>
          <c:tx>
            <c:rich>
              <a:bodyPr/>
              <a:lstStyle/>
              <a:p>
                <a:r>
                  <a:rPr sz="750" b="0">
                    <a:solidFill>
                      <a:srgbClr val="55636E"/>
                    </a:solidFill>
                    <a:latin typeface="Calibri"/>
                  </a:rPr>
                  <a:t>Cambio de rendimiento (pts)</a:t>
                </a:r>
              </a:p>
            </c:rich>
          </c:tx>
          <c:layout/>
          <c:overlay val="0"/>
        </c:title>
        <c:numFmt formatCode="0" sourceLinked="0"/>
        <c:majorTickMark val="out"/>
        <c:minorTickMark val="none"/>
        <c:tickLblPos val="nextTo"/>
        <c:spPr>
          <a:ln>
            <a:noFill/>
          </a:ln>
        </c:spPr>
        <c:txPr>
          <a:bodyPr/>
          <a:lstStyle/>
          <a:p>
            <a:pPr>
              <a:defRPr sz="750">
                <a:solidFill>
                  <a:srgbClr val="808080"/>
                </a:solidFill>
                <a:latin typeface="Calibri"/>
              </a:defRPr>
            </a:pPr>
          </a:p>
        </c:txPr>
        <c:crossAx val="-2128940872"/>
        <c:crosses val="min"/>
        <c:crossBetween val="midCat"/>
        <c:majorUnit val="10.0"/>
      </c:valAx>
    </c:plotArea>
    <c:plotVisOnly val="1"/>
    <c:dispBlanksAs val="gap"/>
    <c:showDLblsOverMax val="0"/>
  </c:chart>
  <c:txPr>
    <a:bodyPr/>
    <a:lstStyle/>
    <a:p>
      <a:pPr>
        <a:defRPr sz="800">
          <a:solidFill>
            <a:srgbClr val="404040"/>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04485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Portada. Animación: sistema híbrido (paneles, inversor, batería y red) generando durante el día. Periodo del 01 al 20 de octubre de 2026 (20 días, no el mes completo).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Resumen para el gerente de operaciones. Las cuatro cifras superiores son medidores circulares, como los de los reportes: el arco es el valor del periodo y la marca oscura, la meta (respaldo ≥ 90%, cobertura solar ≥ 90%, rendimiento ≥ 80% del diseño; zona crítica: meta 0 viviendas, el arco es la fracción de las 48). Debajo de los tres primeros van los datos que llevan al porcentaje: horas con respaldo sobre horas sin red; generación sobre consumo; generación sobre la generación de diseño (kWp × yield patrón × días / 365). Los tres hallazgos explican los 25,1 h sin respaldo (5,5% del tiempo sin red): 10,4 h por batería sin carga y 14,7 h por falla o demora de equipo con la batería cargada. Cobertura solar media y rendimiento son el promedio simple de los 10 conjuntos (como en septiembre); ponderados por demanda y por kWp dan 70,0% y 76,4%. Zona crítica = rendimiento menor a 60% del diseño: Casa 104 (19%), Casa 57 (47%), Casa 447p (50%), Casa 74 (55%), Casa 48 (56%), Casa 10 (58%). Periodo de 20 días (01 al 20/10), no el mes completo; alcance de 48 sistemas (ver anexo).</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INIC 4 = 94,5% sobre 457,3 h de interrupción de red acumulada (sistema-horas). Eventos de red mayores a 2 min, agrupados cuando están a menos de 15 min; el tiempo sin energía es el de los huecos de tensión del medidor solar. Método reproducido con los datos de septiembre: 94,8%, 106,7 h sin red y 88 eventos en 37 viviendas. Estado: NORMAL desde 90%; ATENCIÓN entre 70% y 90%; CRÍTICO bajo 70%. Prado Verde baja a 91,3% por la Casa 447p: el 7/10 (11:35) estuvo 41 min sin energía con la batería en 0% y el 19/10 (01:57) se apagó 11 min al caer la red con SOC 52%. Terranova tuvo un solo evento de 5 min (1 min sin energía). Gerona Club House y Llanos de Pance no tuvieron cortes de más de 2 min. Los cortes que los medidores registraron con menos de 2 min no entran en el INIC (p. ej., los parpadeos de 30 s de los Deye).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fechas 03/10, 06/10 y 02/10 concentran 80,3% de las horas de interrupción acumulada (457,3 h). En los tres días el respaldo fue superior a 96%. El 04/10 (17:55) el respaldo bajó a 87,3% por la falla de transición de las Livoltek, y el 10/10 la batería de Casa 121 CR estaba en el piso. Cada evento de red se cuenta en el día en que empezó.</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Clasificación por SOC al interrumpirse: causas en horas [('soc_bajo', 10.40), ('inicio', 8.99), ('medio', 4.82), ('fin', 0.86), ('sin_dato', 0.00)]. La suma es 25.07 h. El INIC oficial no cambia; el INIC sin batería sin carga (96,8%) es solo referencia. El * marca los huecos cuyo SOC no es de los 30 min previos al apagón: se usó el último dato registrado el mismo día del evento (regla del usuario, 22/10); son 31 huecos y 1,2 h. Dos casos estaban antes sin clasificar: Casa 121 CR (02/10, inversor sin comunicación desde la tarde anterior; primera lectura del día a las 09:00, 67%, igual a la del día anterior) pasa a falla al pasar a OFF-GRID, y Casa 382p (18/10, inversor sin comunicación del 10 al 20/10, sin lectura ese día) pasa a demora al volver a la red porque el apagón empezó con la red ya de vuelta. En septiembre la primera barra fue 'Sin energía antes del corte'; en octubre no hay huecos sin clasificar.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evento del 10/10 (01:13 a 04:27: tres cortes seguidos con menos de 15 min entre ellos) empezó con la batería en 15%: la casa quedó 3 h 08 min sin energía de 3 h 14 min de red. Con carga, el respaldo fue completo (04/10 y 10/10 a las 11:44: 100%). El 01/10 (14:42) hubo además 1 h 12 min sin energía con la batería en 67%: ese caso es de equipo, no de batería. Consumo medio de la casa: 63,5 kWh/día frente a 14,6 kWh/día de la mediana de 40 casas (excluye las casas de plan 10K). Casa 121 CR llega al piso en 17 de 19 noches. Se energizó el 30/09/2026, así que octubre es su primer periodo de operación; Casas V3 actualiza su consumo de diseño a 1.419 kWh/mes (antes 993), es decir 946 kWh para los 20 días del periodo; el consumo medido del 1 al 20/10 fue 1.270 kWh (+34% sobre ese diseño).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Fuente de alarmas: «Estado de falla en el inversor» de Metrum; la duración es la de la falla (inicio a fin reportado por el inversor). Las fallas de transición se clasifican con el SOC al apagarse la casa (SOC suficiente descarta batería sin carga). Livoltek: 16 casas con caídas al inicio (8,6 h) y 17 a mitad del corte (4,4 h); 18 de 30 Livoltek tuvieron al menos una caída de más de 1 min. Deye: 8 casas con parpadeos de ~32 s al caer (0,4 h) y 9 a mitad del corte (0,4 h). El corte del 4/10 empezó a las 17:55 (1 h 46 min); los cortes de 17:37 y 17:52 duraron 70 y 85 s y no entran en el INIC. En septiembre la duración de las alarmas largas se reportó hasta el cierre manual de la alarma; aquí es la duración real de la falla.</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Yield real = generación / kWp x 365 / días con datos (20 días). Diseño: 1.188 kWh/kWp en Cali (Reservas de Pance, Los Abedules, Llanos de Pance, Portón de la Rivera y Pance Campestre) y 1.323 en la costa (Prado Verde en Turbaco; Terra by Kaia, Gerona y Castellana Real en Barranquilla; Terranova en Cartagena). Cobertura = (demanda − importación + exportación) / demanda. Los indicadores de la diapositiva 2 son el promedio simple de los conjuntos (rendimiento 80,8%; cobertura 69,3%); ponderados dan 76,4% y 70,0%. Reservas de Pance rinde 68,9%: con inyección casi nula, el rendimiento sigue al consumo diurno (la batería llena limita la generación).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Ranking de yield por sistema del 01 al 20/10 (48 sistemas). Yield real = generación del periodo (balance de medidores: demanda − importación + exportación, con los cierres diarios) / kWp × 365 / días con cierre. El diseño es el yield patrón de la región (Cali 1.188; costa 1.323 kWh/kWp/año), el mismo del rendimiento de la diapositiva 2; la meta es 80% del diseño: 27 de 48 sistemas quedan por debajo. Días lim. = días del periodo en que la batería llegó a 99% antes de las 12:00, cuando la producción FV queda limitada al consumo de la casa; mientras más días limitados, menor el % del diseño (correlación -0,82). La energía «sin recorte» (curtailment) se estima con irradiancia satelital en las diapositivas 10 y 11. † Casas 11, 29, 35, 73, 76 y 104: la carga que mide el inversor difiere más de 20% de la demanda del medidor solar (validación del 22/10); como la generación sale del balance con ese medidor, su yield puede estar subestimado. Casa 447p: 9 días con cierre diario y PV en servicio (8 al 16/10).</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Recorte (curtailment) del 01 al 20/10 de 2026 en los 48 sistemas. En Sunny se presenta por la primera causa: la batería está llena, la casa consume menos de lo que pueden producir los paneles y casi no hay exportación, así que el inversor limita la potencia FV al consumo. Es una estimación, no una medición. Cómo se estimó: (1) de cada inversor en Metrum (solo lectura) se tomó, cada 15 min, el contador de producción FV, el SOC y la potencia de la batería (los 8 Deye nuevos, con su contador ×10); (2) el potencial de cada ranura de 15 min es lo que habrían producido los paneles sin limitación: la mediana por kWp de los sistemas de la misma zona que estaban sin limitación (SOC ≤ 90% y batería cargando, al menos 3) por el factor relativo de cada sistema, y, donde no hay esa referencia, una tabla por hora e irradiancia calibrada con esos mismos sistemas; (3) la irradiancia de cada zona es del satélite GOES-19 de NOAA (producto ABI-L2-DSRF, un escaneo cada 10 min, promedio de 3×3 píxeles), con Open-Meteo como contraste (resultados dentro de ±5%); (4) el recorte es potencial − producción medida en las ranuras desde que el SOC llega a 97% hasta el ocaso. Resultado: producción medida 15.197 kWh (contador del inversor), potencial 19.572 kWh y recorte 4.375 kWh (22,4% del potencial). Rango 4.182 a 4.893 kWh: el bajo corrige el sesgo medido en días sin limitación y el alto no lo corrige; con otros métodos de potencial y otras ventanas de SOC el total queda entre 4.546 y 5.102 kWh. La generación de la diapositiva 8 (13.631 kWh) sale del balance de medidores y equivale a 90% de lo que cuenta el contador del inversor (que incluye pérdidas de batería e inversor): por eso el rendimiento sin recorte (97,8% del diseño, frente a 76,4% medido, el «portafolio» de la diapositiva 2) aplica a la generación por balance la proporción de recorte de cada sistema (17.439 kWh equivalentes). Con el yield de la diapositiva 9 ponderado por kWp, el portafolio pasa de 951 a 1.219 kWh/kWp·año. Estado de la batería cuando se pierde la energía: en reposo y llena 82%; cargando con poca corriente (SOC ≥ 95%) 14%; descargando 4% (en pocas casas, como Casa 425p y Casa 2: parece un modo de operación del inversor que prioriza la batería, no una batería llena). Por día: de 83 kWh (16/10) a 429 kWh (9/10); los días más soleados pierden más (correlación de 0,76 entre el recorte diario y la irradiación media de las tres zonas), porque la batería se llena antes. Límites: la nubosidad local de la tarde puede diferir de la que ve el satélite, no se conocen la inclinación ni la orientación de los techos y la telemetría no trae la potencia FV instantánea; el recorte por límite de exportación o de red no se separa (en Sunny casi no hay exportación). Detalle por sistema y día, validación y método: libro ProyectoSunny_Curtailment_Oct2026_01-20.xlsx.</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Ranking de los 48 sistemas por recorte como % del potencial (potencial = producción medida + recorte) del 01 al 20/10. 13 sistemas pierden 30% o más, 10 de ellos en Reservas de Pance, que concentra 63% del recorte con 22 de los 48 sistemas; 6 pierden menos de 5% (78T, 23p, 93p, 18Ap, 15p, 24): consumen casi toda su producción y la batería no se llena. El recorte no depende de la marca (Livoltek 21,6% del potencial y Deye 23,3%): depende de cuánto consume la casa de día frente a lo que producen los paneles y de qué tan rápido se llena la batería. Validación: en 232 sistema-días sin limitación (la batería nunca pasó de 90%) se ocultó la producción real desde las 10:00, 12:00 o 14:00 y se comparó con lo estimado sin usar los datos del propio sistema; con la referencia de los demás sistemas el sesgo fue de 0,1%, y solo con irradiancia satelital se sobreestimaba entre 17 y 25%, por eso esa parte se corrigió a la baja. El recorte estimado coincide con lo observado en la diapositiva 9: correlación de 0,94 con los días con la batería llena antes de las 12:00 y de -0,90 con el % del diseño. Yield sin recorte (kWh/kWp·año) = yield de la diapositiva 9 × (producción medida + recorte) / producción medida del mismo sistema. Algunos sistemas quedan sobre el diseño de su región (Casa 111: 1.338 frente a 1.188): el diseño es un promedio anual y la estimación del potencial tiene incertidumbre; conviene leer el orden de los sistemas más que cada cifra. * Casas con menos de 15 días con datos del inversor: 447p (7) y 382p (9); su recorte es de esos días, no de los 20 (otras casas tienen 15 a 19 días por huecos de comunicación). † Casas 11, 29, 35, 73, 76 y 104: el yield real puede estar subestimado porque el medidor solar y el inversor difieren más de 20% en la carga (ver diapositiva 9). Detalle por sistema y día, validación y método: libro ProyectoSunny_Curtailment_Oct2026_01-20.xlsx.</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Línea base por casa: archivo Casas V3 del 21/10/2026 (Consumo Mensual Diseño), con un ajuste del equipo: Casa 78T en 1.226 kWh/mes (el archivo trae 1.059). La V3 también corrige la Casa 121 CR de 993 a 1.419 kWh/mes. Con la línea base anterior y sin la Casa 447p el desvío total habría sido +1,9% y la Casa 121 CR +92%. Consumo real = demanda del medidor solar de los 20 días (1 al 20/10), sin proyectarla a 30: la línea base mensual se lleva a los mismos días (× días con dato / 30; Casa 447p, 9 días). Total 19.465 kWh medidos vs 19.507 kWh de diseño de esos días (−0,2%); en septiembre se publicó +20,1% (con la Casa 78T en 1.226 habría sido +19,2%). Correlación entre el desvío de consumo y la cobertura solar de las 48 casas: -0,71. Casa 104 consume −79% (ausencia del hogar). La escala de las barras es la misma en las dos columnas. † Casas 11, 29, 35, 73, 76 y 104: la carga que mide el inversor difiere más de 20% de la demanda del medidor solar (validación del 22/10 con el contador de energía de carga de cada inversor: el total del portafolio difiere 2,5%; en las Casas 11, 76 y 104 el medidor solar parece medir de menos y en la 35 el inversor de más); su desvío puede cambiar al validar la medición en sitio.</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Ranking de las 48 casas por proporción de noches con la batería en el piso de descarga (SOC ≤ 21%), ordenado de mayor a menor uso. Una casa que toca el piso casi todas las noches aprovecha toda la capacidad pero queda sin reserva ante un corte de madrugada (caso Casa 121 CR). Noches con piso: 555 de 946 (58,7%; 76% en septiembre); 35 de 48 casas llegan a 100% la mitad del periodo o más. Noche = 18:00 a 06:00 de cada uno de los 20 días (la última termina el 21/10 a las 06:00). Casa 382p tiene 10 noches con datos por una caída de comunicación del inversor y la Casa 447p, 19 (sin comunicación desde el 20/10 a las 09:45).</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etiquetas de la derecha indican el tiempo sin respaldo (o el tema) que cada acción ataca: caso formal = transición (inicio) + caídas durante el corte; reserva = batería sin carga; reconexión = retorno.</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Definiciones y alcance. Método reproducido con los datos de septiembre antes de calcular octubre (INIC 94,8%; 106,7 h sin red; 88 eventos; generación 17.610 kWh; consumo +20,1%). Cobertura ponderada por demanda: 70,0%; rendimiento ponderado por kWp: 76,4%. El kWp por casa (coincide con Casas V3) y el yield patrón se toman del reporte operativo; la línea base de consumo, de Casas V3 del 21/10/2026 con la Casa 78T ajustada a 1.226 kWh/mes por el equipo. La Casa 447p entra con todos sus eventos de red y su batería hasta el 20/10 (09:45); en generación, cobertura y consumo solo cuentan los 9 días con cierre diario y PV en servicio (8 al 16/10): antes del 8/10 el contador del inversor marca 0 kWh y del 17 al 20/10 faltan los cierres. Los eventos descartados por decisión del equipo (pruebas de comisionamiento en Turbaco, balanceos de carga en Casas 9G y 121 CR) no entran en ninguna cifra. El ranking por vivienda está en las diapositivas 9 (yield), 11 (recorte), 12 (consumo) y 13 (batería); el balance de energía por casa, en el reporte operativo del periodo. El recorte (diapositivas 10 y 11) usa irradiancia del satélite GOES-19 de NOAA y, de contraste, Open-Meteo; su detalle por sistema y día está en el libro ProyectoSunny_Curtailment_Oct2026_01-20.xlsx. Evolución jul–oct (diapositivas 14 a 19): fuente BD1 de Seguimiento_de_Operaciones_Sunny_V1.xlsx; rendimiento = generación ÷ generación de diseño ponderado por kWp; yield = kWh/kWp × 365 ÷ días válidos; cobertura = generación ÷ demanda con totales; casas comparables = 35 con ≥ 10 días válidos en cada mes.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Evolución de julio a octubre 20 de 2026 con la hoja BD1 de Seguimiento_de_Operaciones_Sunny_V1.xlsx (4.638 registros; criterio de día válido del archivo: generación ≥ 0 y consumo solar numérico). El portafolio creció de 37 a 49 casas con registros, así que el total mezcla casas nuevas y antiguas; por eso las tarjetas y el gráfico usan las 35 casas comparables (≥ 10 días válidos en cada mes; sin Casa 101, que no tiene kWp en BD1). Definiciones: yield real = generación ÷ kWp × 365 ÷ días válidos; rendimiento = generación ÷ generación de diseño (kWp × yield de diseño ÷ 365 × días), ponderado por kWp, que en octubre da 76,3% para todo el portafolio (coincide con el 76,4% de la diapositiva 10); cobertura = generación ÷ demanda con totales; demanda por casa y día = consumo del medidor solar ÷ días válidos. Cifras mensuales de las 35 casas: Jul: rendimiento 82,2%, cobertura 70,3%, yield 1.008, demanda 20,6 kWh/día, generación 14,5 kWh/día; Ago: rendimiento 90,2%, cobertura 69,5%, yield 1.104, demanda 22,8 kWh/día, generación 15,9 kWh/día; Sep: rendimiento 87,2%, cobertura 67,8%, yield 1.069, demanda 22,6 kWh/día, generación 15,3 kWh/día; Oct: rendimiento 73,2%, cobertura 71,8%, yield 896, demanda 18,1 kWh/día, generación 13,0 kWh/día. Promedio simple de «Yield real %» de BD1 para todo el portafolio: 82,7% · 88,2% · 86,3% · 74,7% (Jul · Ago · Sep · Oct). BD1 en octubre suma 13.129 kWh de generación y 18.638 kWh de demanda porque solo cuenta días válidos (915 de 952 registros); el reporte de la diapositiva 2 trabaja con los 20 días completos (13.631 y 19.465 kWh).</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Yield real por conjunto y mes (kWh/kWp/año), calculado con los totales del conjunto: Σ generación ÷ Σ kWp × 365 ÷ días válidos de BD1. Los conjuntos de una sola casa mantienen la misma composición; Prado Verde pasa de 8 a 10 y a 16 casas (jul, ago, sep-oct) y Reservas de Pance (22) y Terra by Kaia (3) no cambian. Reservas de Pance: 938 · 1.059 · 1.048 · 819. Prado Verde: 1.166 · 1.200 · 1.111 · 1.040. Terra by Kaia: 1.183 · 1.306 · 1.186 · 1.144. Terranova: — · 203 · 1.287 · 1.321. Los Abedules: 995 · 1.013 · 962 · 863. Llanos de Pance: — · 1.126 · 1.114 · 925. Portón de la Rivera: 996 · 1.077 · 961 · 894. Pance Campestre: — · 771 · 582 · 1.084. Gerona Club House: — · — · 958 · 1.086. Castellana Real: — · — · — · 1.035. En octubre Reservas de Pance rinde 819 kWh/kWp/año frente a 818 de la diapositiva 8; Los Abedules, Terranova, Llanos de Pance, Portón de la Rivera y Pance Campestre coinciden con la diapositiva 8 (±2). Las diferencias mayores son Castellana Real (1.035 frente a 976), Prado Verde (1.040 frente a 1.059), Terra by Kaia (1.144 frente a 1.165) y Gerona (1.086 frente a 1.067), porque BD1 solo cuenta los días válidos. Septiembre de Pance Campestre (582) incluye 14 días válidos con generación 0 (Casa 48PC). El yield de diseño ponderado de las 35 casas comparables es ≈ 1.225 kWh/kWp/año.</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Conteo de casas por banda de rendimiento (generación ÷ generación de diseño de cada casa en el mes) en las 35 casas comparables. Jul: 10 con ≥ 90%, 12 con 80–90%, 11 con 60–80%, 2 con &lt; 60% (13 bajo la meta de 80%). Ago: 18 con ≥ 90%, 10 con 80–90%, 7 con 60–80%, 0 con &lt; 60% (7 bajo la meta de 80%). Sep: 15 con ≥ 90%, 11 con 80–90%, 9 con 60–80%, 0 con &lt; 60% (9 bajo la meta de 80%). Oct: 4 con ≥ 90%, 9 con 80–90%, 17 con 60–80%, 5 con &lt; 60% (22 bajo la meta de 80%). Reservas de Pance, con 22 de las 35 casas, reúne 15 de las 22 casas bajo la meta en octubre (en septiembre eran 5 de 9). La mediana de rendimiento por casa pasa de 86,5% (sep) a 73,6% (oct). Los conjuntos de una casa (Terranova, Pance Campestre, Gerona, Castellana Real, Llanos de Pance) pueden moverse mucho por pocos días: Terranova (Casa 78T) tuvo 15% en agosto y 97–100% desde septiembre; Pance Campestre (Casa 48PC) tuvo 14 días con generación 0 en septiembre (49%) y 91% en octubre. Rendimiento ponderado por kWp para todo el portafolio: 81,8% · 86,2% · 84,9% · 76,3%; promedio simple de BD1: 82,7% · 88,2% · 86,3% · 74,7%.</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Cobertura solar = generación ÷ demanda con los totales del período (como en el archivo BD1). Portafolio BD1 (incluye Casa 101 en octubre): Jul 70,2% · Ago 68,1% · Sep 66,6% · Oct 70,4%; 35 casas comparables: Jul 70,3% · Ago 69,5% · Sep 67,8% · Oct 71,8%. Por casa y día en las 35 casas: generación 14,5 · 15,9 · 15,3 · 13,0 kWh y demanda 20,6 · 22,8 · 22,6 · 18,1 kWh (Jul · Ago · Sep · Oct). De septiembre a octubre la generación por casa baja −15,4% y la demanda −20,1%, así que la cobertura sube 4,0 pts. Por conjunto, octubre frente a septiembre: Reservas de Pance 73,2% (sep 67,6%); Prado Verde 69,4% (sep 70,2%); Terra by Kaia 70,9% (sep 65,6%); Terranova 61,2% (sep 50,2%); Los Abedules 89,0% (sep 71,9%); Llanos de Pance 75,7% (sep 61,7%); Portón de la Rivera 56,4% (sep 58,1%); Pance Campestre 76,5% (sep 65,3%); Gerona Club House 70,3% (sep 66,7%); Castellana Real 54,9% (sep —). En la diapositiva 8, con el balance de 20 días, Terra by Kaia da 71,3% y aquí 70,9%; Castellana Real 52,7% y aquí 54,9% (BD1 solo cuenta días válidos).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Demanda media por casa y día (consumo del medidor solar ÷ días válidos). Las 35 casas comparables pasan de 20,6 · 22,8 · 22,6 · 18,1 kWh/día (Jul · Ago · Sep · Oct). Reservas de Pance: 19,3 · 22,4 · 22,3 · 16,1 kWh/casa/día (octubre −28% frente a septiembre). Correlación entre el cambio de demanda (octubre frente al promedio jul–sep) y el cambio de rendimiento por casa: r = 0,83 en las 35 casas; 0,65 sin las Casas 104 (−81%, posible ausencia) y 57; dentro de Reservas de Pance r = 0,88 (22 casas) y en las otras 13 casas r = 0,47. La pendiente es ≈ 0,6 puntos de rendimiento por cada 1% de demanda. Es una asociación: coincide con el mecanismo del recorte (batería llena y consumo diurno bajo), pero BD1 no trae irradiancia ni estado de la batería para separar el efecto de la menor demanda del de otros factores (nubosidad, fallas).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Variación de la demanda de las 35 casas con ≥ 10 días válidos en cada mes (julio a octubre). Demanda base = promedio de los promedios mensuales (kWh/día) de julio, agosto y septiembre; cambio = octubre ÷ base − 1. 22 casas bajan más de 10%, 13 más de 20% y 7 más de 30%; 13 quedan entre −10% y +10% y ninguna sube más de 10% (máximo +8,6%). Variación mensual = desviación estándar ÷ media de los cuatro promedios mensuales de cada casa: mediana 13,3%; 11 casas por debajo de 10%, 16 entre 10% y 20% y 8 con 20% o más. Las mayores caídas: Casa 104 −81% (16,2 → 3,1 kWh/día); Casa 57 −56% (18,4 → 8,1 kWh/día); Casa 48 −39% (14,9 → 9,1 kWh/día); Casa 18 −36% (21,1 → 13,4 kWh/día); Casa 30 −36% (20,1 → 12,9 kWh/día); Casa 15 −34% (29,0 → 19,1 kWh/día). Casa 104 y Casa 57 son los dos casos extremos; la Casa 104 consume −79% frente al diseño en la diapositiva 12 (ausencia del hogar). Las casas con 🧳 o † vienen marcadas como en la diapositiva 12.</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chart" Target="../charts/chart3.xml"/><Relationship Id="rId4" Type="http://schemas.openxmlformats.org/officeDocument/2006/relationships/chart" Target="../charts/char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chart" Target="../charts/char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3.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1.xml"/><Relationship Id="rId3" Type="http://schemas.openxmlformats.org/officeDocument/2006/relationships/chart" Target="../charts/chart1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3A6B"/>
        </a:solidFill>
        <a:effectLst/>
      </p:bgPr>
    </p:bg>
    <p:spTree>
      <p:nvGrpSpPr>
        <p:cNvPr id="1" name=""/>
        <p:cNvGrpSpPr/>
        <p:nvPr/>
      </p:nvGrpSpPr>
      <p:grpSpPr>
        <a:xfrm>
          <a:off x="0" y="0"/>
          <a:ext cx="0" cy="0"/>
          <a:chOff x="0" y="0"/>
          <a:chExt cx="0" cy="0"/>
        </a:xfrm>
      </p:grpSpPr>
      <p:pic>
        <p:nvPicPr>
          <p:cNvPr id="2" name="Picture 1" descr="portada.gif"/>
          <p:cNvPicPr>
            <a:picLocks noChangeAspect="1"/>
          </p:cNvPicPr>
          <p:nvPr/>
        </p:nvPicPr>
        <p:blipFill>
          <a:blip r:embed="rId3"/>
          <a:stretch>
            <a:fillRect/>
          </a:stretch>
        </p:blipFill>
        <p:spPr>
          <a:xfrm>
            <a:off x="0" y="0"/>
            <a:ext cx="9144000" cy="3573780"/>
          </a:xfrm>
          <a:prstGeom prst="rect">
            <a:avLst/>
          </a:prstGeom>
        </p:spPr>
      </p:pic>
      <p:sp>
        <p:nvSpPr>
          <p:cNvPr id="3" name="Rectangle 2"/>
          <p:cNvSpPr/>
          <p:nvPr/>
        </p:nvSpPr>
        <p:spPr>
          <a:xfrm>
            <a:off x="0" y="3566160"/>
            <a:ext cx="9144000" cy="157734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4" name="Rectangle 3"/>
          <p:cNvSpPr/>
          <p:nvPr/>
        </p:nvSpPr>
        <p:spPr>
          <a:xfrm>
            <a:off x="0" y="3566160"/>
            <a:ext cx="9144000" cy="4572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5" name="TextBox 4"/>
          <p:cNvSpPr txBox="1"/>
          <p:nvPr/>
        </p:nvSpPr>
        <p:spPr>
          <a:xfrm>
            <a:off x="457200" y="3703320"/>
            <a:ext cx="5669280" cy="237744"/>
          </a:xfrm>
          <a:prstGeom prst="rect">
            <a:avLst/>
          </a:prstGeom>
          <a:noFill/>
        </p:spPr>
        <p:txBody>
          <a:bodyPr wrap="square" lIns="0" tIns="0" rIns="0" bIns="0" anchor="ctr">
            <a:spAutoFit/>
          </a:bodyPr>
          <a:lstStyle/>
          <a:p>
            <a:pPr algn="l">
              <a:spcAft>
                <a:spcPts val="0"/>
              </a:spcAft>
            </a:pPr>
            <a:r>
              <a:rPr lang="es-CO" sz="1050" b="1" i="0" noProof="0" dirty="0">
                <a:solidFill>
                  <a:srgbClr val="F5A623"/>
                </a:solidFill>
                <a:latin typeface="Calibri"/>
              </a:rPr>
              <a:t>PROYECTO SUNNY · PROMIGAS</a:t>
            </a:r>
          </a:p>
        </p:txBody>
      </p:sp>
      <p:sp>
        <p:nvSpPr>
          <p:cNvPr id="6" name="TextBox 5"/>
          <p:cNvSpPr txBox="1"/>
          <p:nvPr/>
        </p:nvSpPr>
        <p:spPr>
          <a:xfrm>
            <a:off x="457200" y="3950208"/>
            <a:ext cx="5943600" cy="548640"/>
          </a:xfrm>
          <a:prstGeom prst="rect">
            <a:avLst/>
          </a:prstGeom>
          <a:noFill/>
        </p:spPr>
        <p:txBody>
          <a:bodyPr wrap="square" lIns="0" tIns="0" rIns="0" bIns="0" anchor="ctr">
            <a:spAutoFit/>
          </a:bodyPr>
          <a:lstStyle/>
          <a:p>
            <a:pPr algn="l">
              <a:spcAft>
                <a:spcPts val="0"/>
              </a:spcAft>
            </a:pPr>
            <a:r>
              <a:rPr lang="es-CO" sz="1900" b="1" i="0" noProof="0" dirty="0">
                <a:solidFill>
                  <a:srgbClr val="FFFFFF"/>
                </a:solidFill>
                <a:latin typeface="Calibri"/>
              </a:rPr>
              <a:t>Reporte ejecutivo de operación y mantenimiento</a:t>
            </a:r>
          </a:p>
        </p:txBody>
      </p:sp>
      <p:sp>
        <p:nvSpPr>
          <p:cNvPr id="7" name="TextBox 6"/>
          <p:cNvSpPr txBox="1"/>
          <p:nvPr/>
        </p:nvSpPr>
        <p:spPr>
          <a:xfrm>
            <a:off x="457200" y="4572000"/>
            <a:ext cx="5852160" cy="228600"/>
          </a:xfrm>
          <a:prstGeom prst="rect">
            <a:avLst/>
          </a:prstGeom>
          <a:noFill/>
        </p:spPr>
        <p:txBody>
          <a:bodyPr wrap="square" lIns="0" tIns="0" rIns="0" bIns="0" anchor="ctr">
            <a:spAutoFit/>
          </a:bodyPr>
          <a:lstStyle/>
          <a:p>
            <a:pPr algn="l">
              <a:spcAft>
                <a:spcPts val="0"/>
              </a:spcAft>
            </a:pPr>
            <a:r>
              <a:rPr lang="es-CO" sz="850" b="0" i="0" noProof="0" dirty="0">
                <a:solidFill>
                  <a:srgbClr val="9FB3D9"/>
                </a:solidFill>
                <a:latin typeface="Calibri"/>
              </a:rPr>
              <a:t>Coordinación de Operación y Mantenimiento Solar</a:t>
            </a:r>
          </a:p>
        </p:txBody>
      </p:sp>
      <p:sp>
        <p:nvSpPr>
          <p:cNvPr id="8" name="TextBox 7"/>
          <p:cNvSpPr txBox="1"/>
          <p:nvPr/>
        </p:nvSpPr>
        <p:spPr>
          <a:xfrm>
            <a:off x="6400800" y="3749039"/>
            <a:ext cx="2377440" cy="274320"/>
          </a:xfrm>
          <a:prstGeom prst="rect">
            <a:avLst/>
          </a:prstGeom>
          <a:noFill/>
        </p:spPr>
        <p:txBody>
          <a:bodyPr wrap="square" lIns="0" tIns="0" rIns="0" bIns="0" anchor="ctr">
            <a:spAutoFit/>
          </a:bodyPr>
          <a:lstStyle/>
          <a:p>
            <a:pPr algn="r">
              <a:spcAft>
                <a:spcPts val="0"/>
              </a:spcAft>
            </a:pPr>
            <a:r>
              <a:rPr lang="es-CO" sz="1500" b="1" i="0" noProof="0" dirty="0">
                <a:solidFill>
                  <a:srgbClr val="FFFFFF"/>
                </a:solidFill>
                <a:latin typeface="Calibri"/>
              </a:rPr>
              <a:t>Octubre 2026</a:t>
            </a:r>
          </a:p>
        </p:txBody>
      </p:sp>
      <p:sp>
        <p:nvSpPr>
          <p:cNvPr id="9" name="TextBox 8"/>
          <p:cNvSpPr txBox="1"/>
          <p:nvPr/>
        </p:nvSpPr>
        <p:spPr>
          <a:xfrm>
            <a:off x="6400800" y="4041648"/>
            <a:ext cx="2377440" cy="731520"/>
          </a:xfrm>
          <a:prstGeom prst="rect">
            <a:avLst/>
          </a:prstGeom>
          <a:noFill/>
        </p:spPr>
        <p:txBody>
          <a:bodyPr wrap="square" lIns="0" tIns="0" rIns="0" bIns="0" anchor="t">
            <a:spAutoFit/>
          </a:bodyPr>
          <a:lstStyle/>
          <a:p>
            <a:pPr algn="r">
              <a:spcAft>
                <a:spcPts val="200"/>
              </a:spcAft>
            </a:pPr>
            <a:r>
              <a:rPr lang="es-CO" sz="900" b="0" i="0" noProof="0" dirty="0">
                <a:solidFill>
                  <a:srgbClr val="DCE6F5"/>
                </a:solidFill>
                <a:latin typeface="Calibri"/>
              </a:rPr>
              <a:t>01 al 20 de octubre</a:t>
            </a:r>
          </a:p>
          <a:p>
            <a:pPr algn="r">
              <a:spcAft>
                <a:spcPts val="200"/>
              </a:spcAft>
            </a:pPr>
            <a:r>
              <a:rPr lang="es-CO" sz="900" b="0" i="0" noProof="0" dirty="0">
                <a:solidFill>
                  <a:srgbClr val="DCE6F5"/>
                </a:solidFill>
                <a:latin typeface="Calibri"/>
              </a:rPr>
              <a:t>48 viviendas · 10 conjuntos</a:t>
            </a:r>
          </a:p>
          <a:p>
            <a:pPr algn="r">
              <a:spcAft>
                <a:spcPts val="200"/>
              </a:spcAft>
            </a:pPr>
            <a:r>
              <a:rPr lang="es-CO" sz="900" b="0" i="0" noProof="0" dirty="0">
                <a:solidFill>
                  <a:srgbClr val="DCE6F5"/>
                </a:solidFill>
                <a:latin typeface="Calibri"/>
              </a:rPr>
              <a:t>263,1 kWp · Cali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RESUMEN EJECUTIVO</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1800" b="1" i="0" noProof="0" dirty="0">
                <a:solidFill>
                  <a:srgbClr val="1B3A6B"/>
                </a:solidFill>
                <a:latin typeface="Calibri"/>
              </a:rPr>
              <a:t>Se cumple la meta de respaldo; las fallas de equipos Livoltek y la batería sin carga son los puntos a atender</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2</a:t>
            </a:r>
          </a:p>
        </p:txBody>
      </p:sp>
      <p:sp>
        <p:nvSpPr>
          <p:cNvPr id="8" name="Rectangle 7"/>
          <p:cNvSpPr/>
          <p:nvPr/>
        </p:nvSpPr>
        <p:spPr>
          <a:xfrm>
            <a:off x="411480" y="1092200"/>
            <a:ext cx="1993392" cy="157480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1" name="TextBox 10"/>
          <p:cNvSpPr txBox="1"/>
          <p:nvPr/>
        </p:nvSpPr>
        <p:spPr>
          <a:xfrm>
            <a:off x="487680" y="2057400"/>
            <a:ext cx="1840992" cy="152400"/>
          </a:xfrm>
          <a:prstGeom prst="rect">
            <a:avLst/>
          </a:prstGeom>
          <a:noFill/>
        </p:spPr>
        <p:txBody>
          <a:bodyPr wrap="square" lIns="0" tIns="0" rIns="0" bIns="0" anchor="ctr">
            <a:spAutoFit/>
          </a:bodyPr>
          <a:lstStyle/>
          <a:p>
            <a:pPr algn="ctr">
              <a:spcAft>
                <a:spcPts val="0"/>
              </a:spcAft>
            </a:pPr>
            <a:r>
              <a:rPr lang="es-CO" sz="850" b="1" i="0" noProof="0" dirty="0">
                <a:solidFill>
                  <a:srgbClr val="1A1A2E"/>
                </a:solidFill>
                <a:latin typeface="Calibri"/>
              </a:rPr>
              <a:t>Disponibilidad de respaldo</a:t>
            </a:r>
          </a:p>
        </p:txBody>
      </p:sp>
      <p:sp>
        <p:nvSpPr>
          <p:cNvPr id="12" name="TextBox 11"/>
          <p:cNvSpPr txBox="1"/>
          <p:nvPr/>
        </p:nvSpPr>
        <p:spPr>
          <a:xfrm>
            <a:off x="487680" y="2209800"/>
            <a:ext cx="1840992" cy="127000"/>
          </a:xfrm>
          <a:prstGeom prst="rect">
            <a:avLst/>
          </a:prstGeom>
          <a:noFill/>
        </p:spPr>
        <p:txBody>
          <a:bodyPr wrap="square" lIns="0" tIns="0" rIns="0" bIns="0" anchor="t">
            <a:spAutoFit/>
          </a:bodyPr>
          <a:lstStyle/>
          <a:p>
            <a:pPr algn="ctr">
              <a:spcAft>
                <a:spcPts val="0"/>
              </a:spcAft>
            </a:pPr>
            <a:r>
              <a:rPr lang="es-CO" sz="720" b="0" i="0" noProof="0" dirty="0">
                <a:solidFill>
                  <a:srgbClr val="55636E"/>
                </a:solidFill>
                <a:latin typeface="Calibri"/>
              </a:rPr>
              <a:t>INIC 4 · meta ≥ 90%</a:t>
            </a:r>
          </a:p>
        </p:txBody>
      </p:sp>
      <p:sp>
        <p:nvSpPr>
          <p:cNvPr id="13" name="Rectangle 12"/>
          <p:cNvSpPr/>
          <p:nvPr/>
        </p:nvSpPr>
        <p:spPr>
          <a:xfrm>
            <a:off x="2532888" y="1092200"/>
            <a:ext cx="1993392" cy="157480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6" name="TextBox 15"/>
          <p:cNvSpPr txBox="1"/>
          <p:nvPr/>
        </p:nvSpPr>
        <p:spPr>
          <a:xfrm>
            <a:off x="2609088" y="2057400"/>
            <a:ext cx="1840992" cy="152400"/>
          </a:xfrm>
          <a:prstGeom prst="rect">
            <a:avLst/>
          </a:prstGeom>
          <a:noFill/>
        </p:spPr>
        <p:txBody>
          <a:bodyPr wrap="square" lIns="0" tIns="0" rIns="0" bIns="0" anchor="ctr">
            <a:spAutoFit/>
          </a:bodyPr>
          <a:lstStyle/>
          <a:p>
            <a:pPr algn="ctr">
              <a:spcAft>
                <a:spcPts val="0"/>
              </a:spcAft>
            </a:pPr>
            <a:r>
              <a:rPr lang="es-CO" sz="850" b="1" i="0" noProof="0" dirty="0">
                <a:solidFill>
                  <a:srgbClr val="1A1A2E"/>
                </a:solidFill>
                <a:latin typeface="Calibri"/>
              </a:rPr>
              <a:t>Cobertura solar media</a:t>
            </a:r>
          </a:p>
        </p:txBody>
      </p:sp>
      <p:sp>
        <p:nvSpPr>
          <p:cNvPr id="17" name="TextBox 16"/>
          <p:cNvSpPr txBox="1"/>
          <p:nvPr/>
        </p:nvSpPr>
        <p:spPr>
          <a:xfrm>
            <a:off x="2609088" y="2209800"/>
            <a:ext cx="1840992" cy="127000"/>
          </a:xfrm>
          <a:prstGeom prst="rect">
            <a:avLst/>
          </a:prstGeom>
          <a:noFill/>
        </p:spPr>
        <p:txBody>
          <a:bodyPr wrap="square" lIns="0" tIns="0" rIns="0" bIns="0" anchor="t">
            <a:spAutoFit/>
          </a:bodyPr>
          <a:lstStyle/>
          <a:p>
            <a:pPr algn="ctr">
              <a:spcAft>
                <a:spcPts val="0"/>
              </a:spcAft>
            </a:pPr>
            <a:r>
              <a:rPr lang="es-CO" sz="720" b="0" i="0" noProof="0" dirty="0">
                <a:solidFill>
                  <a:srgbClr val="55636E"/>
                </a:solidFill>
                <a:latin typeface="Calibri"/>
              </a:rPr>
              <a:t>Meta ≥ 90% · seguimiento</a:t>
            </a:r>
          </a:p>
        </p:txBody>
      </p:sp>
      <p:sp>
        <p:nvSpPr>
          <p:cNvPr id="18" name="Rectangle 17"/>
          <p:cNvSpPr/>
          <p:nvPr/>
        </p:nvSpPr>
        <p:spPr>
          <a:xfrm>
            <a:off x="4654296" y="1092200"/>
            <a:ext cx="1993392" cy="157480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21" name="TextBox 20"/>
          <p:cNvSpPr txBox="1"/>
          <p:nvPr/>
        </p:nvSpPr>
        <p:spPr>
          <a:xfrm>
            <a:off x="4730496" y="2057400"/>
            <a:ext cx="1840992" cy="152400"/>
          </a:xfrm>
          <a:prstGeom prst="rect">
            <a:avLst/>
          </a:prstGeom>
          <a:noFill/>
        </p:spPr>
        <p:txBody>
          <a:bodyPr wrap="square" lIns="0" tIns="0" rIns="0" bIns="0" anchor="ctr">
            <a:spAutoFit/>
          </a:bodyPr>
          <a:lstStyle/>
          <a:p>
            <a:pPr algn="ctr">
              <a:spcAft>
                <a:spcPts val="0"/>
              </a:spcAft>
            </a:pPr>
            <a:r>
              <a:rPr lang="es-CO" sz="850" b="1" i="0" noProof="0" dirty="0">
                <a:solidFill>
                  <a:srgbClr val="1A1A2E"/>
                </a:solidFill>
                <a:latin typeface="Calibri"/>
              </a:rPr>
              <a:t>Rendimiento vs diseño</a:t>
            </a:r>
          </a:p>
        </p:txBody>
      </p:sp>
      <p:sp>
        <p:nvSpPr>
          <p:cNvPr id="22" name="TextBox 21"/>
          <p:cNvSpPr txBox="1"/>
          <p:nvPr/>
        </p:nvSpPr>
        <p:spPr>
          <a:xfrm>
            <a:off x="4730496" y="2209800"/>
            <a:ext cx="1840992" cy="127000"/>
          </a:xfrm>
          <a:prstGeom prst="rect">
            <a:avLst/>
          </a:prstGeom>
          <a:noFill/>
        </p:spPr>
        <p:txBody>
          <a:bodyPr wrap="square" lIns="0" tIns="0" rIns="0" bIns="0" anchor="t">
            <a:spAutoFit/>
          </a:bodyPr>
          <a:lstStyle/>
          <a:p>
            <a:pPr algn="ctr">
              <a:spcAft>
                <a:spcPts val="0"/>
              </a:spcAft>
            </a:pPr>
            <a:r>
              <a:rPr lang="es-CO" sz="720" b="0" i="0" noProof="0" dirty="0">
                <a:solidFill>
                  <a:srgbClr val="55636E"/>
                </a:solidFill>
                <a:latin typeface="Calibri"/>
              </a:rPr>
              <a:t>Meta ≥ 80% · normal</a:t>
            </a:r>
          </a:p>
        </p:txBody>
      </p:sp>
      <p:sp>
        <p:nvSpPr>
          <p:cNvPr id="23" name="Rectangle 22"/>
          <p:cNvSpPr/>
          <p:nvPr/>
        </p:nvSpPr>
        <p:spPr>
          <a:xfrm>
            <a:off x="6775703" y="1092200"/>
            <a:ext cx="1993392" cy="157480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26" name="TextBox 25"/>
          <p:cNvSpPr txBox="1"/>
          <p:nvPr/>
        </p:nvSpPr>
        <p:spPr>
          <a:xfrm>
            <a:off x="6851902" y="2057400"/>
            <a:ext cx="1840992" cy="152400"/>
          </a:xfrm>
          <a:prstGeom prst="rect">
            <a:avLst/>
          </a:prstGeom>
          <a:noFill/>
        </p:spPr>
        <p:txBody>
          <a:bodyPr wrap="square" lIns="0" tIns="0" rIns="0" bIns="0" anchor="ctr">
            <a:spAutoFit/>
          </a:bodyPr>
          <a:lstStyle/>
          <a:p>
            <a:pPr algn="ctr">
              <a:spcAft>
                <a:spcPts val="0"/>
              </a:spcAft>
            </a:pPr>
            <a:r>
              <a:rPr lang="es-CO" sz="850" b="1" i="0" noProof="0" dirty="0">
                <a:solidFill>
                  <a:srgbClr val="1A1A2E"/>
                </a:solidFill>
                <a:latin typeface="Calibri"/>
              </a:rPr>
              <a:t>Viviendas en zona crítica</a:t>
            </a:r>
          </a:p>
        </p:txBody>
      </p:sp>
      <p:sp>
        <p:nvSpPr>
          <p:cNvPr id="27" name="TextBox 26"/>
          <p:cNvSpPr txBox="1"/>
          <p:nvPr/>
        </p:nvSpPr>
        <p:spPr>
          <a:xfrm>
            <a:off x="6851902" y="2209800"/>
            <a:ext cx="1840992" cy="127000"/>
          </a:xfrm>
          <a:prstGeom prst="rect">
            <a:avLst/>
          </a:prstGeom>
          <a:noFill/>
        </p:spPr>
        <p:txBody>
          <a:bodyPr wrap="square" lIns="0" tIns="0" rIns="0" bIns="0" anchor="t">
            <a:spAutoFit/>
          </a:bodyPr>
          <a:lstStyle/>
          <a:p>
            <a:pPr algn="ctr">
              <a:spcAft>
                <a:spcPts val="0"/>
              </a:spcAft>
            </a:pPr>
            <a:r>
              <a:rPr lang="es-CO" sz="720" b="0" i="0" noProof="0" dirty="0">
                <a:solidFill>
                  <a:srgbClr val="55636E"/>
                </a:solidFill>
                <a:latin typeface="Calibri"/>
              </a:rPr>
              <a:t>Meta 0 · 21 de 48 en banda alta</a:t>
            </a:r>
          </a:p>
        </p:txBody>
      </p:sp>
      <p:sp>
        <p:nvSpPr>
          <p:cNvPr id="28" name="TextBox 27"/>
          <p:cNvSpPr txBox="1"/>
          <p:nvPr/>
        </p:nvSpPr>
        <p:spPr>
          <a:xfrm>
            <a:off x="411480" y="2730500"/>
            <a:ext cx="4846320" cy="228600"/>
          </a:xfrm>
          <a:prstGeom prst="rect">
            <a:avLst/>
          </a:prstGeom>
          <a:noFill/>
        </p:spPr>
        <p:txBody>
          <a:bodyPr wrap="square" lIns="0" tIns="0" rIns="0" bIns="0" anchor="ctr">
            <a:spAutoFit/>
          </a:bodyPr>
          <a:lstStyle/>
          <a:p>
            <a:pPr algn="l">
              <a:spcAft>
                <a:spcPts val="0"/>
              </a:spcAft>
            </a:pPr>
            <a:r>
              <a:rPr lang="es-CO" sz="900" b="1" i="0" noProof="0" dirty="0">
                <a:solidFill>
                  <a:srgbClr val="F5A623"/>
                </a:solidFill>
                <a:latin typeface="Calibri"/>
              </a:rPr>
              <a:t>TRES HALLAZGOS</a:t>
            </a:r>
          </a:p>
        </p:txBody>
      </p:sp>
      <p:sp>
        <p:nvSpPr>
          <p:cNvPr id="29" name="Rectangle 28"/>
          <p:cNvSpPr/>
          <p:nvPr/>
        </p:nvSpPr>
        <p:spPr>
          <a:xfrm>
            <a:off x="411480" y="2959100"/>
            <a:ext cx="5029200" cy="53340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30" name="Rectangle 29"/>
          <p:cNvSpPr/>
          <p:nvPr/>
        </p:nvSpPr>
        <p:spPr>
          <a:xfrm>
            <a:off x="411480" y="2959100"/>
            <a:ext cx="54864" cy="533400"/>
          </a:xfrm>
          <a:prstGeom prst="rect">
            <a:avLst/>
          </a:prstGeom>
          <a:solidFill>
            <a:srgbClr val="CA6F1E"/>
          </a:solidFill>
          <a:ln w="12700">
            <a:solidFill>
              <a:srgbClr val="CA6F1E"/>
            </a:solidFill>
          </a:ln>
        </p:spPr>
        <p:txBody>
          <a:bodyPr rtlCol="0" anchor="ctr"/>
          <a:lstStyle/>
          <a:p>
            <a:pPr algn="ctr"/>
            <a:endParaRPr lang="es-CO" noProof="0" dirty="0"/>
          </a:p>
        </p:txBody>
      </p:sp>
      <p:sp>
        <p:nvSpPr>
          <p:cNvPr id="31" name="TextBox 30"/>
          <p:cNvSpPr txBox="1"/>
          <p:nvPr/>
        </p:nvSpPr>
        <p:spPr>
          <a:xfrm>
            <a:off x="548640" y="2959100"/>
            <a:ext cx="1097280" cy="533400"/>
          </a:xfrm>
          <a:prstGeom prst="rect">
            <a:avLst/>
          </a:prstGeom>
          <a:noFill/>
        </p:spPr>
        <p:txBody>
          <a:bodyPr wrap="square" lIns="0" tIns="0" rIns="0" bIns="0" anchor="ctr">
            <a:spAutoFit/>
          </a:bodyPr>
          <a:lstStyle/>
          <a:p>
            <a:pPr algn="l">
              <a:spcAft>
                <a:spcPts val="0"/>
              </a:spcAft>
            </a:pPr>
            <a:r>
              <a:rPr lang="es-CO" sz="1700" b="1" i="0" noProof="0" dirty="0">
                <a:solidFill>
                  <a:srgbClr val="CA6F1E"/>
                </a:solidFill>
                <a:latin typeface="Calibri"/>
              </a:rPr>
              <a:t>10,4 h</a:t>
            </a:r>
          </a:p>
        </p:txBody>
      </p:sp>
      <p:sp>
        <p:nvSpPr>
          <p:cNvPr id="32" name="TextBox 31"/>
          <p:cNvSpPr txBox="1"/>
          <p:nvPr/>
        </p:nvSpPr>
        <p:spPr>
          <a:xfrm>
            <a:off x="1691640" y="2984500"/>
            <a:ext cx="3657600" cy="182880"/>
          </a:xfrm>
          <a:prstGeom prst="rect">
            <a:avLst/>
          </a:prstGeom>
          <a:noFill/>
        </p:spPr>
        <p:txBody>
          <a:bodyPr wrap="square" lIns="0" tIns="0" rIns="0" bIns="0" anchor="ctr">
            <a:spAutoFit/>
          </a:bodyPr>
          <a:lstStyle/>
          <a:p>
            <a:pPr algn="l">
              <a:spcAft>
                <a:spcPts val="0"/>
              </a:spcAft>
            </a:pPr>
            <a:r>
              <a:rPr lang="es-CO" sz="880" b="1" i="0" noProof="0" dirty="0">
                <a:solidFill>
                  <a:srgbClr val="1A1A2E"/>
                </a:solidFill>
                <a:latin typeface="Calibri"/>
              </a:rPr>
              <a:t>sin respaldo por batería sin carga</a:t>
            </a:r>
          </a:p>
        </p:txBody>
      </p:sp>
      <p:sp>
        <p:nvSpPr>
          <p:cNvPr id="33" name="TextBox 32"/>
          <p:cNvSpPr txBox="1"/>
          <p:nvPr/>
        </p:nvSpPr>
        <p:spPr>
          <a:xfrm>
            <a:off x="1691640" y="3155950"/>
            <a:ext cx="3657600" cy="304800"/>
          </a:xfrm>
          <a:prstGeom prst="rect">
            <a:avLst/>
          </a:prstGeom>
          <a:noFill/>
        </p:spPr>
        <p:txBody>
          <a:bodyPr wrap="square" lIns="0" tIns="0" rIns="0" bIns="0" anchor="t">
            <a:spAutoFit/>
          </a:bodyPr>
          <a:lstStyle/>
          <a:p>
            <a:pPr algn="l">
              <a:spcAft>
                <a:spcPts val="0"/>
              </a:spcAft>
            </a:pPr>
            <a:r>
              <a:rPr lang="es-CO" sz="780" b="0" i="0" noProof="0" dirty="0">
                <a:solidFill>
                  <a:srgbClr val="55636E"/>
                </a:solidFill>
                <a:latin typeface="Calibri"/>
              </a:rPr>
              <a:t>41% del tiempo sin respaldo; Casa 121 CR pone 3,1 h (consumo nocturno 3,7 veces la mediana).</a:t>
            </a:r>
          </a:p>
        </p:txBody>
      </p:sp>
      <p:sp>
        <p:nvSpPr>
          <p:cNvPr id="34" name="Rectangle 33"/>
          <p:cNvSpPr/>
          <p:nvPr/>
        </p:nvSpPr>
        <p:spPr>
          <a:xfrm>
            <a:off x="411480" y="3543300"/>
            <a:ext cx="5029200" cy="53340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35" name="Rectangle 34"/>
          <p:cNvSpPr/>
          <p:nvPr/>
        </p:nvSpPr>
        <p:spPr>
          <a:xfrm>
            <a:off x="411480" y="3543300"/>
            <a:ext cx="54864" cy="533400"/>
          </a:xfrm>
          <a:prstGeom prst="rect">
            <a:avLst/>
          </a:prstGeom>
          <a:solidFill>
            <a:srgbClr val="C0392B"/>
          </a:solidFill>
          <a:ln w="12700">
            <a:solidFill>
              <a:srgbClr val="C0392B"/>
            </a:solidFill>
          </a:ln>
        </p:spPr>
        <p:txBody>
          <a:bodyPr rtlCol="0" anchor="ctr"/>
          <a:lstStyle/>
          <a:p>
            <a:pPr algn="ctr"/>
            <a:endParaRPr lang="es-CO" noProof="0" dirty="0"/>
          </a:p>
        </p:txBody>
      </p:sp>
      <p:sp>
        <p:nvSpPr>
          <p:cNvPr id="36" name="TextBox 35"/>
          <p:cNvSpPr txBox="1"/>
          <p:nvPr/>
        </p:nvSpPr>
        <p:spPr>
          <a:xfrm>
            <a:off x="548640" y="3543300"/>
            <a:ext cx="1097280" cy="533400"/>
          </a:xfrm>
          <a:prstGeom prst="rect">
            <a:avLst/>
          </a:prstGeom>
          <a:noFill/>
        </p:spPr>
        <p:txBody>
          <a:bodyPr wrap="square" lIns="0" tIns="0" rIns="0" bIns="0" anchor="ctr">
            <a:spAutoFit/>
          </a:bodyPr>
          <a:lstStyle/>
          <a:p>
            <a:pPr algn="l">
              <a:spcAft>
                <a:spcPts val="0"/>
              </a:spcAft>
            </a:pPr>
            <a:r>
              <a:rPr lang="es-CO" sz="1700" b="1" i="0" noProof="0" dirty="0">
                <a:solidFill>
                  <a:srgbClr val="C0392B"/>
                </a:solidFill>
                <a:latin typeface="Calibri"/>
              </a:rPr>
              <a:t>14,7 h</a:t>
            </a:r>
          </a:p>
        </p:txBody>
      </p:sp>
      <p:sp>
        <p:nvSpPr>
          <p:cNvPr id="37" name="TextBox 36"/>
          <p:cNvSpPr txBox="1"/>
          <p:nvPr/>
        </p:nvSpPr>
        <p:spPr>
          <a:xfrm>
            <a:off x="1691640" y="3568700"/>
            <a:ext cx="3657600" cy="182880"/>
          </a:xfrm>
          <a:prstGeom prst="rect">
            <a:avLst/>
          </a:prstGeom>
          <a:noFill/>
        </p:spPr>
        <p:txBody>
          <a:bodyPr wrap="square" lIns="0" tIns="0" rIns="0" bIns="0" anchor="ctr">
            <a:spAutoFit/>
          </a:bodyPr>
          <a:lstStyle/>
          <a:p>
            <a:pPr algn="l">
              <a:spcAft>
                <a:spcPts val="0"/>
              </a:spcAft>
            </a:pPr>
            <a:r>
              <a:rPr lang="es-CO" sz="880" b="1" i="0" noProof="0" dirty="0">
                <a:solidFill>
                  <a:srgbClr val="1A1A2E"/>
                </a:solidFill>
                <a:latin typeface="Calibri"/>
              </a:rPr>
              <a:t>sin respaldo por falla de equipo con batería cargada</a:t>
            </a:r>
          </a:p>
        </p:txBody>
      </p:sp>
      <p:sp>
        <p:nvSpPr>
          <p:cNvPr id="38" name="TextBox 37"/>
          <p:cNvSpPr txBox="1"/>
          <p:nvPr/>
        </p:nvSpPr>
        <p:spPr>
          <a:xfrm>
            <a:off x="1691640" y="3740150"/>
            <a:ext cx="3657600" cy="304800"/>
          </a:xfrm>
          <a:prstGeom prst="rect">
            <a:avLst/>
          </a:prstGeom>
          <a:noFill/>
        </p:spPr>
        <p:txBody>
          <a:bodyPr wrap="square" lIns="0" tIns="0" rIns="0" bIns="0" anchor="t">
            <a:spAutoFit/>
          </a:bodyPr>
          <a:lstStyle/>
          <a:p>
            <a:pPr algn="l">
              <a:spcAft>
                <a:spcPts val="0"/>
              </a:spcAft>
            </a:pPr>
            <a:r>
              <a:rPr lang="es-CO" sz="780" b="0" i="0" noProof="0" dirty="0">
                <a:solidFill>
                  <a:srgbClr val="55636E"/>
                </a:solidFill>
                <a:latin typeface="Calibri"/>
              </a:rPr>
              <a:t>4/10: 14 casas Livoltek sin energía hasta 34 min al caer la red; 3/10: 15 casas con caídas de 2 a 6 min durante el corte de 8 h 52 min.</a:t>
            </a:r>
          </a:p>
        </p:txBody>
      </p:sp>
      <p:sp>
        <p:nvSpPr>
          <p:cNvPr id="39" name="Rectangle 38"/>
          <p:cNvSpPr/>
          <p:nvPr/>
        </p:nvSpPr>
        <p:spPr>
          <a:xfrm>
            <a:off x="411480" y="4127500"/>
            <a:ext cx="5029200" cy="53340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40" name="Rectangle 39"/>
          <p:cNvSpPr/>
          <p:nvPr/>
        </p:nvSpPr>
        <p:spPr>
          <a:xfrm>
            <a:off x="411480" y="4127500"/>
            <a:ext cx="54864" cy="533400"/>
          </a:xfrm>
          <a:prstGeom prst="rect">
            <a:avLst/>
          </a:prstGeom>
          <a:solidFill>
            <a:srgbClr val="1F6F78"/>
          </a:solidFill>
          <a:ln w="12700">
            <a:solidFill>
              <a:srgbClr val="1F6F78"/>
            </a:solidFill>
          </a:ln>
        </p:spPr>
        <p:txBody>
          <a:bodyPr rtlCol="0" anchor="ctr"/>
          <a:lstStyle/>
          <a:p>
            <a:pPr algn="ctr"/>
            <a:endParaRPr lang="es-CO" noProof="0" dirty="0"/>
          </a:p>
        </p:txBody>
      </p:sp>
      <p:sp>
        <p:nvSpPr>
          <p:cNvPr id="41" name="TextBox 40"/>
          <p:cNvSpPr txBox="1"/>
          <p:nvPr/>
        </p:nvSpPr>
        <p:spPr>
          <a:xfrm>
            <a:off x="548640" y="4127500"/>
            <a:ext cx="1097280" cy="533400"/>
          </a:xfrm>
          <a:prstGeom prst="rect">
            <a:avLst/>
          </a:prstGeom>
          <a:noFill/>
        </p:spPr>
        <p:txBody>
          <a:bodyPr wrap="square" lIns="0" tIns="0" rIns="0" bIns="0" anchor="ctr">
            <a:spAutoFit/>
          </a:bodyPr>
          <a:lstStyle/>
          <a:p>
            <a:pPr algn="l">
              <a:spcAft>
                <a:spcPts val="0"/>
              </a:spcAft>
            </a:pPr>
            <a:r>
              <a:rPr lang="es-CO" sz="1700" b="1" i="0" noProof="0" dirty="0">
                <a:solidFill>
                  <a:srgbClr val="1F6F78"/>
                </a:solidFill>
                <a:latin typeface="Calibri"/>
              </a:rPr>
              <a:t>−0,2%</a:t>
            </a:r>
          </a:p>
        </p:txBody>
      </p:sp>
      <p:sp>
        <p:nvSpPr>
          <p:cNvPr id="42" name="TextBox 41"/>
          <p:cNvSpPr txBox="1"/>
          <p:nvPr/>
        </p:nvSpPr>
        <p:spPr>
          <a:xfrm>
            <a:off x="1691640" y="4152900"/>
            <a:ext cx="3657600" cy="182880"/>
          </a:xfrm>
          <a:prstGeom prst="rect">
            <a:avLst/>
          </a:prstGeom>
          <a:noFill/>
        </p:spPr>
        <p:txBody>
          <a:bodyPr wrap="square" lIns="0" tIns="0" rIns="0" bIns="0" anchor="ctr">
            <a:spAutoFit/>
          </a:bodyPr>
          <a:lstStyle/>
          <a:p>
            <a:pPr algn="l">
              <a:spcAft>
                <a:spcPts val="0"/>
              </a:spcAft>
            </a:pPr>
            <a:r>
              <a:rPr lang="es-CO" sz="880" b="1" i="0" noProof="0" dirty="0">
                <a:solidFill>
                  <a:srgbClr val="1A1A2E"/>
                </a:solidFill>
                <a:latin typeface="Calibri"/>
              </a:rPr>
              <a:t>consumo real vs el diseño</a:t>
            </a:r>
          </a:p>
        </p:txBody>
      </p:sp>
      <p:sp>
        <p:nvSpPr>
          <p:cNvPr id="43" name="TextBox 42"/>
          <p:cNvSpPr txBox="1"/>
          <p:nvPr/>
        </p:nvSpPr>
        <p:spPr>
          <a:xfrm>
            <a:off x="1691640" y="4324350"/>
            <a:ext cx="3657600" cy="304800"/>
          </a:xfrm>
          <a:prstGeom prst="rect">
            <a:avLst/>
          </a:prstGeom>
          <a:noFill/>
        </p:spPr>
        <p:txBody>
          <a:bodyPr wrap="square" lIns="0" tIns="0" rIns="0" bIns="0" anchor="t">
            <a:spAutoFit/>
          </a:bodyPr>
          <a:lstStyle/>
          <a:p>
            <a:pPr algn="l">
              <a:spcAft>
                <a:spcPts val="0"/>
              </a:spcAft>
            </a:pPr>
            <a:r>
              <a:rPr lang="es-CO" sz="780" b="0" i="0" noProof="0" dirty="0">
                <a:solidFill>
                  <a:srgbClr val="55636E"/>
                </a:solidFill>
                <a:latin typeface="Calibri"/>
              </a:rPr>
              <a:t>25 de 48 casas consumen más que el diseño y 9 superan +30%; a mayor desvío, menor cobertura (r = -0,71).</a:t>
            </a:r>
          </a:p>
        </p:txBody>
      </p:sp>
      <p:sp>
        <p:nvSpPr>
          <p:cNvPr id="44" name="Rectangle 43"/>
          <p:cNvSpPr/>
          <p:nvPr/>
        </p:nvSpPr>
        <p:spPr>
          <a:xfrm>
            <a:off x="5623560" y="2730500"/>
            <a:ext cx="3108960" cy="19431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45" name="TextBox 44"/>
          <p:cNvSpPr txBox="1"/>
          <p:nvPr/>
        </p:nvSpPr>
        <p:spPr>
          <a:xfrm>
            <a:off x="5779008" y="2794000"/>
            <a:ext cx="2834640" cy="237744"/>
          </a:xfrm>
          <a:prstGeom prst="rect">
            <a:avLst/>
          </a:prstGeom>
          <a:noFill/>
        </p:spPr>
        <p:txBody>
          <a:bodyPr wrap="square" lIns="0" tIns="0" rIns="0" bIns="0" anchor="ctr">
            <a:spAutoFit/>
          </a:bodyPr>
          <a:lstStyle/>
          <a:p>
            <a:pPr algn="l">
              <a:spcAft>
                <a:spcPts val="0"/>
              </a:spcAft>
            </a:pPr>
            <a:r>
              <a:rPr lang="es-CO" sz="900" b="1" i="0" noProof="0" dirty="0">
                <a:solidFill>
                  <a:srgbClr val="F5A623"/>
                </a:solidFill>
                <a:latin typeface="Calibri"/>
              </a:rPr>
              <a:t>DECISIONES QUE SE PIDEN</a:t>
            </a:r>
          </a:p>
        </p:txBody>
      </p:sp>
      <p:sp>
        <p:nvSpPr>
          <p:cNvPr id="46" name="Oval 45"/>
          <p:cNvSpPr/>
          <p:nvPr/>
        </p:nvSpPr>
        <p:spPr>
          <a:xfrm>
            <a:off x="5779008" y="3079750"/>
            <a:ext cx="237744" cy="237744"/>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47" name="TextBox 46"/>
          <p:cNvSpPr txBox="1"/>
          <p:nvPr/>
        </p:nvSpPr>
        <p:spPr>
          <a:xfrm>
            <a:off x="5779008" y="3079750"/>
            <a:ext cx="237744" cy="237744"/>
          </a:xfrm>
          <a:prstGeom prst="rect">
            <a:avLst/>
          </a:prstGeom>
          <a:noFill/>
        </p:spPr>
        <p:txBody>
          <a:bodyPr wrap="square" lIns="0" tIns="0" rIns="0" bIns="0" anchor="ctr">
            <a:spAutoFit/>
          </a:bodyPr>
          <a:lstStyle/>
          <a:p>
            <a:pPr algn="ctr">
              <a:spcAft>
                <a:spcPts val="0"/>
              </a:spcAft>
            </a:pPr>
            <a:r>
              <a:rPr lang="es-CO" sz="900" b="1" i="0" noProof="0" dirty="0">
                <a:solidFill>
                  <a:srgbClr val="1B3A6B"/>
                </a:solidFill>
                <a:latin typeface="Calibri"/>
              </a:rPr>
              <a:t>1</a:t>
            </a:r>
          </a:p>
        </p:txBody>
      </p:sp>
      <p:sp>
        <p:nvSpPr>
          <p:cNvPr id="48" name="TextBox 47"/>
          <p:cNvSpPr txBox="1"/>
          <p:nvPr/>
        </p:nvSpPr>
        <p:spPr>
          <a:xfrm>
            <a:off x="6108192" y="3041650"/>
            <a:ext cx="2560320" cy="411480"/>
          </a:xfrm>
          <a:prstGeom prst="rect">
            <a:avLst/>
          </a:prstGeom>
          <a:noFill/>
        </p:spPr>
        <p:txBody>
          <a:bodyPr wrap="square" lIns="0" tIns="0" rIns="0" bIns="0" anchor="ctr">
            <a:spAutoFit/>
          </a:bodyPr>
          <a:lstStyle/>
          <a:p>
            <a:pPr algn="l">
              <a:spcAft>
                <a:spcPts val="0"/>
              </a:spcAft>
            </a:pPr>
            <a:r>
              <a:rPr lang="es-CO" sz="819" b="0" i="0" noProof="0" dirty="0">
                <a:solidFill>
                  <a:srgbClr val="FFFFFF"/>
                </a:solidFill>
                <a:latin typeface="Calibri"/>
              </a:rPr>
              <a:t>Abrir caso formal con Livoltek por las caídas de transición y durante el corte (2, 3, 4 y 6/10).</a:t>
            </a:r>
          </a:p>
        </p:txBody>
      </p:sp>
      <p:sp>
        <p:nvSpPr>
          <p:cNvPr id="49" name="Oval 48"/>
          <p:cNvSpPr/>
          <p:nvPr/>
        </p:nvSpPr>
        <p:spPr>
          <a:xfrm>
            <a:off x="5779008" y="3486150"/>
            <a:ext cx="237744" cy="237744"/>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50" name="TextBox 49"/>
          <p:cNvSpPr txBox="1"/>
          <p:nvPr/>
        </p:nvSpPr>
        <p:spPr>
          <a:xfrm>
            <a:off x="5779008" y="3486150"/>
            <a:ext cx="237744" cy="237744"/>
          </a:xfrm>
          <a:prstGeom prst="rect">
            <a:avLst/>
          </a:prstGeom>
          <a:noFill/>
        </p:spPr>
        <p:txBody>
          <a:bodyPr wrap="square" lIns="0" tIns="0" rIns="0" bIns="0" anchor="ctr">
            <a:spAutoFit/>
          </a:bodyPr>
          <a:lstStyle/>
          <a:p>
            <a:pPr algn="ctr">
              <a:spcAft>
                <a:spcPts val="0"/>
              </a:spcAft>
            </a:pPr>
            <a:r>
              <a:rPr lang="es-CO" sz="900" b="1" i="0" noProof="0" dirty="0">
                <a:solidFill>
                  <a:srgbClr val="1B3A6B"/>
                </a:solidFill>
                <a:latin typeface="Calibri"/>
              </a:rPr>
              <a:t>2</a:t>
            </a:r>
          </a:p>
        </p:txBody>
      </p:sp>
      <p:sp>
        <p:nvSpPr>
          <p:cNvPr id="51" name="TextBox 50"/>
          <p:cNvSpPr txBox="1"/>
          <p:nvPr/>
        </p:nvSpPr>
        <p:spPr>
          <a:xfrm>
            <a:off x="6108192" y="3448050"/>
            <a:ext cx="2560320" cy="411480"/>
          </a:xfrm>
          <a:prstGeom prst="rect">
            <a:avLst/>
          </a:prstGeom>
          <a:noFill/>
        </p:spPr>
        <p:txBody>
          <a:bodyPr wrap="square" lIns="0" tIns="0" rIns="0" bIns="0" anchor="ctr">
            <a:spAutoFit/>
          </a:bodyPr>
          <a:lstStyle/>
          <a:p>
            <a:pPr algn="l">
              <a:spcAft>
                <a:spcPts val="0"/>
              </a:spcAft>
            </a:pPr>
            <a:r>
              <a:rPr lang="es-CO" sz="819" b="0" i="0" noProof="0" dirty="0">
                <a:solidFill>
                  <a:srgbClr val="FFFFFF"/>
                </a:solidFill>
                <a:latin typeface="Calibri"/>
              </a:rPr>
              <a:t>Fijar reserva mínima de SOC nocturna en Casas 121 CR, 12 y 10.</a:t>
            </a:r>
          </a:p>
        </p:txBody>
      </p:sp>
      <p:sp>
        <p:nvSpPr>
          <p:cNvPr id="52" name="Oval 51"/>
          <p:cNvSpPr/>
          <p:nvPr/>
        </p:nvSpPr>
        <p:spPr>
          <a:xfrm>
            <a:off x="5779008" y="3892550"/>
            <a:ext cx="237744" cy="237744"/>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53" name="TextBox 52"/>
          <p:cNvSpPr txBox="1"/>
          <p:nvPr/>
        </p:nvSpPr>
        <p:spPr>
          <a:xfrm>
            <a:off x="5779008" y="3892550"/>
            <a:ext cx="237744" cy="237744"/>
          </a:xfrm>
          <a:prstGeom prst="rect">
            <a:avLst/>
          </a:prstGeom>
          <a:noFill/>
        </p:spPr>
        <p:txBody>
          <a:bodyPr wrap="square" lIns="0" tIns="0" rIns="0" bIns="0" anchor="ctr">
            <a:spAutoFit/>
          </a:bodyPr>
          <a:lstStyle/>
          <a:p>
            <a:pPr algn="ctr">
              <a:spcAft>
                <a:spcPts val="0"/>
              </a:spcAft>
            </a:pPr>
            <a:r>
              <a:rPr lang="es-CO" sz="900" b="1" i="0" noProof="0" dirty="0">
                <a:solidFill>
                  <a:srgbClr val="1B3A6B"/>
                </a:solidFill>
                <a:latin typeface="Calibri"/>
              </a:rPr>
              <a:t>3</a:t>
            </a:r>
          </a:p>
        </p:txBody>
      </p:sp>
      <p:sp>
        <p:nvSpPr>
          <p:cNvPr id="54" name="TextBox 53"/>
          <p:cNvSpPr txBox="1"/>
          <p:nvPr/>
        </p:nvSpPr>
        <p:spPr>
          <a:xfrm>
            <a:off x="6108192" y="3854450"/>
            <a:ext cx="2560320" cy="411480"/>
          </a:xfrm>
          <a:prstGeom prst="rect">
            <a:avLst/>
          </a:prstGeom>
          <a:noFill/>
        </p:spPr>
        <p:txBody>
          <a:bodyPr wrap="square" lIns="0" tIns="0" rIns="0" bIns="0" anchor="ctr">
            <a:spAutoFit/>
          </a:bodyPr>
          <a:lstStyle/>
          <a:p>
            <a:pPr algn="l">
              <a:spcAft>
                <a:spcPts val="0"/>
              </a:spcAft>
            </a:pPr>
            <a:r>
              <a:rPr lang="es-CO" sz="819" b="0" i="0" noProof="0" dirty="0">
                <a:solidFill>
                  <a:srgbClr val="FFFFFF"/>
                </a:solidFill>
                <a:latin typeface="Calibri"/>
              </a:rPr>
              <a:t>Pedir código de falla a Livoltek por la alarma de 15,5 h de la Casa 435p y verificar la de la Casa 86p (13/10, día de pruebas).</a:t>
            </a:r>
          </a:p>
        </p:txBody>
      </p:sp>
      <p:sp>
        <p:nvSpPr>
          <p:cNvPr id="55" name="Oval 54"/>
          <p:cNvSpPr/>
          <p:nvPr/>
        </p:nvSpPr>
        <p:spPr>
          <a:xfrm>
            <a:off x="5779008" y="4298950"/>
            <a:ext cx="237744" cy="237744"/>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56" name="TextBox 55"/>
          <p:cNvSpPr txBox="1"/>
          <p:nvPr/>
        </p:nvSpPr>
        <p:spPr>
          <a:xfrm>
            <a:off x="5779008" y="4298950"/>
            <a:ext cx="237744" cy="237744"/>
          </a:xfrm>
          <a:prstGeom prst="rect">
            <a:avLst/>
          </a:prstGeom>
          <a:noFill/>
        </p:spPr>
        <p:txBody>
          <a:bodyPr wrap="square" lIns="0" tIns="0" rIns="0" bIns="0" anchor="ctr">
            <a:spAutoFit/>
          </a:bodyPr>
          <a:lstStyle/>
          <a:p>
            <a:pPr algn="ctr">
              <a:spcAft>
                <a:spcPts val="0"/>
              </a:spcAft>
            </a:pPr>
            <a:r>
              <a:rPr lang="es-CO" sz="900" b="1" i="0" noProof="0" dirty="0">
                <a:solidFill>
                  <a:srgbClr val="1B3A6B"/>
                </a:solidFill>
                <a:latin typeface="Calibri"/>
              </a:rPr>
              <a:t>4</a:t>
            </a:r>
          </a:p>
        </p:txBody>
      </p:sp>
      <p:sp>
        <p:nvSpPr>
          <p:cNvPr id="57" name="TextBox 56"/>
          <p:cNvSpPr txBox="1"/>
          <p:nvPr/>
        </p:nvSpPr>
        <p:spPr>
          <a:xfrm>
            <a:off x="6108192" y="4260850"/>
            <a:ext cx="2560320" cy="411480"/>
          </a:xfrm>
          <a:prstGeom prst="rect">
            <a:avLst/>
          </a:prstGeom>
          <a:noFill/>
        </p:spPr>
        <p:txBody>
          <a:bodyPr wrap="square" lIns="0" tIns="0" rIns="0" bIns="0" anchor="ctr">
            <a:spAutoFit/>
          </a:bodyPr>
          <a:lstStyle/>
          <a:p>
            <a:pPr algn="l">
              <a:spcAft>
                <a:spcPts val="0"/>
              </a:spcAft>
            </a:pPr>
            <a:r>
              <a:rPr lang="es-CO" sz="819" b="0" i="0" noProof="0" dirty="0">
                <a:solidFill>
                  <a:srgbClr val="FFFFFF"/>
                </a:solidFill>
                <a:latin typeface="Calibri"/>
              </a:rPr>
              <a:t>Revisar con los clientes las 9 casas con consumo &gt; 30% sobre el diseño.</a:t>
            </a:r>
          </a:p>
        </p:txBody>
      </p:sp>
      <p:grpSp>
        <p:nvGrpSpPr>
          <p:cNvPr id="9" name="Medidor · Disponibilidad de respaldo"/>
          <p:cNvGrpSpPr/>
          <p:nvPr/>
        </p:nvGrpSpPr>
        <p:grpSpPr>
          <a:xfrm>
            <a:off x="917607" y="1174750"/>
            <a:ext cx="981137" cy="901700"/>
            <a:chOff x="917607" y="1174750"/>
            <a:chExt cx="981137" cy="901700"/>
          </a:xfrm>
        </p:grpSpPr>
        <p:sp>
          <p:nvSpPr>
            <p:cNvPr id="58" name="Riel"/>
            <p:cNvSpPr/>
            <p:nvPr/>
          </p:nvSpPr>
          <p:spPr>
            <a:xfrm>
              <a:off x="957326" y="1174750"/>
              <a:ext cx="901700" cy="901700"/>
            </a:xfrm>
            <a:prstGeom prst="blockArc">
              <a:avLst>
                <a:gd name="adj1" fmla="val 8100000"/>
                <a:gd name="adj2" fmla="val 2700000"/>
                <a:gd name="adj3" fmla="val 9859"/>
              </a:avLst>
            </a:prstGeom>
            <a:solidFill>
              <a:srgbClr val="D2E6DB"/>
            </a:solidFill>
            <a:ln>
              <a:noFill/>
            </a:ln>
          </p:spPr>
          <p:txBody>
            <a:bodyPr rtlCol="0" anchor="ctr"/>
            <a:lstStyle/>
            <a:p>
              <a:pPr algn="ctr"/>
              <a:endParaRPr lang="es-CO" noProof="0" dirty="0"/>
            </a:p>
          </p:txBody>
        </p:sp>
        <p:sp>
          <p:nvSpPr>
            <p:cNvPr id="59" name="Riel inicio"/>
            <p:cNvSpPr/>
            <p:nvPr/>
          </p:nvSpPr>
          <p:spPr>
            <a:xfrm>
              <a:off x="1076357" y="1868518"/>
              <a:ext cx="88900" cy="88900"/>
            </a:xfrm>
            <a:prstGeom prst="ellipse">
              <a:avLst/>
            </a:prstGeom>
            <a:solidFill>
              <a:srgbClr val="D2E6DB"/>
            </a:solidFill>
            <a:ln>
              <a:noFill/>
            </a:ln>
          </p:spPr>
          <p:txBody>
            <a:bodyPr rtlCol="0" anchor="ctr"/>
            <a:lstStyle/>
            <a:p>
              <a:pPr algn="ctr"/>
              <a:endParaRPr lang="es-CO" noProof="0" dirty="0"/>
            </a:p>
          </p:txBody>
        </p:sp>
        <p:sp>
          <p:nvSpPr>
            <p:cNvPr id="60" name="Riel fin"/>
            <p:cNvSpPr/>
            <p:nvPr/>
          </p:nvSpPr>
          <p:spPr>
            <a:xfrm>
              <a:off x="1651094" y="1868518"/>
              <a:ext cx="88900" cy="88900"/>
            </a:xfrm>
            <a:prstGeom prst="ellipse">
              <a:avLst/>
            </a:prstGeom>
            <a:solidFill>
              <a:srgbClr val="D2E6DB"/>
            </a:solidFill>
            <a:ln>
              <a:noFill/>
            </a:ln>
          </p:spPr>
          <p:txBody>
            <a:bodyPr rtlCol="0" anchor="ctr"/>
            <a:lstStyle/>
            <a:p>
              <a:pPr algn="ctr"/>
              <a:endParaRPr lang="es-CO" noProof="0" dirty="0"/>
            </a:p>
          </p:txBody>
        </p:sp>
        <p:sp>
          <p:nvSpPr>
            <p:cNvPr id="61" name="Realidad"/>
            <p:cNvSpPr/>
            <p:nvPr/>
          </p:nvSpPr>
          <p:spPr>
            <a:xfrm>
              <a:off x="957326" y="1174750"/>
              <a:ext cx="901700" cy="901700"/>
            </a:xfrm>
            <a:prstGeom prst="blockArc">
              <a:avLst>
                <a:gd name="adj1" fmla="val 8100000"/>
                <a:gd name="adj2" fmla="val 1811975"/>
                <a:gd name="adj3" fmla="val 9859"/>
              </a:avLst>
            </a:prstGeom>
            <a:solidFill>
              <a:srgbClr val="1E8449"/>
            </a:solidFill>
            <a:ln>
              <a:noFill/>
            </a:ln>
          </p:spPr>
          <p:txBody>
            <a:bodyPr rtlCol="0" anchor="ctr"/>
            <a:lstStyle/>
            <a:p>
              <a:pPr algn="ctr"/>
              <a:endParaRPr lang="es-CO" noProof="0" dirty="0"/>
            </a:p>
          </p:txBody>
        </p:sp>
        <p:sp>
          <p:nvSpPr>
            <p:cNvPr id="62" name="Realidad inicio"/>
            <p:cNvSpPr/>
            <p:nvPr/>
          </p:nvSpPr>
          <p:spPr>
            <a:xfrm>
              <a:off x="1076357" y="1868518"/>
              <a:ext cx="88900" cy="88900"/>
            </a:xfrm>
            <a:prstGeom prst="ellipse">
              <a:avLst/>
            </a:prstGeom>
            <a:solidFill>
              <a:srgbClr val="1E8449"/>
            </a:solidFill>
            <a:ln>
              <a:noFill/>
            </a:ln>
          </p:spPr>
          <p:txBody>
            <a:bodyPr rtlCol="0" anchor="ctr"/>
            <a:lstStyle/>
            <a:p>
              <a:pPr algn="ctr"/>
              <a:endParaRPr lang="es-CO" noProof="0" dirty="0"/>
            </a:p>
          </p:txBody>
        </p:sp>
        <p:sp>
          <p:nvSpPr>
            <p:cNvPr id="63" name="Realidad fin"/>
            <p:cNvSpPr/>
            <p:nvPr/>
          </p:nvSpPr>
          <p:spPr>
            <a:xfrm>
              <a:off x="1714968" y="1785574"/>
              <a:ext cx="88900" cy="88900"/>
            </a:xfrm>
            <a:prstGeom prst="ellipse">
              <a:avLst/>
            </a:prstGeom>
            <a:solidFill>
              <a:srgbClr val="1E8449"/>
            </a:solidFill>
            <a:ln>
              <a:noFill/>
            </a:ln>
          </p:spPr>
          <p:txBody>
            <a:bodyPr rtlCol="0" anchor="ctr"/>
            <a:lstStyle/>
            <a:p>
              <a:pPr algn="ctr"/>
              <a:endParaRPr lang="es-CO" noProof="0" dirty="0"/>
            </a:p>
          </p:txBody>
        </p:sp>
        <p:cxnSp>
          <p:nvCxnSpPr>
            <p:cNvPr id="64" name="Meta (fondo)"/>
            <p:cNvCxnSpPr/>
            <p:nvPr/>
          </p:nvCxnSpPr>
          <p:spPr>
            <a:xfrm>
              <a:off x="1716175" y="1725675"/>
              <a:ext cx="157020" cy="51018"/>
            </a:xfrm>
            <a:prstGeom prst="line">
              <a:avLst/>
            </a:prstGeom>
            <a:ln w="57150" cap="rnd">
              <a:solidFill>
                <a:srgbClr val="FFFFFF"/>
              </a:solidFill>
            </a:ln>
          </p:spPr>
        </p:cxnSp>
        <p:cxnSp>
          <p:nvCxnSpPr>
            <p:cNvPr id="65" name="Meta"/>
            <p:cNvCxnSpPr/>
            <p:nvPr/>
          </p:nvCxnSpPr>
          <p:spPr>
            <a:xfrm>
              <a:off x="1716175" y="1725675"/>
              <a:ext cx="157020" cy="51018"/>
            </a:xfrm>
            <a:prstGeom prst="line">
              <a:avLst/>
            </a:prstGeom>
            <a:ln w="25400" cap="rnd">
              <a:solidFill>
                <a:srgbClr val="1A1A2E"/>
              </a:solidFill>
            </a:ln>
          </p:spPr>
        </p:cxnSp>
        <p:sp>
          <p:nvSpPr>
            <p:cNvPr id="66" name="TextBox 65"/>
            <p:cNvSpPr txBox="1"/>
            <p:nvPr/>
          </p:nvSpPr>
          <p:spPr>
            <a:xfrm>
              <a:off x="917607" y="1970118"/>
              <a:ext cx="406400" cy="101600"/>
            </a:xfrm>
            <a:prstGeom prst="rect">
              <a:avLst/>
            </a:prstGeom>
            <a:noFill/>
          </p:spPr>
          <p:txBody>
            <a:bodyPr wrap="none" lIns="0" tIns="0" rIns="0" bIns="0" anchor="ctr">
              <a:spAutoFit/>
            </a:bodyPr>
            <a:lstStyle/>
            <a:p>
              <a:pPr algn="ctr"/>
              <a:r>
                <a:rPr lang="es-CO" sz="650" b="0" noProof="0" dirty="0">
                  <a:solidFill>
                    <a:srgbClr val="7F8C8D"/>
                  </a:solidFill>
                  <a:latin typeface="Calibri"/>
                </a:rPr>
                <a:t>0</a:t>
              </a:r>
            </a:p>
          </p:txBody>
        </p:sp>
        <p:sp>
          <p:nvSpPr>
            <p:cNvPr id="67" name="TextBox 66"/>
            <p:cNvSpPr txBox="1"/>
            <p:nvPr/>
          </p:nvSpPr>
          <p:spPr>
            <a:xfrm>
              <a:off x="1492344" y="1970118"/>
              <a:ext cx="406400" cy="101600"/>
            </a:xfrm>
            <a:prstGeom prst="rect">
              <a:avLst/>
            </a:prstGeom>
            <a:noFill/>
          </p:spPr>
          <p:txBody>
            <a:bodyPr wrap="none" lIns="0" tIns="0" rIns="0" bIns="0" anchor="ctr">
              <a:spAutoFit/>
            </a:bodyPr>
            <a:lstStyle/>
            <a:p>
              <a:pPr algn="ctr"/>
              <a:r>
                <a:rPr lang="es-CO" sz="650" b="0" noProof="0" dirty="0">
                  <a:solidFill>
                    <a:srgbClr val="7F8C8D"/>
                  </a:solidFill>
                  <a:latin typeface="Calibri"/>
                </a:rPr>
                <a:t>100 %</a:t>
              </a:r>
            </a:p>
          </p:txBody>
        </p:sp>
        <p:sp>
          <p:nvSpPr>
            <p:cNvPr id="68" name="TextBox 67"/>
            <p:cNvSpPr txBox="1"/>
            <p:nvPr/>
          </p:nvSpPr>
          <p:spPr>
            <a:xfrm>
              <a:off x="1027176" y="1714500"/>
              <a:ext cx="762000" cy="127000"/>
            </a:xfrm>
            <a:prstGeom prst="rect">
              <a:avLst/>
            </a:prstGeom>
            <a:noFill/>
          </p:spPr>
          <p:txBody>
            <a:bodyPr wrap="none" lIns="0" tIns="0" rIns="0" bIns="0" anchor="ctr">
              <a:spAutoFit/>
            </a:bodyPr>
            <a:lstStyle/>
            <a:p>
              <a:pPr algn="ctr"/>
              <a:r>
                <a:rPr lang="es-CO" sz="750" b="0" noProof="0" dirty="0">
                  <a:solidFill>
                    <a:srgbClr val="55636E"/>
                  </a:solidFill>
                  <a:latin typeface="Calibri"/>
                </a:rPr>
                <a:t>%</a:t>
              </a:r>
            </a:p>
          </p:txBody>
        </p:sp>
      </p:grpSp>
      <p:sp>
        <p:nvSpPr>
          <p:cNvPr id="69" name="Datos 1 · Disponibilidad de respaldo"/>
          <p:cNvSpPr txBox="1"/>
          <p:nvPr/>
        </p:nvSpPr>
        <p:spPr>
          <a:xfrm>
            <a:off x="462280" y="2387600"/>
            <a:ext cx="1891792" cy="114300"/>
          </a:xfrm>
          <a:prstGeom prst="rect">
            <a:avLst/>
          </a:prstGeom>
          <a:noFill/>
        </p:spPr>
        <p:txBody>
          <a:bodyPr wrap="none" lIns="0" tIns="0" rIns="0" bIns="0" anchor="ctr">
            <a:spAutoFit/>
          </a:bodyPr>
          <a:lstStyle/>
          <a:p>
            <a:pPr algn="ctr"/>
            <a:r>
              <a:rPr lang="es-CO" sz="730" b="0" noProof="0" dirty="0">
                <a:solidFill>
                  <a:srgbClr val="1A1A2E"/>
                </a:solidFill>
                <a:latin typeface="Calibri"/>
              </a:rPr>
              <a:t>432,2 h con respaldo de 457,3 h sin red</a:t>
            </a:r>
          </a:p>
        </p:txBody>
      </p:sp>
      <p:sp>
        <p:nvSpPr>
          <p:cNvPr id="70" name="Datos 2 · Disponibilidad de respaldo"/>
          <p:cNvSpPr txBox="1"/>
          <p:nvPr/>
        </p:nvSpPr>
        <p:spPr>
          <a:xfrm>
            <a:off x="462280" y="2508250"/>
            <a:ext cx="1891792" cy="114300"/>
          </a:xfrm>
          <a:prstGeom prst="rect">
            <a:avLst/>
          </a:prstGeom>
          <a:noFill/>
        </p:spPr>
        <p:txBody>
          <a:bodyPr wrap="none" lIns="0" tIns="0" rIns="0" bIns="0" anchor="ctr">
            <a:spAutoFit/>
          </a:bodyPr>
          <a:lstStyle/>
          <a:p>
            <a:pPr algn="ctr"/>
            <a:r>
              <a:rPr lang="es-CO" sz="700" b="0" noProof="0" dirty="0">
                <a:solidFill>
                  <a:srgbClr val="55636E"/>
                </a:solidFill>
                <a:latin typeface="Calibri"/>
              </a:rPr>
              <a:t>25,1 h sin respaldo en 274 eventos</a:t>
            </a:r>
          </a:p>
        </p:txBody>
      </p:sp>
      <p:cxnSp>
        <p:nvCxnSpPr>
          <p:cNvPr id="71" name="Divisor · Disponibilidad de respaldo"/>
          <p:cNvCxnSpPr/>
          <p:nvPr/>
        </p:nvCxnSpPr>
        <p:spPr>
          <a:xfrm>
            <a:off x="563880" y="2359660"/>
            <a:ext cx="1688592" cy="0"/>
          </a:xfrm>
          <a:prstGeom prst="line">
            <a:avLst/>
          </a:prstGeom>
          <a:ln w="9525">
            <a:solidFill>
              <a:srgbClr val="E3E7EA"/>
            </a:solidFill>
          </a:ln>
        </p:spPr>
      </p:cxnSp>
      <p:sp>
        <p:nvSpPr>
          <p:cNvPr id="10" name="TextBox 9"/>
          <p:cNvSpPr txBox="1"/>
          <p:nvPr/>
        </p:nvSpPr>
        <p:spPr>
          <a:xfrm>
            <a:off x="1014476" y="1384300"/>
            <a:ext cx="787400" cy="304800"/>
          </a:xfrm>
          <a:prstGeom prst="rect">
            <a:avLst/>
          </a:prstGeom>
          <a:noFill/>
        </p:spPr>
        <p:txBody>
          <a:bodyPr wrap="square" lIns="0" tIns="0" rIns="0" bIns="0" anchor="ctr">
            <a:spAutoFit/>
          </a:bodyPr>
          <a:lstStyle/>
          <a:p>
            <a:pPr algn="ctr">
              <a:spcAft>
                <a:spcPts val="0"/>
              </a:spcAft>
            </a:pPr>
            <a:r>
              <a:rPr lang="es-CO" sz="2100" b="1" i="0" noProof="0" dirty="0">
                <a:solidFill>
                  <a:srgbClr val="1A1A2E"/>
                </a:solidFill>
                <a:latin typeface="Calibri"/>
              </a:rPr>
              <a:t>94,5</a:t>
            </a:r>
          </a:p>
        </p:txBody>
      </p:sp>
      <p:grpSp>
        <p:nvGrpSpPr>
          <p:cNvPr id="14" name="Medidor · Cobertura solar media"/>
          <p:cNvGrpSpPr/>
          <p:nvPr/>
        </p:nvGrpSpPr>
        <p:grpSpPr>
          <a:xfrm>
            <a:off x="3039015" y="1174750"/>
            <a:ext cx="981137" cy="901700"/>
            <a:chOff x="3039015" y="1174750"/>
            <a:chExt cx="981137" cy="901700"/>
          </a:xfrm>
        </p:grpSpPr>
        <p:sp>
          <p:nvSpPr>
            <p:cNvPr id="72" name="Riel"/>
            <p:cNvSpPr/>
            <p:nvPr/>
          </p:nvSpPr>
          <p:spPr>
            <a:xfrm>
              <a:off x="3078734" y="1174750"/>
              <a:ext cx="901700" cy="901700"/>
            </a:xfrm>
            <a:prstGeom prst="blockArc">
              <a:avLst>
                <a:gd name="adj1" fmla="val 8100000"/>
                <a:gd name="adj2" fmla="val 2700000"/>
                <a:gd name="adj3" fmla="val 9859"/>
              </a:avLst>
            </a:prstGeom>
            <a:solidFill>
              <a:srgbClr val="F4E2D2"/>
            </a:solidFill>
            <a:ln>
              <a:noFill/>
            </a:ln>
          </p:spPr>
          <p:txBody>
            <a:bodyPr rtlCol="0" anchor="ctr"/>
            <a:lstStyle/>
            <a:p>
              <a:pPr algn="ctr"/>
              <a:endParaRPr lang="es-CO" noProof="0" dirty="0"/>
            </a:p>
          </p:txBody>
        </p:sp>
        <p:sp>
          <p:nvSpPr>
            <p:cNvPr id="73" name="Riel inicio"/>
            <p:cNvSpPr/>
            <p:nvPr/>
          </p:nvSpPr>
          <p:spPr>
            <a:xfrm>
              <a:off x="3197765" y="1868518"/>
              <a:ext cx="88900" cy="88900"/>
            </a:xfrm>
            <a:prstGeom prst="ellipse">
              <a:avLst/>
            </a:prstGeom>
            <a:solidFill>
              <a:srgbClr val="F4E2D2"/>
            </a:solidFill>
            <a:ln>
              <a:noFill/>
            </a:ln>
          </p:spPr>
          <p:txBody>
            <a:bodyPr rtlCol="0" anchor="ctr"/>
            <a:lstStyle/>
            <a:p>
              <a:pPr algn="ctr"/>
              <a:endParaRPr lang="es-CO" noProof="0" dirty="0"/>
            </a:p>
          </p:txBody>
        </p:sp>
        <p:sp>
          <p:nvSpPr>
            <p:cNvPr id="74" name="Riel fin"/>
            <p:cNvSpPr/>
            <p:nvPr/>
          </p:nvSpPr>
          <p:spPr>
            <a:xfrm>
              <a:off x="3772502" y="1868518"/>
              <a:ext cx="88900" cy="88900"/>
            </a:xfrm>
            <a:prstGeom prst="ellipse">
              <a:avLst/>
            </a:prstGeom>
            <a:solidFill>
              <a:srgbClr val="F4E2D2"/>
            </a:solidFill>
            <a:ln>
              <a:noFill/>
            </a:ln>
          </p:spPr>
          <p:txBody>
            <a:bodyPr rtlCol="0" anchor="ctr"/>
            <a:lstStyle/>
            <a:p>
              <a:pPr algn="ctr"/>
              <a:endParaRPr lang="es-CO" noProof="0" dirty="0"/>
            </a:p>
          </p:txBody>
        </p:sp>
        <p:sp>
          <p:nvSpPr>
            <p:cNvPr id="75" name="Realidad"/>
            <p:cNvSpPr/>
            <p:nvPr/>
          </p:nvSpPr>
          <p:spPr>
            <a:xfrm>
              <a:off x="3078734" y="1174750"/>
              <a:ext cx="901700" cy="901700"/>
            </a:xfrm>
            <a:prstGeom prst="blockArc">
              <a:avLst>
                <a:gd name="adj1" fmla="val 8100000"/>
                <a:gd name="adj2" fmla="val 19319128"/>
                <a:gd name="adj3" fmla="val 9859"/>
              </a:avLst>
            </a:prstGeom>
            <a:solidFill>
              <a:srgbClr val="CA6F1E"/>
            </a:solidFill>
            <a:ln>
              <a:noFill/>
            </a:ln>
          </p:spPr>
          <p:txBody>
            <a:bodyPr rtlCol="0" anchor="ctr"/>
            <a:lstStyle/>
            <a:p>
              <a:pPr algn="ctr"/>
              <a:endParaRPr lang="es-CO" noProof="0" dirty="0"/>
            </a:p>
          </p:txBody>
        </p:sp>
        <p:sp>
          <p:nvSpPr>
            <p:cNvPr id="76" name="Realidad inicio"/>
            <p:cNvSpPr/>
            <p:nvPr/>
          </p:nvSpPr>
          <p:spPr>
            <a:xfrm>
              <a:off x="3197765" y="1868518"/>
              <a:ext cx="88900" cy="88900"/>
            </a:xfrm>
            <a:prstGeom prst="ellipse">
              <a:avLst/>
            </a:prstGeom>
            <a:solidFill>
              <a:srgbClr val="CA6F1E"/>
            </a:solidFill>
            <a:ln>
              <a:noFill/>
            </a:ln>
          </p:spPr>
          <p:txBody>
            <a:bodyPr rtlCol="0" anchor="ctr"/>
            <a:lstStyle/>
            <a:p>
              <a:pPr algn="ctr"/>
              <a:endParaRPr lang="es-CO" noProof="0" dirty="0"/>
            </a:p>
          </p:txBody>
        </p:sp>
        <p:sp>
          <p:nvSpPr>
            <p:cNvPr id="77" name="Realidad fin"/>
            <p:cNvSpPr/>
            <p:nvPr/>
          </p:nvSpPr>
          <p:spPr>
            <a:xfrm>
              <a:off x="3805318" y="1330864"/>
              <a:ext cx="88900" cy="88900"/>
            </a:xfrm>
            <a:prstGeom prst="ellipse">
              <a:avLst/>
            </a:prstGeom>
            <a:solidFill>
              <a:srgbClr val="CA6F1E"/>
            </a:solidFill>
            <a:ln>
              <a:noFill/>
            </a:ln>
          </p:spPr>
          <p:txBody>
            <a:bodyPr rtlCol="0" anchor="ctr"/>
            <a:lstStyle/>
            <a:p>
              <a:pPr algn="ctr"/>
              <a:endParaRPr lang="es-CO" noProof="0" dirty="0"/>
            </a:p>
          </p:txBody>
        </p:sp>
        <p:cxnSp>
          <p:nvCxnSpPr>
            <p:cNvPr id="78" name="Meta (fondo)"/>
            <p:cNvCxnSpPr/>
            <p:nvPr/>
          </p:nvCxnSpPr>
          <p:spPr>
            <a:xfrm>
              <a:off x="3837583" y="1725675"/>
              <a:ext cx="157020" cy="51018"/>
            </a:xfrm>
            <a:prstGeom prst="line">
              <a:avLst/>
            </a:prstGeom>
            <a:ln w="57150" cap="rnd">
              <a:solidFill>
                <a:srgbClr val="FFFFFF"/>
              </a:solidFill>
            </a:ln>
          </p:spPr>
        </p:cxnSp>
        <p:cxnSp>
          <p:nvCxnSpPr>
            <p:cNvPr id="79" name="Meta"/>
            <p:cNvCxnSpPr/>
            <p:nvPr/>
          </p:nvCxnSpPr>
          <p:spPr>
            <a:xfrm>
              <a:off x="3837583" y="1725675"/>
              <a:ext cx="157020" cy="51018"/>
            </a:xfrm>
            <a:prstGeom prst="line">
              <a:avLst/>
            </a:prstGeom>
            <a:ln w="25400" cap="rnd">
              <a:solidFill>
                <a:srgbClr val="1A1A2E"/>
              </a:solidFill>
            </a:ln>
          </p:spPr>
        </p:cxnSp>
        <p:sp>
          <p:nvSpPr>
            <p:cNvPr id="80" name="TextBox 79"/>
            <p:cNvSpPr txBox="1"/>
            <p:nvPr/>
          </p:nvSpPr>
          <p:spPr>
            <a:xfrm>
              <a:off x="3039015" y="1970118"/>
              <a:ext cx="406400" cy="101600"/>
            </a:xfrm>
            <a:prstGeom prst="rect">
              <a:avLst/>
            </a:prstGeom>
            <a:noFill/>
          </p:spPr>
          <p:txBody>
            <a:bodyPr wrap="none" lIns="0" tIns="0" rIns="0" bIns="0" anchor="ctr">
              <a:spAutoFit/>
            </a:bodyPr>
            <a:lstStyle/>
            <a:p>
              <a:pPr algn="ctr"/>
              <a:r>
                <a:rPr lang="es-CO" sz="650" b="0" noProof="0" dirty="0">
                  <a:solidFill>
                    <a:srgbClr val="7F8C8D"/>
                  </a:solidFill>
                  <a:latin typeface="Calibri"/>
                </a:rPr>
                <a:t>0</a:t>
              </a:r>
            </a:p>
          </p:txBody>
        </p:sp>
        <p:sp>
          <p:nvSpPr>
            <p:cNvPr id="81" name="TextBox 80"/>
            <p:cNvSpPr txBox="1"/>
            <p:nvPr/>
          </p:nvSpPr>
          <p:spPr>
            <a:xfrm>
              <a:off x="3613752" y="1970118"/>
              <a:ext cx="406400" cy="101600"/>
            </a:xfrm>
            <a:prstGeom prst="rect">
              <a:avLst/>
            </a:prstGeom>
            <a:noFill/>
          </p:spPr>
          <p:txBody>
            <a:bodyPr wrap="none" lIns="0" tIns="0" rIns="0" bIns="0" anchor="ctr">
              <a:spAutoFit/>
            </a:bodyPr>
            <a:lstStyle/>
            <a:p>
              <a:pPr algn="ctr"/>
              <a:r>
                <a:rPr lang="es-CO" sz="650" b="0" noProof="0" dirty="0">
                  <a:solidFill>
                    <a:srgbClr val="7F8C8D"/>
                  </a:solidFill>
                  <a:latin typeface="Calibri"/>
                </a:rPr>
                <a:t>100 %</a:t>
              </a:r>
            </a:p>
          </p:txBody>
        </p:sp>
        <p:sp>
          <p:nvSpPr>
            <p:cNvPr id="82" name="TextBox 81"/>
            <p:cNvSpPr txBox="1"/>
            <p:nvPr/>
          </p:nvSpPr>
          <p:spPr>
            <a:xfrm>
              <a:off x="3148584" y="1714500"/>
              <a:ext cx="762000" cy="127000"/>
            </a:xfrm>
            <a:prstGeom prst="rect">
              <a:avLst/>
            </a:prstGeom>
            <a:noFill/>
          </p:spPr>
          <p:txBody>
            <a:bodyPr wrap="none" lIns="0" tIns="0" rIns="0" bIns="0" anchor="ctr">
              <a:spAutoFit/>
            </a:bodyPr>
            <a:lstStyle/>
            <a:p>
              <a:pPr algn="ctr"/>
              <a:r>
                <a:rPr lang="es-CO" sz="750" b="0" noProof="0" dirty="0">
                  <a:solidFill>
                    <a:srgbClr val="55636E"/>
                  </a:solidFill>
                  <a:latin typeface="Calibri"/>
                </a:rPr>
                <a:t>%</a:t>
              </a:r>
            </a:p>
          </p:txBody>
        </p:sp>
      </p:grpSp>
      <p:sp>
        <p:nvSpPr>
          <p:cNvPr id="83" name="Datos 1 · Cobertura solar media"/>
          <p:cNvSpPr txBox="1"/>
          <p:nvPr/>
        </p:nvSpPr>
        <p:spPr>
          <a:xfrm>
            <a:off x="2583688" y="2387600"/>
            <a:ext cx="1891792" cy="114300"/>
          </a:xfrm>
          <a:prstGeom prst="rect">
            <a:avLst/>
          </a:prstGeom>
          <a:noFill/>
        </p:spPr>
        <p:txBody>
          <a:bodyPr wrap="none" lIns="0" tIns="0" rIns="0" bIns="0" anchor="ctr">
            <a:spAutoFit/>
          </a:bodyPr>
          <a:lstStyle/>
          <a:p>
            <a:pPr algn="ctr"/>
            <a:r>
              <a:rPr lang="es-CO" sz="730" b="0" noProof="0" dirty="0">
                <a:solidFill>
                  <a:srgbClr val="1A1A2E"/>
                </a:solidFill>
                <a:latin typeface="Calibri"/>
              </a:rPr>
              <a:t>Generación 13.631 kWh ÷ consumo 19.465 kWh</a:t>
            </a:r>
          </a:p>
        </p:txBody>
      </p:sp>
      <p:sp>
        <p:nvSpPr>
          <p:cNvPr id="84" name="Datos 2 · Cobertura solar media"/>
          <p:cNvSpPr txBox="1"/>
          <p:nvPr/>
        </p:nvSpPr>
        <p:spPr>
          <a:xfrm>
            <a:off x="2583688" y="2508250"/>
            <a:ext cx="1891792" cy="114300"/>
          </a:xfrm>
          <a:prstGeom prst="rect">
            <a:avLst/>
          </a:prstGeom>
          <a:noFill/>
        </p:spPr>
        <p:txBody>
          <a:bodyPr wrap="none" lIns="0" tIns="0" rIns="0" bIns="0" anchor="ctr">
            <a:spAutoFit/>
          </a:bodyPr>
          <a:lstStyle/>
          <a:p>
            <a:pPr algn="ctr"/>
            <a:r>
              <a:rPr lang="es-CO" sz="700" b="0" noProof="0" dirty="0">
                <a:solidFill>
                  <a:srgbClr val="55636E"/>
                </a:solidFill>
                <a:latin typeface="Calibri"/>
              </a:rPr>
              <a:t>Portafolio 70,0% · media de conjuntos 69,3%</a:t>
            </a:r>
          </a:p>
        </p:txBody>
      </p:sp>
      <p:cxnSp>
        <p:nvCxnSpPr>
          <p:cNvPr id="85" name="Divisor · Cobertura solar media"/>
          <p:cNvCxnSpPr/>
          <p:nvPr/>
        </p:nvCxnSpPr>
        <p:spPr>
          <a:xfrm>
            <a:off x="2685288" y="2359660"/>
            <a:ext cx="1688592" cy="0"/>
          </a:xfrm>
          <a:prstGeom prst="line">
            <a:avLst/>
          </a:prstGeom>
          <a:ln w="9525">
            <a:solidFill>
              <a:srgbClr val="E3E7EA"/>
            </a:solidFill>
          </a:ln>
        </p:spPr>
      </p:cxnSp>
      <p:sp>
        <p:nvSpPr>
          <p:cNvPr id="15" name="TextBox 14"/>
          <p:cNvSpPr txBox="1"/>
          <p:nvPr/>
        </p:nvSpPr>
        <p:spPr>
          <a:xfrm>
            <a:off x="3135884" y="1384300"/>
            <a:ext cx="787400" cy="304800"/>
          </a:xfrm>
          <a:prstGeom prst="rect">
            <a:avLst/>
          </a:prstGeom>
          <a:noFill/>
        </p:spPr>
        <p:txBody>
          <a:bodyPr wrap="square" lIns="0" tIns="0" rIns="0" bIns="0" anchor="ctr">
            <a:spAutoFit/>
          </a:bodyPr>
          <a:lstStyle/>
          <a:p>
            <a:pPr algn="ctr">
              <a:spcAft>
                <a:spcPts val="0"/>
              </a:spcAft>
            </a:pPr>
            <a:r>
              <a:rPr lang="es-CO" sz="2100" b="1" i="0" noProof="0" dirty="0">
                <a:solidFill>
                  <a:srgbClr val="1A1A2E"/>
                </a:solidFill>
                <a:latin typeface="Calibri"/>
              </a:rPr>
              <a:t>69,3</a:t>
            </a:r>
          </a:p>
        </p:txBody>
      </p:sp>
      <p:grpSp>
        <p:nvGrpSpPr>
          <p:cNvPr id="19" name="Medidor · Rendimiento vs diseño"/>
          <p:cNvGrpSpPr/>
          <p:nvPr/>
        </p:nvGrpSpPr>
        <p:grpSpPr>
          <a:xfrm>
            <a:off x="5160423" y="1174750"/>
            <a:ext cx="981137" cy="901700"/>
            <a:chOff x="5160423" y="1174750"/>
            <a:chExt cx="981137" cy="901700"/>
          </a:xfrm>
        </p:grpSpPr>
        <p:sp>
          <p:nvSpPr>
            <p:cNvPr id="86" name="Riel"/>
            <p:cNvSpPr/>
            <p:nvPr/>
          </p:nvSpPr>
          <p:spPr>
            <a:xfrm>
              <a:off x="5200142" y="1174750"/>
              <a:ext cx="901700" cy="901700"/>
            </a:xfrm>
            <a:prstGeom prst="blockArc">
              <a:avLst>
                <a:gd name="adj1" fmla="val 8100000"/>
                <a:gd name="adj2" fmla="val 2700000"/>
                <a:gd name="adj3" fmla="val 9859"/>
              </a:avLst>
            </a:prstGeom>
            <a:solidFill>
              <a:srgbClr val="D2E6DB"/>
            </a:solidFill>
            <a:ln>
              <a:noFill/>
            </a:ln>
          </p:spPr>
          <p:txBody>
            <a:bodyPr rtlCol="0" anchor="ctr"/>
            <a:lstStyle/>
            <a:p>
              <a:pPr algn="ctr"/>
              <a:endParaRPr lang="es-CO" noProof="0" dirty="0"/>
            </a:p>
          </p:txBody>
        </p:sp>
        <p:sp>
          <p:nvSpPr>
            <p:cNvPr id="87" name="Riel inicio"/>
            <p:cNvSpPr/>
            <p:nvPr/>
          </p:nvSpPr>
          <p:spPr>
            <a:xfrm>
              <a:off x="5319173" y="1868518"/>
              <a:ext cx="88900" cy="88900"/>
            </a:xfrm>
            <a:prstGeom prst="ellipse">
              <a:avLst/>
            </a:prstGeom>
            <a:solidFill>
              <a:srgbClr val="D2E6DB"/>
            </a:solidFill>
            <a:ln>
              <a:noFill/>
            </a:ln>
          </p:spPr>
          <p:txBody>
            <a:bodyPr rtlCol="0" anchor="ctr"/>
            <a:lstStyle/>
            <a:p>
              <a:pPr algn="ctr"/>
              <a:endParaRPr lang="es-CO" noProof="0" dirty="0"/>
            </a:p>
          </p:txBody>
        </p:sp>
        <p:sp>
          <p:nvSpPr>
            <p:cNvPr id="88" name="Riel fin"/>
            <p:cNvSpPr/>
            <p:nvPr/>
          </p:nvSpPr>
          <p:spPr>
            <a:xfrm>
              <a:off x="5893910" y="1868518"/>
              <a:ext cx="88900" cy="88900"/>
            </a:xfrm>
            <a:prstGeom prst="ellipse">
              <a:avLst/>
            </a:prstGeom>
            <a:solidFill>
              <a:srgbClr val="D2E6DB"/>
            </a:solidFill>
            <a:ln>
              <a:noFill/>
            </a:ln>
          </p:spPr>
          <p:txBody>
            <a:bodyPr rtlCol="0" anchor="ctr"/>
            <a:lstStyle/>
            <a:p>
              <a:pPr algn="ctr"/>
              <a:endParaRPr lang="es-CO" noProof="0" dirty="0"/>
            </a:p>
          </p:txBody>
        </p:sp>
        <p:sp>
          <p:nvSpPr>
            <p:cNvPr id="89" name="Realidad"/>
            <p:cNvSpPr/>
            <p:nvPr/>
          </p:nvSpPr>
          <p:spPr>
            <a:xfrm>
              <a:off x="5200142" y="1174750"/>
              <a:ext cx="901700" cy="901700"/>
            </a:xfrm>
            <a:prstGeom prst="blockArc">
              <a:avLst>
                <a:gd name="adj1" fmla="val 8100000"/>
                <a:gd name="adj2" fmla="val 21192881"/>
                <a:gd name="adj3" fmla="val 9859"/>
              </a:avLst>
            </a:prstGeom>
            <a:solidFill>
              <a:srgbClr val="1E8449"/>
            </a:solidFill>
            <a:ln>
              <a:noFill/>
            </a:ln>
          </p:spPr>
          <p:txBody>
            <a:bodyPr rtlCol="0" anchor="ctr"/>
            <a:lstStyle/>
            <a:p>
              <a:pPr algn="ctr"/>
              <a:endParaRPr lang="es-CO" noProof="0" dirty="0"/>
            </a:p>
          </p:txBody>
        </p:sp>
        <p:sp>
          <p:nvSpPr>
            <p:cNvPr id="90" name="Realidad inicio"/>
            <p:cNvSpPr/>
            <p:nvPr/>
          </p:nvSpPr>
          <p:spPr>
            <a:xfrm>
              <a:off x="5319173" y="1868518"/>
              <a:ext cx="88900" cy="88900"/>
            </a:xfrm>
            <a:prstGeom prst="ellipse">
              <a:avLst/>
            </a:prstGeom>
            <a:solidFill>
              <a:srgbClr val="1E8449"/>
            </a:solidFill>
            <a:ln>
              <a:noFill/>
            </a:ln>
          </p:spPr>
          <p:txBody>
            <a:bodyPr rtlCol="0" anchor="ctr"/>
            <a:lstStyle/>
            <a:p>
              <a:pPr algn="ctr"/>
              <a:endParaRPr lang="es-CO" noProof="0" dirty="0"/>
            </a:p>
          </p:txBody>
        </p:sp>
        <p:sp>
          <p:nvSpPr>
            <p:cNvPr id="91" name="Realidad fin"/>
            <p:cNvSpPr/>
            <p:nvPr/>
          </p:nvSpPr>
          <p:spPr>
            <a:xfrm>
              <a:off x="6010095" y="1533134"/>
              <a:ext cx="88900" cy="88900"/>
            </a:xfrm>
            <a:prstGeom prst="ellipse">
              <a:avLst/>
            </a:prstGeom>
            <a:solidFill>
              <a:srgbClr val="1E8449"/>
            </a:solidFill>
            <a:ln>
              <a:noFill/>
            </a:ln>
          </p:spPr>
          <p:txBody>
            <a:bodyPr rtlCol="0" anchor="ctr"/>
            <a:lstStyle/>
            <a:p>
              <a:pPr algn="ctr"/>
              <a:endParaRPr lang="es-CO" noProof="0" dirty="0"/>
            </a:p>
          </p:txBody>
        </p:sp>
        <p:cxnSp>
          <p:nvCxnSpPr>
            <p:cNvPr id="92" name="Meta (fondo)"/>
            <p:cNvCxnSpPr/>
            <p:nvPr/>
          </p:nvCxnSpPr>
          <p:spPr>
            <a:xfrm flipV="1">
              <a:off x="5970854" y="1549111"/>
              <a:ext cx="163068" cy="25827"/>
            </a:xfrm>
            <a:prstGeom prst="line">
              <a:avLst/>
            </a:prstGeom>
            <a:ln w="57150" cap="rnd">
              <a:solidFill>
                <a:srgbClr val="FFFFFF"/>
              </a:solidFill>
            </a:ln>
          </p:spPr>
        </p:cxnSp>
        <p:cxnSp>
          <p:nvCxnSpPr>
            <p:cNvPr id="93" name="Meta"/>
            <p:cNvCxnSpPr/>
            <p:nvPr/>
          </p:nvCxnSpPr>
          <p:spPr>
            <a:xfrm flipV="1">
              <a:off x="5970854" y="1549111"/>
              <a:ext cx="163068" cy="25827"/>
            </a:xfrm>
            <a:prstGeom prst="line">
              <a:avLst/>
            </a:prstGeom>
            <a:ln w="25400" cap="rnd">
              <a:solidFill>
                <a:srgbClr val="1A1A2E"/>
              </a:solidFill>
            </a:ln>
          </p:spPr>
        </p:cxnSp>
        <p:sp>
          <p:nvSpPr>
            <p:cNvPr id="94" name="TextBox 93"/>
            <p:cNvSpPr txBox="1"/>
            <p:nvPr/>
          </p:nvSpPr>
          <p:spPr>
            <a:xfrm>
              <a:off x="5160423" y="1970118"/>
              <a:ext cx="406400" cy="101600"/>
            </a:xfrm>
            <a:prstGeom prst="rect">
              <a:avLst/>
            </a:prstGeom>
            <a:noFill/>
          </p:spPr>
          <p:txBody>
            <a:bodyPr wrap="none" lIns="0" tIns="0" rIns="0" bIns="0" anchor="ctr">
              <a:spAutoFit/>
            </a:bodyPr>
            <a:lstStyle/>
            <a:p>
              <a:pPr algn="ctr"/>
              <a:r>
                <a:rPr lang="es-CO" sz="650" b="0" noProof="0" dirty="0">
                  <a:solidFill>
                    <a:srgbClr val="7F8C8D"/>
                  </a:solidFill>
                  <a:latin typeface="Calibri"/>
                </a:rPr>
                <a:t>0</a:t>
              </a:r>
            </a:p>
          </p:txBody>
        </p:sp>
        <p:sp>
          <p:nvSpPr>
            <p:cNvPr id="95" name="TextBox 94"/>
            <p:cNvSpPr txBox="1"/>
            <p:nvPr/>
          </p:nvSpPr>
          <p:spPr>
            <a:xfrm>
              <a:off x="5735160" y="1970118"/>
              <a:ext cx="406400" cy="101600"/>
            </a:xfrm>
            <a:prstGeom prst="rect">
              <a:avLst/>
            </a:prstGeom>
            <a:noFill/>
          </p:spPr>
          <p:txBody>
            <a:bodyPr wrap="none" lIns="0" tIns="0" rIns="0" bIns="0" anchor="ctr">
              <a:spAutoFit/>
            </a:bodyPr>
            <a:lstStyle/>
            <a:p>
              <a:pPr algn="ctr"/>
              <a:r>
                <a:rPr lang="es-CO" sz="650" b="0" noProof="0" dirty="0">
                  <a:solidFill>
                    <a:srgbClr val="7F8C8D"/>
                  </a:solidFill>
                  <a:latin typeface="Calibri"/>
                </a:rPr>
                <a:t>100 %</a:t>
              </a:r>
            </a:p>
          </p:txBody>
        </p:sp>
        <p:sp>
          <p:nvSpPr>
            <p:cNvPr id="96" name="TextBox 95"/>
            <p:cNvSpPr txBox="1"/>
            <p:nvPr/>
          </p:nvSpPr>
          <p:spPr>
            <a:xfrm>
              <a:off x="5269992" y="1714500"/>
              <a:ext cx="762000" cy="127000"/>
            </a:xfrm>
            <a:prstGeom prst="rect">
              <a:avLst/>
            </a:prstGeom>
            <a:noFill/>
          </p:spPr>
          <p:txBody>
            <a:bodyPr wrap="none" lIns="0" tIns="0" rIns="0" bIns="0" anchor="ctr">
              <a:spAutoFit/>
            </a:bodyPr>
            <a:lstStyle/>
            <a:p>
              <a:pPr algn="ctr"/>
              <a:r>
                <a:rPr lang="es-CO" sz="750" b="0" noProof="0" dirty="0">
                  <a:solidFill>
                    <a:srgbClr val="55636E"/>
                  </a:solidFill>
                  <a:latin typeface="Calibri"/>
                </a:rPr>
                <a:t>%</a:t>
              </a:r>
            </a:p>
          </p:txBody>
        </p:sp>
      </p:grpSp>
      <p:sp>
        <p:nvSpPr>
          <p:cNvPr id="97" name="Datos 1 · Rendimiento vs diseño"/>
          <p:cNvSpPr txBox="1"/>
          <p:nvPr/>
        </p:nvSpPr>
        <p:spPr>
          <a:xfrm>
            <a:off x="4705096" y="2387600"/>
            <a:ext cx="1891792" cy="114300"/>
          </a:xfrm>
          <a:prstGeom prst="rect">
            <a:avLst/>
          </a:prstGeom>
          <a:noFill/>
        </p:spPr>
        <p:txBody>
          <a:bodyPr wrap="none" lIns="0" tIns="0" rIns="0" bIns="0" anchor="ctr">
            <a:spAutoFit/>
          </a:bodyPr>
          <a:lstStyle/>
          <a:p>
            <a:pPr algn="ctr"/>
            <a:r>
              <a:rPr lang="es-CO" sz="730" b="0" noProof="0" dirty="0">
                <a:solidFill>
                  <a:srgbClr val="1A1A2E"/>
                </a:solidFill>
                <a:latin typeface="Calibri"/>
              </a:rPr>
              <a:t>Generación 13.631 kWh vs diseño 17.835 kWh</a:t>
            </a:r>
          </a:p>
        </p:txBody>
      </p:sp>
      <p:sp>
        <p:nvSpPr>
          <p:cNvPr id="98" name="Datos 2 · Rendimiento vs diseño"/>
          <p:cNvSpPr txBox="1"/>
          <p:nvPr/>
        </p:nvSpPr>
        <p:spPr>
          <a:xfrm>
            <a:off x="4705096" y="2508250"/>
            <a:ext cx="1891792" cy="114300"/>
          </a:xfrm>
          <a:prstGeom prst="rect">
            <a:avLst/>
          </a:prstGeom>
          <a:noFill/>
        </p:spPr>
        <p:txBody>
          <a:bodyPr wrap="none" lIns="0" tIns="0" rIns="0" bIns="0" anchor="ctr">
            <a:spAutoFit/>
          </a:bodyPr>
          <a:lstStyle/>
          <a:p>
            <a:pPr algn="ctr"/>
            <a:r>
              <a:rPr lang="es-CO" sz="700" b="0" noProof="0" dirty="0">
                <a:solidFill>
                  <a:srgbClr val="55636E"/>
                </a:solidFill>
                <a:latin typeface="Calibri"/>
              </a:rPr>
              <a:t>Portafolio 76,4% · media de conjuntos 80,8%</a:t>
            </a:r>
          </a:p>
        </p:txBody>
      </p:sp>
      <p:cxnSp>
        <p:nvCxnSpPr>
          <p:cNvPr id="99" name="Divisor · Rendimiento vs diseño"/>
          <p:cNvCxnSpPr/>
          <p:nvPr/>
        </p:nvCxnSpPr>
        <p:spPr>
          <a:xfrm>
            <a:off x="4806696" y="2359660"/>
            <a:ext cx="1688592" cy="0"/>
          </a:xfrm>
          <a:prstGeom prst="line">
            <a:avLst/>
          </a:prstGeom>
          <a:ln w="9525">
            <a:solidFill>
              <a:srgbClr val="E3E7EA"/>
            </a:solidFill>
          </a:ln>
        </p:spPr>
      </p:cxnSp>
      <p:sp>
        <p:nvSpPr>
          <p:cNvPr id="20" name="TextBox 19"/>
          <p:cNvSpPr txBox="1"/>
          <p:nvPr/>
        </p:nvSpPr>
        <p:spPr>
          <a:xfrm>
            <a:off x="5257292" y="1384300"/>
            <a:ext cx="787400" cy="304800"/>
          </a:xfrm>
          <a:prstGeom prst="rect">
            <a:avLst/>
          </a:prstGeom>
          <a:noFill/>
        </p:spPr>
        <p:txBody>
          <a:bodyPr wrap="square" lIns="0" tIns="0" rIns="0" bIns="0" anchor="ctr">
            <a:spAutoFit/>
          </a:bodyPr>
          <a:lstStyle/>
          <a:p>
            <a:pPr algn="ctr">
              <a:spcAft>
                <a:spcPts val="0"/>
              </a:spcAft>
            </a:pPr>
            <a:r>
              <a:rPr lang="es-CO" sz="2100" b="1" i="0" noProof="0" dirty="0">
                <a:solidFill>
                  <a:srgbClr val="1A1A2E"/>
                </a:solidFill>
                <a:latin typeface="Calibri"/>
              </a:rPr>
              <a:t>80,8</a:t>
            </a:r>
          </a:p>
        </p:txBody>
      </p:sp>
      <p:grpSp>
        <p:nvGrpSpPr>
          <p:cNvPr id="24" name="Medidor · Viviendas en zona crítica"/>
          <p:cNvGrpSpPr/>
          <p:nvPr/>
        </p:nvGrpSpPr>
        <p:grpSpPr>
          <a:xfrm>
            <a:off x="7281830" y="1174750"/>
            <a:ext cx="981137" cy="901700"/>
            <a:chOff x="7281830" y="1174750"/>
            <a:chExt cx="981137" cy="901700"/>
          </a:xfrm>
        </p:grpSpPr>
        <p:sp>
          <p:nvSpPr>
            <p:cNvPr id="100" name="Riel"/>
            <p:cNvSpPr/>
            <p:nvPr/>
          </p:nvSpPr>
          <p:spPr>
            <a:xfrm>
              <a:off x="7321549" y="1174750"/>
              <a:ext cx="901700" cy="901700"/>
            </a:xfrm>
            <a:prstGeom prst="blockArc">
              <a:avLst>
                <a:gd name="adj1" fmla="val 8100000"/>
                <a:gd name="adj2" fmla="val 2700000"/>
                <a:gd name="adj3" fmla="val 9859"/>
              </a:avLst>
            </a:prstGeom>
            <a:solidFill>
              <a:srgbClr val="F2D7D5"/>
            </a:solidFill>
            <a:ln>
              <a:noFill/>
            </a:ln>
          </p:spPr>
          <p:txBody>
            <a:bodyPr rtlCol="0" anchor="ctr"/>
            <a:lstStyle/>
            <a:p>
              <a:pPr algn="ctr"/>
              <a:endParaRPr lang="es-CO" noProof="0" dirty="0"/>
            </a:p>
          </p:txBody>
        </p:sp>
        <p:sp>
          <p:nvSpPr>
            <p:cNvPr id="101" name="Riel inicio"/>
            <p:cNvSpPr/>
            <p:nvPr/>
          </p:nvSpPr>
          <p:spPr>
            <a:xfrm>
              <a:off x="7440580" y="1868518"/>
              <a:ext cx="88900" cy="88900"/>
            </a:xfrm>
            <a:prstGeom prst="ellipse">
              <a:avLst/>
            </a:prstGeom>
            <a:solidFill>
              <a:srgbClr val="F2D7D5"/>
            </a:solidFill>
            <a:ln>
              <a:noFill/>
            </a:ln>
          </p:spPr>
          <p:txBody>
            <a:bodyPr rtlCol="0" anchor="ctr"/>
            <a:lstStyle/>
            <a:p>
              <a:pPr algn="ctr"/>
              <a:endParaRPr lang="es-CO" noProof="0" dirty="0"/>
            </a:p>
          </p:txBody>
        </p:sp>
        <p:sp>
          <p:nvSpPr>
            <p:cNvPr id="102" name="Riel fin"/>
            <p:cNvSpPr/>
            <p:nvPr/>
          </p:nvSpPr>
          <p:spPr>
            <a:xfrm>
              <a:off x="8015317" y="1868518"/>
              <a:ext cx="88900" cy="88900"/>
            </a:xfrm>
            <a:prstGeom prst="ellipse">
              <a:avLst/>
            </a:prstGeom>
            <a:solidFill>
              <a:srgbClr val="F2D7D5"/>
            </a:solidFill>
            <a:ln>
              <a:noFill/>
            </a:ln>
          </p:spPr>
          <p:txBody>
            <a:bodyPr rtlCol="0" anchor="ctr"/>
            <a:lstStyle/>
            <a:p>
              <a:pPr algn="ctr"/>
              <a:endParaRPr lang="es-CO" noProof="0" dirty="0"/>
            </a:p>
          </p:txBody>
        </p:sp>
        <p:sp>
          <p:nvSpPr>
            <p:cNvPr id="103" name="Realidad"/>
            <p:cNvSpPr/>
            <p:nvPr/>
          </p:nvSpPr>
          <p:spPr>
            <a:xfrm>
              <a:off x="7321549" y="1174750"/>
              <a:ext cx="901700" cy="901700"/>
            </a:xfrm>
            <a:prstGeom prst="blockArc">
              <a:avLst>
                <a:gd name="adj1" fmla="val 8100000"/>
                <a:gd name="adj2" fmla="val 10125000"/>
                <a:gd name="adj3" fmla="val 9859"/>
              </a:avLst>
            </a:prstGeom>
            <a:solidFill>
              <a:srgbClr val="C0392B"/>
            </a:solidFill>
            <a:ln>
              <a:noFill/>
            </a:ln>
          </p:spPr>
          <p:txBody>
            <a:bodyPr rtlCol="0" anchor="ctr"/>
            <a:lstStyle/>
            <a:p>
              <a:pPr algn="ctr"/>
              <a:endParaRPr lang="es-CO" noProof="0" dirty="0"/>
            </a:p>
          </p:txBody>
        </p:sp>
        <p:sp>
          <p:nvSpPr>
            <p:cNvPr id="104" name="Realidad inicio"/>
            <p:cNvSpPr/>
            <p:nvPr/>
          </p:nvSpPr>
          <p:spPr>
            <a:xfrm>
              <a:off x="7440580" y="1868518"/>
              <a:ext cx="88900" cy="88900"/>
            </a:xfrm>
            <a:prstGeom prst="ellipse">
              <a:avLst/>
            </a:prstGeom>
            <a:solidFill>
              <a:srgbClr val="C0392B"/>
            </a:solidFill>
            <a:ln>
              <a:noFill/>
            </a:ln>
          </p:spPr>
          <p:txBody>
            <a:bodyPr rtlCol="0" anchor="ctr"/>
            <a:lstStyle/>
            <a:p>
              <a:pPr algn="ctr"/>
              <a:endParaRPr lang="es-CO" noProof="0" dirty="0"/>
            </a:p>
          </p:txBody>
        </p:sp>
        <p:sp>
          <p:nvSpPr>
            <p:cNvPr id="105" name="Realidad fin"/>
            <p:cNvSpPr/>
            <p:nvPr/>
          </p:nvSpPr>
          <p:spPr>
            <a:xfrm>
              <a:off x="7329357" y="1660434"/>
              <a:ext cx="88900" cy="88900"/>
            </a:xfrm>
            <a:prstGeom prst="ellipse">
              <a:avLst/>
            </a:prstGeom>
            <a:solidFill>
              <a:srgbClr val="C0392B"/>
            </a:solidFill>
            <a:ln>
              <a:noFill/>
            </a:ln>
          </p:spPr>
          <p:txBody>
            <a:bodyPr rtlCol="0" anchor="ctr"/>
            <a:lstStyle/>
            <a:p>
              <a:pPr algn="ctr"/>
              <a:endParaRPr lang="es-CO" noProof="0" dirty="0"/>
            </a:p>
          </p:txBody>
        </p:sp>
        <p:sp>
          <p:nvSpPr>
            <p:cNvPr id="106" name="TextBox 105"/>
            <p:cNvSpPr txBox="1"/>
            <p:nvPr/>
          </p:nvSpPr>
          <p:spPr>
            <a:xfrm>
              <a:off x="7281830" y="1970118"/>
              <a:ext cx="406400" cy="101600"/>
            </a:xfrm>
            <a:prstGeom prst="rect">
              <a:avLst/>
            </a:prstGeom>
            <a:noFill/>
          </p:spPr>
          <p:txBody>
            <a:bodyPr wrap="none" lIns="0" tIns="0" rIns="0" bIns="0" anchor="ctr">
              <a:spAutoFit/>
            </a:bodyPr>
            <a:lstStyle/>
            <a:p>
              <a:pPr algn="ctr"/>
              <a:r>
                <a:rPr lang="es-CO" sz="650" b="0" noProof="0" dirty="0">
                  <a:solidFill>
                    <a:srgbClr val="7F8C8D"/>
                  </a:solidFill>
                  <a:latin typeface="Calibri"/>
                </a:rPr>
                <a:t>0</a:t>
              </a:r>
            </a:p>
          </p:txBody>
        </p:sp>
        <p:sp>
          <p:nvSpPr>
            <p:cNvPr id="107" name="TextBox 106"/>
            <p:cNvSpPr txBox="1"/>
            <p:nvPr/>
          </p:nvSpPr>
          <p:spPr>
            <a:xfrm>
              <a:off x="7856567" y="1970118"/>
              <a:ext cx="406400" cy="101600"/>
            </a:xfrm>
            <a:prstGeom prst="rect">
              <a:avLst/>
            </a:prstGeom>
            <a:noFill/>
          </p:spPr>
          <p:txBody>
            <a:bodyPr wrap="none" lIns="0" tIns="0" rIns="0" bIns="0" anchor="ctr">
              <a:spAutoFit/>
            </a:bodyPr>
            <a:lstStyle/>
            <a:p>
              <a:pPr algn="ctr"/>
              <a:r>
                <a:rPr lang="es-CO" sz="650" b="0" noProof="0" dirty="0">
                  <a:solidFill>
                    <a:srgbClr val="7F8C8D"/>
                  </a:solidFill>
                  <a:latin typeface="Calibri"/>
                </a:rPr>
                <a:t>48</a:t>
              </a:r>
            </a:p>
          </p:txBody>
        </p:sp>
        <p:sp>
          <p:nvSpPr>
            <p:cNvPr id="108" name="TextBox 107"/>
            <p:cNvSpPr txBox="1"/>
            <p:nvPr/>
          </p:nvSpPr>
          <p:spPr>
            <a:xfrm>
              <a:off x="7391399" y="1714500"/>
              <a:ext cx="762000" cy="127000"/>
            </a:xfrm>
            <a:prstGeom prst="rect">
              <a:avLst/>
            </a:prstGeom>
            <a:noFill/>
          </p:spPr>
          <p:txBody>
            <a:bodyPr wrap="none" lIns="0" tIns="0" rIns="0" bIns="0" anchor="ctr">
              <a:spAutoFit/>
            </a:bodyPr>
            <a:lstStyle/>
            <a:p>
              <a:pPr algn="ctr"/>
              <a:r>
                <a:rPr lang="es-CO" sz="750" b="0" noProof="0" dirty="0">
                  <a:solidFill>
                    <a:srgbClr val="55636E"/>
                  </a:solidFill>
                  <a:latin typeface="Calibri"/>
                </a:rPr>
                <a:t>de 48</a:t>
              </a:r>
            </a:p>
          </p:txBody>
        </p:sp>
      </p:grpSp>
      <p:sp>
        <p:nvSpPr>
          <p:cNvPr id="25" name="TextBox 24"/>
          <p:cNvSpPr txBox="1"/>
          <p:nvPr/>
        </p:nvSpPr>
        <p:spPr>
          <a:xfrm>
            <a:off x="7378699" y="1384300"/>
            <a:ext cx="787400" cy="304800"/>
          </a:xfrm>
          <a:prstGeom prst="rect">
            <a:avLst/>
          </a:prstGeom>
          <a:noFill/>
        </p:spPr>
        <p:txBody>
          <a:bodyPr wrap="square" lIns="0" tIns="0" rIns="0" bIns="0" anchor="ctr">
            <a:spAutoFit/>
          </a:bodyPr>
          <a:lstStyle/>
          <a:p>
            <a:pPr algn="ctr">
              <a:spcAft>
                <a:spcPts val="0"/>
              </a:spcAft>
            </a:pPr>
            <a:r>
              <a:rPr lang="es-CO" sz="2100" b="1" i="0" noProof="0" dirty="0">
                <a:solidFill>
                  <a:srgbClr val="1A1A2E"/>
                </a:solidFill>
                <a:latin typeface="Calibri"/>
              </a:rPr>
              <a:t>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RESPALDO · INIC 4</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1800" b="1" i="0" noProof="0" dirty="0">
                <a:solidFill>
                  <a:srgbClr val="1B3A6B"/>
                </a:solidFill>
                <a:latin typeface="Calibri"/>
              </a:rPr>
              <a:t>La batería sostuvo 94,5% del tiempo sin red: cumple la meta de 90%</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3</a:t>
            </a:r>
          </a:p>
        </p:txBody>
      </p:sp>
      <p:sp>
        <p:nvSpPr>
          <p:cNvPr id="8" name="Rectangle 7"/>
          <p:cNvSpPr/>
          <p:nvPr/>
        </p:nvSpPr>
        <p:spPr>
          <a:xfrm>
            <a:off x="411480" y="1188720"/>
            <a:ext cx="4114800" cy="1691640"/>
          </a:xfrm>
          <a:prstGeom prst="rect">
            <a:avLst/>
          </a:prstGeom>
          <a:solidFill>
            <a:srgbClr val="FFFFFF"/>
          </a:solidFill>
          <a:ln w="10160">
            <a:solidFill>
              <a:srgbClr val="E3E7EA"/>
            </a:solidFill>
          </a:ln>
        </p:spPr>
        <p:txBody>
          <a:bodyPr rtlCol="0" anchor="ctr"/>
          <a:lstStyle/>
          <a:p>
            <a:pPr algn="ctr"/>
            <a:endParaRPr lang="es-CO" noProof="0" dirty="0"/>
          </a:p>
        </p:txBody>
      </p:sp>
      <p:pic>
        <p:nvPicPr>
          <p:cNvPr id="9" name="Picture 8" descr="soled.gif"/>
          <p:cNvPicPr>
            <a:picLocks noChangeAspect="1"/>
          </p:cNvPicPr>
          <p:nvPr/>
        </p:nvPicPr>
        <p:blipFill>
          <a:blip r:embed="rId3"/>
          <a:stretch>
            <a:fillRect/>
          </a:stretch>
        </p:blipFill>
        <p:spPr>
          <a:xfrm>
            <a:off x="1078992" y="1207008"/>
            <a:ext cx="2743200" cy="1682496"/>
          </a:xfrm>
          <a:prstGeom prst="rect">
            <a:avLst/>
          </a:prstGeom>
        </p:spPr>
      </p:pic>
      <p:sp>
        <p:nvSpPr>
          <p:cNvPr id="10" name="Rounded Rectangle 9"/>
          <p:cNvSpPr/>
          <p:nvPr/>
        </p:nvSpPr>
        <p:spPr>
          <a:xfrm>
            <a:off x="502920" y="1261872"/>
            <a:ext cx="1737360" cy="219456"/>
          </a:xfrm>
          <a:prstGeom prst="roundRect">
            <a:avLst/>
          </a:prstGeom>
          <a:solidFill>
            <a:srgbClr val="1B3A6B"/>
          </a:solidFill>
          <a:ln w="12700">
            <a:solidFill>
              <a:srgbClr val="1B3A6B"/>
            </a:solidFill>
          </a:ln>
        </p:spPr>
        <p:txBody>
          <a:bodyPr rtlCol="0" anchor="ctr"/>
          <a:lstStyle/>
          <a:p>
            <a:pPr algn="ctr"/>
            <a:endParaRPr lang="es-CO" noProof="0" dirty="0"/>
          </a:p>
        </p:txBody>
      </p:sp>
      <p:sp>
        <p:nvSpPr>
          <p:cNvPr id="11" name="TextBox 10"/>
          <p:cNvSpPr txBox="1"/>
          <p:nvPr/>
        </p:nvSpPr>
        <p:spPr>
          <a:xfrm>
            <a:off x="502920" y="1261872"/>
            <a:ext cx="1737360" cy="219456"/>
          </a:xfrm>
          <a:prstGeom prst="rect">
            <a:avLst/>
          </a:prstGeom>
          <a:noFill/>
        </p:spPr>
        <p:txBody>
          <a:bodyPr wrap="square" lIns="0" tIns="0" rIns="0" bIns="0" anchor="ctr">
            <a:spAutoFit/>
          </a:bodyPr>
          <a:lstStyle/>
          <a:p>
            <a:pPr algn="ctr">
              <a:spcAft>
                <a:spcPts val="0"/>
              </a:spcAft>
            </a:pPr>
            <a:r>
              <a:rPr lang="es-CO" sz="700" b="1" i="0" noProof="0" dirty="0">
                <a:solidFill>
                  <a:srgbClr val="FFFFFF"/>
                </a:solidFill>
                <a:latin typeface="Calibri"/>
              </a:rPr>
              <a:t>FLUJO DE ENERGÍA</a:t>
            </a:r>
          </a:p>
        </p:txBody>
      </p:sp>
      <p:sp>
        <p:nvSpPr>
          <p:cNvPr id="12" name="Rectangle 11"/>
          <p:cNvSpPr/>
          <p:nvPr/>
        </p:nvSpPr>
        <p:spPr>
          <a:xfrm>
            <a:off x="411480" y="2971800"/>
            <a:ext cx="1325880" cy="91440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3" name="Rectangle 12"/>
          <p:cNvSpPr/>
          <p:nvPr/>
        </p:nvSpPr>
        <p:spPr>
          <a:xfrm>
            <a:off x="411480" y="2971800"/>
            <a:ext cx="54864" cy="9144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14" name="TextBox 13"/>
          <p:cNvSpPr txBox="1"/>
          <p:nvPr/>
        </p:nvSpPr>
        <p:spPr>
          <a:xfrm>
            <a:off x="557784" y="3008376"/>
            <a:ext cx="1124712" cy="475488"/>
          </a:xfrm>
          <a:prstGeom prst="rect">
            <a:avLst/>
          </a:prstGeom>
          <a:noFill/>
        </p:spPr>
        <p:txBody>
          <a:bodyPr wrap="square" lIns="0" tIns="0" rIns="0" bIns="0" anchor="ctr">
            <a:spAutoFit/>
          </a:bodyPr>
          <a:lstStyle/>
          <a:p>
            <a:pPr algn="l">
              <a:spcAft>
                <a:spcPts val="0"/>
              </a:spcAft>
            </a:pPr>
            <a:r>
              <a:rPr lang="es-CO" sz="1800" b="1" i="0" noProof="0" dirty="0">
                <a:solidFill>
                  <a:srgbClr val="1B3A6B"/>
                </a:solidFill>
                <a:latin typeface="Calibri"/>
              </a:rPr>
              <a:t>457,3 h</a:t>
            </a:r>
          </a:p>
        </p:txBody>
      </p:sp>
      <p:sp>
        <p:nvSpPr>
          <p:cNvPr id="15" name="TextBox 14"/>
          <p:cNvSpPr txBox="1"/>
          <p:nvPr/>
        </p:nvSpPr>
        <p:spPr>
          <a:xfrm>
            <a:off x="557784" y="3465576"/>
            <a:ext cx="1124712" cy="201168"/>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sin red (sistema-horas)</a:t>
            </a:r>
          </a:p>
        </p:txBody>
      </p:sp>
      <p:sp>
        <p:nvSpPr>
          <p:cNvPr id="16" name="Rectangle 15"/>
          <p:cNvSpPr/>
          <p:nvPr/>
        </p:nvSpPr>
        <p:spPr>
          <a:xfrm>
            <a:off x="1810512" y="2971800"/>
            <a:ext cx="1325880" cy="91440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7" name="Rectangle 16"/>
          <p:cNvSpPr/>
          <p:nvPr/>
        </p:nvSpPr>
        <p:spPr>
          <a:xfrm>
            <a:off x="1810512" y="2971800"/>
            <a:ext cx="54864" cy="914400"/>
          </a:xfrm>
          <a:prstGeom prst="rect">
            <a:avLst/>
          </a:prstGeom>
          <a:solidFill>
            <a:srgbClr val="1E8449"/>
          </a:solidFill>
          <a:ln w="12700">
            <a:solidFill>
              <a:srgbClr val="1E8449"/>
            </a:solidFill>
          </a:ln>
        </p:spPr>
        <p:txBody>
          <a:bodyPr rtlCol="0" anchor="ctr"/>
          <a:lstStyle/>
          <a:p>
            <a:pPr algn="ctr"/>
            <a:endParaRPr lang="es-CO" noProof="0" dirty="0"/>
          </a:p>
        </p:txBody>
      </p:sp>
      <p:sp>
        <p:nvSpPr>
          <p:cNvPr id="18" name="TextBox 17"/>
          <p:cNvSpPr txBox="1"/>
          <p:nvPr/>
        </p:nvSpPr>
        <p:spPr>
          <a:xfrm>
            <a:off x="1956816" y="3008376"/>
            <a:ext cx="1124712" cy="475488"/>
          </a:xfrm>
          <a:prstGeom prst="rect">
            <a:avLst/>
          </a:prstGeom>
          <a:noFill/>
        </p:spPr>
        <p:txBody>
          <a:bodyPr wrap="square" lIns="0" tIns="0" rIns="0" bIns="0" anchor="ctr">
            <a:spAutoFit/>
          </a:bodyPr>
          <a:lstStyle/>
          <a:p>
            <a:pPr algn="l">
              <a:spcAft>
                <a:spcPts val="0"/>
              </a:spcAft>
            </a:pPr>
            <a:r>
              <a:rPr lang="es-CO" sz="1800" b="1" i="0" noProof="0" dirty="0">
                <a:solidFill>
                  <a:srgbClr val="1E8449"/>
                </a:solidFill>
                <a:latin typeface="Calibri"/>
              </a:rPr>
              <a:t>432,2 h</a:t>
            </a:r>
          </a:p>
        </p:txBody>
      </p:sp>
      <p:sp>
        <p:nvSpPr>
          <p:cNvPr id="19" name="TextBox 18"/>
          <p:cNvSpPr txBox="1"/>
          <p:nvPr/>
        </p:nvSpPr>
        <p:spPr>
          <a:xfrm>
            <a:off x="1956816" y="3465576"/>
            <a:ext cx="1124712" cy="201168"/>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respaldadas por la batería</a:t>
            </a:r>
          </a:p>
        </p:txBody>
      </p:sp>
      <p:sp>
        <p:nvSpPr>
          <p:cNvPr id="20" name="Rectangle 19"/>
          <p:cNvSpPr/>
          <p:nvPr/>
        </p:nvSpPr>
        <p:spPr>
          <a:xfrm>
            <a:off x="3209544" y="2971800"/>
            <a:ext cx="1325880" cy="91440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21" name="Rectangle 20"/>
          <p:cNvSpPr/>
          <p:nvPr/>
        </p:nvSpPr>
        <p:spPr>
          <a:xfrm>
            <a:off x="3209544" y="2971800"/>
            <a:ext cx="54864" cy="914400"/>
          </a:xfrm>
          <a:prstGeom prst="rect">
            <a:avLst/>
          </a:prstGeom>
          <a:solidFill>
            <a:srgbClr val="CA6F1E"/>
          </a:solidFill>
          <a:ln w="12700">
            <a:solidFill>
              <a:srgbClr val="CA6F1E"/>
            </a:solidFill>
          </a:ln>
        </p:spPr>
        <p:txBody>
          <a:bodyPr rtlCol="0" anchor="ctr"/>
          <a:lstStyle/>
          <a:p>
            <a:pPr algn="ctr"/>
            <a:endParaRPr lang="es-CO" noProof="0" dirty="0"/>
          </a:p>
        </p:txBody>
      </p:sp>
      <p:sp>
        <p:nvSpPr>
          <p:cNvPr id="22" name="TextBox 21"/>
          <p:cNvSpPr txBox="1"/>
          <p:nvPr/>
        </p:nvSpPr>
        <p:spPr>
          <a:xfrm>
            <a:off x="3355848" y="3008376"/>
            <a:ext cx="1124712" cy="475488"/>
          </a:xfrm>
          <a:prstGeom prst="rect">
            <a:avLst/>
          </a:prstGeom>
          <a:noFill/>
        </p:spPr>
        <p:txBody>
          <a:bodyPr wrap="square" lIns="0" tIns="0" rIns="0" bIns="0" anchor="ctr">
            <a:spAutoFit/>
          </a:bodyPr>
          <a:lstStyle/>
          <a:p>
            <a:pPr algn="l">
              <a:spcAft>
                <a:spcPts val="0"/>
              </a:spcAft>
            </a:pPr>
            <a:r>
              <a:rPr lang="es-CO" sz="1800" b="1" i="0" noProof="0" dirty="0">
                <a:solidFill>
                  <a:srgbClr val="CA6F1E"/>
                </a:solidFill>
                <a:latin typeface="Calibri"/>
              </a:rPr>
              <a:t>25,1 h</a:t>
            </a:r>
          </a:p>
        </p:txBody>
      </p:sp>
      <p:sp>
        <p:nvSpPr>
          <p:cNvPr id="23" name="TextBox 22"/>
          <p:cNvSpPr txBox="1"/>
          <p:nvPr/>
        </p:nvSpPr>
        <p:spPr>
          <a:xfrm>
            <a:off x="3355848" y="3465576"/>
            <a:ext cx="1124712" cy="201168"/>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sin respaldo</a:t>
            </a:r>
          </a:p>
        </p:txBody>
      </p:sp>
      <p:sp>
        <p:nvSpPr>
          <p:cNvPr id="24" name="TextBox 23"/>
          <p:cNvSpPr txBox="1"/>
          <p:nvPr/>
        </p:nvSpPr>
        <p:spPr>
          <a:xfrm>
            <a:off x="4800600" y="1188720"/>
            <a:ext cx="3931920" cy="640080"/>
          </a:xfrm>
          <a:prstGeom prst="rect">
            <a:avLst/>
          </a:prstGeom>
          <a:noFill/>
        </p:spPr>
        <p:txBody>
          <a:bodyPr wrap="square" lIns="0" tIns="0" rIns="0" bIns="0" anchor="ctr">
            <a:spAutoFit/>
          </a:bodyPr>
          <a:lstStyle/>
          <a:p>
            <a:pPr algn="l">
              <a:spcAft>
                <a:spcPts val="0"/>
              </a:spcAft>
            </a:pPr>
            <a:r>
              <a:rPr lang="es-CO" sz="4400" b="1" i="0" noProof="0" dirty="0">
                <a:solidFill>
                  <a:srgbClr val="1E8449"/>
                </a:solidFill>
                <a:latin typeface="Calibri"/>
              </a:rPr>
              <a:t>94,5%</a:t>
            </a:r>
          </a:p>
        </p:txBody>
      </p:sp>
      <p:sp>
        <p:nvSpPr>
          <p:cNvPr id="25" name="Rounded Rectangle 24"/>
          <p:cNvSpPr/>
          <p:nvPr/>
        </p:nvSpPr>
        <p:spPr>
          <a:xfrm>
            <a:off x="6995160" y="1371600"/>
            <a:ext cx="1737360" cy="274320"/>
          </a:xfrm>
          <a:prstGeom prst="roundRect">
            <a:avLst/>
          </a:prstGeom>
          <a:solidFill>
            <a:srgbClr val="1E8449"/>
          </a:solidFill>
          <a:ln w="12700">
            <a:solidFill>
              <a:srgbClr val="1E8449"/>
            </a:solidFill>
          </a:ln>
        </p:spPr>
        <p:txBody>
          <a:bodyPr rtlCol="0" anchor="ctr"/>
          <a:lstStyle/>
          <a:p>
            <a:pPr algn="ctr"/>
            <a:endParaRPr lang="es-CO" noProof="0" dirty="0"/>
          </a:p>
        </p:txBody>
      </p:sp>
      <p:sp>
        <p:nvSpPr>
          <p:cNvPr id="26" name="TextBox 25"/>
          <p:cNvSpPr txBox="1"/>
          <p:nvPr/>
        </p:nvSpPr>
        <p:spPr>
          <a:xfrm>
            <a:off x="6995160" y="1371600"/>
            <a:ext cx="1737360" cy="274320"/>
          </a:xfrm>
          <a:prstGeom prst="rect">
            <a:avLst/>
          </a:prstGeom>
          <a:noFill/>
        </p:spPr>
        <p:txBody>
          <a:bodyPr wrap="square" lIns="0" tIns="0" rIns="0" bIns="0" anchor="ctr">
            <a:spAutoFit/>
          </a:bodyPr>
          <a:lstStyle/>
          <a:p>
            <a:pPr algn="ctr">
              <a:spcAft>
                <a:spcPts val="0"/>
              </a:spcAft>
            </a:pPr>
            <a:r>
              <a:rPr lang="es-CO" sz="800" b="1" i="0" noProof="0" dirty="0">
                <a:solidFill>
                  <a:srgbClr val="FFFFFF"/>
                </a:solidFill>
                <a:latin typeface="Calibri"/>
              </a:rPr>
              <a:t>CUMPLE META ≥ 90%</a:t>
            </a:r>
          </a:p>
        </p:txBody>
      </p:sp>
      <p:graphicFrame>
        <p:nvGraphicFramePr>
          <p:cNvPr id="27" name="Table 26"/>
          <p:cNvGraphicFramePr>
            <a:graphicFrameLocks noGrp="1"/>
          </p:cNvGraphicFramePr>
          <p:nvPr>
            <p:extLst>
              <p:ext uri="{D42A27DB-BD31-4B8C-83A1-F6EECF244321}">
                <p14:modId xmlns:p14="http://schemas.microsoft.com/office/powerpoint/2010/main" val="1707384521"/>
              </p:ext>
            </p:extLst>
          </p:nvPr>
        </p:nvGraphicFramePr>
        <p:xfrm>
          <a:off x="4800600" y="1965960"/>
          <a:ext cx="3931920" cy="2578608"/>
        </p:xfrm>
        <a:graphic>
          <a:graphicData uri="http://schemas.openxmlformats.org/drawingml/2006/table">
            <a:tbl>
              <a:tblPr>
                <a:tableStyleId>{2D5ABB26-0587-4C30-8999-92F81FD0307C}</a:tableStyleId>
              </a:tblPr>
              <a:tblGrid>
                <a:gridCol w="141732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tblGrid>
              <a:tr h="246888">
                <a:tc>
                  <a:txBody>
                    <a:bodyPr/>
                    <a:lstStyle/>
                    <a:p>
                      <a:pPr algn="l"/>
                      <a:r>
                        <a:rPr lang="es-CO" sz="750" b="1" noProof="0" dirty="0">
                          <a:solidFill>
                            <a:srgbClr val="FFFFFF"/>
                          </a:solidFill>
                          <a:latin typeface="Calibri"/>
                        </a:rPr>
                        <a:t>Conjunto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Casas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Eventos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 respaldo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Estado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extLst>
                  <a:ext uri="{0D108BD9-81ED-4DB2-BD59-A6C34878D82A}">
                    <a16:rowId xmlns:a16="http://schemas.microsoft.com/office/drawing/2014/main" val="10000"/>
                  </a:ext>
                </a:extLst>
              </a:tr>
              <a:tr h="233172">
                <a:tc>
                  <a:txBody>
                    <a:bodyPr/>
                    <a:lstStyle/>
                    <a:p>
                      <a:pPr algn="l"/>
                      <a:r>
                        <a:rPr lang="es-CO" sz="800" b="1" noProof="0" dirty="0">
                          <a:solidFill>
                            <a:srgbClr val="333333"/>
                          </a:solidFill>
                          <a:latin typeface="Calibri"/>
                        </a:rPr>
                        <a:t>Reservas de Pance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22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198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333333"/>
                          </a:solidFill>
                          <a:latin typeface="Calibri"/>
                        </a:rPr>
                        <a:t>96,0%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FFFFFF"/>
                          </a:solidFill>
                          <a:latin typeface="Calibri"/>
                        </a:rPr>
                        <a:t>NORMAL</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extLst>
                  <a:ext uri="{0D108BD9-81ED-4DB2-BD59-A6C34878D82A}">
                    <a16:rowId xmlns:a16="http://schemas.microsoft.com/office/drawing/2014/main" val="10001"/>
                  </a:ext>
                </a:extLst>
              </a:tr>
              <a:tr h="233172">
                <a:tc>
                  <a:txBody>
                    <a:bodyPr/>
                    <a:lstStyle/>
                    <a:p>
                      <a:pPr algn="l"/>
                      <a:r>
                        <a:rPr lang="es-CO" sz="800" b="1" noProof="0" dirty="0">
                          <a:solidFill>
                            <a:srgbClr val="333333"/>
                          </a:solidFill>
                          <a:latin typeface="Calibri"/>
                        </a:rPr>
                        <a:t>Prado Verde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16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48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333333"/>
                          </a:solidFill>
                          <a:latin typeface="Calibri"/>
                        </a:rPr>
                        <a:t>91,3%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FFFFFF"/>
                          </a:solidFill>
                          <a:latin typeface="Calibri"/>
                        </a:rPr>
                        <a:t>NORMAL</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extLst>
                  <a:ext uri="{0D108BD9-81ED-4DB2-BD59-A6C34878D82A}">
                    <a16:rowId xmlns:a16="http://schemas.microsoft.com/office/drawing/2014/main" val="10002"/>
                  </a:ext>
                </a:extLst>
              </a:tr>
              <a:tr h="233172">
                <a:tc>
                  <a:txBody>
                    <a:bodyPr/>
                    <a:lstStyle/>
                    <a:p>
                      <a:pPr algn="l"/>
                      <a:r>
                        <a:rPr lang="es-CO" sz="800" b="1" noProof="0" dirty="0">
                          <a:solidFill>
                            <a:srgbClr val="333333"/>
                          </a:solidFill>
                          <a:latin typeface="Calibri"/>
                        </a:rPr>
                        <a:t>Terra </a:t>
                      </a:r>
                      <a:r>
                        <a:rPr lang="es-CO" sz="800" b="1" noProof="0" dirty="0" err="1">
                          <a:solidFill>
                            <a:srgbClr val="333333"/>
                          </a:solidFill>
                          <a:latin typeface="Calibri"/>
                        </a:rPr>
                        <a:t>by</a:t>
                      </a:r>
                      <a:r>
                        <a:rPr lang="es-CO" sz="800" b="1" noProof="0" dirty="0">
                          <a:solidFill>
                            <a:srgbClr val="333333"/>
                          </a:solidFill>
                          <a:latin typeface="Calibri"/>
                        </a:rPr>
                        <a:t> Kaia</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333333"/>
                          </a:solidFill>
                          <a:latin typeface="Calibri"/>
                        </a:rPr>
                        <a:t>99,1%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FFFFFF"/>
                          </a:solidFill>
                          <a:latin typeface="Calibri"/>
                        </a:rPr>
                        <a:t>NORMAL</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extLst>
                  <a:ext uri="{0D108BD9-81ED-4DB2-BD59-A6C34878D82A}">
                    <a16:rowId xmlns:a16="http://schemas.microsoft.com/office/drawing/2014/main" val="10003"/>
                  </a:ext>
                </a:extLst>
              </a:tr>
              <a:tr h="233172">
                <a:tc>
                  <a:txBody>
                    <a:bodyPr/>
                    <a:lstStyle/>
                    <a:p>
                      <a:pPr algn="l"/>
                      <a:r>
                        <a:rPr lang="es-CO" sz="800" b="1" noProof="0" dirty="0">
                          <a:solidFill>
                            <a:srgbClr val="333333"/>
                          </a:solidFill>
                          <a:latin typeface="Calibri"/>
                        </a:rPr>
                        <a:t>Terranova</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333333"/>
                          </a:solidFill>
                          <a:latin typeface="Calibri"/>
                        </a:rPr>
                        <a:t>74,4%</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FFFFFF"/>
                          </a:solidFill>
                          <a:latin typeface="Calibri"/>
                        </a:rPr>
                        <a:t>ATENCIÓN</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A6F1E"/>
                    </a:solidFill>
                  </a:tcPr>
                </a:tc>
                <a:extLst>
                  <a:ext uri="{0D108BD9-81ED-4DB2-BD59-A6C34878D82A}">
                    <a16:rowId xmlns:a16="http://schemas.microsoft.com/office/drawing/2014/main" val="10004"/>
                  </a:ext>
                </a:extLst>
              </a:tr>
              <a:tr h="233172">
                <a:tc>
                  <a:txBody>
                    <a:bodyPr/>
                    <a:lstStyle/>
                    <a:p>
                      <a:pPr algn="l"/>
                      <a:r>
                        <a:rPr lang="es-CO" sz="800" b="1" noProof="0" dirty="0">
                          <a:solidFill>
                            <a:srgbClr val="333333"/>
                          </a:solidFill>
                          <a:latin typeface="Calibri"/>
                        </a:rPr>
                        <a:t>Los Abedules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333333"/>
                          </a:solidFill>
                          <a:latin typeface="Calibri"/>
                        </a:rPr>
                        <a:t>70,3%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FFFFFF"/>
                          </a:solidFill>
                          <a:latin typeface="Calibri"/>
                        </a:rPr>
                        <a:t>ATENCIÓN</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A6F1E"/>
                    </a:solidFill>
                  </a:tcPr>
                </a:tc>
                <a:extLst>
                  <a:ext uri="{0D108BD9-81ED-4DB2-BD59-A6C34878D82A}">
                    <a16:rowId xmlns:a16="http://schemas.microsoft.com/office/drawing/2014/main" val="10005"/>
                  </a:ext>
                </a:extLst>
              </a:tr>
              <a:tr h="233172">
                <a:tc>
                  <a:txBody>
                    <a:bodyPr/>
                    <a:lstStyle/>
                    <a:p>
                      <a:pPr algn="l"/>
                      <a:r>
                        <a:rPr lang="es-CO" sz="800" b="1" noProof="0" dirty="0">
                          <a:solidFill>
                            <a:srgbClr val="333333"/>
                          </a:solidFill>
                          <a:latin typeface="Calibri"/>
                        </a:rPr>
                        <a:t>Llanos de Pance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333333"/>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FFFFFF"/>
                          </a:solidFill>
                          <a:latin typeface="Calibri"/>
                        </a:rPr>
                        <a:t>SIN EVENTOS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95A5A6"/>
                    </a:solidFill>
                  </a:tcPr>
                </a:tc>
                <a:extLst>
                  <a:ext uri="{0D108BD9-81ED-4DB2-BD59-A6C34878D82A}">
                    <a16:rowId xmlns:a16="http://schemas.microsoft.com/office/drawing/2014/main" val="10006"/>
                  </a:ext>
                </a:extLst>
              </a:tr>
              <a:tr h="233172">
                <a:tc>
                  <a:txBody>
                    <a:bodyPr/>
                    <a:lstStyle/>
                    <a:p>
                      <a:pPr algn="l"/>
                      <a:r>
                        <a:rPr sz="800" b="1">
                          <a:solidFill>
                            <a:srgbClr val="333333"/>
                          </a:solidFill>
                          <a:latin typeface="Calibri"/>
                        </a:rPr>
                        <a:t>Portón de la Rivera</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sz="800" b="0">
                          <a:solidFill>
                            <a:srgbClr val="333333"/>
                          </a:solidFill>
                          <a:latin typeface="Calibri"/>
                        </a:rPr>
                        <a:t>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sz="800" b="0">
                          <a:solidFill>
                            <a:srgbClr val="333333"/>
                          </a:solidFill>
                          <a:latin typeface="Calibri"/>
                        </a:rPr>
                        <a:t>5</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sz="800" b="1">
                          <a:solidFill>
                            <a:srgbClr val="333333"/>
                          </a:solidFill>
                          <a:latin typeface="Calibri"/>
                        </a:rPr>
                        <a:t>94,7%</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sz="800" b="1">
                          <a:solidFill>
                            <a:srgbClr val="FFFFFF"/>
                          </a:solidFill>
                          <a:latin typeface="Calibri"/>
                        </a:rPr>
                        <a:t>NORMAL</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extLst>
                  <a:ext uri="{0D108BD9-81ED-4DB2-BD59-A6C34878D82A}">
                    <a16:rowId xmlns:a16="http://schemas.microsoft.com/office/drawing/2014/main" val="1012325240"/>
                  </a:ext>
                </a:extLst>
              </a:tr>
              <a:tr h="233172">
                <a:tc>
                  <a:txBody>
                    <a:bodyPr/>
                    <a:lstStyle/>
                    <a:p>
                      <a:pPr algn="l"/>
                      <a:r>
                        <a:rPr sz="800" b="1">
                          <a:solidFill>
                            <a:srgbClr val="333333"/>
                          </a:solidFill>
                          <a:latin typeface="Calibri"/>
                        </a:rPr>
                        <a:t>Pance Campestre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sz="800" b="0">
                          <a:solidFill>
                            <a:srgbClr val="333333"/>
                          </a:solidFill>
                          <a:latin typeface="Calibri"/>
                        </a:rPr>
                        <a:t>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sz="800" b="0">
                          <a:solidFill>
                            <a:srgbClr val="333333"/>
                          </a:solidFill>
                          <a:latin typeface="Calibri"/>
                        </a:rPr>
                        <a:t>4</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sz="800" b="1">
                          <a:solidFill>
                            <a:srgbClr val="333333"/>
                          </a:solidFill>
                          <a:latin typeface="Calibri"/>
                        </a:rPr>
                        <a:t>92,2%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sz="800" b="1">
                          <a:solidFill>
                            <a:srgbClr val="FFFFFF"/>
                          </a:solidFill>
                          <a:latin typeface="Calibri"/>
                        </a:rPr>
                        <a:t>NORMAL</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extLst>
                  <a:ext uri="{0D108BD9-81ED-4DB2-BD59-A6C34878D82A}">
                    <a16:rowId xmlns:a16="http://schemas.microsoft.com/office/drawing/2014/main" val="374046862"/>
                  </a:ext>
                </a:extLst>
              </a:tr>
              <a:tr h="233172">
                <a:tc>
                  <a:txBody>
                    <a:bodyPr/>
                    <a:lstStyle/>
                    <a:p>
                      <a:pPr algn="l"/>
                      <a:r>
                        <a:rPr sz="800" b="1">
                          <a:solidFill>
                            <a:srgbClr val="333333"/>
                          </a:solidFill>
                          <a:latin typeface="Calibri"/>
                        </a:rPr>
                        <a:t>Gerona Club House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sz="800" b="0">
                          <a:solidFill>
                            <a:srgbClr val="333333"/>
                          </a:solidFill>
                          <a:latin typeface="Calibri"/>
                        </a:rPr>
                        <a:t>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sz="800" b="0">
                          <a:solidFill>
                            <a:srgbClr val="333333"/>
                          </a:solidFill>
                          <a:latin typeface="Calibri"/>
                        </a:rPr>
                        <a:t>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sz="800" b="1">
                          <a:solidFill>
                            <a:srgbClr val="333333"/>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sz="800" b="1">
                          <a:solidFill>
                            <a:srgbClr val="FFFFFF"/>
                          </a:solidFill>
                          <a:latin typeface="Calibri"/>
                        </a:rPr>
                        <a:t>SIN EVENTOS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95A5A6"/>
                    </a:solidFill>
                  </a:tcPr>
                </a:tc>
                <a:extLst>
                  <a:ext uri="{0D108BD9-81ED-4DB2-BD59-A6C34878D82A}">
                    <a16:rowId xmlns:a16="http://schemas.microsoft.com/office/drawing/2014/main" val="702850328"/>
                  </a:ext>
                </a:extLst>
              </a:tr>
              <a:tr h="233172">
                <a:tc>
                  <a:txBody>
                    <a:bodyPr/>
                    <a:lstStyle/>
                    <a:p>
                      <a:pPr algn="l"/>
                      <a:r>
                        <a:rPr sz="800" b="1">
                          <a:solidFill>
                            <a:srgbClr val="333333"/>
                          </a:solidFill>
                          <a:latin typeface="Calibri"/>
                        </a:rPr>
                        <a:t>Castellana Real</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sz="800" b="0">
                          <a:solidFill>
                            <a:srgbClr val="333333"/>
                          </a:solidFill>
                          <a:latin typeface="Calibri"/>
                        </a:rPr>
                        <a:t>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sz="800" b="0">
                          <a:solidFill>
                            <a:srgbClr val="333333"/>
                          </a:solidFill>
                          <a:latin typeface="Calibri"/>
                        </a:rPr>
                        <a:t>7</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sz="800" b="1">
                          <a:solidFill>
                            <a:srgbClr val="333333"/>
                          </a:solidFill>
                          <a:latin typeface="Calibri"/>
                        </a:rPr>
                        <a:t>22,3%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sz="800" b="1">
                          <a:solidFill>
                            <a:srgbClr val="FFFFFF"/>
                          </a:solidFill>
                          <a:latin typeface="Calibri"/>
                        </a:rPr>
                        <a:t>CRÍTICO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0392B"/>
                    </a:solidFill>
                  </a:tcPr>
                </a:tc>
                <a:extLst>
                  <a:ext uri="{0D108BD9-81ED-4DB2-BD59-A6C34878D82A}">
                    <a16:rowId xmlns:a16="http://schemas.microsoft.com/office/drawing/2014/main" val="3631277229"/>
                  </a:ext>
                </a:extLst>
              </a:tr>
            </a:tbl>
          </a:graphicData>
        </a:graphic>
      </p:graphicFrame>
      <p:sp>
        <p:nvSpPr>
          <p:cNvPr id="28" name="TextBox 27"/>
          <p:cNvSpPr txBox="1"/>
          <p:nvPr/>
        </p:nvSpPr>
        <p:spPr>
          <a:xfrm>
            <a:off x="411480" y="3977639"/>
            <a:ext cx="4114800" cy="548640"/>
          </a:xfrm>
          <a:prstGeom prst="rect">
            <a:avLst/>
          </a:prstGeom>
          <a:noFill/>
        </p:spPr>
        <p:txBody>
          <a:bodyPr wrap="square" lIns="0" tIns="0" rIns="0" bIns="0" anchor="t">
            <a:spAutoFit/>
          </a:bodyPr>
          <a:lstStyle/>
          <a:p>
            <a:pPr algn="l">
              <a:spcAft>
                <a:spcPts val="0"/>
              </a:spcAft>
            </a:pPr>
            <a:r>
              <a:rPr lang="es-CO" sz="800" b="0" i="0" noProof="0" dirty="0">
                <a:solidFill>
                  <a:srgbClr val="55636E"/>
                </a:solidFill>
                <a:latin typeface="Calibri"/>
              </a:rPr>
              <a:t>274 eventos de red mayores a 2 min en 46 de 48 viviendas. Castellana Real (Casa 121 CR) y Los Abedules (Casa 12) bajan el indicador: sus 22,3% y 70,3% se explican en su mayor parte por batería sin carga (diapositiva 6).</a:t>
            </a:r>
          </a:p>
        </p:txBody>
      </p:sp>
      <p:sp>
        <p:nvSpPr>
          <p:cNvPr id="29" name="TextBox 28"/>
          <p:cNvSpPr txBox="1"/>
          <p:nvPr/>
        </p:nvSpPr>
        <p:spPr>
          <a:xfrm>
            <a:off x="411480" y="4617720"/>
            <a:ext cx="8321040" cy="237744"/>
          </a:xfrm>
          <a:prstGeom prst="rect">
            <a:avLst/>
          </a:prstGeom>
          <a:noFill/>
        </p:spPr>
        <p:txBody>
          <a:bodyPr wrap="square" lIns="0" tIns="0" rIns="0" bIns="0" anchor="ctr">
            <a:spAutoFit/>
          </a:bodyPr>
          <a:lstStyle/>
          <a:p>
            <a:pPr algn="l">
              <a:spcAft>
                <a:spcPts val="0"/>
              </a:spcAft>
            </a:pPr>
            <a:r>
              <a:rPr lang="es-CO" sz="750" b="0" i="1" noProof="0" dirty="0">
                <a:solidFill>
                  <a:srgbClr val="55636E"/>
                </a:solidFill>
                <a:latin typeface="Calibri"/>
              </a:rPr>
              <a:t>% respaldo = Σ(</a:t>
            </a:r>
            <a:r>
              <a:rPr lang="es-CO" sz="750" b="0" i="1" noProof="0" dirty="0" err="1">
                <a:solidFill>
                  <a:srgbClr val="55636E"/>
                </a:solidFill>
                <a:latin typeface="Calibri"/>
              </a:rPr>
              <a:t>T_red</a:t>
            </a:r>
            <a:r>
              <a:rPr lang="es-CO" sz="750" b="0" i="1" noProof="0" dirty="0">
                <a:solidFill>
                  <a:srgbClr val="55636E"/>
                </a:solidFill>
                <a:latin typeface="Calibri"/>
              </a:rPr>
              <a:t> − </a:t>
            </a:r>
            <a:r>
              <a:rPr lang="es-CO" sz="750" b="0" i="1" noProof="0" dirty="0" err="1">
                <a:solidFill>
                  <a:srgbClr val="55636E"/>
                </a:solidFill>
                <a:latin typeface="Calibri"/>
              </a:rPr>
              <a:t>T_solar</a:t>
            </a:r>
            <a:r>
              <a:rPr lang="es-CO" sz="750" b="0" i="1" noProof="0" dirty="0">
                <a:solidFill>
                  <a:srgbClr val="55636E"/>
                </a:solidFill>
                <a:latin typeface="Calibri"/>
              </a:rPr>
              <a:t>) / Σ </a:t>
            </a:r>
            <a:r>
              <a:rPr lang="es-CO" sz="750" b="0" i="1" noProof="0" dirty="0" err="1">
                <a:solidFill>
                  <a:srgbClr val="55636E"/>
                </a:solidFill>
                <a:latin typeface="Calibri"/>
              </a:rPr>
              <a:t>T_red</a:t>
            </a:r>
            <a:r>
              <a:rPr lang="es-CO" sz="750" b="0" i="1" noProof="0" dirty="0">
                <a:solidFill>
                  <a:srgbClr val="55636E"/>
                </a:solidFill>
                <a:latin typeface="Calibri"/>
              </a:rPr>
              <a:t> · eventos &gt; 2 min, agrupados cuando están a menos de 15 min · Estado: NORMAL ≥ 90%, ATENCIÓN 70 - 90%, CRÍTICO &lt; 70%.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RESPALDO · CUÁNDO SE CAYÓ LA RED</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1800" b="1" i="0" noProof="0" dirty="0">
                <a:solidFill>
                  <a:srgbClr val="1B3A6B"/>
                </a:solidFill>
                <a:latin typeface="Calibri"/>
              </a:rPr>
              <a:t>El 80% de las horas sin red se concentró en tres fechas: 2, 3 y 6/10</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4</a:t>
            </a:r>
          </a:p>
        </p:txBody>
      </p:sp>
      <p:sp>
        <p:nvSpPr>
          <p:cNvPr id="8" name="Rectangle 7"/>
          <p:cNvSpPr/>
          <p:nvPr/>
        </p:nvSpPr>
        <p:spPr>
          <a:xfrm>
            <a:off x="411480" y="1188720"/>
            <a:ext cx="5394960" cy="333756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9" name="TextBox 8"/>
          <p:cNvSpPr txBox="1"/>
          <p:nvPr/>
        </p:nvSpPr>
        <p:spPr>
          <a:xfrm>
            <a:off x="548640" y="1243584"/>
            <a:ext cx="5120640" cy="21945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Horas de salida de red por fecha (sistema-horas)</a:t>
            </a:r>
          </a:p>
        </p:txBody>
      </p:sp>
      <p:graphicFrame>
        <p:nvGraphicFramePr>
          <p:cNvPr id="10" name="Chart 9"/>
          <p:cNvGraphicFramePr>
            <a:graphicFrameLocks noGrp="1"/>
          </p:cNvGraphicFramePr>
          <p:nvPr/>
        </p:nvGraphicFramePr>
        <p:xfrm>
          <a:off x="502920" y="1444752"/>
          <a:ext cx="521208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11" name="Rectangle 10"/>
          <p:cNvSpPr/>
          <p:nvPr/>
        </p:nvSpPr>
        <p:spPr>
          <a:xfrm>
            <a:off x="5989320" y="1188720"/>
            <a:ext cx="2743200" cy="603504"/>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2" name="Rectangle 11"/>
          <p:cNvSpPr/>
          <p:nvPr/>
        </p:nvSpPr>
        <p:spPr>
          <a:xfrm>
            <a:off x="5989320" y="1188720"/>
            <a:ext cx="54864" cy="603504"/>
          </a:xfrm>
          <a:prstGeom prst="rect">
            <a:avLst/>
          </a:prstGeom>
          <a:solidFill>
            <a:srgbClr val="1E8449"/>
          </a:solidFill>
          <a:ln w="12700">
            <a:solidFill>
              <a:srgbClr val="1E8449"/>
            </a:solidFill>
          </a:ln>
        </p:spPr>
        <p:txBody>
          <a:bodyPr rtlCol="0" anchor="ctr"/>
          <a:lstStyle/>
          <a:p>
            <a:pPr algn="ctr"/>
            <a:endParaRPr lang="es-CO" noProof="0" dirty="0"/>
          </a:p>
        </p:txBody>
      </p:sp>
      <p:sp>
        <p:nvSpPr>
          <p:cNvPr id="13" name="TextBox 12"/>
          <p:cNvSpPr txBox="1"/>
          <p:nvPr/>
        </p:nvSpPr>
        <p:spPr>
          <a:xfrm>
            <a:off x="6126480" y="1216152"/>
            <a:ext cx="2560320" cy="17373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03/10 · 10:07</a:t>
            </a:r>
          </a:p>
        </p:txBody>
      </p:sp>
      <p:sp>
        <p:nvSpPr>
          <p:cNvPr id="14" name="TextBox 13"/>
          <p:cNvSpPr txBox="1"/>
          <p:nvPr/>
        </p:nvSpPr>
        <p:spPr>
          <a:xfrm>
            <a:off x="6126480" y="1389888"/>
            <a:ext cx="2560320" cy="237744"/>
          </a:xfrm>
          <a:prstGeom prst="rect">
            <a:avLst/>
          </a:prstGeom>
          <a:noFill/>
        </p:spPr>
        <p:txBody>
          <a:bodyPr wrap="square" lIns="0" tIns="0" rIns="0" bIns="0" anchor="t">
            <a:spAutoFit/>
          </a:bodyPr>
          <a:lstStyle/>
          <a:p>
            <a:pPr algn="l">
              <a:spcAft>
                <a:spcPts val="0"/>
              </a:spcAft>
            </a:pPr>
            <a:r>
              <a:rPr lang="es-CO" sz="750" b="0" i="0" noProof="0" dirty="0">
                <a:solidFill>
                  <a:srgbClr val="1A1A2E"/>
                </a:solidFill>
                <a:latin typeface="Calibri"/>
              </a:rPr>
              <a:t>22 casas en Reservas de Pance, 8 h 52 min</a:t>
            </a:r>
          </a:p>
        </p:txBody>
      </p:sp>
      <p:sp>
        <p:nvSpPr>
          <p:cNvPr id="15" name="TextBox 14"/>
          <p:cNvSpPr txBox="1"/>
          <p:nvPr/>
        </p:nvSpPr>
        <p:spPr>
          <a:xfrm>
            <a:off x="6126480" y="1618488"/>
            <a:ext cx="2560320" cy="146304"/>
          </a:xfrm>
          <a:prstGeom prst="rect">
            <a:avLst/>
          </a:prstGeom>
          <a:noFill/>
        </p:spPr>
        <p:txBody>
          <a:bodyPr wrap="square" lIns="0" tIns="0" rIns="0" bIns="0" anchor="ctr">
            <a:spAutoFit/>
          </a:bodyPr>
          <a:lstStyle/>
          <a:p>
            <a:pPr algn="l">
              <a:spcAft>
                <a:spcPts val="0"/>
              </a:spcAft>
            </a:pPr>
            <a:r>
              <a:rPr lang="es-CO" sz="750" b="1" i="0" noProof="0" dirty="0">
                <a:solidFill>
                  <a:srgbClr val="1E8449"/>
                </a:solidFill>
                <a:latin typeface="Calibri"/>
              </a:rPr>
              <a:t>Respaldo 97,5%</a:t>
            </a:r>
          </a:p>
        </p:txBody>
      </p:sp>
      <p:sp>
        <p:nvSpPr>
          <p:cNvPr id="16" name="Rectangle 15"/>
          <p:cNvSpPr/>
          <p:nvPr/>
        </p:nvSpPr>
        <p:spPr>
          <a:xfrm>
            <a:off x="5989320" y="1860804"/>
            <a:ext cx="2743200" cy="603504"/>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7" name="Rectangle 16"/>
          <p:cNvSpPr/>
          <p:nvPr/>
        </p:nvSpPr>
        <p:spPr>
          <a:xfrm>
            <a:off x="5989320" y="1860804"/>
            <a:ext cx="54864" cy="603504"/>
          </a:xfrm>
          <a:prstGeom prst="rect">
            <a:avLst/>
          </a:prstGeom>
          <a:solidFill>
            <a:srgbClr val="1E8449"/>
          </a:solidFill>
          <a:ln w="12700">
            <a:solidFill>
              <a:srgbClr val="1E8449"/>
            </a:solidFill>
          </a:ln>
        </p:spPr>
        <p:txBody>
          <a:bodyPr rtlCol="0" anchor="ctr"/>
          <a:lstStyle/>
          <a:p>
            <a:pPr algn="ctr"/>
            <a:endParaRPr lang="es-CO" noProof="0" dirty="0"/>
          </a:p>
        </p:txBody>
      </p:sp>
      <p:sp>
        <p:nvSpPr>
          <p:cNvPr id="18" name="TextBox 17"/>
          <p:cNvSpPr txBox="1"/>
          <p:nvPr/>
        </p:nvSpPr>
        <p:spPr>
          <a:xfrm>
            <a:off x="6126480" y="1888236"/>
            <a:ext cx="2560320" cy="17373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2 y 6/10</a:t>
            </a:r>
          </a:p>
        </p:txBody>
      </p:sp>
      <p:sp>
        <p:nvSpPr>
          <p:cNvPr id="19" name="TextBox 18"/>
          <p:cNvSpPr txBox="1"/>
          <p:nvPr/>
        </p:nvSpPr>
        <p:spPr>
          <a:xfrm>
            <a:off x="6126480" y="2061972"/>
            <a:ext cx="2560320" cy="237744"/>
          </a:xfrm>
          <a:prstGeom prst="rect">
            <a:avLst/>
          </a:prstGeom>
          <a:noFill/>
        </p:spPr>
        <p:txBody>
          <a:bodyPr wrap="square" lIns="0" tIns="0" rIns="0" bIns="0" anchor="t">
            <a:spAutoFit/>
          </a:bodyPr>
          <a:lstStyle/>
          <a:p>
            <a:pPr algn="l">
              <a:spcAft>
                <a:spcPts val="0"/>
              </a:spcAft>
            </a:pPr>
            <a:r>
              <a:rPr lang="es-CO" sz="750" b="0" i="0" noProof="0" dirty="0">
                <a:solidFill>
                  <a:srgbClr val="1A1A2E"/>
                </a:solidFill>
                <a:latin typeface="Calibri"/>
              </a:rPr>
              <a:t>Reservas de Pance, 22 casas: 3 cortes de 1 h 41 min a 2 h 41 min</a:t>
            </a:r>
          </a:p>
        </p:txBody>
      </p:sp>
      <p:sp>
        <p:nvSpPr>
          <p:cNvPr id="20" name="TextBox 19"/>
          <p:cNvSpPr txBox="1"/>
          <p:nvPr/>
        </p:nvSpPr>
        <p:spPr>
          <a:xfrm>
            <a:off x="6126480" y="2290572"/>
            <a:ext cx="2560320" cy="146304"/>
          </a:xfrm>
          <a:prstGeom prst="rect">
            <a:avLst/>
          </a:prstGeom>
          <a:noFill/>
        </p:spPr>
        <p:txBody>
          <a:bodyPr wrap="square" lIns="0" tIns="0" rIns="0" bIns="0" anchor="ctr">
            <a:spAutoFit/>
          </a:bodyPr>
          <a:lstStyle/>
          <a:p>
            <a:pPr algn="l">
              <a:spcAft>
                <a:spcPts val="0"/>
              </a:spcAft>
            </a:pPr>
            <a:r>
              <a:rPr lang="es-CO" sz="750" b="1" i="0" noProof="0" dirty="0">
                <a:solidFill>
                  <a:srgbClr val="1E8449"/>
                </a:solidFill>
                <a:latin typeface="Calibri"/>
              </a:rPr>
              <a:t>Respaldo 97,5%</a:t>
            </a:r>
          </a:p>
        </p:txBody>
      </p:sp>
      <p:sp>
        <p:nvSpPr>
          <p:cNvPr id="21" name="Rectangle 20"/>
          <p:cNvSpPr/>
          <p:nvPr/>
        </p:nvSpPr>
        <p:spPr>
          <a:xfrm>
            <a:off x="5989320" y="2532888"/>
            <a:ext cx="2743200" cy="603504"/>
          </a:xfrm>
          <a:prstGeom prst="rect">
            <a:avLst/>
          </a:prstGeom>
          <a:solidFill>
            <a:srgbClr val="FFFFFF"/>
          </a:solidFill>
          <a:ln w="10160">
            <a:solidFill>
              <a:srgbClr val="E3E7EA"/>
            </a:solidFill>
          </a:ln>
        </p:spPr>
        <p:txBody>
          <a:bodyPr rtlCol="0" anchor="ctr"/>
          <a:lstStyle/>
          <a:p>
            <a:pPr algn="ctr"/>
            <a:endParaRPr lang="es-CO" noProof="0" dirty="0"/>
          </a:p>
        </p:txBody>
      </p:sp>
      <p:sp>
        <p:nvSpPr>
          <p:cNvPr id="22" name="Rectangle 21"/>
          <p:cNvSpPr/>
          <p:nvPr/>
        </p:nvSpPr>
        <p:spPr>
          <a:xfrm>
            <a:off x="5989320" y="2532888"/>
            <a:ext cx="54864" cy="603504"/>
          </a:xfrm>
          <a:prstGeom prst="rect">
            <a:avLst/>
          </a:prstGeom>
          <a:solidFill>
            <a:srgbClr val="CA6F1E"/>
          </a:solidFill>
          <a:ln w="12700">
            <a:solidFill>
              <a:srgbClr val="CA6F1E"/>
            </a:solidFill>
          </a:ln>
        </p:spPr>
        <p:txBody>
          <a:bodyPr rtlCol="0" anchor="ctr"/>
          <a:lstStyle/>
          <a:p>
            <a:pPr algn="ctr"/>
            <a:endParaRPr lang="es-CO" noProof="0" dirty="0"/>
          </a:p>
        </p:txBody>
      </p:sp>
      <p:sp>
        <p:nvSpPr>
          <p:cNvPr id="23" name="TextBox 22"/>
          <p:cNvSpPr txBox="1"/>
          <p:nvPr/>
        </p:nvSpPr>
        <p:spPr>
          <a:xfrm>
            <a:off x="6126480" y="2560320"/>
            <a:ext cx="2560320" cy="17373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04/10 · 17:55</a:t>
            </a:r>
          </a:p>
        </p:txBody>
      </p:sp>
      <p:sp>
        <p:nvSpPr>
          <p:cNvPr id="24" name="TextBox 23"/>
          <p:cNvSpPr txBox="1"/>
          <p:nvPr/>
        </p:nvSpPr>
        <p:spPr>
          <a:xfrm>
            <a:off x="6126480" y="2734056"/>
            <a:ext cx="2560320" cy="237744"/>
          </a:xfrm>
          <a:prstGeom prst="rect">
            <a:avLst/>
          </a:prstGeom>
          <a:noFill/>
        </p:spPr>
        <p:txBody>
          <a:bodyPr wrap="square" lIns="0" tIns="0" rIns="0" bIns="0" anchor="t">
            <a:spAutoFit/>
          </a:bodyPr>
          <a:lstStyle/>
          <a:p>
            <a:pPr algn="l">
              <a:spcAft>
                <a:spcPts val="0"/>
              </a:spcAft>
            </a:pPr>
            <a:r>
              <a:rPr lang="es-CO" sz="750" b="0" i="0" noProof="0" dirty="0">
                <a:solidFill>
                  <a:srgbClr val="1A1A2E"/>
                </a:solidFill>
                <a:latin typeface="Calibri"/>
              </a:rPr>
              <a:t>23 casas, 1 h 46 min: 14 Livoltek sin energía hasta 34 min</a:t>
            </a:r>
          </a:p>
        </p:txBody>
      </p:sp>
      <p:sp>
        <p:nvSpPr>
          <p:cNvPr id="25" name="TextBox 24"/>
          <p:cNvSpPr txBox="1"/>
          <p:nvPr/>
        </p:nvSpPr>
        <p:spPr>
          <a:xfrm>
            <a:off x="6126480" y="2962656"/>
            <a:ext cx="2560320" cy="146304"/>
          </a:xfrm>
          <a:prstGeom prst="rect">
            <a:avLst/>
          </a:prstGeom>
          <a:noFill/>
        </p:spPr>
        <p:txBody>
          <a:bodyPr wrap="square" lIns="0" tIns="0" rIns="0" bIns="0" anchor="ctr">
            <a:spAutoFit/>
          </a:bodyPr>
          <a:lstStyle/>
          <a:p>
            <a:pPr algn="l">
              <a:spcAft>
                <a:spcPts val="0"/>
              </a:spcAft>
            </a:pPr>
            <a:r>
              <a:rPr lang="es-CO" sz="750" b="1" i="0" noProof="0" dirty="0">
                <a:solidFill>
                  <a:srgbClr val="CA6F1E"/>
                </a:solidFill>
                <a:latin typeface="Calibri"/>
              </a:rPr>
              <a:t>Respaldo 87,3%</a:t>
            </a:r>
          </a:p>
        </p:txBody>
      </p:sp>
      <p:sp>
        <p:nvSpPr>
          <p:cNvPr id="26" name="Rectangle 25"/>
          <p:cNvSpPr/>
          <p:nvPr/>
        </p:nvSpPr>
        <p:spPr>
          <a:xfrm>
            <a:off x="5989320" y="3204972"/>
            <a:ext cx="2743200" cy="603504"/>
          </a:xfrm>
          <a:prstGeom prst="rect">
            <a:avLst/>
          </a:prstGeom>
          <a:solidFill>
            <a:srgbClr val="FFFFFF"/>
          </a:solidFill>
          <a:ln w="10160">
            <a:solidFill>
              <a:srgbClr val="E3E7EA"/>
            </a:solidFill>
          </a:ln>
        </p:spPr>
        <p:txBody>
          <a:bodyPr rtlCol="0" anchor="ctr"/>
          <a:lstStyle/>
          <a:p>
            <a:pPr algn="ctr"/>
            <a:endParaRPr lang="es-CO" noProof="0" dirty="0"/>
          </a:p>
        </p:txBody>
      </p:sp>
      <p:sp>
        <p:nvSpPr>
          <p:cNvPr id="27" name="Rectangle 26"/>
          <p:cNvSpPr/>
          <p:nvPr/>
        </p:nvSpPr>
        <p:spPr>
          <a:xfrm>
            <a:off x="5989320" y="3204972"/>
            <a:ext cx="54864" cy="603504"/>
          </a:xfrm>
          <a:prstGeom prst="rect">
            <a:avLst/>
          </a:prstGeom>
          <a:solidFill>
            <a:srgbClr val="C0392B"/>
          </a:solidFill>
          <a:ln w="12700">
            <a:solidFill>
              <a:srgbClr val="C0392B"/>
            </a:solidFill>
          </a:ln>
        </p:spPr>
        <p:txBody>
          <a:bodyPr rtlCol="0" anchor="ctr"/>
          <a:lstStyle/>
          <a:p>
            <a:pPr algn="ctr"/>
            <a:endParaRPr lang="es-CO" noProof="0" dirty="0"/>
          </a:p>
        </p:txBody>
      </p:sp>
      <p:sp>
        <p:nvSpPr>
          <p:cNvPr id="28" name="TextBox 27"/>
          <p:cNvSpPr txBox="1"/>
          <p:nvPr/>
        </p:nvSpPr>
        <p:spPr>
          <a:xfrm>
            <a:off x="6126480" y="3232404"/>
            <a:ext cx="2560320" cy="17373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10/10 · 01:13</a:t>
            </a:r>
          </a:p>
        </p:txBody>
      </p:sp>
      <p:sp>
        <p:nvSpPr>
          <p:cNvPr id="29" name="TextBox 28"/>
          <p:cNvSpPr txBox="1"/>
          <p:nvPr/>
        </p:nvSpPr>
        <p:spPr>
          <a:xfrm>
            <a:off x="6126480" y="3406140"/>
            <a:ext cx="2560320" cy="237744"/>
          </a:xfrm>
          <a:prstGeom prst="rect">
            <a:avLst/>
          </a:prstGeom>
          <a:noFill/>
        </p:spPr>
        <p:txBody>
          <a:bodyPr wrap="square" lIns="0" tIns="0" rIns="0" bIns="0" anchor="t">
            <a:spAutoFit/>
          </a:bodyPr>
          <a:lstStyle/>
          <a:p>
            <a:pPr algn="l">
              <a:spcAft>
                <a:spcPts val="0"/>
              </a:spcAft>
            </a:pPr>
            <a:r>
              <a:rPr lang="es-CO" sz="750" b="0" i="0" noProof="0" dirty="0">
                <a:solidFill>
                  <a:srgbClr val="1A1A2E"/>
                </a:solidFill>
                <a:latin typeface="Calibri"/>
              </a:rPr>
              <a:t>Castellana Real, 3 h 14 min: batería de Casa 121 CR en 15%</a:t>
            </a:r>
          </a:p>
        </p:txBody>
      </p:sp>
      <p:sp>
        <p:nvSpPr>
          <p:cNvPr id="30" name="TextBox 29"/>
          <p:cNvSpPr txBox="1"/>
          <p:nvPr/>
        </p:nvSpPr>
        <p:spPr>
          <a:xfrm>
            <a:off x="6126480" y="3634740"/>
            <a:ext cx="2560320" cy="146304"/>
          </a:xfrm>
          <a:prstGeom prst="rect">
            <a:avLst/>
          </a:prstGeom>
          <a:noFill/>
        </p:spPr>
        <p:txBody>
          <a:bodyPr wrap="square" lIns="0" tIns="0" rIns="0" bIns="0" anchor="ctr">
            <a:spAutoFit/>
          </a:bodyPr>
          <a:lstStyle/>
          <a:p>
            <a:pPr algn="l">
              <a:spcAft>
                <a:spcPts val="0"/>
              </a:spcAft>
            </a:pPr>
            <a:r>
              <a:rPr lang="es-CO" sz="750" b="1" i="0" noProof="0" dirty="0">
                <a:solidFill>
                  <a:srgbClr val="C0392B"/>
                </a:solidFill>
                <a:latin typeface="Calibri"/>
              </a:rPr>
              <a:t>Respaldo 2,9%</a:t>
            </a:r>
          </a:p>
        </p:txBody>
      </p:sp>
      <p:sp>
        <p:nvSpPr>
          <p:cNvPr id="31" name="TextBox 30"/>
          <p:cNvSpPr txBox="1"/>
          <p:nvPr/>
        </p:nvSpPr>
        <p:spPr>
          <a:xfrm>
            <a:off x="411480" y="4617720"/>
            <a:ext cx="8321040" cy="237744"/>
          </a:xfrm>
          <a:prstGeom prst="rect">
            <a:avLst/>
          </a:prstGeom>
          <a:noFill/>
        </p:spPr>
        <p:txBody>
          <a:bodyPr wrap="square" lIns="0" tIns="0" rIns="0" bIns="0" anchor="ctr">
            <a:spAutoFit/>
          </a:bodyPr>
          <a:lstStyle/>
          <a:p>
            <a:pPr algn="l">
              <a:spcAft>
                <a:spcPts val="0"/>
              </a:spcAft>
            </a:pPr>
            <a:r>
              <a:rPr lang="es-CO" sz="750" b="0" i="1" noProof="0" dirty="0">
                <a:solidFill>
                  <a:srgbClr val="55636E"/>
                </a:solidFill>
                <a:latin typeface="Calibri"/>
              </a:rPr>
              <a:t>En naranja, las tres fechas que concentran la interrupción. Cada evento se cuenta en el día en que empezó.</a:t>
            </a:r>
          </a:p>
        </p:txBody>
      </p:sp>
      <p:sp>
        <p:nvSpPr>
          <p:cNvPr id="32" name="Rectangle 25 nueva"/>
          <p:cNvSpPr/>
          <p:nvPr/>
        </p:nvSpPr>
        <p:spPr>
          <a:xfrm>
            <a:off x="5989320" y="3877056"/>
            <a:ext cx="2743200" cy="603504"/>
          </a:xfrm>
          <a:prstGeom prst="rect">
            <a:avLst/>
          </a:prstGeom>
          <a:solidFill>
            <a:srgbClr val="FFFFFF"/>
          </a:solidFill>
          <a:ln w="10160">
            <a:solidFill>
              <a:srgbClr val="E3E7EA"/>
            </a:solidFill>
          </a:ln>
        </p:spPr>
        <p:txBody>
          <a:bodyPr rtlCol="0" anchor="ctr"/>
          <a:lstStyle/>
          <a:p>
            <a:pPr algn="ctr"/>
            <a:endParaRPr lang="es-CO" noProof="0" dirty="0"/>
          </a:p>
        </p:txBody>
      </p:sp>
      <p:sp>
        <p:nvSpPr>
          <p:cNvPr id="33" name="Rectangle 26 nueva"/>
          <p:cNvSpPr/>
          <p:nvPr/>
        </p:nvSpPr>
        <p:spPr>
          <a:xfrm>
            <a:off x="5989320" y="3877056"/>
            <a:ext cx="54864" cy="603504"/>
          </a:xfrm>
          <a:prstGeom prst="rect">
            <a:avLst/>
          </a:prstGeom>
          <a:solidFill>
            <a:srgbClr val="7F8C8D"/>
          </a:solidFill>
          <a:ln w="12700">
            <a:solidFill>
              <a:srgbClr val="7F8C8D"/>
            </a:solidFill>
          </a:ln>
        </p:spPr>
        <p:txBody>
          <a:bodyPr rtlCol="0" anchor="ctr"/>
          <a:lstStyle/>
          <a:p>
            <a:pPr algn="ctr"/>
            <a:endParaRPr lang="es-CO" noProof="0" dirty="0"/>
          </a:p>
        </p:txBody>
      </p:sp>
      <p:sp>
        <p:nvSpPr>
          <p:cNvPr id="34" name="TextBox 27 nueva"/>
          <p:cNvSpPr txBox="1"/>
          <p:nvPr/>
        </p:nvSpPr>
        <p:spPr>
          <a:xfrm>
            <a:off x="6126480" y="3904488"/>
            <a:ext cx="2560320" cy="17373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Otras 10 fechas</a:t>
            </a:r>
          </a:p>
        </p:txBody>
      </p:sp>
      <p:sp>
        <p:nvSpPr>
          <p:cNvPr id="35" name="TextBox 28 nueva"/>
          <p:cNvSpPr txBox="1"/>
          <p:nvPr/>
        </p:nvSpPr>
        <p:spPr>
          <a:xfrm>
            <a:off x="6126480" y="4078224"/>
            <a:ext cx="2560320" cy="237744"/>
          </a:xfrm>
          <a:prstGeom prst="rect">
            <a:avLst/>
          </a:prstGeom>
          <a:noFill/>
        </p:spPr>
        <p:txBody>
          <a:bodyPr wrap="square" lIns="0" tIns="0" rIns="0" bIns="0" anchor="t">
            <a:spAutoFit/>
          </a:bodyPr>
          <a:lstStyle/>
          <a:p>
            <a:pPr algn="l">
              <a:spcAft>
                <a:spcPts val="0"/>
              </a:spcAft>
            </a:pPr>
            <a:r>
              <a:rPr lang="es-CO" sz="750" b="0" i="0" noProof="0" dirty="0">
                <a:solidFill>
                  <a:srgbClr val="1A1A2E"/>
                </a:solidFill>
                <a:latin typeface="Calibri"/>
              </a:rPr>
              <a:t>47,2 h en total</a:t>
            </a:r>
          </a:p>
        </p:txBody>
      </p:sp>
      <p:sp>
        <p:nvSpPr>
          <p:cNvPr id="36" name="TextBox 29 nueva"/>
          <p:cNvSpPr txBox="1"/>
          <p:nvPr/>
        </p:nvSpPr>
        <p:spPr>
          <a:xfrm>
            <a:off x="6126480" y="4306824"/>
            <a:ext cx="2560320" cy="146304"/>
          </a:xfrm>
          <a:prstGeom prst="rect">
            <a:avLst/>
          </a:prstGeom>
          <a:noFill/>
        </p:spPr>
        <p:txBody>
          <a:bodyPr wrap="square" lIns="0" tIns="0" rIns="0" bIns="0" anchor="ctr">
            <a:spAutoFit/>
          </a:bodyPr>
          <a:lstStyle/>
          <a:p>
            <a:pPr algn="l">
              <a:spcAft>
                <a:spcPts val="0"/>
              </a:spcAft>
            </a:pPr>
            <a:r>
              <a:rPr lang="es-CO" sz="750" b="1" i="0" noProof="0" dirty="0">
                <a:solidFill>
                  <a:srgbClr val="7F8C8D"/>
                </a:solidFill>
                <a:latin typeface="Calibri"/>
              </a:rPr>
              <a:t>Cortes más cortos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RESPALDO · POR QUÉ FALTÓ</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1800" b="1" i="0" noProof="0" dirty="0">
                <a:solidFill>
                  <a:srgbClr val="1B3A6B"/>
                </a:solidFill>
                <a:latin typeface="Calibri"/>
              </a:rPr>
              <a:t>De 25,1 h sin respaldo, 14,7 h fueron falla de equipo y 10,4 h batería sin carga</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5</a:t>
            </a:r>
          </a:p>
        </p:txBody>
      </p:sp>
      <p:sp>
        <p:nvSpPr>
          <p:cNvPr id="8" name="Rectangle 7"/>
          <p:cNvSpPr/>
          <p:nvPr/>
        </p:nvSpPr>
        <p:spPr>
          <a:xfrm>
            <a:off x="411480" y="1188720"/>
            <a:ext cx="4754880" cy="333756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9" name="TextBox 8"/>
          <p:cNvSpPr txBox="1"/>
          <p:nvPr/>
        </p:nvSpPr>
        <p:spPr>
          <a:xfrm>
            <a:off x="548640" y="1243584"/>
            <a:ext cx="4480560" cy="21945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Horas sin respaldo por causa (SOC al apagarse la casa)</a:t>
            </a:r>
          </a:p>
        </p:txBody>
      </p:sp>
      <p:graphicFrame>
        <p:nvGraphicFramePr>
          <p:cNvPr id="10" name="Chart 9"/>
          <p:cNvGraphicFramePr>
            <a:graphicFrameLocks noGrp="1"/>
          </p:cNvGraphicFramePr>
          <p:nvPr/>
        </p:nvGraphicFramePr>
        <p:xfrm>
          <a:off x="502920" y="1463040"/>
          <a:ext cx="457200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11" name="Rectangle 10"/>
          <p:cNvSpPr/>
          <p:nvPr/>
        </p:nvSpPr>
        <p:spPr>
          <a:xfrm>
            <a:off x="5349240" y="1188720"/>
            <a:ext cx="1645920" cy="91440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2" name="Rectangle 11"/>
          <p:cNvSpPr/>
          <p:nvPr/>
        </p:nvSpPr>
        <p:spPr>
          <a:xfrm>
            <a:off x="5349240" y="1188720"/>
            <a:ext cx="54864" cy="91440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13" name="TextBox 12"/>
          <p:cNvSpPr txBox="1"/>
          <p:nvPr/>
        </p:nvSpPr>
        <p:spPr>
          <a:xfrm>
            <a:off x="5495544" y="1225296"/>
            <a:ext cx="1444752" cy="475488"/>
          </a:xfrm>
          <a:prstGeom prst="rect">
            <a:avLst/>
          </a:prstGeom>
          <a:noFill/>
        </p:spPr>
        <p:txBody>
          <a:bodyPr wrap="square" lIns="0" tIns="0" rIns="0" bIns="0" anchor="ctr">
            <a:spAutoFit/>
          </a:bodyPr>
          <a:lstStyle/>
          <a:p>
            <a:pPr algn="l">
              <a:spcAft>
                <a:spcPts val="0"/>
              </a:spcAft>
            </a:pPr>
            <a:r>
              <a:rPr lang="es-CO" sz="1900" b="1" i="0" noProof="0" dirty="0">
                <a:solidFill>
                  <a:srgbClr val="F5A623"/>
                </a:solidFill>
                <a:latin typeface="Calibri"/>
              </a:rPr>
              <a:t>2,3 </a:t>
            </a:r>
            <a:r>
              <a:rPr lang="es-CO" sz="1900" b="1" i="0" noProof="0" dirty="0" err="1">
                <a:solidFill>
                  <a:srgbClr val="F5A623"/>
                </a:solidFill>
                <a:latin typeface="Calibri"/>
              </a:rPr>
              <a:t>pts</a:t>
            </a:r>
            <a:endParaRPr lang="es-CO" sz="1900" b="1" i="0" noProof="0" dirty="0">
              <a:solidFill>
                <a:srgbClr val="F5A623"/>
              </a:solidFill>
              <a:latin typeface="Calibri"/>
            </a:endParaRPr>
          </a:p>
        </p:txBody>
      </p:sp>
      <p:sp>
        <p:nvSpPr>
          <p:cNvPr id="14" name="TextBox 13"/>
          <p:cNvSpPr txBox="1"/>
          <p:nvPr/>
        </p:nvSpPr>
        <p:spPr>
          <a:xfrm>
            <a:off x="5495544" y="1682496"/>
            <a:ext cx="1444752" cy="201168"/>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del INIC por batería</a:t>
            </a:r>
          </a:p>
        </p:txBody>
      </p:sp>
      <p:sp>
        <p:nvSpPr>
          <p:cNvPr id="15" name="TextBox 14"/>
          <p:cNvSpPr txBox="1"/>
          <p:nvPr/>
        </p:nvSpPr>
        <p:spPr>
          <a:xfrm>
            <a:off x="5495544" y="1865376"/>
            <a:ext cx="1444752" cy="219456"/>
          </a:xfrm>
          <a:prstGeom prst="rect">
            <a:avLst/>
          </a:prstGeom>
          <a:noFill/>
        </p:spPr>
        <p:txBody>
          <a:bodyPr wrap="square" lIns="0" tIns="0" rIns="0" bIns="0" anchor="t">
            <a:spAutoFit/>
          </a:bodyPr>
          <a:lstStyle/>
          <a:p>
            <a:pPr algn="l">
              <a:spcAft>
                <a:spcPts val="0"/>
              </a:spcAft>
            </a:pPr>
            <a:r>
              <a:rPr lang="es-CO" sz="720" b="0" i="0" noProof="0" dirty="0">
                <a:solidFill>
                  <a:srgbClr val="55636E"/>
                </a:solidFill>
                <a:latin typeface="Calibri"/>
              </a:rPr>
              <a:t>Casa 121 CR aporta 3,1 h</a:t>
            </a:r>
          </a:p>
        </p:txBody>
      </p:sp>
      <p:sp>
        <p:nvSpPr>
          <p:cNvPr id="16" name="Rectangle 15"/>
          <p:cNvSpPr/>
          <p:nvPr/>
        </p:nvSpPr>
        <p:spPr>
          <a:xfrm>
            <a:off x="7086600" y="1188720"/>
            <a:ext cx="1645920" cy="91440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7" name="Rectangle 16"/>
          <p:cNvSpPr/>
          <p:nvPr/>
        </p:nvSpPr>
        <p:spPr>
          <a:xfrm>
            <a:off x="7086600" y="1188720"/>
            <a:ext cx="54864" cy="914400"/>
          </a:xfrm>
          <a:prstGeom prst="rect">
            <a:avLst/>
          </a:prstGeom>
          <a:solidFill>
            <a:srgbClr val="E63946"/>
          </a:solidFill>
          <a:ln w="12700">
            <a:solidFill>
              <a:srgbClr val="E63946"/>
            </a:solidFill>
          </a:ln>
        </p:spPr>
        <p:txBody>
          <a:bodyPr rtlCol="0" anchor="ctr"/>
          <a:lstStyle/>
          <a:p>
            <a:pPr algn="ctr"/>
            <a:endParaRPr lang="es-CO" noProof="0" dirty="0"/>
          </a:p>
        </p:txBody>
      </p:sp>
      <p:sp>
        <p:nvSpPr>
          <p:cNvPr id="18" name="TextBox 17"/>
          <p:cNvSpPr txBox="1"/>
          <p:nvPr/>
        </p:nvSpPr>
        <p:spPr>
          <a:xfrm>
            <a:off x="7232904" y="1225296"/>
            <a:ext cx="1444752" cy="475488"/>
          </a:xfrm>
          <a:prstGeom prst="rect">
            <a:avLst/>
          </a:prstGeom>
          <a:noFill/>
        </p:spPr>
        <p:txBody>
          <a:bodyPr wrap="square" lIns="0" tIns="0" rIns="0" bIns="0" anchor="ctr">
            <a:spAutoFit/>
          </a:bodyPr>
          <a:lstStyle/>
          <a:p>
            <a:pPr algn="l">
              <a:spcAft>
                <a:spcPts val="0"/>
              </a:spcAft>
            </a:pPr>
            <a:r>
              <a:rPr lang="es-CO" sz="1900" b="1" i="0" noProof="0" dirty="0">
                <a:solidFill>
                  <a:srgbClr val="E63946"/>
                </a:solidFill>
                <a:latin typeface="Calibri"/>
              </a:rPr>
              <a:t>3,2 </a:t>
            </a:r>
            <a:r>
              <a:rPr lang="es-CO" sz="1900" b="1" i="0" noProof="0" dirty="0" err="1">
                <a:solidFill>
                  <a:srgbClr val="E63946"/>
                </a:solidFill>
                <a:latin typeface="Calibri"/>
              </a:rPr>
              <a:t>pts</a:t>
            </a:r>
            <a:endParaRPr lang="es-CO" sz="1900" b="1" i="0" noProof="0" dirty="0">
              <a:solidFill>
                <a:srgbClr val="E63946"/>
              </a:solidFill>
              <a:latin typeface="Calibri"/>
            </a:endParaRPr>
          </a:p>
        </p:txBody>
      </p:sp>
      <p:sp>
        <p:nvSpPr>
          <p:cNvPr id="19" name="TextBox 18"/>
          <p:cNvSpPr txBox="1"/>
          <p:nvPr/>
        </p:nvSpPr>
        <p:spPr>
          <a:xfrm>
            <a:off x="7232904" y="1682496"/>
            <a:ext cx="1444752" cy="201168"/>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por falla o demora</a:t>
            </a:r>
          </a:p>
        </p:txBody>
      </p:sp>
      <p:sp>
        <p:nvSpPr>
          <p:cNvPr id="20" name="TextBox 19"/>
          <p:cNvSpPr txBox="1"/>
          <p:nvPr/>
        </p:nvSpPr>
        <p:spPr>
          <a:xfrm>
            <a:off x="7232904" y="1865376"/>
            <a:ext cx="1444752" cy="219456"/>
          </a:xfrm>
          <a:prstGeom prst="rect">
            <a:avLst/>
          </a:prstGeom>
          <a:noFill/>
        </p:spPr>
        <p:txBody>
          <a:bodyPr wrap="square" lIns="0" tIns="0" rIns="0" bIns="0" anchor="t">
            <a:spAutoFit/>
          </a:bodyPr>
          <a:lstStyle/>
          <a:p>
            <a:pPr algn="l">
              <a:spcAft>
                <a:spcPts val="0"/>
              </a:spcAft>
            </a:pPr>
            <a:r>
              <a:rPr lang="es-CO" sz="720" b="0" i="0" noProof="0" dirty="0">
                <a:solidFill>
                  <a:srgbClr val="55636E"/>
                </a:solidFill>
                <a:latin typeface="Calibri"/>
              </a:rPr>
              <a:t>Equipo con SOC suficiente</a:t>
            </a:r>
          </a:p>
        </p:txBody>
      </p:sp>
      <p:sp>
        <p:nvSpPr>
          <p:cNvPr id="21" name="Rectangle 20"/>
          <p:cNvSpPr/>
          <p:nvPr/>
        </p:nvSpPr>
        <p:spPr>
          <a:xfrm>
            <a:off x="5349240" y="2194560"/>
            <a:ext cx="3383280" cy="77724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22" name="Rectangle 21"/>
          <p:cNvSpPr/>
          <p:nvPr/>
        </p:nvSpPr>
        <p:spPr>
          <a:xfrm>
            <a:off x="5349240" y="2194560"/>
            <a:ext cx="54864" cy="777240"/>
          </a:xfrm>
          <a:prstGeom prst="rect">
            <a:avLst/>
          </a:prstGeom>
          <a:solidFill>
            <a:srgbClr val="1E8449"/>
          </a:solidFill>
          <a:ln w="12700">
            <a:solidFill>
              <a:srgbClr val="1E8449"/>
            </a:solidFill>
          </a:ln>
        </p:spPr>
        <p:txBody>
          <a:bodyPr rtlCol="0" anchor="ctr"/>
          <a:lstStyle/>
          <a:p>
            <a:pPr algn="ctr"/>
            <a:endParaRPr lang="es-CO" noProof="0" dirty="0"/>
          </a:p>
        </p:txBody>
      </p:sp>
      <p:sp>
        <p:nvSpPr>
          <p:cNvPr id="23" name="TextBox 22"/>
          <p:cNvSpPr txBox="1"/>
          <p:nvPr/>
        </p:nvSpPr>
        <p:spPr>
          <a:xfrm>
            <a:off x="5495544" y="2231136"/>
            <a:ext cx="3182112" cy="404164"/>
          </a:xfrm>
          <a:prstGeom prst="rect">
            <a:avLst/>
          </a:prstGeom>
          <a:noFill/>
        </p:spPr>
        <p:txBody>
          <a:bodyPr wrap="square" lIns="0" tIns="0" rIns="0" bIns="0" anchor="ctr">
            <a:spAutoFit/>
          </a:bodyPr>
          <a:lstStyle/>
          <a:p>
            <a:pPr algn="l">
              <a:spcAft>
                <a:spcPts val="0"/>
              </a:spcAft>
            </a:pPr>
            <a:r>
              <a:rPr lang="es-CO" sz="2000" b="1" i="0" noProof="0" dirty="0">
                <a:solidFill>
                  <a:srgbClr val="1E8449"/>
                </a:solidFill>
                <a:latin typeface="Calibri"/>
              </a:rPr>
              <a:t>96,8%</a:t>
            </a:r>
          </a:p>
        </p:txBody>
      </p:sp>
      <p:sp>
        <p:nvSpPr>
          <p:cNvPr id="24" name="TextBox 23"/>
          <p:cNvSpPr txBox="1"/>
          <p:nvPr/>
        </p:nvSpPr>
        <p:spPr>
          <a:xfrm>
            <a:off x="5495544" y="2614269"/>
            <a:ext cx="3182112" cy="170992"/>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INIC sin pérdidas por batería sin carga</a:t>
            </a:r>
          </a:p>
        </p:txBody>
      </p:sp>
      <p:sp>
        <p:nvSpPr>
          <p:cNvPr id="25" name="TextBox 24"/>
          <p:cNvSpPr txBox="1"/>
          <p:nvPr/>
        </p:nvSpPr>
        <p:spPr>
          <a:xfrm>
            <a:off x="5495544" y="2769717"/>
            <a:ext cx="3182112" cy="186537"/>
          </a:xfrm>
          <a:prstGeom prst="rect">
            <a:avLst/>
          </a:prstGeom>
          <a:noFill/>
        </p:spPr>
        <p:txBody>
          <a:bodyPr wrap="square" lIns="0" tIns="0" rIns="0" bIns="0" anchor="t">
            <a:spAutoFit/>
          </a:bodyPr>
          <a:lstStyle/>
          <a:p>
            <a:pPr algn="l">
              <a:spcAft>
                <a:spcPts val="0"/>
              </a:spcAft>
            </a:pPr>
            <a:r>
              <a:rPr lang="es-CO" sz="720" b="0" i="0" noProof="0" dirty="0">
                <a:solidFill>
                  <a:srgbClr val="55636E"/>
                </a:solidFill>
                <a:latin typeface="Calibri"/>
              </a:rPr>
              <a:t>Referencia: el oficial se mantiene en 94,5%</a:t>
            </a:r>
          </a:p>
        </p:txBody>
      </p:sp>
      <p:sp>
        <p:nvSpPr>
          <p:cNvPr id="26" name="Rectangle 25"/>
          <p:cNvSpPr/>
          <p:nvPr/>
        </p:nvSpPr>
        <p:spPr>
          <a:xfrm>
            <a:off x="5349240" y="3063240"/>
            <a:ext cx="3383280" cy="45720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27" name="Rectangle 26"/>
          <p:cNvSpPr/>
          <p:nvPr/>
        </p:nvSpPr>
        <p:spPr>
          <a:xfrm>
            <a:off x="5349240" y="3063240"/>
            <a:ext cx="54864" cy="45720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28" name="TextBox 27"/>
          <p:cNvSpPr txBox="1"/>
          <p:nvPr/>
        </p:nvSpPr>
        <p:spPr>
          <a:xfrm>
            <a:off x="5486400" y="3081528"/>
            <a:ext cx="3200400" cy="164592"/>
          </a:xfrm>
          <a:prstGeom prst="rect">
            <a:avLst/>
          </a:prstGeom>
          <a:noFill/>
        </p:spPr>
        <p:txBody>
          <a:bodyPr wrap="square" lIns="0" tIns="0" rIns="0" bIns="0" anchor="ctr">
            <a:spAutoFit/>
          </a:bodyPr>
          <a:lstStyle/>
          <a:p>
            <a:pPr algn="l">
              <a:spcAft>
                <a:spcPts val="0"/>
              </a:spcAft>
            </a:pPr>
            <a:r>
              <a:rPr lang="es-CO" sz="800" b="1" i="0" noProof="0" dirty="0">
                <a:solidFill>
                  <a:srgbClr val="1B3A6B"/>
                </a:solidFill>
                <a:latin typeface="Calibri"/>
              </a:rPr>
              <a:t>Batería sin carga</a:t>
            </a:r>
          </a:p>
        </p:txBody>
      </p:sp>
      <p:sp>
        <p:nvSpPr>
          <p:cNvPr id="29" name="TextBox 28"/>
          <p:cNvSpPr txBox="1"/>
          <p:nvPr/>
        </p:nvSpPr>
        <p:spPr>
          <a:xfrm>
            <a:off x="5486400" y="3246120"/>
            <a:ext cx="3200400" cy="274320"/>
          </a:xfrm>
          <a:prstGeom prst="rect">
            <a:avLst/>
          </a:prstGeom>
          <a:noFill/>
        </p:spPr>
        <p:txBody>
          <a:bodyPr wrap="square" lIns="0" tIns="0" rIns="0" bIns="0" anchor="t">
            <a:spAutoFit/>
          </a:bodyPr>
          <a:lstStyle/>
          <a:p>
            <a:pPr algn="l">
              <a:spcAft>
                <a:spcPts val="0"/>
              </a:spcAft>
            </a:pPr>
            <a:r>
              <a:rPr lang="es-CO" sz="700" b="0" i="0" noProof="0" dirty="0">
                <a:solidFill>
                  <a:srgbClr val="55636E"/>
                </a:solidFill>
                <a:latin typeface="Calibri"/>
              </a:rPr>
              <a:t>Reserva mínima de SOC nocturna; revisar la autonomía frente al consumo de Casas 121 CR, 12 y 10.</a:t>
            </a:r>
          </a:p>
        </p:txBody>
      </p:sp>
      <p:sp>
        <p:nvSpPr>
          <p:cNvPr id="30" name="Rectangle 29"/>
          <p:cNvSpPr/>
          <p:nvPr/>
        </p:nvSpPr>
        <p:spPr>
          <a:xfrm>
            <a:off x="5349240" y="3566160"/>
            <a:ext cx="3383280" cy="45720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31" name="Rectangle 30"/>
          <p:cNvSpPr/>
          <p:nvPr/>
        </p:nvSpPr>
        <p:spPr>
          <a:xfrm>
            <a:off x="5349240" y="3566160"/>
            <a:ext cx="54864" cy="457200"/>
          </a:xfrm>
          <a:prstGeom prst="rect">
            <a:avLst/>
          </a:prstGeom>
          <a:solidFill>
            <a:srgbClr val="E63946"/>
          </a:solidFill>
          <a:ln w="12700">
            <a:solidFill>
              <a:srgbClr val="E63946"/>
            </a:solidFill>
          </a:ln>
        </p:spPr>
        <p:txBody>
          <a:bodyPr rtlCol="0" anchor="ctr"/>
          <a:lstStyle/>
          <a:p>
            <a:pPr algn="ctr"/>
            <a:endParaRPr lang="es-CO" noProof="0" dirty="0"/>
          </a:p>
        </p:txBody>
      </p:sp>
      <p:sp>
        <p:nvSpPr>
          <p:cNvPr id="32" name="TextBox 31"/>
          <p:cNvSpPr txBox="1"/>
          <p:nvPr/>
        </p:nvSpPr>
        <p:spPr>
          <a:xfrm>
            <a:off x="5486400" y="3584448"/>
            <a:ext cx="3200400" cy="164592"/>
          </a:xfrm>
          <a:prstGeom prst="rect">
            <a:avLst/>
          </a:prstGeom>
          <a:noFill/>
        </p:spPr>
        <p:txBody>
          <a:bodyPr wrap="square" lIns="0" tIns="0" rIns="0" bIns="0" anchor="ctr">
            <a:spAutoFit/>
          </a:bodyPr>
          <a:lstStyle/>
          <a:p>
            <a:pPr algn="l">
              <a:spcAft>
                <a:spcPts val="0"/>
              </a:spcAft>
            </a:pPr>
            <a:r>
              <a:rPr lang="es-CO" sz="800" b="1" i="0" noProof="0" dirty="0">
                <a:solidFill>
                  <a:srgbClr val="1B3A6B"/>
                </a:solidFill>
                <a:latin typeface="Calibri"/>
              </a:rPr>
              <a:t>Transición a OFF-GRID</a:t>
            </a:r>
          </a:p>
        </p:txBody>
      </p:sp>
      <p:sp>
        <p:nvSpPr>
          <p:cNvPr id="33" name="TextBox 32"/>
          <p:cNvSpPr txBox="1"/>
          <p:nvPr/>
        </p:nvSpPr>
        <p:spPr>
          <a:xfrm>
            <a:off x="5486400" y="3749040"/>
            <a:ext cx="3200400" cy="274320"/>
          </a:xfrm>
          <a:prstGeom prst="rect">
            <a:avLst/>
          </a:prstGeom>
          <a:noFill/>
        </p:spPr>
        <p:txBody>
          <a:bodyPr wrap="square" lIns="0" tIns="0" rIns="0" bIns="0" anchor="t">
            <a:spAutoFit/>
          </a:bodyPr>
          <a:lstStyle/>
          <a:p>
            <a:pPr algn="l">
              <a:spcAft>
                <a:spcPts val="0"/>
              </a:spcAft>
            </a:pPr>
            <a:r>
              <a:rPr lang="es-CO" sz="700" b="0" i="0" noProof="0" dirty="0">
                <a:solidFill>
                  <a:srgbClr val="55636E"/>
                </a:solidFill>
                <a:latin typeface="Calibri"/>
              </a:rPr>
              <a:t>Caso formal con Livoltek: 14 casas sin energía hasta 34 min el 4/10 y caídas de 2 a 9 min el 2, 3 y 6/10.</a:t>
            </a:r>
          </a:p>
        </p:txBody>
      </p:sp>
      <p:sp>
        <p:nvSpPr>
          <p:cNvPr id="34" name="Rectangle 33"/>
          <p:cNvSpPr/>
          <p:nvPr/>
        </p:nvSpPr>
        <p:spPr>
          <a:xfrm>
            <a:off x="5349240" y="4069080"/>
            <a:ext cx="3383280" cy="45720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35" name="Rectangle 34"/>
          <p:cNvSpPr/>
          <p:nvPr/>
        </p:nvSpPr>
        <p:spPr>
          <a:xfrm>
            <a:off x="5349240" y="4069080"/>
            <a:ext cx="54864" cy="457200"/>
          </a:xfrm>
          <a:prstGeom prst="rect">
            <a:avLst/>
          </a:prstGeom>
          <a:solidFill>
            <a:srgbClr val="C0392B"/>
          </a:solidFill>
          <a:ln w="12700">
            <a:solidFill>
              <a:srgbClr val="C0392B"/>
            </a:solidFill>
          </a:ln>
        </p:spPr>
        <p:txBody>
          <a:bodyPr rtlCol="0" anchor="ctr"/>
          <a:lstStyle/>
          <a:p>
            <a:pPr algn="ctr"/>
            <a:endParaRPr lang="es-CO" noProof="0" dirty="0"/>
          </a:p>
        </p:txBody>
      </p:sp>
      <p:sp>
        <p:nvSpPr>
          <p:cNvPr id="36" name="TextBox 35"/>
          <p:cNvSpPr txBox="1"/>
          <p:nvPr/>
        </p:nvSpPr>
        <p:spPr>
          <a:xfrm>
            <a:off x="5486400" y="4087368"/>
            <a:ext cx="3200400" cy="164592"/>
          </a:xfrm>
          <a:prstGeom prst="rect">
            <a:avLst/>
          </a:prstGeom>
          <a:noFill/>
        </p:spPr>
        <p:txBody>
          <a:bodyPr wrap="square" lIns="0" tIns="0" rIns="0" bIns="0" anchor="ctr">
            <a:spAutoFit/>
          </a:bodyPr>
          <a:lstStyle/>
          <a:p>
            <a:pPr algn="l">
              <a:spcAft>
                <a:spcPts val="0"/>
              </a:spcAft>
            </a:pPr>
            <a:r>
              <a:rPr lang="es-CO" sz="800" b="1" i="0" noProof="0" dirty="0">
                <a:solidFill>
                  <a:srgbClr val="1B3A6B"/>
                </a:solidFill>
                <a:latin typeface="Calibri"/>
              </a:rPr>
              <a:t>Durante el corte / retorno</a:t>
            </a:r>
          </a:p>
        </p:txBody>
      </p:sp>
      <p:sp>
        <p:nvSpPr>
          <p:cNvPr id="37" name="TextBox 36"/>
          <p:cNvSpPr txBox="1"/>
          <p:nvPr/>
        </p:nvSpPr>
        <p:spPr>
          <a:xfrm>
            <a:off x="5486400" y="4251960"/>
            <a:ext cx="3200400" cy="274320"/>
          </a:xfrm>
          <a:prstGeom prst="rect">
            <a:avLst/>
          </a:prstGeom>
          <a:noFill/>
        </p:spPr>
        <p:txBody>
          <a:bodyPr wrap="square" lIns="0" tIns="0" rIns="0" bIns="0" anchor="t">
            <a:spAutoFit/>
          </a:bodyPr>
          <a:lstStyle/>
          <a:p>
            <a:pPr algn="l">
              <a:spcAft>
                <a:spcPts val="0"/>
              </a:spcAft>
            </a:pPr>
            <a:r>
              <a:rPr lang="es-CO" sz="700" b="0" i="0" noProof="0" dirty="0">
                <a:solidFill>
                  <a:srgbClr val="55636E"/>
                </a:solidFill>
                <a:latin typeface="Calibri"/>
              </a:rPr>
              <a:t>Caídas a mitad del corte del 3/10 (15 casas) y revisión de la reconexión de Deye (≈ 31 s) y Livoltek (≈ 16 s).</a:t>
            </a:r>
          </a:p>
        </p:txBody>
      </p:sp>
      <p:sp>
        <p:nvSpPr>
          <p:cNvPr id="38" name="TextBox 37"/>
          <p:cNvSpPr txBox="1"/>
          <p:nvPr/>
        </p:nvSpPr>
        <p:spPr>
          <a:xfrm>
            <a:off x="411480" y="4617720"/>
            <a:ext cx="8321040" cy="237744"/>
          </a:xfrm>
          <a:prstGeom prst="rect">
            <a:avLst/>
          </a:prstGeom>
          <a:noFill/>
        </p:spPr>
        <p:txBody>
          <a:bodyPr wrap="square" lIns="0" tIns="0" rIns="0" bIns="0" anchor="ctr">
            <a:spAutoFit/>
          </a:bodyPr>
          <a:lstStyle/>
          <a:p>
            <a:pPr algn="l">
              <a:spcAft>
                <a:spcPts val="0"/>
              </a:spcAft>
            </a:pPr>
            <a:r>
              <a:rPr lang="es-CO" sz="750" b="0" i="1" noProof="0" dirty="0">
                <a:solidFill>
                  <a:srgbClr val="55636E"/>
                </a:solidFill>
                <a:latin typeface="Calibri"/>
              </a:rPr>
              <a:t>SOC leído cada 15 min. Con SOC ≤ 21% al apagarse la casa = batería sin carga; con SOC suficiente se clasifica por el momento del apagón (inicio, medio o fin). * Sin lectura de SOC en los 30 min previos al apagón se usó el último dato registrado ese día (31 huecos, 1,2 h). Casa 121 CR (02/10): primera lectura del día, 09:00 (67%). Casa 382p (18/10): sin lectura ese día; el apagón empezó con la red ya de vuelta.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RESPALDO · CASTELLANA REAL (CASA 121 CR)</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1800" b="1" i="0" noProof="0" dirty="0">
                <a:solidFill>
                  <a:srgbClr val="1B3A6B"/>
                </a:solidFill>
                <a:latin typeface="Calibri"/>
              </a:rPr>
              <a:t>Casa 121 CR: 22,3% de respaldo, sobre todo por batería sin carga</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6</a:t>
            </a:r>
          </a:p>
        </p:txBody>
      </p:sp>
      <p:sp>
        <p:nvSpPr>
          <p:cNvPr id="8" name="Rectangle 7"/>
          <p:cNvSpPr/>
          <p:nvPr/>
        </p:nvSpPr>
        <p:spPr>
          <a:xfrm>
            <a:off x="411480" y="1188720"/>
            <a:ext cx="4114800" cy="233172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9" name="TextBox 8"/>
          <p:cNvSpPr txBox="1"/>
          <p:nvPr/>
        </p:nvSpPr>
        <p:spPr>
          <a:xfrm>
            <a:off x="548640" y="1243584"/>
            <a:ext cx="3840480" cy="21945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SOC por hora del día (%)</a:t>
            </a:r>
          </a:p>
        </p:txBody>
      </p:sp>
      <p:graphicFrame>
        <p:nvGraphicFramePr>
          <p:cNvPr id="10" name="Chart 9"/>
          <p:cNvGraphicFramePr>
            <a:graphicFrameLocks noGrp="1"/>
          </p:cNvGraphicFramePr>
          <p:nvPr/>
        </p:nvGraphicFramePr>
        <p:xfrm>
          <a:off x="457200" y="1417320"/>
          <a:ext cx="4023360" cy="2057400"/>
        </p:xfrm>
        <a:graphic>
          <a:graphicData uri="http://schemas.openxmlformats.org/drawingml/2006/chart">
            <c:chart xmlns:c="http://schemas.openxmlformats.org/drawingml/2006/chart" xmlns:r="http://schemas.openxmlformats.org/officeDocument/2006/relationships" r:id="rId3"/>
          </a:graphicData>
        </a:graphic>
      </p:graphicFrame>
      <p:sp>
        <p:nvSpPr>
          <p:cNvPr id="11" name="Rectangle 10"/>
          <p:cNvSpPr/>
          <p:nvPr/>
        </p:nvSpPr>
        <p:spPr>
          <a:xfrm>
            <a:off x="4617720" y="1188720"/>
            <a:ext cx="4114800" cy="233172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2" name="TextBox 11"/>
          <p:cNvSpPr txBox="1"/>
          <p:nvPr/>
        </p:nvSpPr>
        <p:spPr>
          <a:xfrm>
            <a:off x="4754880" y="1243584"/>
            <a:ext cx="3840480" cy="21945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Consumo por hora (kW)</a:t>
            </a:r>
          </a:p>
        </p:txBody>
      </p:sp>
      <p:graphicFrame>
        <p:nvGraphicFramePr>
          <p:cNvPr id="13" name="Chart 12"/>
          <p:cNvGraphicFramePr>
            <a:graphicFrameLocks noGrp="1"/>
          </p:cNvGraphicFramePr>
          <p:nvPr/>
        </p:nvGraphicFramePr>
        <p:xfrm>
          <a:off x="4663440" y="1417320"/>
          <a:ext cx="4023360" cy="2057400"/>
        </p:xfrm>
        <a:graphic>
          <a:graphicData uri="http://schemas.openxmlformats.org/drawingml/2006/chart">
            <c:chart xmlns:c="http://schemas.openxmlformats.org/drawingml/2006/chart" xmlns:r="http://schemas.openxmlformats.org/officeDocument/2006/relationships" r:id="rId4"/>
          </a:graphicData>
        </a:graphic>
      </p:graphicFrame>
      <p:sp>
        <p:nvSpPr>
          <p:cNvPr id="14" name="Rectangle 13"/>
          <p:cNvSpPr/>
          <p:nvPr/>
        </p:nvSpPr>
        <p:spPr>
          <a:xfrm>
            <a:off x="411480" y="3639312"/>
            <a:ext cx="2697480" cy="86868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5" name="Rectangle 14"/>
          <p:cNvSpPr/>
          <p:nvPr/>
        </p:nvSpPr>
        <p:spPr>
          <a:xfrm>
            <a:off x="411480" y="3639312"/>
            <a:ext cx="54864" cy="86868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16" name="TextBox 15"/>
          <p:cNvSpPr txBox="1"/>
          <p:nvPr/>
        </p:nvSpPr>
        <p:spPr>
          <a:xfrm>
            <a:off x="557784" y="3675887"/>
            <a:ext cx="2496312" cy="451713"/>
          </a:xfrm>
          <a:prstGeom prst="rect">
            <a:avLst/>
          </a:prstGeom>
          <a:noFill/>
        </p:spPr>
        <p:txBody>
          <a:bodyPr wrap="square" lIns="0" tIns="0" rIns="0" bIns="0" anchor="ctr">
            <a:spAutoFit/>
          </a:bodyPr>
          <a:lstStyle/>
          <a:p>
            <a:pPr algn="l">
              <a:spcAft>
                <a:spcPts val="0"/>
              </a:spcAft>
            </a:pPr>
            <a:r>
              <a:rPr lang="es-CO" sz="1900" b="1" i="0" noProof="0" dirty="0">
                <a:solidFill>
                  <a:srgbClr val="F5A623"/>
                </a:solidFill>
                <a:latin typeface="Calibri"/>
              </a:rPr>
              <a:t>30,8 kWh</a:t>
            </a:r>
          </a:p>
        </p:txBody>
      </p:sp>
      <p:sp>
        <p:nvSpPr>
          <p:cNvPr id="17" name="TextBox 16"/>
          <p:cNvSpPr txBox="1"/>
          <p:nvPr/>
        </p:nvSpPr>
        <p:spPr>
          <a:xfrm>
            <a:off x="557784" y="4108399"/>
            <a:ext cx="2496312" cy="191109"/>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consumo nocturno (18:00 a 06:00) vs 8,3 kWh de la mediana</a:t>
            </a:r>
          </a:p>
        </p:txBody>
      </p:sp>
      <p:sp>
        <p:nvSpPr>
          <p:cNvPr id="18" name="Rectangle 17"/>
          <p:cNvSpPr/>
          <p:nvPr/>
        </p:nvSpPr>
        <p:spPr>
          <a:xfrm>
            <a:off x="3246120" y="3639312"/>
            <a:ext cx="2697480" cy="86868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9" name="Rectangle 18"/>
          <p:cNvSpPr/>
          <p:nvPr/>
        </p:nvSpPr>
        <p:spPr>
          <a:xfrm>
            <a:off x="3246120" y="3639312"/>
            <a:ext cx="54864" cy="868680"/>
          </a:xfrm>
          <a:prstGeom prst="rect">
            <a:avLst/>
          </a:prstGeom>
          <a:solidFill>
            <a:srgbClr val="E63946"/>
          </a:solidFill>
          <a:ln w="12700">
            <a:solidFill>
              <a:srgbClr val="E63946"/>
            </a:solidFill>
          </a:ln>
        </p:spPr>
        <p:txBody>
          <a:bodyPr rtlCol="0" anchor="ctr"/>
          <a:lstStyle/>
          <a:p>
            <a:pPr algn="ctr"/>
            <a:endParaRPr lang="es-CO" noProof="0" dirty="0"/>
          </a:p>
        </p:txBody>
      </p:sp>
      <p:sp>
        <p:nvSpPr>
          <p:cNvPr id="20" name="TextBox 19"/>
          <p:cNvSpPr txBox="1"/>
          <p:nvPr/>
        </p:nvSpPr>
        <p:spPr>
          <a:xfrm>
            <a:off x="3392424" y="3675887"/>
            <a:ext cx="2496312" cy="451713"/>
          </a:xfrm>
          <a:prstGeom prst="rect">
            <a:avLst/>
          </a:prstGeom>
          <a:noFill/>
        </p:spPr>
        <p:txBody>
          <a:bodyPr wrap="square" lIns="0" tIns="0" rIns="0" bIns="0" anchor="ctr">
            <a:spAutoFit/>
          </a:bodyPr>
          <a:lstStyle/>
          <a:p>
            <a:pPr algn="l">
              <a:spcAft>
                <a:spcPts val="0"/>
              </a:spcAft>
            </a:pPr>
            <a:r>
              <a:rPr lang="es-CO" sz="1900" b="1" i="0" noProof="0" dirty="0">
                <a:solidFill>
                  <a:srgbClr val="E63946"/>
                </a:solidFill>
                <a:latin typeface="Calibri"/>
              </a:rPr>
              <a:t>15%</a:t>
            </a:r>
          </a:p>
        </p:txBody>
      </p:sp>
      <p:sp>
        <p:nvSpPr>
          <p:cNvPr id="21" name="TextBox 20"/>
          <p:cNvSpPr txBox="1"/>
          <p:nvPr/>
        </p:nvSpPr>
        <p:spPr>
          <a:xfrm>
            <a:off x="3392424" y="4108399"/>
            <a:ext cx="2496312" cy="191109"/>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SOC al iniciar el corte del 10/10</a:t>
            </a:r>
          </a:p>
        </p:txBody>
      </p:sp>
      <p:sp>
        <p:nvSpPr>
          <p:cNvPr id="22" name="Rectangle 21"/>
          <p:cNvSpPr/>
          <p:nvPr/>
        </p:nvSpPr>
        <p:spPr>
          <a:xfrm>
            <a:off x="6080760" y="3639312"/>
            <a:ext cx="2697480" cy="86868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23" name="Rectangle 22"/>
          <p:cNvSpPr/>
          <p:nvPr/>
        </p:nvSpPr>
        <p:spPr>
          <a:xfrm>
            <a:off x="6080760" y="3639312"/>
            <a:ext cx="54864" cy="86868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24" name="TextBox 23"/>
          <p:cNvSpPr txBox="1"/>
          <p:nvPr/>
        </p:nvSpPr>
        <p:spPr>
          <a:xfrm>
            <a:off x="6227064" y="3675887"/>
            <a:ext cx="2496312" cy="451713"/>
          </a:xfrm>
          <a:prstGeom prst="rect">
            <a:avLst/>
          </a:prstGeom>
          <a:noFill/>
        </p:spPr>
        <p:txBody>
          <a:bodyPr wrap="square" lIns="0" tIns="0" rIns="0" bIns="0" anchor="ctr">
            <a:spAutoFit/>
          </a:bodyPr>
          <a:lstStyle/>
          <a:p>
            <a:pPr algn="l">
              <a:spcAft>
                <a:spcPts val="0"/>
              </a:spcAft>
            </a:pPr>
            <a:r>
              <a:rPr lang="es-CO" sz="1900" b="1" i="0" noProof="0" dirty="0">
                <a:solidFill>
                  <a:srgbClr val="1B3A6B"/>
                </a:solidFill>
                <a:latin typeface="Calibri"/>
              </a:rPr>
              <a:t>4,5 h</a:t>
            </a:r>
          </a:p>
        </p:txBody>
      </p:sp>
      <p:sp>
        <p:nvSpPr>
          <p:cNvPr id="25" name="TextBox 24"/>
          <p:cNvSpPr txBox="1"/>
          <p:nvPr/>
        </p:nvSpPr>
        <p:spPr>
          <a:xfrm>
            <a:off x="6227064" y="4108399"/>
            <a:ext cx="2496312" cy="191109"/>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sin respaldo en octubre (18% del total del portafolio)</a:t>
            </a:r>
          </a:p>
        </p:txBody>
      </p:sp>
      <p:sp>
        <p:nvSpPr>
          <p:cNvPr id="26" name="TextBox 25"/>
          <p:cNvSpPr txBox="1"/>
          <p:nvPr/>
        </p:nvSpPr>
        <p:spPr>
          <a:xfrm>
            <a:off x="411480" y="4617720"/>
            <a:ext cx="8321040" cy="237744"/>
          </a:xfrm>
          <a:prstGeom prst="rect">
            <a:avLst/>
          </a:prstGeom>
          <a:noFill/>
        </p:spPr>
        <p:txBody>
          <a:bodyPr wrap="square" lIns="0" tIns="0" rIns="0" bIns="0" anchor="ctr">
            <a:spAutoFit/>
          </a:bodyPr>
          <a:lstStyle/>
          <a:p>
            <a:pPr algn="l">
              <a:spcAft>
                <a:spcPts val="0"/>
              </a:spcAft>
            </a:pPr>
            <a:r>
              <a:rPr lang="es-CO" sz="750" b="0" i="1" noProof="0" dirty="0">
                <a:solidFill>
                  <a:srgbClr val="55636E"/>
                </a:solidFill>
                <a:latin typeface="Calibri"/>
              </a:rPr>
              <a:t>Casa 121 CR: Livoltek HP3-15KL2, 12,5 kWp, energizada el 30/09; consumo +34% sobre su diseño (1.270 kWh medidos del 1 al 20/10 frente a 946 kWh de diseño para esos días). Acciones: reserva mínima de SOC nocturna, mover consumos al día o evaluar más capacidad de batería.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RESPALDO · FALLAS DE EQUIPO</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1800" b="1" i="0" noProof="0" dirty="0">
                <a:solidFill>
                  <a:srgbClr val="1B3A6B"/>
                </a:solidFill>
                <a:latin typeface="Calibri"/>
              </a:rPr>
              <a:t>Cuatro casos de falla de equipo para gestionar con Livoltek y Deye</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7</a:t>
            </a:r>
          </a:p>
        </p:txBody>
      </p:sp>
      <p:graphicFrame>
        <p:nvGraphicFramePr>
          <p:cNvPr id="8" name="Table 7"/>
          <p:cNvGraphicFramePr>
            <a:graphicFrameLocks noGrp="1"/>
          </p:cNvGraphicFramePr>
          <p:nvPr>
            <p:extLst>
              <p:ext uri="{D42A27DB-BD31-4B8C-83A1-F6EECF244321}">
                <p14:modId xmlns:p14="http://schemas.microsoft.com/office/powerpoint/2010/main" val="2191085729"/>
              </p:ext>
            </p:extLst>
          </p:nvPr>
        </p:nvGraphicFramePr>
        <p:xfrm>
          <a:off x="411480" y="1188720"/>
          <a:ext cx="8321039" cy="2542032"/>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3566159">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274320">
                <a:tc>
                  <a:txBody>
                    <a:bodyPr/>
                    <a:lstStyle/>
                    <a:p>
                      <a:pPr algn="l"/>
                      <a:r>
                        <a:rPr lang="es-CO" sz="800" b="1" noProof="0" dirty="0">
                          <a:solidFill>
                            <a:srgbClr val="FFFFFF"/>
                          </a:solidFill>
                          <a:latin typeface="Calibri"/>
                        </a:rPr>
                        <a:t>Caso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800" b="1" noProof="0" dirty="0">
                          <a:solidFill>
                            <a:srgbClr val="FFFFFF"/>
                          </a:solidFill>
                          <a:latin typeface="Calibri"/>
                        </a:rPr>
                        <a:t>Qué se observó</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800" b="1" noProof="0" dirty="0">
                          <a:solidFill>
                            <a:srgbClr val="FFFFFF"/>
                          </a:solidFill>
                          <a:latin typeface="Calibri"/>
                        </a:rPr>
                        <a:t>Impacto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800" b="1" noProof="0" dirty="0">
                          <a:solidFill>
                            <a:srgbClr val="FFFFFF"/>
                          </a:solidFill>
                          <a:latin typeface="Calibri"/>
                        </a:rPr>
                        <a:t>Acción</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extLst>
                  <a:ext uri="{0D108BD9-81ED-4DB2-BD59-A6C34878D82A}">
                    <a16:rowId xmlns:a16="http://schemas.microsoft.com/office/drawing/2014/main" val="10000"/>
                  </a:ext>
                </a:extLst>
              </a:tr>
              <a:tr h="566928">
                <a:tc>
                  <a:txBody>
                    <a:bodyPr/>
                    <a:lstStyle/>
                    <a:p>
                      <a:pPr algn="l"/>
                      <a:r>
                        <a:rPr lang="es-CO" sz="819" b="1" noProof="0" dirty="0">
                          <a:solidFill>
                            <a:srgbClr val="333333"/>
                          </a:solidFill>
                          <a:latin typeface="Calibri"/>
                        </a:rPr>
                        <a:t>Transición a OFF-GRID</a:t>
                      </a:r>
                      <a:br>
                        <a:rPr lang="es-CO" sz="819" b="1" noProof="0" dirty="0">
                          <a:solidFill>
                            <a:srgbClr val="333333"/>
                          </a:solidFill>
                          <a:latin typeface="Calibri"/>
                        </a:rPr>
                      </a:br>
                      <a:r>
                        <a:rPr lang="es-CO" sz="819" b="1" noProof="0" dirty="0">
                          <a:solidFill>
                            <a:srgbClr val="333333"/>
                          </a:solidFill>
                          <a:latin typeface="Calibri"/>
                        </a:rPr>
                        <a:t>Livoltek · Reservas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l"/>
                      <a:r>
                        <a:rPr lang="es-CO" sz="819" b="0" noProof="0" dirty="0">
                          <a:solidFill>
                            <a:srgbClr val="333333"/>
                          </a:solidFill>
                          <a:latin typeface="Calibri"/>
                        </a:rPr>
                        <a:t>4/10: 14 de 17 casas sin energía hasta 34 min al caer la red (SOC 49 - 99%); 2, 3 y 6/10: 8 a 13 casas por 2 a 9 min. Deye: parpadeos de ~32 s. 19/10: Casa 447p (Turbaco), 11 min con SOC 52%.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l"/>
                      <a:r>
                        <a:rPr lang="es-CO" sz="819" b="0" noProof="0" dirty="0">
                          <a:solidFill>
                            <a:srgbClr val="333333"/>
                          </a:solidFill>
                          <a:latin typeface="Calibri"/>
                        </a:rPr>
                        <a:t>9,0 h sin respaldo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l"/>
                      <a:r>
                        <a:rPr lang="es-CO" sz="819" b="0" noProof="0" dirty="0">
                          <a:solidFill>
                            <a:srgbClr val="333333"/>
                          </a:solidFill>
                          <a:latin typeface="Calibri"/>
                        </a:rPr>
                        <a:t>Caso formal con Livoltek</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extLst>
                  <a:ext uri="{0D108BD9-81ED-4DB2-BD59-A6C34878D82A}">
                    <a16:rowId xmlns:a16="http://schemas.microsoft.com/office/drawing/2014/main" val="10001"/>
                  </a:ext>
                </a:extLst>
              </a:tr>
              <a:tr h="566928">
                <a:tc>
                  <a:txBody>
                    <a:bodyPr/>
                    <a:lstStyle/>
                    <a:p>
                      <a:pPr algn="l"/>
                      <a:r>
                        <a:rPr lang="es-CO" sz="819" b="1" noProof="0" dirty="0">
                          <a:solidFill>
                            <a:srgbClr val="333333"/>
                          </a:solidFill>
                          <a:latin typeface="Calibri"/>
                        </a:rPr>
                        <a:t>Falla a mitad del corte</a:t>
                      </a:r>
                      <a:br>
                        <a:rPr lang="es-CO" sz="819" b="1" noProof="0" dirty="0">
                          <a:solidFill>
                            <a:srgbClr val="333333"/>
                          </a:solidFill>
                          <a:latin typeface="Calibri"/>
                        </a:rPr>
                      </a:br>
                      <a:r>
                        <a:rPr lang="es-CO" sz="819" b="1" noProof="0" dirty="0">
                          <a:solidFill>
                            <a:srgbClr val="333333"/>
                          </a:solidFill>
                          <a:latin typeface="Calibri"/>
                        </a:rPr>
                        <a:t>Livoltek · Reservas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l"/>
                      <a:r>
                        <a:rPr lang="es-CO" sz="819" b="0" noProof="0" dirty="0">
                          <a:solidFill>
                            <a:srgbClr val="333333"/>
                          </a:solidFill>
                          <a:latin typeface="Calibri"/>
                        </a:rPr>
                        <a:t>3/10: 15 casas se apagaron entre 2 min 35 s y 5 min 40 s varias veces durante el corte de 8 h 52 min (SOC 53 - 100%).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l"/>
                      <a:r>
                        <a:rPr lang="es-CO" sz="819" b="0" noProof="0" dirty="0">
                          <a:solidFill>
                            <a:srgbClr val="333333"/>
                          </a:solidFill>
                          <a:latin typeface="Calibri"/>
                        </a:rPr>
                        <a:t>4,8 h sin respaldo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l"/>
                      <a:r>
                        <a:rPr lang="es-CO" sz="819" b="0" noProof="0" dirty="0">
                          <a:solidFill>
                            <a:srgbClr val="333333"/>
                          </a:solidFill>
                          <a:latin typeface="Calibri"/>
                        </a:rPr>
                        <a:t>Incluir en el caso y pedir código de falla</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extLst>
                  <a:ext uri="{0D108BD9-81ED-4DB2-BD59-A6C34878D82A}">
                    <a16:rowId xmlns:a16="http://schemas.microsoft.com/office/drawing/2014/main" val="10002"/>
                  </a:ext>
                </a:extLst>
              </a:tr>
              <a:tr h="566928">
                <a:tc>
                  <a:txBody>
                    <a:bodyPr/>
                    <a:lstStyle/>
                    <a:p>
                      <a:pPr algn="l"/>
                      <a:r>
                        <a:rPr lang="es-CO" sz="819" b="1" noProof="0" dirty="0">
                          <a:solidFill>
                            <a:srgbClr val="333333"/>
                          </a:solidFill>
                          <a:latin typeface="Calibri"/>
                        </a:rPr>
                        <a:t>Retorno a la red</a:t>
                      </a:r>
                      <a:br>
                        <a:rPr lang="es-CO" sz="819" b="1" noProof="0" dirty="0">
                          <a:solidFill>
                            <a:srgbClr val="333333"/>
                          </a:solidFill>
                          <a:latin typeface="Calibri"/>
                        </a:rPr>
                      </a:br>
                      <a:r>
                        <a:rPr lang="es-CO" sz="819" b="1" noProof="0" dirty="0">
                          <a:solidFill>
                            <a:srgbClr val="333333"/>
                          </a:solidFill>
                          <a:latin typeface="Calibri"/>
                        </a:rPr>
                        <a:t>Deye y Livoltek</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l"/>
                      <a:r>
                        <a:rPr lang="es-CO" sz="819" b="0" noProof="0" dirty="0">
                          <a:solidFill>
                            <a:srgbClr val="333333"/>
                          </a:solidFill>
                          <a:latin typeface="Calibri"/>
                        </a:rPr>
                        <a:t>Al volver la red, 40 casas se apagaron unos segundos (Deye ≈ 31 s, Livoltek ≈ 16 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l"/>
                      <a:r>
                        <a:rPr lang="es-CO" sz="819" b="0" noProof="0" dirty="0">
                          <a:solidFill>
                            <a:srgbClr val="333333"/>
                          </a:solidFill>
                          <a:latin typeface="Calibri"/>
                        </a:rPr>
                        <a:t>0,86 h sin respaldo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l"/>
                      <a:r>
                        <a:rPr lang="es-CO" sz="819" b="0" noProof="0" dirty="0">
                          <a:solidFill>
                            <a:srgbClr val="333333"/>
                          </a:solidFill>
                          <a:latin typeface="Calibri"/>
                        </a:rPr>
                        <a:t>Revisar reconexión</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extLst>
                  <a:ext uri="{0D108BD9-81ED-4DB2-BD59-A6C34878D82A}">
                    <a16:rowId xmlns:a16="http://schemas.microsoft.com/office/drawing/2014/main" val="10003"/>
                  </a:ext>
                </a:extLst>
              </a:tr>
              <a:tr h="566928">
                <a:tc>
                  <a:txBody>
                    <a:bodyPr/>
                    <a:lstStyle/>
                    <a:p>
                      <a:pPr algn="l"/>
                      <a:r>
                        <a:rPr lang="es-CO" sz="819" b="1" noProof="0" dirty="0">
                          <a:solidFill>
                            <a:srgbClr val="333333"/>
                          </a:solidFill>
                          <a:latin typeface="Calibri"/>
                        </a:rPr>
                        <a:t>Alarmas de inversor</a:t>
                      </a:r>
                      <a:br>
                        <a:rPr lang="es-CO" sz="819" b="1" noProof="0" dirty="0">
                          <a:solidFill>
                            <a:srgbClr val="333333"/>
                          </a:solidFill>
                          <a:latin typeface="Calibri"/>
                        </a:rPr>
                      </a:br>
                      <a:r>
                        <a:rPr lang="es-CO" sz="819" b="1" noProof="0" dirty="0">
                          <a:solidFill>
                            <a:srgbClr val="333333"/>
                          </a:solidFill>
                          <a:latin typeface="Calibri"/>
                        </a:rPr>
                        <a:t>15 casas · 23 alarmas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l"/>
                      <a:r>
                        <a:rPr lang="es-CO" sz="819" b="0" noProof="0" dirty="0">
                          <a:solidFill>
                            <a:srgbClr val="333333"/>
                          </a:solidFill>
                          <a:latin typeface="Calibri"/>
                        </a:rPr>
                        <a:t>Casa 435p (15,5 h): falla larga; Casa 86p (2,5 h) fue el 13/10, día de pruebas de </a:t>
                      </a:r>
                      <a:r>
                        <a:rPr lang="es-CO" sz="819" b="0" noProof="0" dirty="0" err="1">
                          <a:solidFill>
                            <a:srgbClr val="333333"/>
                          </a:solidFill>
                          <a:latin typeface="Calibri"/>
                        </a:rPr>
                        <a:t>comisionamiento</a:t>
                      </a:r>
                      <a:r>
                        <a:rPr lang="es-CO" sz="819" b="0" noProof="0" dirty="0">
                          <a:solidFill>
                            <a:srgbClr val="333333"/>
                          </a:solidFill>
                          <a:latin typeface="Calibri"/>
                        </a:rPr>
                        <a:t>; Casa 104 (4 alarmas) y Casa 108 (3) repiten; el resto, de 0 a 45 min.</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l"/>
                      <a:r>
                        <a:rPr lang="es-CO" sz="819" b="0" noProof="0" dirty="0">
                          <a:solidFill>
                            <a:srgbClr val="333333"/>
                          </a:solidFill>
                          <a:latin typeface="Calibri"/>
                        </a:rPr>
                        <a:t>No afecta el INIC</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l"/>
                      <a:r>
                        <a:rPr lang="es-CO" sz="819" b="0" noProof="0" dirty="0">
                          <a:solidFill>
                            <a:srgbClr val="333333"/>
                          </a:solidFill>
                          <a:latin typeface="Calibri"/>
                        </a:rPr>
                        <a:t>Revisar con el fabricante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9" name="Rectangle 8"/>
          <p:cNvSpPr/>
          <p:nvPr/>
        </p:nvSpPr>
        <p:spPr>
          <a:xfrm>
            <a:off x="411480" y="3840480"/>
            <a:ext cx="2697480" cy="713232"/>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0" name="Rectangle 9"/>
          <p:cNvSpPr/>
          <p:nvPr/>
        </p:nvSpPr>
        <p:spPr>
          <a:xfrm>
            <a:off x="411480" y="3840480"/>
            <a:ext cx="54864" cy="713232"/>
          </a:xfrm>
          <a:prstGeom prst="rect">
            <a:avLst/>
          </a:prstGeom>
          <a:solidFill>
            <a:srgbClr val="E63946"/>
          </a:solidFill>
          <a:ln w="12700">
            <a:solidFill>
              <a:srgbClr val="E63946"/>
            </a:solidFill>
          </a:ln>
        </p:spPr>
        <p:txBody>
          <a:bodyPr rtlCol="0" anchor="ctr"/>
          <a:lstStyle/>
          <a:p>
            <a:pPr algn="ctr"/>
            <a:endParaRPr lang="es-CO" noProof="0" dirty="0"/>
          </a:p>
        </p:txBody>
      </p:sp>
      <p:sp>
        <p:nvSpPr>
          <p:cNvPr id="11" name="TextBox 10"/>
          <p:cNvSpPr txBox="1"/>
          <p:nvPr/>
        </p:nvSpPr>
        <p:spPr>
          <a:xfrm>
            <a:off x="557784" y="3877056"/>
            <a:ext cx="2496312" cy="370880"/>
          </a:xfrm>
          <a:prstGeom prst="rect">
            <a:avLst/>
          </a:prstGeom>
          <a:noFill/>
        </p:spPr>
        <p:txBody>
          <a:bodyPr wrap="square" lIns="0" tIns="0" rIns="0" bIns="0" anchor="ctr">
            <a:spAutoFit/>
          </a:bodyPr>
          <a:lstStyle/>
          <a:p>
            <a:pPr algn="l">
              <a:spcAft>
                <a:spcPts val="0"/>
              </a:spcAft>
            </a:pPr>
            <a:r>
              <a:rPr lang="es-CO" sz="1800" b="1" i="0" noProof="0" dirty="0">
                <a:solidFill>
                  <a:srgbClr val="E63946"/>
                </a:solidFill>
                <a:latin typeface="Calibri"/>
              </a:rPr>
              <a:t>18</a:t>
            </a:r>
          </a:p>
        </p:txBody>
      </p:sp>
      <p:sp>
        <p:nvSpPr>
          <p:cNvPr id="12" name="TextBox 11"/>
          <p:cNvSpPr txBox="1"/>
          <p:nvPr/>
        </p:nvSpPr>
        <p:spPr>
          <a:xfrm>
            <a:off x="557784" y="4225625"/>
            <a:ext cx="2496312" cy="156911"/>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casas Livoltek con caídas de más de 1 min con la batería cargada</a:t>
            </a:r>
          </a:p>
        </p:txBody>
      </p:sp>
      <p:sp>
        <p:nvSpPr>
          <p:cNvPr id="13" name="Rectangle 12"/>
          <p:cNvSpPr/>
          <p:nvPr/>
        </p:nvSpPr>
        <p:spPr>
          <a:xfrm>
            <a:off x="3246120" y="3840480"/>
            <a:ext cx="2697480" cy="713232"/>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4" name="Rectangle 13"/>
          <p:cNvSpPr/>
          <p:nvPr/>
        </p:nvSpPr>
        <p:spPr>
          <a:xfrm>
            <a:off x="3246120" y="3840480"/>
            <a:ext cx="54864" cy="713232"/>
          </a:xfrm>
          <a:prstGeom prst="rect">
            <a:avLst/>
          </a:prstGeom>
          <a:solidFill>
            <a:srgbClr val="F5A623"/>
          </a:solidFill>
          <a:ln w="12700">
            <a:solidFill>
              <a:srgbClr val="F5A623"/>
            </a:solidFill>
          </a:ln>
        </p:spPr>
        <p:txBody>
          <a:bodyPr rtlCol="0" anchor="ctr"/>
          <a:lstStyle/>
          <a:p>
            <a:pPr algn="ctr"/>
            <a:endParaRPr lang="es-CO" noProof="0" dirty="0"/>
          </a:p>
        </p:txBody>
      </p:sp>
      <p:sp>
        <p:nvSpPr>
          <p:cNvPr id="15" name="TextBox 14"/>
          <p:cNvSpPr txBox="1"/>
          <p:nvPr/>
        </p:nvSpPr>
        <p:spPr>
          <a:xfrm>
            <a:off x="3392424" y="3877056"/>
            <a:ext cx="2496312" cy="370880"/>
          </a:xfrm>
          <a:prstGeom prst="rect">
            <a:avLst/>
          </a:prstGeom>
          <a:noFill/>
        </p:spPr>
        <p:txBody>
          <a:bodyPr wrap="square" lIns="0" tIns="0" rIns="0" bIns="0" anchor="ctr">
            <a:spAutoFit/>
          </a:bodyPr>
          <a:lstStyle/>
          <a:p>
            <a:pPr algn="l">
              <a:spcAft>
                <a:spcPts val="0"/>
              </a:spcAft>
            </a:pPr>
            <a:r>
              <a:rPr lang="es-CO" sz="1800" b="1" i="0" noProof="0" dirty="0">
                <a:solidFill>
                  <a:srgbClr val="F5A623"/>
                </a:solidFill>
                <a:latin typeface="Calibri"/>
              </a:rPr>
              <a:t>14,7 h</a:t>
            </a:r>
          </a:p>
        </p:txBody>
      </p:sp>
      <p:sp>
        <p:nvSpPr>
          <p:cNvPr id="16" name="TextBox 15"/>
          <p:cNvSpPr txBox="1"/>
          <p:nvPr/>
        </p:nvSpPr>
        <p:spPr>
          <a:xfrm>
            <a:off x="3392424" y="4225625"/>
            <a:ext cx="2496312" cy="156911"/>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sin respaldo por falla o demora de equipo</a:t>
            </a:r>
          </a:p>
        </p:txBody>
      </p:sp>
      <p:sp>
        <p:nvSpPr>
          <p:cNvPr id="17" name="Rectangle 16"/>
          <p:cNvSpPr/>
          <p:nvPr/>
        </p:nvSpPr>
        <p:spPr>
          <a:xfrm>
            <a:off x="6080760" y="3840480"/>
            <a:ext cx="2697480" cy="713232"/>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8" name="Rectangle 17"/>
          <p:cNvSpPr/>
          <p:nvPr/>
        </p:nvSpPr>
        <p:spPr>
          <a:xfrm>
            <a:off x="6080760" y="3840480"/>
            <a:ext cx="54864" cy="713232"/>
          </a:xfrm>
          <a:prstGeom prst="rect">
            <a:avLst/>
          </a:prstGeom>
          <a:solidFill>
            <a:srgbClr val="1B3A6B"/>
          </a:solidFill>
          <a:ln w="12700">
            <a:solidFill>
              <a:srgbClr val="1B3A6B"/>
            </a:solidFill>
          </a:ln>
        </p:spPr>
        <p:txBody>
          <a:bodyPr rtlCol="0" anchor="ctr"/>
          <a:lstStyle/>
          <a:p>
            <a:pPr algn="ctr"/>
            <a:endParaRPr lang="es-CO" noProof="0" dirty="0"/>
          </a:p>
        </p:txBody>
      </p:sp>
      <p:sp>
        <p:nvSpPr>
          <p:cNvPr id="19" name="TextBox 18"/>
          <p:cNvSpPr txBox="1"/>
          <p:nvPr/>
        </p:nvSpPr>
        <p:spPr>
          <a:xfrm>
            <a:off x="6227064" y="3877056"/>
            <a:ext cx="2496312" cy="370880"/>
          </a:xfrm>
          <a:prstGeom prst="rect">
            <a:avLst/>
          </a:prstGeom>
          <a:noFill/>
        </p:spPr>
        <p:txBody>
          <a:bodyPr wrap="square" lIns="0" tIns="0" rIns="0" bIns="0" anchor="ctr">
            <a:spAutoFit/>
          </a:bodyPr>
          <a:lstStyle/>
          <a:p>
            <a:pPr algn="l">
              <a:spcAft>
                <a:spcPts val="0"/>
              </a:spcAft>
            </a:pPr>
            <a:r>
              <a:rPr lang="es-CO" sz="1800" b="1" i="0" noProof="0" dirty="0">
                <a:solidFill>
                  <a:srgbClr val="1B3A6B"/>
                </a:solidFill>
                <a:latin typeface="Calibri"/>
              </a:rPr>
              <a:t>23</a:t>
            </a:r>
          </a:p>
        </p:txBody>
      </p:sp>
      <p:sp>
        <p:nvSpPr>
          <p:cNvPr id="20" name="TextBox 19"/>
          <p:cNvSpPr txBox="1"/>
          <p:nvPr/>
        </p:nvSpPr>
        <p:spPr>
          <a:xfrm>
            <a:off x="6227064" y="4225625"/>
            <a:ext cx="2496312" cy="156911"/>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alarmas de falla de inversor en 15 casas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GENERACIÓN SOLAR</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1800" b="1" i="0" noProof="0" dirty="0">
                <a:solidFill>
                  <a:srgbClr val="1B3A6B"/>
                </a:solidFill>
                <a:latin typeface="Calibri"/>
              </a:rPr>
              <a:t>Rendimiento 80,8% del diseño; la cobertura solar de 69,3% queda bajo la meta de 70%</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8</a:t>
            </a:r>
          </a:p>
        </p:txBody>
      </p:sp>
      <p:sp>
        <p:nvSpPr>
          <p:cNvPr id="8" name="Rectangle 7"/>
          <p:cNvSpPr/>
          <p:nvPr/>
        </p:nvSpPr>
        <p:spPr>
          <a:xfrm>
            <a:off x="411480" y="1188720"/>
            <a:ext cx="4754880" cy="333756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9" name="TextBox 8"/>
          <p:cNvSpPr txBox="1"/>
          <p:nvPr/>
        </p:nvSpPr>
        <p:spPr>
          <a:xfrm>
            <a:off x="548640" y="1243584"/>
            <a:ext cx="4480560" cy="21945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Yield real vs de diseño (kWh/kWp/año)</a:t>
            </a:r>
          </a:p>
        </p:txBody>
      </p:sp>
      <p:graphicFrame>
        <p:nvGraphicFramePr>
          <p:cNvPr id="10" name="Chart 9"/>
          <p:cNvGraphicFramePr>
            <a:graphicFrameLocks noGrp="1"/>
          </p:cNvGraphicFramePr>
          <p:nvPr/>
        </p:nvGraphicFramePr>
        <p:xfrm>
          <a:off x="457200" y="1444752"/>
          <a:ext cx="466344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11" name="Rectangle 10"/>
          <p:cNvSpPr/>
          <p:nvPr/>
        </p:nvSpPr>
        <p:spPr>
          <a:xfrm>
            <a:off x="5349240" y="1188720"/>
            <a:ext cx="3383280" cy="333756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2" name="TextBox 11"/>
          <p:cNvSpPr txBox="1"/>
          <p:nvPr/>
        </p:nvSpPr>
        <p:spPr>
          <a:xfrm>
            <a:off x="5486400" y="1243584"/>
            <a:ext cx="3108960" cy="21945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Cobertura solar por conjunto</a:t>
            </a:r>
          </a:p>
        </p:txBody>
      </p:sp>
      <p:sp>
        <p:nvSpPr>
          <p:cNvPr id="13" name="TextBox 12"/>
          <p:cNvSpPr txBox="1"/>
          <p:nvPr/>
        </p:nvSpPr>
        <p:spPr>
          <a:xfrm>
            <a:off x="5486400" y="1517904"/>
            <a:ext cx="1280160" cy="237744"/>
          </a:xfrm>
          <a:prstGeom prst="rect">
            <a:avLst/>
          </a:prstGeom>
          <a:noFill/>
        </p:spPr>
        <p:txBody>
          <a:bodyPr wrap="square" lIns="0" tIns="0" rIns="0" bIns="0" anchor="ctr">
            <a:spAutoFit/>
          </a:bodyPr>
          <a:lstStyle/>
          <a:p>
            <a:pPr algn="l">
              <a:spcAft>
                <a:spcPts val="0"/>
              </a:spcAft>
            </a:pPr>
            <a:r>
              <a:rPr lang="es-CO" sz="850" b="0" i="0" noProof="0" dirty="0">
                <a:solidFill>
                  <a:srgbClr val="1A1A2E"/>
                </a:solidFill>
                <a:latin typeface="Calibri"/>
              </a:rPr>
              <a:t>Reservas de Pance</a:t>
            </a:r>
          </a:p>
        </p:txBody>
      </p:sp>
      <p:sp>
        <p:nvSpPr>
          <p:cNvPr id="14" name="Rectangle 13"/>
          <p:cNvSpPr/>
          <p:nvPr/>
        </p:nvSpPr>
        <p:spPr>
          <a:xfrm>
            <a:off x="6766560" y="1572768"/>
            <a:ext cx="1371600" cy="128016"/>
          </a:xfrm>
          <a:prstGeom prst="rect">
            <a:avLst/>
          </a:prstGeom>
          <a:solidFill>
            <a:srgbClr val="E9EDF3"/>
          </a:solidFill>
          <a:ln w="12700">
            <a:solidFill>
              <a:srgbClr val="E9EDF3"/>
            </a:solidFill>
          </a:ln>
        </p:spPr>
        <p:txBody>
          <a:bodyPr rtlCol="0" anchor="ctr"/>
          <a:lstStyle/>
          <a:p>
            <a:pPr algn="ctr"/>
            <a:endParaRPr lang="es-CO" noProof="0" dirty="0"/>
          </a:p>
        </p:txBody>
      </p:sp>
      <p:sp>
        <p:nvSpPr>
          <p:cNvPr id="15" name="Rectangle 14"/>
          <p:cNvSpPr/>
          <p:nvPr/>
        </p:nvSpPr>
        <p:spPr>
          <a:xfrm>
            <a:off x="6766560" y="1572768"/>
            <a:ext cx="1005223" cy="128016"/>
          </a:xfrm>
          <a:prstGeom prst="rect">
            <a:avLst/>
          </a:prstGeom>
          <a:solidFill>
            <a:srgbClr val="1E8449"/>
          </a:solidFill>
          <a:ln w="12700">
            <a:solidFill>
              <a:srgbClr val="1E8449"/>
            </a:solidFill>
          </a:ln>
        </p:spPr>
        <p:txBody>
          <a:bodyPr rtlCol="0" anchor="ctr"/>
          <a:lstStyle/>
          <a:p>
            <a:pPr algn="ctr"/>
            <a:endParaRPr lang="es-CO" noProof="0" dirty="0"/>
          </a:p>
        </p:txBody>
      </p:sp>
      <p:sp>
        <p:nvSpPr>
          <p:cNvPr id="17" name="TextBox 16"/>
          <p:cNvSpPr txBox="1"/>
          <p:nvPr/>
        </p:nvSpPr>
        <p:spPr>
          <a:xfrm>
            <a:off x="8156448" y="1517904"/>
            <a:ext cx="502920" cy="237744"/>
          </a:xfrm>
          <a:prstGeom prst="rect">
            <a:avLst/>
          </a:prstGeom>
          <a:noFill/>
        </p:spPr>
        <p:txBody>
          <a:bodyPr wrap="square" lIns="0" tIns="0" rIns="0" bIns="0" anchor="ctr">
            <a:spAutoFit/>
          </a:bodyPr>
          <a:lstStyle/>
          <a:p>
            <a:pPr algn="l">
              <a:spcAft>
                <a:spcPts val="0"/>
              </a:spcAft>
            </a:pPr>
            <a:r>
              <a:rPr lang="es-CO" sz="900" b="1" i="0" noProof="0" dirty="0">
                <a:solidFill>
                  <a:srgbClr val="1E8449"/>
                </a:solidFill>
                <a:latin typeface="Calibri"/>
              </a:rPr>
              <a:t>73,3%</a:t>
            </a:r>
          </a:p>
        </p:txBody>
      </p:sp>
      <p:sp>
        <p:nvSpPr>
          <p:cNvPr id="18" name="TextBox 17"/>
          <p:cNvSpPr txBox="1"/>
          <p:nvPr/>
        </p:nvSpPr>
        <p:spPr>
          <a:xfrm>
            <a:off x="5486400" y="1796796"/>
            <a:ext cx="1280160" cy="237744"/>
          </a:xfrm>
          <a:prstGeom prst="rect">
            <a:avLst/>
          </a:prstGeom>
          <a:noFill/>
        </p:spPr>
        <p:txBody>
          <a:bodyPr wrap="square" lIns="0" tIns="0" rIns="0" bIns="0" anchor="ctr">
            <a:spAutoFit/>
          </a:bodyPr>
          <a:lstStyle/>
          <a:p>
            <a:pPr algn="l">
              <a:spcAft>
                <a:spcPts val="0"/>
              </a:spcAft>
            </a:pPr>
            <a:r>
              <a:rPr lang="es-CO" sz="850" b="0" i="0" noProof="0" dirty="0">
                <a:solidFill>
                  <a:srgbClr val="1A1A2E"/>
                </a:solidFill>
                <a:latin typeface="Calibri"/>
              </a:rPr>
              <a:t>Prado Verde</a:t>
            </a:r>
          </a:p>
        </p:txBody>
      </p:sp>
      <p:sp>
        <p:nvSpPr>
          <p:cNvPr id="19" name="Rectangle 18"/>
          <p:cNvSpPr/>
          <p:nvPr/>
        </p:nvSpPr>
        <p:spPr>
          <a:xfrm>
            <a:off x="6766560" y="1851660"/>
            <a:ext cx="1371600" cy="128016"/>
          </a:xfrm>
          <a:prstGeom prst="rect">
            <a:avLst/>
          </a:prstGeom>
          <a:solidFill>
            <a:srgbClr val="E9EDF3"/>
          </a:solidFill>
          <a:ln w="12700">
            <a:solidFill>
              <a:srgbClr val="E9EDF3"/>
            </a:solidFill>
          </a:ln>
        </p:spPr>
        <p:txBody>
          <a:bodyPr rtlCol="0" anchor="ctr"/>
          <a:lstStyle/>
          <a:p>
            <a:pPr algn="ctr"/>
            <a:endParaRPr lang="es-CO" noProof="0" dirty="0"/>
          </a:p>
        </p:txBody>
      </p:sp>
      <p:sp>
        <p:nvSpPr>
          <p:cNvPr id="20" name="Rectangle 19"/>
          <p:cNvSpPr/>
          <p:nvPr/>
        </p:nvSpPr>
        <p:spPr>
          <a:xfrm>
            <a:off x="6766560" y="1851660"/>
            <a:ext cx="941507" cy="128016"/>
          </a:xfrm>
          <a:prstGeom prst="rect">
            <a:avLst/>
          </a:prstGeom>
          <a:solidFill>
            <a:srgbClr val="CA6F1E"/>
          </a:solidFill>
          <a:ln w="12700">
            <a:solidFill>
              <a:srgbClr val="CA6F1E"/>
            </a:solidFill>
          </a:ln>
        </p:spPr>
        <p:txBody>
          <a:bodyPr rtlCol="0" anchor="ctr"/>
          <a:lstStyle/>
          <a:p>
            <a:pPr algn="ctr"/>
            <a:endParaRPr lang="es-CO" noProof="0" dirty="0"/>
          </a:p>
        </p:txBody>
      </p:sp>
      <p:sp>
        <p:nvSpPr>
          <p:cNvPr id="22" name="TextBox 21"/>
          <p:cNvSpPr txBox="1"/>
          <p:nvPr/>
        </p:nvSpPr>
        <p:spPr>
          <a:xfrm>
            <a:off x="8156448" y="1796796"/>
            <a:ext cx="502920" cy="237744"/>
          </a:xfrm>
          <a:prstGeom prst="rect">
            <a:avLst/>
          </a:prstGeom>
          <a:noFill/>
        </p:spPr>
        <p:txBody>
          <a:bodyPr wrap="square" lIns="0" tIns="0" rIns="0" bIns="0" anchor="ctr">
            <a:spAutoFit/>
          </a:bodyPr>
          <a:lstStyle/>
          <a:p>
            <a:pPr algn="l">
              <a:spcAft>
                <a:spcPts val="0"/>
              </a:spcAft>
            </a:pPr>
            <a:r>
              <a:rPr lang="es-CO" sz="900" b="1" i="0" noProof="0" dirty="0">
                <a:solidFill>
                  <a:srgbClr val="CA6F1E"/>
                </a:solidFill>
                <a:latin typeface="Calibri"/>
              </a:rPr>
              <a:t>68,6%</a:t>
            </a:r>
          </a:p>
        </p:txBody>
      </p:sp>
      <p:sp>
        <p:nvSpPr>
          <p:cNvPr id="23" name="TextBox 22"/>
          <p:cNvSpPr txBox="1"/>
          <p:nvPr/>
        </p:nvSpPr>
        <p:spPr>
          <a:xfrm>
            <a:off x="5486400" y="2075688"/>
            <a:ext cx="1280160" cy="237744"/>
          </a:xfrm>
          <a:prstGeom prst="rect">
            <a:avLst/>
          </a:prstGeom>
          <a:noFill/>
        </p:spPr>
        <p:txBody>
          <a:bodyPr wrap="square" lIns="0" tIns="0" rIns="0" bIns="0" anchor="ctr">
            <a:spAutoFit/>
          </a:bodyPr>
          <a:lstStyle/>
          <a:p>
            <a:pPr algn="l">
              <a:spcAft>
                <a:spcPts val="0"/>
              </a:spcAft>
            </a:pPr>
            <a:r>
              <a:rPr lang="es-CO" sz="850" b="0" i="0" noProof="0" dirty="0">
                <a:solidFill>
                  <a:srgbClr val="1A1A2E"/>
                </a:solidFill>
                <a:latin typeface="Calibri"/>
              </a:rPr>
              <a:t>Terra </a:t>
            </a:r>
            <a:r>
              <a:rPr lang="es-CO" sz="850" b="0" i="0" noProof="0" dirty="0" err="1">
                <a:solidFill>
                  <a:srgbClr val="1A1A2E"/>
                </a:solidFill>
                <a:latin typeface="Calibri"/>
              </a:rPr>
              <a:t>by</a:t>
            </a:r>
            <a:r>
              <a:rPr lang="es-CO" sz="850" b="0" i="0" noProof="0" dirty="0">
                <a:solidFill>
                  <a:srgbClr val="1A1A2E"/>
                </a:solidFill>
                <a:latin typeface="Calibri"/>
              </a:rPr>
              <a:t> Kaia</a:t>
            </a:r>
          </a:p>
        </p:txBody>
      </p:sp>
      <p:sp>
        <p:nvSpPr>
          <p:cNvPr id="24" name="Rectangle 23"/>
          <p:cNvSpPr/>
          <p:nvPr/>
        </p:nvSpPr>
        <p:spPr>
          <a:xfrm>
            <a:off x="6766560" y="2130552"/>
            <a:ext cx="1371600" cy="128016"/>
          </a:xfrm>
          <a:prstGeom prst="rect">
            <a:avLst/>
          </a:prstGeom>
          <a:solidFill>
            <a:srgbClr val="E9EDF3"/>
          </a:solidFill>
          <a:ln w="12700">
            <a:solidFill>
              <a:srgbClr val="E9EDF3"/>
            </a:solidFill>
          </a:ln>
        </p:spPr>
        <p:txBody>
          <a:bodyPr rtlCol="0" anchor="ctr"/>
          <a:lstStyle/>
          <a:p>
            <a:pPr algn="ctr"/>
            <a:endParaRPr lang="es-CO" noProof="0" dirty="0"/>
          </a:p>
        </p:txBody>
      </p:sp>
      <p:sp>
        <p:nvSpPr>
          <p:cNvPr id="25" name="Rectangle 24"/>
          <p:cNvSpPr/>
          <p:nvPr/>
        </p:nvSpPr>
        <p:spPr>
          <a:xfrm>
            <a:off x="6766560" y="2130552"/>
            <a:ext cx="977991" cy="128016"/>
          </a:xfrm>
          <a:prstGeom prst="rect">
            <a:avLst/>
          </a:prstGeom>
          <a:solidFill>
            <a:srgbClr val="1E8449"/>
          </a:solidFill>
          <a:ln w="12700">
            <a:solidFill>
              <a:srgbClr val="1E8449"/>
            </a:solidFill>
          </a:ln>
        </p:spPr>
        <p:txBody>
          <a:bodyPr rtlCol="0" anchor="ctr"/>
          <a:lstStyle/>
          <a:p>
            <a:pPr algn="ctr"/>
            <a:endParaRPr lang="es-CO" noProof="0" dirty="0"/>
          </a:p>
        </p:txBody>
      </p:sp>
      <p:sp>
        <p:nvSpPr>
          <p:cNvPr id="27" name="TextBox 26"/>
          <p:cNvSpPr txBox="1"/>
          <p:nvPr/>
        </p:nvSpPr>
        <p:spPr>
          <a:xfrm>
            <a:off x="8156448" y="2075688"/>
            <a:ext cx="502920" cy="237744"/>
          </a:xfrm>
          <a:prstGeom prst="rect">
            <a:avLst/>
          </a:prstGeom>
          <a:noFill/>
        </p:spPr>
        <p:txBody>
          <a:bodyPr wrap="square" lIns="0" tIns="0" rIns="0" bIns="0" anchor="ctr">
            <a:spAutoFit/>
          </a:bodyPr>
          <a:lstStyle/>
          <a:p>
            <a:pPr algn="l">
              <a:spcAft>
                <a:spcPts val="0"/>
              </a:spcAft>
            </a:pPr>
            <a:r>
              <a:rPr lang="es-CO" sz="900" b="1" i="0" noProof="0" dirty="0">
                <a:solidFill>
                  <a:srgbClr val="1E8449"/>
                </a:solidFill>
                <a:latin typeface="Calibri"/>
              </a:rPr>
              <a:t>71,3%</a:t>
            </a:r>
          </a:p>
        </p:txBody>
      </p:sp>
      <p:sp>
        <p:nvSpPr>
          <p:cNvPr id="28" name="TextBox 27"/>
          <p:cNvSpPr txBox="1"/>
          <p:nvPr/>
        </p:nvSpPr>
        <p:spPr>
          <a:xfrm>
            <a:off x="5486400" y="2354580"/>
            <a:ext cx="1280160" cy="237744"/>
          </a:xfrm>
          <a:prstGeom prst="rect">
            <a:avLst/>
          </a:prstGeom>
          <a:noFill/>
        </p:spPr>
        <p:txBody>
          <a:bodyPr wrap="square" lIns="0" tIns="0" rIns="0" bIns="0" anchor="ctr">
            <a:spAutoFit/>
          </a:bodyPr>
          <a:lstStyle/>
          <a:p>
            <a:pPr algn="l">
              <a:spcAft>
                <a:spcPts val="0"/>
              </a:spcAft>
            </a:pPr>
            <a:r>
              <a:rPr lang="es-CO" sz="850" b="0" i="0" noProof="0" dirty="0">
                <a:solidFill>
                  <a:srgbClr val="1A1A2E"/>
                </a:solidFill>
                <a:latin typeface="Calibri"/>
              </a:rPr>
              <a:t>Terranova</a:t>
            </a:r>
          </a:p>
        </p:txBody>
      </p:sp>
      <p:sp>
        <p:nvSpPr>
          <p:cNvPr id="29" name="Rectangle 28"/>
          <p:cNvSpPr/>
          <p:nvPr/>
        </p:nvSpPr>
        <p:spPr>
          <a:xfrm>
            <a:off x="6766560" y="2409444"/>
            <a:ext cx="1371600" cy="128016"/>
          </a:xfrm>
          <a:prstGeom prst="rect">
            <a:avLst/>
          </a:prstGeom>
          <a:solidFill>
            <a:srgbClr val="E9EDF3"/>
          </a:solidFill>
          <a:ln w="12700">
            <a:solidFill>
              <a:srgbClr val="E9EDF3"/>
            </a:solidFill>
          </a:ln>
        </p:spPr>
        <p:txBody>
          <a:bodyPr rtlCol="0" anchor="ctr"/>
          <a:lstStyle/>
          <a:p>
            <a:pPr algn="ctr"/>
            <a:endParaRPr lang="es-CO" noProof="0" dirty="0"/>
          </a:p>
        </p:txBody>
      </p:sp>
      <p:sp>
        <p:nvSpPr>
          <p:cNvPr id="30" name="Rectangle 29"/>
          <p:cNvSpPr/>
          <p:nvPr/>
        </p:nvSpPr>
        <p:spPr>
          <a:xfrm>
            <a:off x="6766560" y="2409444"/>
            <a:ext cx="839192" cy="128016"/>
          </a:xfrm>
          <a:prstGeom prst="rect">
            <a:avLst/>
          </a:prstGeom>
          <a:solidFill>
            <a:srgbClr val="CA6F1E"/>
          </a:solidFill>
          <a:ln w="12700">
            <a:solidFill>
              <a:srgbClr val="CA6F1E"/>
            </a:solidFill>
          </a:ln>
        </p:spPr>
        <p:txBody>
          <a:bodyPr rtlCol="0" anchor="ctr"/>
          <a:lstStyle/>
          <a:p>
            <a:pPr algn="ctr"/>
            <a:endParaRPr lang="es-CO" noProof="0" dirty="0"/>
          </a:p>
        </p:txBody>
      </p:sp>
      <p:sp>
        <p:nvSpPr>
          <p:cNvPr id="32" name="TextBox 31"/>
          <p:cNvSpPr txBox="1"/>
          <p:nvPr/>
        </p:nvSpPr>
        <p:spPr>
          <a:xfrm>
            <a:off x="8156448" y="2354580"/>
            <a:ext cx="502920" cy="237744"/>
          </a:xfrm>
          <a:prstGeom prst="rect">
            <a:avLst/>
          </a:prstGeom>
          <a:noFill/>
        </p:spPr>
        <p:txBody>
          <a:bodyPr wrap="square" lIns="0" tIns="0" rIns="0" bIns="0" anchor="ctr">
            <a:spAutoFit/>
          </a:bodyPr>
          <a:lstStyle/>
          <a:p>
            <a:pPr algn="l">
              <a:spcAft>
                <a:spcPts val="0"/>
              </a:spcAft>
            </a:pPr>
            <a:r>
              <a:rPr lang="es-CO" sz="900" b="1" i="0" noProof="0" dirty="0">
                <a:solidFill>
                  <a:srgbClr val="CA6F1E"/>
                </a:solidFill>
                <a:latin typeface="Calibri"/>
              </a:rPr>
              <a:t>61,2%</a:t>
            </a:r>
          </a:p>
        </p:txBody>
      </p:sp>
      <p:sp>
        <p:nvSpPr>
          <p:cNvPr id="33" name="TextBox 32"/>
          <p:cNvSpPr txBox="1"/>
          <p:nvPr/>
        </p:nvSpPr>
        <p:spPr>
          <a:xfrm>
            <a:off x="5486400" y="2633472"/>
            <a:ext cx="1280160" cy="237744"/>
          </a:xfrm>
          <a:prstGeom prst="rect">
            <a:avLst/>
          </a:prstGeom>
          <a:noFill/>
        </p:spPr>
        <p:txBody>
          <a:bodyPr wrap="square" lIns="0" tIns="0" rIns="0" bIns="0" anchor="ctr">
            <a:spAutoFit/>
          </a:bodyPr>
          <a:lstStyle/>
          <a:p>
            <a:pPr algn="l">
              <a:spcAft>
                <a:spcPts val="0"/>
              </a:spcAft>
            </a:pPr>
            <a:r>
              <a:rPr lang="es-CO" sz="850" b="0" i="0" noProof="0" dirty="0">
                <a:solidFill>
                  <a:srgbClr val="1A1A2E"/>
                </a:solidFill>
                <a:latin typeface="Calibri"/>
              </a:rPr>
              <a:t>Los Abedules</a:t>
            </a:r>
          </a:p>
        </p:txBody>
      </p:sp>
      <p:sp>
        <p:nvSpPr>
          <p:cNvPr id="34" name="Rectangle 33"/>
          <p:cNvSpPr/>
          <p:nvPr/>
        </p:nvSpPr>
        <p:spPr>
          <a:xfrm>
            <a:off x="6766560" y="2688336"/>
            <a:ext cx="1371600" cy="128016"/>
          </a:xfrm>
          <a:prstGeom prst="rect">
            <a:avLst/>
          </a:prstGeom>
          <a:solidFill>
            <a:srgbClr val="E9EDF3"/>
          </a:solidFill>
          <a:ln w="12700">
            <a:solidFill>
              <a:srgbClr val="E9EDF3"/>
            </a:solidFill>
          </a:ln>
        </p:spPr>
        <p:txBody>
          <a:bodyPr rtlCol="0" anchor="ctr"/>
          <a:lstStyle/>
          <a:p>
            <a:pPr algn="ctr"/>
            <a:endParaRPr lang="es-CO" noProof="0" dirty="0"/>
          </a:p>
        </p:txBody>
      </p:sp>
      <p:sp>
        <p:nvSpPr>
          <p:cNvPr id="35" name="Rectangle 34"/>
          <p:cNvSpPr/>
          <p:nvPr/>
        </p:nvSpPr>
        <p:spPr>
          <a:xfrm>
            <a:off x="6766560" y="2688336"/>
            <a:ext cx="1220646" cy="128016"/>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7" name="TextBox 36"/>
          <p:cNvSpPr txBox="1"/>
          <p:nvPr/>
        </p:nvSpPr>
        <p:spPr>
          <a:xfrm>
            <a:off x="8156448" y="2633472"/>
            <a:ext cx="502920" cy="237744"/>
          </a:xfrm>
          <a:prstGeom prst="rect">
            <a:avLst/>
          </a:prstGeom>
          <a:noFill/>
        </p:spPr>
        <p:txBody>
          <a:bodyPr wrap="square" lIns="0" tIns="0" rIns="0" bIns="0" anchor="ctr">
            <a:spAutoFit/>
          </a:bodyPr>
          <a:lstStyle/>
          <a:p>
            <a:pPr algn="l">
              <a:spcAft>
                <a:spcPts val="0"/>
              </a:spcAft>
            </a:pPr>
            <a:r>
              <a:rPr lang="es-CO" sz="900" b="1" i="0" noProof="0" dirty="0">
                <a:solidFill>
                  <a:srgbClr val="1E8449"/>
                </a:solidFill>
                <a:latin typeface="Calibri"/>
              </a:rPr>
              <a:t>89,0%</a:t>
            </a:r>
          </a:p>
        </p:txBody>
      </p:sp>
      <p:sp>
        <p:nvSpPr>
          <p:cNvPr id="38" name="TextBox 37"/>
          <p:cNvSpPr txBox="1"/>
          <p:nvPr/>
        </p:nvSpPr>
        <p:spPr>
          <a:xfrm>
            <a:off x="5486400" y="2912364"/>
            <a:ext cx="1280160" cy="237744"/>
          </a:xfrm>
          <a:prstGeom prst="rect">
            <a:avLst/>
          </a:prstGeom>
          <a:noFill/>
        </p:spPr>
        <p:txBody>
          <a:bodyPr wrap="square" lIns="0" tIns="0" rIns="0" bIns="0" anchor="ctr">
            <a:spAutoFit/>
          </a:bodyPr>
          <a:lstStyle/>
          <a:p>
            <a:pPr algn="l">
              <a:spcAft>
                <a:spcPts val="0"/>
              </a:spcAft>
            </a:pPr>
            <a:r>
              <a:rPr lang="es-CO" sz="850" b="0" i="0" noProof="0" dirty="0">
                <a:solidFill>
                  <a:srgbClr val="1A1A2E"/>
                </a:solidFill>
                <a:latin typeface="Calibri"/>
              </a:rPr>
              <a:t>Llanos de Pance</a:t>
            </a:r>
          </a:p>
        </p:txBody>
      </p:sp>
      <p:sp>
        <p:nvSpPr>
          <p:cNvPr id="39" name="Rectangle 38"/>
          <p:cNvSpPr/>
          <p:nvPr/>
        </p:nvSpPr>
        <p:spPr>
          <a:xfrm>
            <a:off x="6766560" y="2967228"/>
            <a:ext cx="1371600" cy="128016"/>
          </a:xfrm>
          <a:prstGeom prst="rect">
            <a:avLst/>
          </a:prstGeom>
          <a:solidFill>
            <a:srgbClr val="E9EDF3"/>
          </a:solidFill>
          <a:ln w="12700">
            <a:solidFill>
              <a:srgbClr val="E9EDF3"/>
            </a:solidFill>
          </a:ln>
        </p:spPr>
        <p:txBody>
          <a:bodyPr rtlCol="0" anchor="ctr"/>
          <a:lstStyle/>
          <a:p>
            <a:pPr algn="ctr"/>
            <a:endParaRPr lang="es-CO" noProof="0" dirty="0"/>
          </a:p>
        </p:txBody>
      </p:sp>
      <p:sp>
        <p:nvSpPr>
          <p:cNvPr id="40" name="Rectangle 39"/>
          <p:cNvSpPr/>
          <p:nvPr/>
        </p:nvSpPr>
        <p:spPr>
          <a:xfrm>
            <a:off x="6766560" y="2967228"/>
            <a:ext cx="1035636" cy="128016"/>
          </a:xfrm>
          <a:prstGeom prst="rect">
            <a:avLst/>
          </a:prstGeom>
          <a:solidFill>
            <a:srgbClr val="1E8449"/>
          </a:solidFill>
          <a:ln w="12700">
            <a:solidFill>
              <a:srgbClr val="1E8449"/>
            </a:solidFill>
          </a:ln>
        </p:spPr>
        <p:txBody>
          <a:bodyPr rtlCol="0" anchor="ctr"/>
          <a:lstStyle/>
          <a:p>
            <a:pPr algn="ctr"/>
            <a:endParaRPr lang="es-CO" noProof="0" dirty="0"/>
          </a:p>
        </p:txBody>
      </p:sp>
      <p:sp>
        <p:nvSpPr>
          <p:cNvPr id="42" name="TextBox 41"/>
          <p:cNvSpPr txBox="1"/>
          <p:nvPr/>
        </p:nvSpPr>
        <p:spPr>
          <a:xfrm>
            <a:off x="8156448" y="2912364"/>
            <a:ext cx="502920" cy="237744"/>
          </a:xfrm>
          <a:prstGeom prst="rect">
            <a:avLst/>
          </a:prstGeom>
          <a:noFill/>
        </p:spPr>
        <p:txBody>
          <a:bodyPr wrap="square" lIns="0" tIns="0" rIns="0" bIns="0" anchor="ctr">
            <a:spAutoFit/>
          </a:bodyPr>
          <a:lstStyle/>
          <a:p>
            <a:pPr algn="l">
              <a:spcAft>
                <a:spcPts val="0"/>
              </a:spcAft>
            </a:pPr>
            <a:r>
              <a:rPr lang="es-CO" sz="900" b="1" i="0" noProof="0" dirty="0">
                <a:solidFill>
                  <a:srgbClr val="1E8449"/>
                </a:solidFill>
                <a:latin typeface="Calibri"/>
              </a:rPr>
              <a:t>75,5%</a:t>
            </a:r>
          </a:p>
        </p:txBody>
      </p:sp>
      <p:sp>
        <p:nvSpPr>
          <p:cNvPr id="44" name="TextBox 43"/>
          <p:cNvSpPr txBox="1"/>
          <p:nvPr/>
        </p:nvSpPr>
        <p:spPr>
          <a:xfrm>
            <a:off x="411480" y="4617720"/>
            <a:ext cx="8321040" cy="237744"/>
          </a:xfrm>
          <a:prstGeom prst="rect">
            <a:avLst/>
          </a:prstGeom>
          <a:noFill/>
        </p:spPr>
        <p:txBody>
          <a:bodyPr wrap="square" lIns="0" tIns="0" rIns="0" bIns="0" anchor="ctr">
            <a:spAutoFit/>
          </a:bodyPr>
          <a:lstStyle/>
          <a:p>
            <a:pPr algn="l">
              <a:spcAft>
                <a:spcPts val="0"/>
              </a:spcAft>
            </a:pPr>
            <a:r>
              <a:rPr lang="es-CO" sz="750" b="0" i="1" noProof="0" dirty="0">
                <a:solidFill>
                  <a:srgbClr val="55636E"/>
                </a:solidFill>
                <a:latin typeface="Calibri"/>
              </a:rPr>
              <a:t>Generación 13.631 kWh frente a una demanda de 19.465 kWh; importación 5.854 kWh. 5 de 10 conjuntos alcanzan la meta; Castellana Real (una casa) y Portón de la Rivera (una casa) arrastran el promedio.</a:t>
            </a:r>
          </a:p>
        </p:txBody>
      </p:sp>
      <p:sp>
        <p:nvSpPr>
          <p:cNvPr id="45" name="TextBox 37 fila6"/>
          <p:cNvSpPr txBox="1"/>
          <p:nvPr/>
        </p:nvSpPr>
        <p:spPr>
          <a:xfrm>
            <a:off x="5486400" y="3191256"/>
            <a:ext cx="1280160" cy="237744"/>
          </a:xfrm>
          <a:prstGeom prst="rect">
            <a:avLst/>
          </a:prstGeom>
          <a:noFill/>
        </p:spPr>
        <p:txBody>
          <a:bodyPr wrap="square" lIns="0" tIns="0" rIns="0" bIns="0" anchor="ctr">
            <a:spAutoFit/>
          </a:bodyPr>
          <a:lstStyle/>
          <a:p>
            <a:pPr algn="l">
              <a:spcAft>
                <a:spcPts val="0"/>
              </a:spcAft>
            </a:pPr>
            <a:r>
              <a:rPr lang="es-CO" sz="850" b="0" i="0" noProof="0" dirty="0">
                <a:solidFill>
                  <a:srgbClr val="1A1A2E"/>
                </a:solidFill>
                <a:latin typeface="Calibri"/>
              </a:rPr>
              <a:t>Portón de la Rivera</a:t>
            </a:r>
          </a:p>
        </p:txBody>
      </p:sp>
      <p:sp>
        <p:nvSpPr>
          <p:cNvPr id="46" name="Rectangle 38 fila6"/>
          <p:cNvSpPr/>
          <p:nvPr/>
        </p:nvSpPr>
        <p:spPr>
          <a:xfrm>
            <a:off x="6766560" y="3246120"/>
            <a:ext cx="1371600" cy="128016"/>
          </a:xfrm>
          <a:prstGeom prst="rect">
            <a:avLst/>
          </a:prstGeom>
          <a:solidFill>
            <a:srgbClr val="E9EDF3"/>
          </a:solidFill>
          <a:ln w="12700">
            <a:solidFill>
              <a:srgbClr val="E9EDF3"/>
            </a:solidFill>
          </a:ln>
        </p:spPr>
        <p:txBody>
          <a:bodyPr rtlCol="0" anchor="ctr"/>
          <a:lstStyle/>
          <a:p>
            <a:pPr algn="ctr"/>
            <a:endParaRPr lang="es-CO" noProof="0" dirty="0"/>
          </a:p>
        </p:txBody>
      </p:sp>
      <p:sp>
        <p:nvSpPr>
          <p:cNvPr id="47" name="Rectangle 39 fila6"/>
          <p:cNvSpPr/>
          <p:nvPr/>
        </p:nvSpPr>
        <p:spPr>
          <a:xfrm>
            <a:off x="6766560" y="3246120"/>
            <a:ext cx="774758" cy="128016"/>
          </a:xfrm>
          <a:prstGeom prst="rect">
            <a:avLst/>
          </a:prstGeom>
          <a:solidFill>
            <a:srgbClr val="CA6F1E"/>
          </a:solidFill>
          <a:ln w="12700">
            <a:solidFill>
              <a:srgbClr val="CA6F1E"/>
            </a:solidFill>
          </a:ln>
        </p:spPr>
        <p:txBody>
          <a:bodyPr rtlCol="0" anchor="ctr"/>
          <a:lstStyle/>
          <a:p>
            <a:pPr algn="ctr"/>
            <a:endParaRPr lang="es-CO" noProof="0" dirty="0"/>
          </a:p>
        </p:txBody>
      </p:sp>
      <p:sp>
        <p:nvSpPr>
          <p:cNvPr id="49" name="TextBox 41 fila6"/>
          <p:cNvSpPr txBox="1"/>
          <p:nvPr/>
        </p:nvSpPr>
        <p:spPr>
          <a:xfrm>
            <a:off x="8156448" y="3191256"/>
            <a:ext cx="502920" cy="237744"/>
          </a:xfrm>
          <a:prstGeom prst="rect">
            <a:avLst/>
          </a:prstGeom>
          <a:noFill/>
        </p:spPr>
        <p:txBody>
          <a:bodyPr wrap="square" lIns="0" tIns="0" rIns="0" bIns="0" anchor="ctr">
            <a:spAutoFit/>
          </a:bodyPr>
          <a:lstStyle/>
          <a:p>
            <a:pPr algn="l">
              <a:spcAft>
                <a:spcPts val="0"/>
              </a:spcAft>
            </a:pPr>
            <a:r>
              <a:rPr lang="es-CO" sz="900" b="1" i="0" noProof="0" dirty="0">
                <a:solidFill>
                  <a:srgbClr val="CA6F1E"/>
                </a:solidFill>
                <a:latin typeface="Calibri"/>
              </a:rPr>
              <a:t>56,5%</a:t>
            </a:r>
          </a:p>
        </p:txBody>
      </p:sp>
      <p:sp>
        <p:nvSpPr>
          <p:cNvPr id="50" name="TextBox 37 fila7"/>
          <p:cNvSpPr txBox="1"/>
          <p:nvPr/>
        </p:nvSpPr>
        <p:spPr>
          <a:xfrm>
            <a:off x="5486400" y="3470148"/>
            <a:ext cx="1280160" cy="237744"/>
          </a:xfrm>
          <a:prstGeom prst="rect">
            <a:avLst/>
          </a:prstGeom>
          <a:noFill/>
        </p:spPr>
        <p:txBody>
          <a:bodyPr wrap="square" lIns="0" tIns="0" rIns="0" bIns="0" anchor="ctr">
            <a:spAutoFit/>
          </a:bodyPr>
          <a:lstStyle/>
          <a:p>
            <a:pPr algn="l">
              <a:spcAft>
                <a:spcPts val="0"/>
              </a:spcAft>
            </a:pPr>
            <a:r>
              <a:rPr lang="es-CO" sz="850" b="0" i="0" noProof="0" dirty="0">
                <a:solidFill>
                  <a:srgbClr val="1A1A2E"/>
                </a:solidFill>
                <a:latin typeface="Calibri"/>
              </a:rPr>
              <a:t>Pance Campestre</a:t>
            </a:r>
          </a:p>
        </p:txBody>
      </p:sp>
      <p:sp>
        <p:nvSpPr>
          <p:cNvPr id="51" name="Rectangle 38 fila7"/>
          <p:cNvSpPr/>
          <p:nvPr/>
        </p:nvSpPr>
        <p:spPr>
          <a:xfrm>
            <a:off x="6766560" y="3525012"/>
            <a:ext cx="1371600" cy="128016"/>
          </a:xfrm>
          <a:prstGeom prst="rect">
            <a:avLst/>
          </a:prstGeom>
          <a:solidFill>
            <a:srgbClr val="E9EDF3"/>
          </a:solidFill>
          <a:ln w="12700">
            <a:solidFill>
              <a:srgbClr val="E9EDF3"/>
            </a:solidFill>
          </a:ln>
        </p:spPr>
        <p:txBody>
          <a:bodyPr rtlCol="0" anchor="ctr"/>
          <a:lstStyle/>
          <a:p>
            <a:pPr algn="ctr"/>
            <a:endParaRPr lang="es-CO" noProof="0" dirty="0"/>
          </a:p>
        </p:txBody>
      </p:sp>
      <p:sp>
        <p:nvSpPr>
          <p:cNvPr id="52" name="Rectangle 39 fila7"/>
          <p:cNvSpPr/>
          <p:nvPr/>
        </p:nvSpPr>
        <p:spPr>
          <a:xfrm>
            <a:off x="6766560" y="3525012"/>
            <a:ext cx="1048191" cy="128016"/>
          </a:xfrm>
          <a:prstGeom prst="rect">
            <a:avLst/>
          </a:prstGeom>
          <a:solidFill>
            <a:srgbClr val="1E8449"/>
          </a:solidFill>
          <a:ln w="12700">
            <a:solidFill>
              <a:srgbClr val="1E8449"/>
            </a:solidFill>
          </a:ln>
        </p:spPr>
        <p:txBody>
          <a:bodyPr rtlCol="0" anchor="ctr"/>
          <a:lstStyle/>
          <a:p>
            <a:pPr algn="ctr"/>
            <a:endParaRPr lang="es-CO" noProof="0" dirty="0"/>
          </a:p>
        </p:txBody>
      </p:sp>
      <p:sp>
        <p:nvSpPr>
          <p:cNvPr id="54" name="TextBox 41 fila7"/>
          <p:cNvSpPr txBox="1"/>
          <p:nvPr/>
        </p:nvSpPr>
        <p:spPr>
          <a:xfrm>
            <a:off x="8156448" y="3470148"/>
            <a:ext cx="502920" cy="237744"/>
          </a:xfrm>
          <a:prstGeom prst="rect">
            <a:avLst/>
          </a:prstGeom>
          <a:noFill/>
        </p:spPr>
        <p:txBody>
          <a:bodyPr wrap="square" lIns="0" tIns="0" rIns="0" bIns="0" anchor="ctr">
            <a:spAutoFit/>
          </a:bodyPr>
          <a:lstStyle/>
          <a:p>
            <a:pPr algn="l">
              <a:spcAft>
                <a:spcPts val="0"/>
              </a:spcAft>
            </a:pPr>
            <a:r>
              <a:rPr lang="es-CO" sz="900" b="1" i="0" noProof="0" dirty="0">
                <a:solidFill>
                  <a:srgbClr val="1E8449"/>
                </a:solidFill>
                <a:latin typeface="Calibri"/>
              </a:rPr>
              <a:t>76,4%</a:t>
            </a:r>
          </a:p>
        </p:txBody>
      </p:sp>
      <p:sp>
        <p:nvSpPr>
          <p:cNvPr id="55" name="TextBox 37 fila8"/>
          <p:cNvSpPr txBox="1"/>
          <p:nvPr/>
        </p:nvSpPr>
        <p:spPr>
          <a:xfrm>
            <a:off x="5486400" y="3749040"/>
            <a:ext cx="1280160" cy="237744"/>
          </a:xfrm>
          <a:prstGeom prst="rect">
            <a:avLst/>
          </a:prstGeom>
          <a:noFill/>
        </p:spPr>
        <p:txBody>
          <a:bodyPr wrap="square" lIns="0" tIns="0" rIns="0" bIns="0" anchor="ctr">
            <a:spAutoFit/>
          </a:bodyPr>
          <a:lstStyle/>
          <a:p>
            <a:pPr algn="l">
              <a:spcAft>
                <a:spcPts val="0"/>
              </a:spcAft>
            </a:pPr>
            <a:r>
              <a:rPr lang="es-CO" sz="850" b="0" i="0" noProof="0" dirty="0">
                <a:solidFill>
                  <a:srgbClr val="1A1A2E"/>
                </a:solidFill>
                <a:latin typeface="Calibri"/>
              </a:rPr>
              <a:t>Gerona Club House</a:t>
            </a:r>
          </a:p>
        </p:txBody>
      </p:sp>
      <p:sp>
        <p:nvSpPr>
          <p:cNvPr id="56" name="Rectangle 38 fila8"/>
          <p:cNvSpPr/>
          <p:nvPr/>
        </p:nvSpPr>
        <p:spPr>
          <a:xfrm>
            <a:off x="6766560" y="3803904"/>
            <a:ext cx="1371600" cy="128016"/>
          </a:xfrm>
          <a:prstGeom prst="rect">
            <a:avLst/>
          </a:prstGeom>
          <a:solidFill>
            <a:srgbClr val="E9EDF3"/>
          </a:solidFill>
          <a:ln w="12700">
            <a:solidFill>
              <a:srgbClr val="E9EDF3"/>
            </a:solidFill>
          </a:ln>
        </p:spPr>
        <p:txBody>
          <a:bodyPr rtlCol="0" anchor="ctr"/>
          <a:lstStyle/>
          <a:p>
            <a:pPr algn="ctr"/>
            <a:endParaRPr lang="es-CO" noProof="0" dirty="0"/>
          </a:p>
        </p:txBody>
      </p:sp>
      <p:sp>
        <p:nvSpPr>
          <p:cNvPr id="57" name="Rectangle 39 fila8"/>
          <p:cNvSpPr/>
          <p:nvPr/>
        </p:nvSpPr>
        <p:spPr>
          <a:xfrm>
            <a:off x="6766560" y="3803904"/>
            <a:ext cx="933542" cy="128016"/>
          </a:xfrm>
          <a:prstGeom prst="rect">
            <a:avLst/>
          </a:prstGeom>
          <a:solidFill>
            <a:srgbClr val="CA6F1E"/>
          </a:solidFill>
          <a:ln w="12700">
            <a:solidFill>
              <a:srgbClr val="CA6F1E"/>
            </a:solidFill>
          </a:ln>
        </p:spPr>
        <p:txBody>
          <a:bodyPr rtlCol="0" anchor="ctr"/>
          <a:lstStyle/>
          <a:p>
            <a:pPr algn="ctr"/>
            <a:endParaRPr lang="es-CO" noProof="0" dirty="0"/>
          </a:p>
        </p:txBody>
      </p:sp>
      <p:sp>
        <p:nvSpPr>
          <p:cNvPr id="59" name="TextBox 41 fila8"/>
          <p:cNvSpPr txBox="1"/>
          <p:nvPr/>
        </p:nvSpPr>
        <p:spPr>
          <a:xfrm>
            <a:off x="8156448" y="3749040"/>
            <a:ext cx="502920" cy="237744"/>
          </a:xfrm>
          <a:prstGeom prst="rect">
            <a:avLst/>
          </a:prstGeom>
          <a:noFill/>
        </p:spPr>
        <p:txBody>
          <a:bodyPr wrap="square" lIns="0" tIns="0" rIns="0" bIns="0" anchor="ctr">
            <a:spAutoFit/>
          </a:bodyPr>
          <a:lstStyle/>
          <a:p>
            <a:pPr algn="l">
              <a:spcAft>
                <a:spcPts val="0"/>
              </a:spcAft>
            </a:pPr>
            <a:r>
              <a:rPr lang="es-CO" sz="900" b="1" i="0" noProof="0" dirty="0">
                <a:solidFill>
                  <a:srgbClr val="CA6F1E"/>
                </a:solidFill>
                <a:latin typeface="Calibri"/>
              </a:rPr>
              <a:t>68,1%</a:t>
            </a:r>
          </a:p>
        </p:txBody>
      </p:sp>
      <p:sp>
        <p:nvSpPr>
          <p:cNvPr id="60" name="TextBox 37 fila9"/>
          <p:cNvSpPr txBox="1"/>
          <p:nvPr/>
        </p:nvSpPr>
        <p:spPr>
          <a:xfrm>
            <a:off x="5486400" y="4027932"/>
            <a:ext cx="1280160" cy="237744"/>
          </a:xfrm>
          <a:prstGeom prst="rect">
            <a:avLst/>
          </a:prstGeom>
          <a:noFill/>
        </p:spPr>
        <p:txBody>
          <a:bodyPr wrap="square" lIns="0" tIns="0" rIns="0" bIns="0" anchor="ctr">
            <a:spAutoFit/>
          </a:bodyPr>
          <a:lstStyle/>
          <a:p>
            <a:pPr algn="l">
              <a:spcAft>
                <a:spcPts val="0"/>
              </a:spcAft>
            </a:pPr>
            <a:r>
              <a:rPr lang="es-CO" sz="850" b="0" i="0" noProof="0" dirty="0">
                <a:solidFill>
                  <a:srgbClr val="1A1A2E"/>
                </a:solidFill>
                <a:latin typeface="Calibri"/>
              </a:rPr>
              <a:t>Castellana Real</a:t>
            </a:r>
          </a:p>
        </p:txBody>
      </p:sp>
      <p:sp>
        <p:nvSpPr>
          <p:cNvPr id="61" name="Rectangle 38 fila9"/>
          <p:cNvSpPr/>
          <p:nvPr/>
        </p:nvSpPr>
        <p:spPr>
          <a:xfrm>
            <a:off x="6766560" y="4082796"/>
            <a:ext cx="1371600" cy="128016"/>
          </a:xfrm>
          <a:prstGeom prst="rect">
            <a:avLst/>
          </a:prstGeom>
          <a:solidFill>
            <a:srgbClr val="E9EDF3"/>
          </a:solidFill>
          <a:ln w="12700">
            <a:solidFill>
              <a:srgbClr val="E9EDF3"/>
            </a:solidFill>
          </a:ln>
        </p:spPr>
        <p:txBody>
          <a:bodyPr rtlCol="0" anchor="ctr"/>
          <a:lstStyle/>
          <a:p>
            <a:pPr algn="ctr"/>
            <a:endParaRPr lang="es-CO" noProof="0" dirty="0"/>
          </a:p>
        </p:txBody>
      </p:sp>
      <p:sp>
        <p:nvSpPr>
          <p:cNvPr id="62" name="Rectangle 39 fila9"/>
          <p:cNvSpPr/>
          <p:nvPr/>
        </p:nvSpPr>
        <p:spPr>
          <a:xfrm>
            <a:off x="6766560" y="4082796"/>
            <a:ext cx="722177" cy="128016"/>
          </a:xfrm>
          <a:prstGeom prst="rect">
            <a:avLst/>
          </a:prstGeom>
          <a:solidFill>
            <a:srgbClr val="C0392B"/>
          </a:solidFill>
          <a:ln w="12700">
            <a:solidFill>
              <a:srgbClr val="C0392B"/>
            </a:solidFill>
          </a:ln>
        </p:spPr>
        <p:txBody>
          <a:bodyPr rtlCol="0" anchor="ctr"/>
          <a:lstStyle/>
          <a:p>
            <a:pPr algn="ctr"/>
            <a:endParaRPr lang="es-CO" noProof="0" dirty="0"/>
          </a:p>
        </p:txBody>
      </p:sp>
      <p:sp>
        <p:nvSpPr>
          <p:cNvPr id="64" name="TextBox 41 fila9"/>
          <p:cNvSpPr txBox="1"/>
          <p:nvPr/>
        </p:nvSpPr>
        <p:spPr>
          <a:xfrm>
            <a:off x="8156448" y="4027932"/>
            <a:ext cx="502920" cy="237744"/>
          </a:xfrm>
          <a:prstGeom prst="rect">
            <a:avLst/>
          </a:prstGeom>
          <a:noFill/>
        </p:spPr>
        <p:txBody>
          <a:bodyPr wrap="square" lIns="0" tIns="0" rIns="0" bIns="0" anchor="ctr">
            <a:spAutoFit/>
          </a:bodyPr>
          <a:lstStyle/>
          <a:p>
            <a:pPr algn="l">
              <a:spcAft>
                <a:spcPts val="0"/>
              </a:spcAft>
            </a:pPr>
            <a:r>
              <a:rPr lang="es-CO" sz="900" b="1" i="0" noProof="0" dirty="0">
                <a:solidFill>
                  <a:srgbClr val="C0392B"/>
                </a:solidFill>
                <a:latin typeface="Calibri"/>
              </a:rPr>
              <a:t>52,7%</a:t>
            </a:r>
          </a:p>
        </p:txBody>
      </p:sp>
      <p:sp>
        <p:nvSpPr>
          <p:cNvPr id="16" name="Rectangle 15"/>
          <p:cNvSpPr/>
          <p:nvPr/>
        </p:nvSpPr>
        <p:spPr>
          <a:xfrm>
            <a:off x="7726680" y="1536192"/>
            <a:ext cx="18288" cy="201168"/>
          </a:xfrm>
          <a:prstGeom prst="rect">
            <a:avLst/>
          </a:prstGeom>
          <a:solidFill>
            <a:srgbClr val="1B3A6B"/>
          </a:solidFill>
          <a:ln w="12700">
            <a:solidFill>
              <a:srgbClr val="1B3A6B"/>
            </a:solidFill>
          </a:ln>
        </p:spPr>
        <p:txBody>
          <a:bodyPr rtlCol="0" anchor="ctr"/>
          <a:lstStyle/>
          <a:p>
            <a:pPr algn="ctr"/>
            <a:endParaRPr lang="es-CO" noProof="0" dirty="0"/>
          </a:p>
        </p:txBody>
      </p:sp>
      <p:sp>
        <p:nvSpPr>
          <p:cNvPr id="21" name="Rectangle 20"/>
          <p:cNvSpPr/>
          <p:nvPr/>
        </p:nvSpPr>
        <p:spPr>
          <a:xfrm>
            <a:off x="7726680" y="1815084"/>
            <a:ext cx="18288" cy="201168"/>
          </a:xfrm>
          <a:prstGeom prst="rect">
            <a:avLst/>
          </a:prstGeom>
          <a:solidFill>
            <a:srgbClr val="1B3A6B"/>
          </a:solidFill>
          <a:ln w="12700">
            <a:solidFill>
              <a:srgbClr val="1B3A6B"/>
            </a:solidFill>
          </a:ln>
        </p:spPr>
        <p:txBody>
          <a:bodyPr rtlCol="0" anchor="ctr"/>
          <a:lstStyle/>
          <a:p>
            <a:pPr algn="ctr"/>
            <a:endParaRPr lang="es-CO" noProof="0" dirty="0"/>
          </a:p>
        </p:txBody>
      </p:sp>
      <p:sp>
        <p:nvSpPr>
          <p:cNvPr id="26" name="Rectangle 25"/>
          <p:cNvSpPr/>
          <p:nvPr/>
        </p:nvSpPr>
        <p:spPr>
          <a:xfrm>
            <a:off x="7726680" y="2093976"/>
            <a:ext cx="18288" cy="201168"/>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1" name="Rectangle 30"/>
          <p:cNvSpPr/>
          <p:nvPr/>
        </p:nvSpPr>
        <p:spPr>
          <a:xfrm>
            <a:off x="7726680" y="2372868"/>
            <a:ext cx="18288" cy="201168"/>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6" name="Rectangle 35"/>
          <p:cNvSpPr/>
          <p:nvPr/>
        </p:nvSpPr>
        <p:spPr>
          <a:xfrm>
            <a:off x="7726680" y="2651760"/>
            <a:ext cx="18288" cy="201168"/>
          </a:xfrm>
          <a:prstGeom prst="rect">
            <a:avLst/>
          </a:prstGeom>
          <a:solidFill>
            <a:srgbClr val="1B3A6B"/>
          </a:solidFill>
          <a:ln w="12700">
            <a:solidFill>
              <a:srgbClr val="1B3A6B"/>
            </a:solidFill>
          </a:ln>
        </p:spPr>
        <p:txBody>
          <a:bodyPr rtlCol="0" anchor="ctr"/>
          <a:lstStyle/>
          <a:p>
            <a:pPr algn="ctr"/>
            <a:endParaRPr lang="es-CO" noProof="0" dirty="0"/>
          </a:p>
        </p:txBody>
      </p:sp>
      <p:sp>
        <p:nvSpPr>
          <p:cNvPr id="41" name="Rectangle 40"/>
          <p:cNvSpPr/>
          <p:nvPr/>
        </p:nvSpPr>
        <p:spPr>
          <a:xfrm>
            <a:off x="7726680" y="2930652"/>
            <a:ext cx="18288" cy="201168"/>
          </a:xfrm>
          <a:prstGeom prst="rect">
            <a:avLst/>
          </a:prstGeom>
          <a:solidFill>
            <a:srgbClr val="1B3A6B"/>
          </a:solidFill>
          <a:ln w="12700">
            <a:solidFill>
              <a:srgbClr val="1B3A6B"/>
            </a:solidFill>
          </a:ln>
        </p:spPr>
        <p:txBody>
          <a:bodyPr rtlCol="0" anchor="ctr"/>
          <a:lstStyle/>
          <a:p>
            <a:pPr algn="ctr"/>
            <a:endParaRPr lang="es-CO" noProof="0" dirty="0"/>
          </a:p>
        </p:txBody>
      </p:sp>
      <p:sp>
        <p:nvSpPr>
          <p:cNvPr id="48" name="Rectangle 40 fila6"/>
          <p:cNvSpPr/>
          <p:nvPr/>
        </p:nvSpPr>
        <p:spPr>
          <a:xfrm>
            <a:off x="7726680" y="3209544"/>
            <a:ext cx="18288" cy="201168"/>
          </a:xfrm>
          <a:prstGeom prst="rect">
            <a:avLst/>
          </a:prstGeom>
          <a:solidFill>
            <a:srgbClr val="1B3A6B"/>
          </a:solidFill>
          <a:ln w="12700">
            <a:solidFill>
              <a:srgbClr val="1B3A6B"/>
            </a:solidFill>
          </a:ln>
        </p:spPr>
        <p:txBody>
          <a:bodyPr rtlCol="0" anchor="ctr"/>
          <a:lstStyle/>
          <a:p>
            <a:pPr algn="ctr"/>
            <a:endParaRPr lang="es-CO" noProof="0" dirty="0"/>
          </a:p>
        </p:txBody>
      </p:sp>
      <p:sp>
        <p:nvSpPr>
          <p:cNvPr id="53" name="Rectangle 40 fila7"/>
          <p:cNvSpPr/>
          <p:nvPr/>
        </p:nvSpPr>
        <p:spPr>
          <a:xfrm>
            <a:off x="7726680" y="3488436"/>
            <a:ext cx="18288" cy="201168"/>
          </a:xfrm>
          <a:prstGeom prst="rect">
            <a:avLst/>
          </a:prstGeom>
          <a:solidFill>
            <a:srgbClr val="1B3A6B"/>
          </a:solidFill>
          <a:ln w="12700">
            <a:solidFill>
              <a:srgbClr val="1B3A6B"/>
            </a:solidFill>
          </a:ln>
        </p:spPr>
        <p:txBody>
          <a:bodyPr rtlCol="0" anchor="ctr"/>
          <a:lstStyle/>
          <a:p>
            <a:pPr algn="ctr"/>
            <a:endParaRPr lang="es-CO" noProof="0" dirty="0"/>
          </a:p>
        </p:txBody>
      </p:sp>
      <p:sp>
        <p:nvSpPr>
          <p:cNvPr id="58" name="Rectangle 40 fila8"/>
          <p:cNvSpPr/>
          <p:nvPr/>
        </p:nvSpPr>
        <p:spPr>
          <a:xfrm>
            <a:off x="7726680" y="3767328"/>
            <a:ext cx="18288" cy="201168"/>
          </a:xfrm>
          <a:prstGeom prst="rect">
            <a:avLst/>
          </a:prstGeom>
          <a:solidFill>
            <a:srgbClr val="1B3A6B"/>
          </a:solidFill>
          <a:ln w="12700">
            <a:solidFill>
              <a:srgbClr val="1B3A6B"/>
            </a:solidFill>
          </a:ln>
        </p:spPr>
        <p:txBody>
          <a:bodyPr rtlCol="0" anchor="ctr"/>
          <a:lstStyle/>
          <a:p>
            <a:pPr algn="ctr"/>
            <a:endParaRPr lang="es-CO" noProof="0" dirty="0"/>
          </a:p>
        </p:txBody>
      </p:sp>
      <p:sp>
        <p:nvSpPr>
          <p:cNvPr id="63" name="Rectangle 40 fila9"/>
          <p:cNvSpPr/>
          <p:nvPr/>
        </p:nvSpPr>
        <p:spPr>
          <a:xfrm>
            <a:off x="7726680" y="4046220"/>
            <a:ext cx="18288" cy="201168"/>
          </a:xfrm>
          <a:prstGeom prst="rect">
            <a:avLst/>
          </a:prstGeom>
          <a:solidFill>
            <a:srgbClr val="1B3A6B"/>
          </a:solidFill>
          <a:ln w="12700">
            <a:solidFill>
              <a:srgbClr val="1B3A6B"/>
            </a:solidFill>
          </a:ln>
        </p:spPr>
        <p:txBody>
          <a:bodyPr rtlCol="0" anchor="ctr"/>
          <a:lstStyle/>
          <a:p>
            <a:pPr algn="ctr"/>
            <a:endParaRPr lang="es-CO" noProof="0" dirty="0"/>
          </a:p>
        </p:txBody>
      </p:sp>
      <p:sp>
        <p:nvSpPr>
          <p:cNvPr id="43" name="TextBox 42"/>
          <p:cNvSpPr txBox="1"/>
          <p:nvPr/>
        </p:nvSpPr>
        <p:spPr>
          <a:xfrm>
            <a:off x="5486400" y="4370832"/>
            <a:ext cx="3108960" cy="182880"/>
          </a:xfrm>
          <a:prstGeom prst="rect">
            <a:avLst/>
          </a:prstGeom>
          <a:noFill/>
        </p:spPr>
        <p:txBody>
          <a:bodyPr wrap="square" lIns="0" tIns="0" rIns="0" bIns="0" anchor="ctr">
            <a:spAutoFit/>
          </a:bodyPr>
          <a:lstStyle/>
          <a:p>
            <a:pPr algn="l">
              <a:spcAft>
                <a:spcPts val="0"/>
              </a:spcAft>
            </a:pPr>
            <a:r>
              <a:rPr lang="es-CO" sz="700" b="0" i="1" noProof="0" dirty="0">
                <a:solidFill>
                  <a:srgbClr val="55636E"/>
                </a:solidFill>
                <a:latin typeface="Calibri"/>
              </a:rPr>
              <a:t>Línea azul oscura = meta de 70%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GENERACIÓN SOLAR · RANKING DE YIELD POR SISTEMA</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1800" b="1" i="0" noProof="0" dirty="0">
                <a:solidFill>
                  <a:srgbClr val="1B3A6B"/>
                </a:solidFill>
                <a:latin typeface="Calibri"/>
              </a:rPr>
              <a:t>El yield de los sistemas va de 231 a 1.321 kWh/kWp/año; 27 de 48 quedan bajo la meta de 80% del diseño</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9</a:t>
            </a:r>
          </a:p>
        </p:txBody>
      </p:sp>
      <p:sp>
        <p:nvSpPr>
          <p:cNvPr id="8" name="enc 0 #"/>
          <p:cNvSpPr txBox="1"/>
          <p:nvPr/>
        </p:nvSpPr>
        <p:spPr>
          <a:xfrm>
            <a:off x="411480" y="1097280"/>
            <a:ext cx="164592"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a:t>
            </a:r>
          </a:p>
        </p:txBody>
      </p:sp>
      <p:sp>
        <p:nvSpPr>
          <p:cNvPr id="9" name="enc 0 Sistema"/>
          <p:cNvSpPr txBox="1"/>
          <p:nvPr/>
        </p:nvSpPr>
        <p:spPr>
          <a:xfrm>
            <a:off x="630936" y="1097280"/>
            <a:ext cx="640080" cy="182880"/>
          </a:xfrm>
          <a:prstGeom prst="rect">
            <a:avLst/>
          </a:prstGeom>
          <a:noFill/>
        </p:spPr>
        <p:txBody>
          <a:bodyPr wrap="square" lIns="0" tIns="0" rIns="0" bIns="0" anchor="ctr">
            <a:spAutoFit/>
          </a:bodyPr>
          <a:lstStyle/>
          <a:p>
            <a:pPr algn="l">
              <a:spcAft>
                <a:spcPts val="0"/>
              </a:spcAft>
            </a:pPr>
            <a:r>
              <a:rPr lang="es-CO" sz="680" b="1" i="0" noProof="0" dirty="0">
                <a:solidFill>
                  <a:srgbClr val="7F8C8D"/>
                </a:solidFill>
                <a:latin typeface="Calibri"/>
              </a:rPr>
              <a:t>Sistema</a:t>
            </a:r>
          </a:p>
        </p:txBody>
      </p:sp>
      <p:sp>
        <p:nvSpPr>
          <p:cNvPr id="10" name="enc 0 Yield real (kWh/kWp/año)"/>
          <p:cNvSpPr txBox="1"/>
          <p:nvPr/>
        </p:nvSpPr>
        <p:spPr>
          <a:xfrm>
            <a:off x="1307592" y="1097280"/>
            <a:ext cx="1188720" cy="182880"/>
          </a:xfrm>
          <a:prstGeom prst="rect">
            <a:avLst/>
          </a:prstGeom>
          <a:noFill/>
        </p:spPr>
        <p:txBody>
          <a:bodyPr wrap="square" lIns="0" tIns="0" rIns="0" bIns="0" anchor="ctr">
            <a:spAutoFit/>
          </a:bodyPr>
          <a:lstStyle/>
          <a:p>
            <a:pPr algn="l">
              <a:spcAft>
                <a:spcPts val="0"/>
              </a:spcAft>
            </a:pPr>
            <a:r>
              <a:rPr lang="es-CO" sz="680" b="1" i="0" noProof="0" dirty="0">
                <a:solidFill>
                  <a:srgbClr val="7F8C8D"/>
                </a:solidFill>
                <a:latin typeface="Calibri"/>
              </a:rPr>
              <a:t>Yield real (kWh/kWp/año)</a:t>
            </a:r>
          </a:p>
        </p:txBody>
      </p:sp>
      <p:sp>
        <p:nvSpPr>
          <p:cNvPr id="11" name="enc 0 Real"/>
          <p:cNvSpPr txBox="1"/>
          <p:nvPr/>
        </p:nvSpPr>
        <p:spPr>
          <a:xfrm>
            <a:off x="2496312" y="1097280"/>
            <a:ext cx="36576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Real</a:t>
            </a:r>
          </a:p>
        </p:txBody>
      </p:sp>
      <p:sp>
        <p:nvSpPr>
          <p:cNvPr id="12" name="enc 0 % diseño"/>
          <p:cNvSpPr txBox="1"/>
          <p:nvPr/>
        </p:nvSpPr>
        <p:spPr>
          <a:xfrm>
            <a:off x="2898648" y="1097280"/>
            <a:ext cx="384048"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 diseño</a:t>
            </a:r>
          </a:p>
        </p:txBody>
      </p:sp>
      <p:sp>
        <p:nvSpPr>
          <p:cNvPr id="13" name="enc 0 Días lim."/>
          <p:cNvSpPr txBox="1"/>
          <p:nvPr/>
        </p:nvSpPr>
        <p:spPr>
          <a:xfrm>
            <a:off x="3337560" y="1097280"/>
            <a:ext cx="45720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Días </a:t>
            </a:r>
            <a:r>
              <a:rPr lang="es-CO" sz="680" b="1" i="0" noProof="0" dirty="0" err="1">
                <a:solidFill>
                  <a:srgbClr val="7F8C8D"/>
                </a:solidFill>
                <a:latin typeface="Calibri"/>
              </a:rPr>
              <a:t>lim</a:t>
            </a:r>
            <a:r>
              <a:rPr lang="es-CO" sz="680" b="1" i="0" noProof="0" dirty="0">
                <a:solidFill>
                  <a:srgbClr val="7F8C8D"/>
                </a:solidFill>
                <a:latin typeface="Calibri"/>
              </a:rPr>
              <a:t>.</a:t>
            </a:r>
          </a:p>
        </p:txBody>
      </p:sp>
      <p:sp>
        <p:nvSpPr>
          <p:cNvPr id="14" name="enc 0 Marca"/>
          <p:cNvSpPr txBox="1"/>
          <p:nvPr/>
        </p:nvSpPr>
        <p:spPr>
          <a:xfrm>
            <a:off x="3849624" y="1097280"/>
            <a:ext cx="676656"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Marca</a:t>
            </a:r>
          </a:p>
        </p:txBody>
      </p:sp>
      <p:sp>
        <p:nvSpPr>
          <p:cNvPr id="15" name="enc 1 #"/>
          <p:cNvSpPr txBox="1"/>
          <p:nvPr/>
        </p:nvSpPr>
        <p:spPr>
          <a:xfrm>
            <a:off x="4636008" y="1097280"/>
            <a:ext cx="164592"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a:t>
            </a:r>
          </a:p>
        </p:txBody>
      </p:sp>
      <p:sp>
        <p:nvSpPr>
          <p:cNvPr id="16" name="enc 1 Sistema"/>
          <p:cNvSpPr txBox="1"/>
          <p:nvPr/>
        </p:nvSpPr>
        <p:spPr>
          <a:xfrm>
            <a:off x="4855464" y="1097280"/>
            <a:ext cx="640080" cy="182880"/>
          </a:xfrm>
          <a:prstGeom prst="rect">
            <a:avLst/>
          </a:prstGeom>
          <a:noFill/>
        </p:spPr>
        <p:txBody>
          <a:bodyPr wrap="square" lIns="0" tIns="0" rIns="0" bIns="0" anchor="ctr">
            <a:spAutoFit/>
          </a:bodyPr>
          <a:lstStyle/>
          <a:p>
            <a:pPr algn="l">
              <a:spcAft>
                <a:spcPts val="0"/>
              </a:spcAft>
            </a:pPr>
            <a:r>
              <a:rPr lang="es-CO" sz="680" b="1" i="0" noProof="0" dirty="0">
                <a:solidFill>
                  <a:srgbClr val="7F8C8D"/>
                </a:solidFill>
                <a:latin typeface="Calibri"/>
              </a:rPr>
              <a:t>Sistema</a:t>
            </a:r>
          </a:p>
        </p:txBody>
      </p:sp>
      <p:sp>
        <p:nvSpPr>
          <p:cNvPr id="17" name="enc 1 Yield real (kWh/kWp/año)"/>
          <p:cNvSpPr txBox="1"/>
          <p:nvPr/>
        </p:nvSpPr>
        <p:spPr>
          <a:xfrm>
            <a:off x="5532120" y="1097280"/>
            <a:ext cx="1188720" cy="182880"/>
          </a:xfrm>
          <a:prstGeom prst="rect">
            <a:avLst/>
          </a:prstGeom>
          <a:noFill/>
        </p:spPr>
        <p:txBody>
          <a:bodyPr wrap="square" lIns="0" tIns="0" rIns="0" bIns="0" anchor="ctr">
            <a:spAutoFit/>
          </a:bodyPr>
          <a:lstStyle/>
          <a:p>
            <a:pPr algn="l">
              <a:spcAft>
                <a:spcPts val="0"/>
              </a:spcAft>
            </a:pPr>
            <a:r>
              <a:rPr lang="es-CO" sz="680" b="1" i="0" noProof="0" dirty="0">
                <a:solidFill>
                  <a:srgbClr val="7F8C8D"/>
                </a:solidFill>
                <a:latin typeface="Calibri"/>
              </a:rPr>
              <a:t>Yield real (kWh/kWp/año)</a:t>
            </a:r>
          </a:p>
        </p:txBody>
      </p:sp>
      <p:sp>
        <p:nvSpPr>
          <p:cNvPr id="18" name="enc 1 Real"/>
          <p:cNvSpPr txBox="1"/>
          <p:nvPr/>
        </p:nvSpPr>
        <p:spPr>
          <a:xfrm>
            <a:off x="6720840" y="1097280"/>
            <a:ext cx="36576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Real</a:t>
            </a:r>
          </a:p>
        </p:txBody>
      </p:sp>
      <p:sp>
        <p:nvSpPr>
          <p:cNvPr id="19" name="enc 1 % diseño"/>
          <p:cNvSpPr txBox="1"/>
          <p:nvPr/>
        </p:nvSpPr>
        <p:spPr>
          <a:xfrm>
            <a:off x="7123176" y="1097280"/>
            <a:ext cx="384048"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 diseño</a:t>
            </a:r>
          </a:p>
        </p:txBody>
      </p:sp>
      <p:sp>
        <p:nvSpPr>
          <p:cNvPr id="20" name="enc 1 Días lim."/>
          <p:cNvSpPr txBox="1"/>
          <p:nvPr/>
        </p:nvSpPr>
        <p:spPr>
          <a:xfrm>
            <a:off x="7562088" y="1097280"/>
            <a:ext cx="45720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Días </a:t>
            </a:r>
            <a:r>
              <a:rPr lang="es-CO" sz="680" b="1" i="0" noProof="0" dirty="0" err="1">
                <a:solidFill>
                  <a:srgbClr val="7F8C8D"/>
                </a:solidFill>
                <a:latin typeface="Calibri"/>
              </a:rPr>
              <a:t>lim</a:t>
            </a:r>
            <a:r>
              <a:rPr lang="es-CO" sz="680" b="1" i="0" noProof="0" dirty="0">
                <a:solidFill>
                  <a:srgbClr val="7F8C8D"/>
                </a:solidFill>
                <a:latin typeface="Calibri"/>
              </a:rPr>
              <a:t>.</a:t>
            </a:r>
          </a:p>
        </p:txBody>
      </p:sp>
      <p:sp>
        <p:nvSpPr>
          <p:cNvPr id="21" name="enc 1 Marca"/>
          <p:cNvSpPr txBox="1"/>
          <p:nvPr/>
        </p:nvSpPr>
        <p:spPr>
          <a:xfrm>
            <a:off x="8074152" y="1097280"/>
            <a:ext cx="676656"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Marca</a:t>
            </a:r>
          </a:p>
        </p:txBody>
      </p:sp>
      <p:sp>
        <p:nvSpPr>
          <p:cNvPr id="22" name="banda c0f0"/>
          <p:cNvSpPr/>
          <p:nvPr/>
        </p:nvSpPr>
        <p:spPr>
          <a:xfrm>
            <a:off x="411480" y="1307592"/>
            <a:ext cx="4114800" cy="129540"/>
          </a:xfrm>
          <a:prstGeom prst="rect">
            <a:avLst/>
          </a:prstGeom>
          <a:solidFill>
            <a:srgbClr val="FFFFFF"/>
          </a:solidFill>
          <a:ln>
            <a:noFill/>
          </a:ln>
        </p:spPr>
        <p:txBody>
          <a:bodyPr rtlCol="0" anchor="ctr"/>
          <a:lstStyle/>
          <a:p>
            <a:pPr algn="ctr"/>
            <a:endParaRPr lang="es-CO" noProof="0" dirty="0"/>
          </a:p>
        </p:txBody>
      </p:sp>
      <p:sp>
        <p:nvSpPr>
          <p:cNvPr id="23" name="num c0f0"/>
          <p:cNvSpPr txBox="1"/>
          <p:nvPr/>
        </p:nvSpPr>
        <p:spPr>
          <a:xfrm>
            <a:off x="411480" y="130759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a:t>
            </a:r>
          </a:p>
        </p:txBody>
      </p:sp>
      <p:sp>
        <p:nvSpPr>
          <p:cNvPr id="24" name="nombre c0f0"/>
          <p:cNvSpPr txBox="1"/>
          <p:nvPr/>
        </p:nvSpPr>
        <p:spPr>
          <a:xfrm>
            <a:off x="630936" y="130759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78T</a:t>
            </a:r>
          </a:p>
        </p:txBody>
      </p:sp>
      <p:sp>
        <p:nvSpPr>
          <p:cNvPr id="25" name="barra c0f0"/>
          <p:cNvSpPr/>
          <p:nvPr/>
        </p:nvSpPr>
        <p:spPr>
          <a:xfrm>
            <a:off x="1307592" y="1336091"/>
            <a:ext cx="1138982" cy="7254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26" name="diseno c0f0"/>
          <p:cNvSpPr/>
          <p:nvPr/>
        </p:nvSpPr>
        <p:spPr>
          <a:xfrm>
            <a:off x="2442728" y="1317955"/>
            <a:ext cx="10973" cy="108814"/>
          </a:xfrm>
          <a:prstGeom prst="rect">
            <a:avLst/>
          </a:prstGeom>
          <a:solidFill>
            <a:srgbClr val="1B3A6B"/>
          </a:solidFill>
          <a:ln w="12700">
            <a:noFill/>
          </a:ln>
        </p:spPr>
        <p:txBody>
          <a:bodyPr rtlCol="0" anchor="ctr"/>
          <a:lstStyle/>
          <a:p>
            <a:pPr algn="ctr"/>
            <a:endParaRPr lang="es-CO" noProof="0" dirty="0"/>
          </a:p>
        </p:txBody>
      </p:sp>
      <p:sp>
        <p:nvSpPr>
          <p:cNvPr id="27" name="real c0f0"/>
          <p:cNvSpPr txBox="1"/>
          <p:nvPr/>
        </p:nvSpPr>
        <p:spPr>
          <a:xfrm>
            <a:off x="2496312" y="130759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1.321</a:t>
            </a:r>
          </a:p>
        </p:txBody>
      </p:sp>
      <p:sp>
        <p:nvSpPr>
          <p:cNvPr id="28" name="pd c0f0"/>
          <p:cNvSpPr txBox="1"/>
          <p:nvPr/>
        </p:nvSpPr>
        <p:spPr>
          <a:xfrm>
            <a:off x="2898648" y="130759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99,9%</a:t>
            </a:r>
          </a:p>
        </p:txBody>
      </p:sp>
      <p:sp>
        <p:nvSpPr>
          <p:cNvPr id="29" name="lim c0f0"/>
          <p:cNvSpPr txBox="1"/>
          <p:nvPr/>
        </p:nvSpPr>
        <p:spPr>
          <a:xfrm>
            <a:off x="3337560" y="130759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 de 20</a:t>
            </a:r>
          </a:p>
        </p:txBody>
      </p:sp>
      <p:sp>
        <p:nvSpPr>
          <p:cNvPr id="30" name="marca c0f0"/>
          <p:cNvSpPr txBox="1"/>
          <p:nvPr/>
        </p:nvSpPr>
        <p:spPr>
          <a:xfrm>
            <a:off x="3849624" y="130759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Deye</a:t>
            </a:r>
          </a:p>
        </p:txBody>
      </p:sp>
      <p:sp>
        <p:nvSpPr>
          <p:cNvPr id="31" name="num c0f1"/>
          <p:cNvSpPr txBox="1"/>
          <p:nvPr/>
        </p:nvSpPr>
        <p:spPr>
          <a:xfrm>
            <a:off x="411480" y="143713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a:t>
            </a:r>
          </a:p>
        </p:txBody>
      </p:sp>
      <p:sp>
        <p:nvSpPr>
          <p:cNvPr id="32" name="nombre c0f1"/>
          <p:cNvSpPr txBox="1"/>
          <p:nvPr/>
        </p:nvSpPr>
        <p:spPr>
          <a:xfrm>
            <a:off x="630936" y="143713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24</a:t>
            </a:r>
          </a:p>
        </p:txBody>
      </p:sp>
      <p:sp>
        <p:nvSpPr>
          <p:cNvPr id="33" name="barra c0f1"/>
          <p:cNvSpPr/>
          <p:nvPr/>
        </p:nvSpPr>
        <p:spPr>
          <a:xfrm>
            <a:off x="1307592" y="1465631"/>
            <a:ext cx="1137552" cy="7254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4" name="diseno c0f1"/>
          <p:cNvSpPr/>
          <p:nvPr/>
        </p:nvSpPr>
        <p:spPr>
          <a:xfrm>
            <a:off x="2442728" y="1447495"/>
            <a:ext cx="10973" cy="108814"/>
          </a:xfrm>
          <a:prstGeom prst="rect">
            <a:avLst/>
          </a:prstGeom>
          <a:solidFill>
            <a:srgbClr val="1B3A6B"/>
          </a:solidFill>
          <a:ln w="12700">
            <a:noFill/>
          </a:ln>
        </p:spPr>
        <p:txBody>
          <a:bodyPr rtlCol="0" anchor="ctr"/>
          <a:lstStyle/>
          <a:p>
            <a:pPr algn="ctr"/>
            <a:endParaRPr lang="es-CO" noProof="0" dirty="0"/>
          </a:p>
        </p:txBody>
      </p:sp>
      <p:sp>
        <p:nvSpPr>
          <p:cNvPr id="35" name="real c0f1"/>
          <p:cNvSpPr txBox="1"/>
          <p:nvPr/>
        </p:nvSpPr>
        <p:spPr>
          <a:xfrm>
            <a:off x="2496312" y="143713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1.319</a:t>
            </a:r>
          </a:p>
        </p:txBody>
      </p:sp>
      <p:sp>
        <p:nvSpPr>
          <p:cNvPr id="36" name="pd c0f1"/>
          <p:cNvSpPr txBox="1"/>
          <p:nvPr/>
        </p:nvSpPr>
        <p:spPr>
          <a:xfrm>
            <a:off x="2898648" y="143713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99,7%</a:t>
            </a:r>
          </a:p>
        </p:txBody>
      </p:sp>
      <p:sp>
        <p:nvSpPr>
          <p:cNvPr id="37" name="lim c0f1"/>
          <p:cNvSpPr txBox="1"/>
          <p:nvPr/>
        </p:nvSpPr>
        <p:spPr>
          <a:xfrm>
            <a:off x="3337560" y="143713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0 de 20</a:t>
            </a:r>
          </a:p>
        </p:txBody>
      </p:sp>
      <p:sp>
        <p:nvSpPr>
          <p:cNvPr id="38" name="marca c0f1"/>
          <p:cNvSpPr txBox="1"/>
          <p:nvPr/>
        </p:nvSpPr>
        <p:spPr>
          <a:xfrm>
            <a:off x="3849624" y="143713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39" name="banda c0f2"/>
          <p:cNvSpPr/>
          <p:nvPr/>
        </p:nvSpPr>
        <p:spPr>
          <a:xfrm>
            <a:off x="411480" y="1566672"/>
            <a:ext cx="4114800" cy="129540"/>
          </a:xfrm>
          <a:prstGeom prst="rect">
            <a:avLst/>
          </a:prstGeom>
          <a:solidFill>
            <a:srgbClr val="FFFFFF"/>
          </a:solidFill>
          <a:ln>
            <a:noFill/>
          </a:ln>
        </p:spPr>
        <p:txBody>
          <a:bodyPr rtlCol="0" anchor="ctr"/>
          <a:lstStyle/>
          <a:p>
            <a:pPr algn="ctr"/>
            <a:endParaRPr lang="es-CO" noProof="0" dirty="0"/>
          </a:p>
        </p:txBody>
      </p:sp>
      <p:sp>
        <p:nvSpPr>
          <p:cNvPr id="40" name="num c0f2"/>
          <p:cNvSpPr txBox="1"/>
          <p:nvPr/>
        </p:nvSpPr>
        <p:spPr>
          <a:xfrm>
            <a:off x="411480" y="156667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a:t>
            </a:r>
          </a:p>
        </p:txBody>
      </p:sp>
      <p:sp>
        <p:nvSpPr>
          <p:cNvPr id="41" name="nombre c0f2"/>
          <p:cNvSpPr txBox="1"/>
          <p:nvPr/>
        </p:nvSpPr>
        <p:spPr>
          <a:xfrm>
            <a:off x="630936" y="156667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425p</a:t>
            </a:r>
          </a:p>
        </p:txBody>
      </p:sp>
      <p:sp>
        <p:nvSpPr>
          <p:cNvPr id="42" name="barra c0f2"/>
          <p:cNvSpPr/>
          <p:nvPr/>
        </p:nvSpPr>
        <p:spPr>
          <a:xfrm>
            <a:off x="1307592" y="1595171"/>
            <a:ext cx="1084651" cy="7254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43" name="diseno c0f2"/>
          <p:cNvSpPr/>
          <p:nvPr/>
        </p:nvSpPr>
        <p:spPr>
          <a:xfrm>
            <a:off x="2442728" y="1577035"/>
            <a:ext cx="10973" cy="108814"/>
          </a:xfrm>
          <a:prstGeom prst="rect">
            <a:avLst/>
          </a:prstGeom>
          <a:solidFill>
            <a:srgbClr val="1B3A6B"/>
          </a:solidFill>
          <a:ln w="12700">
            <a:noFill/>
          </a:ln>
        </p:spPr>
        <p:txBody>
          <a:bodyPr rtlCol="0" anchor="ctr"/>
          <a:lstStyle/>
          <a:p>
            <a:pPr algn="ctr"/>
            <a:endParaRPr lang="es-CO" noProof="0" dirty="0"/>
          </a:p>
        </p:txBody>
      </p:sp>
      <p:sp>
        <p:nvSpPr>
          <p:cNvPr id="44" name="real c0f2"/>
          <p:cNvSpPr txBox="1"/>
          <p:nvPr/>
        </p:nvSpPr>
        <p:spPr>
          <a:xfrm>
            <a:off x="2496312" y="156667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1.258</a:t>
            </a:r>
          </a:p>
        </p:txBody>
      </p:sp>
      <p:sp>
        <p:nvSpPr>
          <p:cNvPr id="45" name="pd c0f2"/>
          <p:cNvSpPr txBox="1"/>
          <p:nvPr/>
        </p:nvSpPr>
        <p:spPr>
          <a:xfrm>
            <a:off x="2898648" y="156667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95,1%</a:t>
            </a:r>
          </a:p>
        </p:txBody>
      </p:sp>
      <p:sp>
        <p:nvSpPr>
          <p:cNvPr id="46" name="lim c0f2"/>
          <p:cNvSpPr txBox="1"/>
          <p:nvPr/>
        </p:nvSpPr>
        <p:spPr>
          <a:xfrm>
            <a:off x="3337560" y="156667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 de 20</a:t>
            </a:r>
          </a:p>
        </p:txBody>
      </p:sp>
      <p:sp>
        <p:nvSpPr>
          <p:cNvPr id="47" name="marca c0f2"/>
          <p:cNvSpPr txBox="1"/>
          <p:nvPr/>
        </p:nvSpPr>
        <p:spPr>
          <a:xfrm>
            <a:off x="3849624" y="156667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Deye</a:t>
            </a:r>
          </a:p>
        </p:txBody>
      </p:sp>
      <p:sp>
        <p:nvSpPr>
          <p:cNvPr id="48" name="num c0f3"/>
          <p:cNvSpPr txBox="1"/>
          <p:nvPr/>
        </p:nvSpPr>
        <p:spPr>
          <a:xfrm>
            <a:off x="411480" y="169621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a:t>
            </a:r>
          </a:p>
        </p:txBody>
      </p:sp>
      <p:sp>
        <p:nvSpPr>
          <p:cNvPr id="49" name="nombre c0f3"/>
          <p:cNvSpPr txBox="1"/>
          <p:nvPr/>
        </p:nvSpPr>
        <p:spPr>
          <a:xfrm>
            <a:off x="630936" y="169621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93p</a:t>
            </a:r>
          </a:p>
        </p:txBody>
      </p:sp>
      <p:sp>
        <p:nvSpPr>
          <p:cNvPr id="50" name="barra c0f3"/>
          <p:cNvSpPr/>
          <p:nvPr/>
        </p:nvSpPr>
        <p:spPr>
          <a:xfrm>
            <a:off x="1307592" y="1724711"/>
            <a:ext cx="1034795" cy="7254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51" name="diseno c0f3"/>
          <p:cNvSpPr/>
          <p:nvPr/>
        </p:nvSpPr>
        <p:spPr>
          <a:xfrm>
            <a:off x="2442728" y="1706575"/>
            <a:ext cx="10973" cy="108814"/>
          </a:xfrm>
          <a:prstGeom prst="rect">
            <a:avLst/>
          </a:prstGeom>
          <a:solidFill>
            <a:srgbClr val="1B3A6B"/>
          </a:solidFill>
          <a:ln w="12700">
            <a:noFill/>
          </a:ln>
        </p:spPr>
        <p:txBody>
          <a:bodyPr rtlCol="0" anchor="ctr"/>
          <a:lstStyle/>
          <a:p>
            <a:pPr algn="ctr"/>
            <a:endParaRPr lang="es-CO" noProof="0" dirty="0"/>
          </a:p>
        </p:txBody>
      </p:sp>
      <p:sp>
        <p:nvSpPr>
          <p:cNvPr id="52" name="real c0f3"/>
          <p:cNvSpPr txBox="1"/>
          <p:nvPr/>
        </p:nvSpPr>
        <p:spPr>
          <a:xfrm>
            <a:off x="2496312" y="169621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1.200</a:t>
            </a:r>
          </a:p>
        </p:txBody>
      </p:sp>
      <p:sp>
        <p:nvSpPr>
          <p:cNvPr id="53" name="pd c0f3"/>
          <p:cNvSpPr txBox="1"/>
          <p:nvPr/>
        </p:nvSpPr>
        <p:spPr>
          <a:xfrm>
            <a:off x="2898648" y="169621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90,7%</a:t>
            </a:r>
          </a:p>
        </p:txBody>
      </p:sp>
      <p:sp>
        <p:nvSpPr>
          <p:cNvPr id="54" name="lim c0f3"/>
          <p:cNvSpPr txBox="1"/>
          <p:nvPr/>
        </p:nvSpPr>
        <p:spPr>
          <a:xfrm>
            <a:off x="3337560" y="169621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0 de 20</a:t>
            </a:r>
          </a:p>
        </p:txBody>
      </p:sp>
      <p:sp>
        <p:nvSpPr>
          <p:cNvPr id="55" name="marca c0f3"/>
          <p:cNvSpPr txBox="1"/>
          <p:nvPr/>
        </p:nvSpPr>
        <p:spPr>
          <a:xfrm>
            <a:off x="3849624" y="169621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Deye</a:t>
            </a:r>
          </a:p>
        </p:txBody>
      </p:sp>
      <p:sp>
        <p:nvSpPr>
          <p:cNvPr id="56" name="banda c0f4"/>
          <p:cNvSpPr/>
          <p:nvPr/>
        </p:nvSpPr>
        <p:spPr>
          <a:xfrm>
            <a:off x="411480" y="1825752"/>
            <a:ext cx="4114800" cy="129540"/>
          </a:xfrm>
          <a:prstGeom prst="rect">
            <a:avLst/>
          </a:prstGeom>
          <a:solidFill>
            <a:srgbClr val="FFFFFF"/>
          </a:solidFill>
          <a:ln>
            <a:noFill/>
          </a:ln>
        </p:spPr>
        <p:txBody>
          <a:bodyPr rtlCol="0" anchor="ctr"/>
          <a:lstStyle/>
          <a:p>
            <a:pPr algn="ctr"/>
            <a:endParaRPr lang="es-CO" noProof="0" dirty="0"/>
          </a:p>
        </p:txBody>
      </p:sp>
      <p:sp>
        <p:nvSpPr>
          <p:cNvPr id="57" name="num c0f4"/>
          <p:cNvSpPr txBox="1"/>
          <p:nvPr/>
        </p:nvSpPr>
        <p:spPr>
          <a:xfrm>
            <a:off x="411480" y="182575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5</a:t>
            </a:r>
          </a:p>
        </p:txBody>
      </p:sp>
      <p:sp>
        <p:nvSpPr>
          <p:cNvPr id="58" name="nombre c0f4"/>
          <p:cNvSpPr txBox="1"/>
          <p:nvPr/>
        </p:nvSpPr>
        <p:spPr>
          <a:xfrm>
            <a:off x="630936" y="182575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23p</a:t>
            </a:r>
          </a:p>
        </p:txBody>
      </p:sp>
      <p:sp>
        <p:nvSpPr>
          <p:cNvPr id="59" name="barra c0f4"/>
          <p:cNvSpPr/>
          <p:nvPr/>
        </p:nvSpPr>
        <p:spPr>
          <a:xfrm>
            <a:off x="1307592" y="1854251"/>
            <a:ext cx="1024390"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60" name="diseno c0f4"/>
          <p:cNvSpPr/>
          <p:nvPr/>
        </p:nvSpPr>
        <p:spPr>
          <a:xfrm>
            <a:off x="2442728" y="1836115"/>
            <a:ext cx="10973" cy="108814"/>
          </a:xfrm>
          <a:prstGeom prst="rect">
            <a:avLst/>
          </a:prstGeom>
          <a:solidFill>
            <a:srgbClr val="1B3A6B"/>
          </a:solidFill>
          <a:ln w="12700">
            <a:noFill/>
          </a:ln>
        </p:spPr>
        <p:txBody>
          <a:bodyPr rtlCol="0" anchor="ctr"/>
          <a:lstStyle/>
          <a:p>
            <a:pPr algn="ctr"/>
            <a:endParaRPr lang="es-CO" noProof="0" dirty="0"/>
          </a:p>
        </p:txBody>
      </p:sp>
      <p:sp>
        <p:nvSpPr>
          <p:cNvPr id="61" name="real c0f4"/>
          <p:cNvSpPr txBox="1"/>
          <p:nvPr/>
        </p:nvSpPr>
        <p:spPr>
          <a:xfrm>
            <a:off x="2496312" y="182575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1.188</a:t>
            </a:r>
          </a:p>
        </p:txBody>
      </p:sp>
      <p:sp>
        <p:nvSpPr>
          <p:cNvPr id="62" name="pd c0f4"/>
          <p:cNvSpPr txBox="1"/>
          <p:nvPr/>
        </p:nvSpPr>
        <p:spPr>
          <a:xfrm>
            <a:off x="2898648" y="182575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89,8%</a:t>
            </a:r>
          </a:p>
        </p:txBody>
      </p:sp>
      <p:sp>
        <p:nvSpPr>
          <p:cNvPr id="63" name="lim c0f4"/>
          <p:cNvSpPr txBox="1"/>
          <p:nvPr/>
        </p:nvSpPr>
        <p:spPr>
          <a:xfrm>
            <a:off x="3337560" y="182575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0 de 20</a:t>
            </a:r>
          </a:p>
        </p:txBody>
      </p:sp>
      <p:sp>
        <p:nvSpPr>
          <p:cNvPr id="64" name="marca c0f4"/>
          <p:cNvSpPr txBox="1"/>
          <p:nvPr/>
        </p:nvSpPr>
        <p:spPr>
          <a:xfrm>
            <a:off x="3849624" y="182575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65" name="num c0f5"/>
          <p:cNvSpPr txBox="1"/>
          <p:nvPr/>
        </p:nvSpPr>
        <p:spPr>
          <a:xfrm>
            <a:off x="411480" y="195529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6</a:t>
            </a:r>
          </a:p>
        </p:txBody>
      </p:sp>
      <p:sp>
        <p:nvSpPr>
          <p:cNvPr id="66" name="nombre c0f5"/>
          <p:cNvSpPr txBox="1"/>
          <p:nvPr/>
        </p:nvSpPr>
        <p:spPr>
          <a:xfrm>
            <a:off x="630936" y="195529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382p</a:t>
            </a:r>
          </a:p>
        </p:txBody>
      </p:sp>
      <p:sp>
        <p:nvSpPr>
          <p:cNvPr id="67" name="barra c0f5"/>
          <p:cNvSpPr/>
          <p:nvPr/>
        </p:nvSpPr>
        <p:spPr>
          <a:xfrm>
            <a:off x="1307592" y="1983791"/>
            <a:ext cx="1014526"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68" name="diseno c0f5"/>
          <p:cNvSpPr/>
          <p:nvPr/>
        </p:nvSpPr>
        <p:spPr>
          <a:xfrm>
            <a:off x="2442728" y="1965655"/>
            <a:ext cx="10973" cy="108814"/>
          </a:xfrm>
          <a:prstGeom prst="rect">
            <a:avLst/>
          </a:prstGeom>
          <a:solidFill>
            <a:srgbClr val="1B3A6B"/>
          </a:solidFill>
          <a:ln w="12700">
            <a:noFill/>
          </a:ln>
        </p:spPr>
        <p:txBody>
          <a:bodyPr rtlCol="0" anchor="ctr"/>
          <a:lstStyle/>
          <a:p>
            <a:pPr algn="ctr"/>
            <a:endParaRPr lang="es-CO" noProof="0" dirty="0"/>
          </a:p>
        </p:txBody>
      </p:sp>
      <p:sp>
        <p:nvSpPr>
          <p:cNvPr id="69" name="real c0f5"/>
          <p:cNvSpPr txBox="1"/>
          <p:nvPr/>
        </p:nvSpPr>
        <p:spPr>
          <a:xfrm>
            <a:off x="2496312" y="195529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1.177</a:t>
            </a:r>
          </a:p>
        </p:txBody>
      </p:sp>
      <p:sp>
        <p:nvSpPr>
          <p:cNvPr id="70" name="pd c0f5"/>
          <p:cNvSpPr txBox="1"/>
          <p:nvPr/>
        </p:nvSpPr>
        <p:spPr>
          <a:xfrm>
            <a:off x="2898648" y="195529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88,9%</a:t>
            </a:r>
          </a:p>
        </p:txBody>
      </p:sp>
      <p:sp>
        <p:nvSpPr>
          <p:cNvPr id="71" name="lim c0f5"/>
          <p:cNvSpPr txBox="1"/>
          <p:nvPr/>
        </p:nvSpPr>
        <p:spPr>
          <a:xfrm>
            <a:off x="3337560" y="195529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 de 20</a:t>
            </a:r>
          </a:p>
        </p:txBody>
      </p:sp>
      <p:sp>
        <p:nvSpPr>
          <p:cNvPr id="72" name="marca c0f5"/>
          <p:cNvSpPr txBox="1"/>
          <p:nvPr/>
        </p:nvSpPr>
        <p:spPr>
          <a:xfrm>
            <a:off x="3849624" y="195529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Deye</a:t>
            </a:r>
          </a:p>
        </p:txBody>
      </p:sp>
      <p:sp>
        <p:nvSpPr>
          <p:cNvPr id="73" name="banda c0f6"/>
          <p:cNvSpPr/>
          <p:nvPr/>
        </p:nvSpPr>
        <p:spPr>
          <a:xfrm>
            <a:off x="411480" y="2084832"/>
            <a:ext cx="4114800" cy="129540"/>
          </a:xfrm>
          <a:prstGeom prst="rect">
            <a:avLst/>
          </a:prstGeom>
          <a:solidFill>
            <a:srgbClr val="FFFFFF"/>
          </a:solidFill>
          <a:ln>
            <a:noFill/>
          </a:ln>
        </p:spPr>
        <p:txBody>
          <a:bodyPr rtlCol="0" anchor="ctr"/>
          <a:lstStyle/>
          <a:p>
            <a:pPr algn="ctr"/>
            <a:endParaRPr lang="es-CO" noProof="0" dirty="0"/>
          </a:p>
        </p:txBody>
      </p:sp>
      <p:sp>
        <p:nvSpPr>
          <p:cNvPr id="74" name="num c0f6"/>
          <p:cNvSpPr txBox="1"/>
          <p:nvPr/>
        </p:nvSpPr>
        <p:spPr>
          <a:xfrm>
            <a:off x="411480" y="208483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7</a:t>
            </a:r>
          </a:p>
        </p:txBody>
      </p:sp>
      <p:sp>
        <p:nvSpPr>
          <p:cNvPr id="75" name="nombre c0f6"/>
          <p:cNvSpPr txBox="1"/>
          <p:nvPr/>
        </p:nvSpPr>
        <p:spPr>
          <a:xfrm>
            <a:off x="630936" y="208483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15p</a:t>
            </a:r>
          </a:p>
        </p:txBody>
      </p:sp>
      <p:sp>
        <p:nvSpPr>
          <p:cNvPr id="76" name="barra c0f6"/>
          <p:cNvSpPr/>
          <p:nvPr/>
        </p:nvSpPr>
        <p:spPr>
          <a:xfrm>
            <a:off x="1307592" y="2113331"/>
            <a:ext cx="1000077"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77" name="diseno c0f6"/>
          <p:cNvSpPr/>
          <p:nvPr/>
        </p:nvSpPr>
        <p:spPr>
          <a:xfrm>
            <a:off x="2442728" y="2095195"/>
            <a:ext cx="10973" cy="108814"/>
          </a:xfrm>
          <a:prstGeom prst="rect">
            <a:avLst/>
          </a:prstGeom>
          <a:solidFill>
            <a:srgbClr val="1B3A6B"/>
          </a:solidFill>
          <a:ln w="12700">
            <a:noFill/>
          </a:ln>
        </p:spPr>
        <p:txBody>
          <a:bodyPr rtlCol="0" anchor="ctr"/>
          <a:lstStyle/>
          <a:p>
            <a:pPr algn="ctr"/>
            <a:endParaRPr lang="es-CO" noProof="0" dirty="0"/>
          </a:p>
        </p:txBody>
      </p:sp>
      <p:sp>
        <p:nvSpPr>
          <p:cNvPr id="78" name="real c0f6"/>
          <p:cNvSpPr txBox="1"/>
          <p:nvPr/>
        </p:nvSpPr>
        <p:spPr>
          <a:xfrm>
            <a:off x="2496312" y="208483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1.160</a:t>
            </a:r>
          </a:p>
        </p:txBody>
      </p:sp>
      <p:sp>
        <p:nvSpPr>
          <p:cNvPr id="79" name="pd c0f6"/>
          <p:cNvSpPr txBox="1"/>
          <p:nvPr/>
        </p:nvSpPr>
        <p:spPr>
          <a:xfrm>
            <a:off x="2898648" y="208483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87,7%</a:t>
            </a:r>
          </a:p>
        </p:txBody>
      </p:sp>
      <p:sp>
        <p:nvSpPr>
          <p:cNvPr id="80" name="lim c0f6"/>
          <p:cNvSpPr txBox="1"/>
          <p:nvPr/>
        </p:nvSpPr>
        <p:spPr>
          <a:xfrm>
            <a:off x="3337560" y="208483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0 de 20</a:t>
            </a:r>
          </a:p>
        </p:txBody>
      </p:sp>
      <p:sp>
        <p:nvSpPr>
          <p:cNvPr id="81" name="marca c0f6"/>
          <p:cNvSpPr txBox="1"/>
          <p:nvPr/>
        </p:nvSpPr>
        <p:spPr>
          <a:xfrm>
            <a:off x="3849624" y="208483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82" name="num c0f7"/>
          <p:cNvSpPr txBox="1"/>
          <p:nvPr/>
        </p:nvSpPr>
        <p:spPr>
          <a:xfrm>
            <a:off x="411480" y="221437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8</a:t>
            </a:r>
          </a:p>
        </p:txBody>
      </p:sp>
      <p:sp>
        <p:nvSpPr>
          <p:cNvPr id="83" name="nombre c0f7"/>
          <p:cNvSpPr txBox="1"/>
          <p:nvPr/>
        </p:nvSpPr>
        <p:spPr>
          <a:xfrm>
            <a:off x="630936" y="221437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287</a:t>
            </a:r>
          </a:p>
        </p:txBody>
      </p:sp>
      <p:sp>
        <p:nvSpPr>
          <p:cNvPr id="84" name="barra c0f7"/>
          <p:cNvSpPr/>
          <p:nvPr/>
        </p:nvSpPr>
        <p:spPr>
          <a:xfrm>
            <a:off x="1307592" y="2242871"/>
            <a:ext cx="959634"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85" name="diseno c0f7"/>
          <p:cNvSpPr/>
          <p:nvPr/>
        </p:nvSpPr>
        <p:spPr>
          <a:xfrm>
            <a:off x="2442728" y="2224735"/>
            <a:ext cx="10973" cy="108814"/>
          </a:xfrm>
          <a:prstGeom prst="rect">
            <a:avLst/>
          </a:prstGeom>
          <a:solidFill>
            <a:srgbClr val="1B3A6B"/>
          </a:solidFill>
          <a:ln w="12700">
            <a:noFill/>
          </a:ln>
        </p:spPr>
        <p:txBody>
          <a:bodyPr rtlCol="0" anchor="ctr"/>
          <a:lstStyle/>
          <a:p>
            <a:pPr algn="ctr"/>
            <a:endParaRPr lang="es-CO" noProof="0" dirty="0"/>
          </a:p>
        </p:txBody>
      </p:sp>
      <p:sp>
        <p:nvSpPr>
          <p:cNvPr id="86" name="real c0f7"/>
          <p:cNvSpPr txBox="1"/>
          <p:nvPr/>
        </p:nvSpPr>
        <p:spPr>
          <a:xfrm>
            <a:off x="2496312" y="221437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1.113</a:t>
            </a:r>
          </a:p>
        </p:txBody>
      </p:sp>
      <p:sp>
        <p:nvSpPr>
          <p:cNvPr id="87" name="pd c0f7"/>
          <p:cNvSpPr txBox="1"/>
          <p:nvPr/>
        </p:nvSpPr>
        <p:spPr>
          <a:xfrm>
            <a:off x="2898648" y="221437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84,1%</a:t>
            </a:r>
          </a:p>
        </p:txBody>
      </p:sp>
      <p:sp>
        <p:nvSpPr>
          <p:cNvPr id="88" name="lim c0f7"/>
          <p:cNvSpPr txBox="1"/>
          <p:nvPr/>
        </p:nvSpPr>
        <p:spPr>
          <a:xfrm>
            <a:off x="3337560" y="221437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 de 20</a:t>
            </a:r>
          </a:p>
        </p:txBody>
      </p:sp>
      <p:sp>
        <p:nvSpPr>
          <p:cNvPr id="89" name="marca c0f7"/>
          <p:cNvSpPr txBox="1"/>
          <p:nvPr/>
        </p:nvSpPr>
        <p:spPr>
          <a:xfrm>
            <a:off x="3849624" y="221437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90" name="banda c0f8"/>
          <p:cNvSpPr/>
          <p:nvPr/>
        </p:nvSpPr>
        <p:spPr>
          <a:xfrm>
            <a:off x="411480" y="2343912"/>
            <a:ext cx="4114800" cy="129540"/>
          </a:xfrm>
          <a:prstGeom prst="rect">
            <a:avLst/>
          </a:prstGeom>
          <a:solidFill>
            <a:srgbClr val="FFFFFF"/>
          </a:solidFill>
          <a:ln>
            <a:noFill/>
          </a:ln>
        </p:spPr>
        <p:txBody>
          <a:bodyPr rtlCol="0" anchor="ctr"/>
          <a:lstStyle/>
          <a:p>
            <a:pPr algn="ctr"/>
            <a:endParaRPr lang="es-CO" noProof="0" dirty="0"/>
          </a:p>
        </p:txBody>
      </p:sp>
      <p:sp>
        <p:nvSpPr>
          <p:cNvPr id="91" name="num c0f8"/>
          <p:cNvSpPr txBox="1"/>
          <p:nvPr/>
        </p:nvSpPr>
        <p:spPr>
          <a:xfrm>
            <a:off x="411480" y="234391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9</a:t>
            </a:r>
          </a:p>
        </p:txBody>
      </p:sp>
      <p:sp>
        <p:nvSpPr>
          <p:cNvPr id="92" name="nombre c0f8"/>
          <p:cNvSpPr txBox="1"/>
          <p:nvPr/>
        </p:nvSpPr>
        <p:spPr>
          <a:xfrm>
            <a:off x="630936" y="234391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102p</a:t>
            </a:r>
          </a:p>
        </p:txBody>
      </p:sp>
      <p:sp>
        <p:nvSpPr>
          <p:cNvPr id="93" name="barra c0f8"/>
          <p:cNvSpPr/>
          <p:nvPr/>
        </p:nvSpPr>
        <p:spPr>
          <a:xfrm>
            <a:off x="1307592" y="2372411"/>
            <a:ext cx="956460"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94" name="diseno c0f8"/>
          <p:cNvSpPr/>
          <p:nvPr/>
        </p:nvSpPr>
        <p:spPr>
          <a:xfrm>
            <a:off x="2442728" y="2354275"/>
            <a:ext cx="10973" cy="108814"/>
          </a:xfrm>
          <a:prstGeom prst="rect">
            <a:avLst/>
          </a:prstGeom>
          <a:solidFill>
            <a:srgbClr val="1B3A6B"/>
          </a:solidFill>
          <a:ln w="12700">
            <a:noFill/>
          </a:ln>
        </p:spPr>
        <p:txBody>
          <a:bodyPr rtlCol="0" anchor="ctr"/>
          <a:lstStyle/>
          <a:p>
            <a:pPr algn="ctr"/>
            <a:endParaRPr lang="es-CO" noProof="0" dirty="0"/>
          </a:p>
        </p:txBody>
      </p:sp>
      <p:sp>
        <p:nvSpPr>
          <p:cNvPr id="95" name="real c0f8"/>
          <p:cNvSpPr txBox="1"/>
          <p:nvPr/>
        </p:nvSpPr>
        <p:spPr>
          <a:xfrm>
            <a:off x="2496312" y="234391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1.109</a:t>
            </a:r>
          </a:p>
        </p:txBody>
      </p:sp>
      <p:sp>
        <p:nvSpPr>
          <p:cNvPr id="96" name="pd c0f8"/>
          <p:cNvSpPr txBox="1"/>
          <p:nvPr/>
        </p:nvSpPr>
        <p:spPr>
          <a:xfrm>
            <a:off x="2898648" y="234391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83,9%</a:t>
            </a:r>
          </a:p>
        </p:txBody>
      </p:sp>
      <p:sp>
        <p:nvSpPr>
          <p:cNvPr id="97" name="lim c0f8"/>
          <p:cNvSpPr txBox="1"/>
          <p:nvPr/>
        </p:nvSpPr>
        <p:spPr>
          <a:xfrm>
            <a:off x="3337560" y="234391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 de 20</a:t>
            </a:r>
          </a:p>
        </p:txBody>
      </p:sp>
      <p:sp>
        <p:nvSpPr>
          <p:cNvPr id="98" name="marca c0f8"/>
          <p:cNvSpPr txBox="1"/>
          <p:nvPr/>
        </p:nvSpPr>
        <p:spPr>
          <a:xfrm>
            <a:off x="3849624" y="234391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99" name="num c0f9"/>
          <p:cNvSpPr txBox="1"/>
          <p:nvPr/>
        </p:nvSpPr>
        <p:spPr>
          <a:xfrm>
            <a:off x="411480" y="247345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10</a:t>
            </a:r>
          </a:p>
        </p:txBody>
      </p:sp>
      <p:sp>
        <p:nvSpPr>
          <p:cNvPr id="100" name="nombre c0f9"/>
          <p:cNvSpPr txBox="1"/>
          <p:nvPr/>
        </p:nvSpPr>
        <p:spPr>
          <a:xfrm>
            <a:off x="630936" y="247345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415p</a:t>
            </a:r>
          </a:p>
        </p:txBody>
      </p:sp>
      <p:sp>
        <p:nvSpPr>
          <p:cNvPr id="101" name="barra c0f9"/>
          <p:cNvSpPr/>
          <p:nvPr/>
        </p:nvSpPr>
        <p:spPr>
          <a:xfrm>
            <a:off x="1307592" y="2501951"/>
            <a:ext cx="954620"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102" name="diseno c0f9"/>
          <p:cNvSpPr/>
          <p:nvPr/>
        </p:nvSpPr>
        <p:spPr>
          <a:xfrm>
            <a:off x="2442728" y="2483815"/>
            <a:ext cx="10973" cy="108814"/>
          </a:xfrm>
          <a:prstGeom prst="rect">
            <a:avLst/>
          </a:prstGeom>
          <a:solidFill>
            <a:srgbClr val="1B3A6B"/>
          </a:solidFill>
          <a:ln w="12700">
            <a:noFill/>
          </a:ln>
        </p:spPr>
        <p:txBody>
          <a:bodyPr rtlCol="0" anchor="ctr"/>
          <a:lstStyle/>
          <a:p>
            <a:pPr algn="ctr"/>
            <a:endParaRPr lang="es-CO" noProof="0" dirty="0"/>
          </a:p>
        </p:txBody>
      </p:sp>
      <p:sp>
        <p:nvSpPr>
          <p:cNvPr id="103" name="real c0f9"/>
          <p:cNvSpPr txBox="1"/>
          <p:nvPr/>
        </p:nvSpPr>
        <p:spPr>
          <a:xfrm>
            <a:off x="2496312" y="247345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1.107</a:t>
            </a:r>
          </a:p>
        </p:txBody>
      </p:sp>
      <p:sp>
        <p:nvSpPr>
          <p:cNvPr id="104" name="pd c0f9"/>
          <p:cNvSpPr txBox="1"/>
          <p:nvPr/>
        </p:nvSpPr>
        <p:spPr>
          <a:xfrm>
            <a:off x="2898648" y="247345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83,7%</a:t>
            </a:r>
          </a:p>
        </p:txBody>
      </p:sp>
      <p:sp>
        <p:nvSpPr>
          <p:cNvPr id="105" name="lim c0f9"/>
          <p:cNvSpPr txBox="1"/>
          <p:nvPr/>
        </p:nvSpPr>
        <p:spPr>
          <a:xfrm>
            <a:off x="3337560" y="247345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 de 20</a:t>
            </a:r>
          </a:p>
        </p:txBody>
      </p:sp>
      <p:sp>
        <p:nvSpPr>
          <p:cNvPr id="106" name="marca c0f9"/>
          <p:cNvSpPr txBox="1"/>
          <p:nvPr/>
        </p:nvSpPr>
        <p:spPr>
          <a:xfrm>
            <a:off x="3849624" y="247345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107" name="banda c0f10"/>
          <p:cNvSpPr/>
          <p:nvPr/>
        </p:nvSpPr>
        <p:spPr>
          <a:xfrm>
            <a:off x="411480" y="2602992"/>
            <a:ext cx="4114800" cy="129540"/>
          </a:xfrm>
          <a:prstGeom prst="rect">
            <a:avLst/>
          </a:prstGeom>
          <a:solidFill>
            <a:srgbClr val="FFFFFF"/>
          </a:solidFill>
          <a:ln>
            <a:noFill/>
          </a:ln>
        </p:spPr>
        <p:txBody>
          <a:bodyPr rtlCol="0" anchor="ctr"/>
          <a:lstStyle/>
          <a:p>
            <a:pPr algn="ctr"/>
            <a:endParaRPr lang="es-CO" noProof="0" dirty="0"/>
          </a:p>
        </p:txBody>
      </p:sp>
      <p:sp>
        <p:nvSpPr>
          <p:cNvPr id="108" name="num c0f10"/>
          <p:cNvSpPr txBox="1"/>
          <p:nvPr/>
        </p:nvSpPr>
        <p:spPr>
          <a:xfrm>
            <a:off x="411480" y="260299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11</a:t>
            </a:r>
          </a:p>
        </p:txBody>
      </p:sp>
      <p:sp>
        <p:nvSpPr>
          <p:cNvPr id="109" name="nombre c0f10"/>
          <p:cNvSpPr txBox="1"/>
          <p:nvPr/>
        </p:nvSpPr>
        <p:spPr>
          <a:xfrm>
            <a:off x="630936" y="260299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18Ap</a:t>
            </a:r>
          </a:p>
        </p:txBody>
      </p:sp>
      <p:sp>
        <p:nvSpPr>
          <p:cNvPr id="110" name="barra c0f10"/>
          <p:cNvSpPr/>
          <p:nvPr/>
        </p:nvSpPr>
        <p:spPr>
          <a:xfrm>
            <a:off x="1307592" y="2631491"/>
            <a:ext cx="952546"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111" name="diseno c0f10"/>
          <p:cNvSpPr/>
          <p:nvPr/>
        </p:nvSpPr>
        <p:spPr>
          <a:xfrm>
            <a:off x="2442728" y="2613355"/>
            <a:ext cx="10973" cy="108814"/>
          </a:xfrm>
          <a:prstGeom prst="rect">
            <a:avLst/>
          </a:prstGeom>
          <a:solidFill>
            <a:srgbClr val="1B3A6B"/>
          </a:solidFill>
          <a:ln w="12700">
            <a:noFill/>
          </a:ln>
        </p:spPr>
        <p:txBody>
          <a:bodyPr rtlCol="0" anchor="ctr"/>
          <a:lstStyle/>
          <a:p>
            <a:pPr algn="ctr"/>
            <a:endParaRPr lang="es-CO" noProof="0" dirty="0"/>
          </a:p>
        </p:txBody>
      </p:sp>
      <p:sp>
        <p:nvSpPr>
          <p:cNvPr id="112" name="real c0f10"/>
          <p:cNvSpPr txBox="1"/>
          <p:nvPr/>
        </p:nvSpPr>
        <p:spPr>
          <a:xfrm>
            <a:off x="2496312" y="260299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1.105</a:t>
            </a:r>
          </a:p>
        </p:txBody>
      </p:sp>
      <p:sp>
        <p:nvSpPr>
          <p:cNvPr id="113" name="pd c0f10"/>
          <p:cNvSpPr txBox="1"/>
          <p:nvPr/>
        </p:nvSpPr>
        <p:spPr>
          <a:xfrm>
            <a:off x="2898648" y="260299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83,5%</a:t>
            </a:r>
          </a:p>
        </p:txBody>
      </p:sp>
      <p:sp>
        <p:nvSpPr>
          <p:cNvPr id="114" name="lim c0f10"/>
          <p:cNvSpPr txBox="1"/>
          <p:nvPr/>
        </p:nvSpPr>
        <p:spPr>
          <a:xfrm>
            <a:off x="3337560" y="260299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0 de 20</a:t>
            </a:r>
          </a:p>
        </p:txBody>
      </p:sp>
      <p:sp>
        <p:nvSpPr>
          <p:cNvPr id="115" name="marca c0f10"/>
          <p:cNvSpPr txBox="1"/>
          <p:nvPr/>
        </p:nvSpPr>
        <p:spPr>
          <a:xfrm>
            <a:off x="3849624" y="260299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116" name="num c0f11"/>
          <p:cNvSpPr txBox="1"/>
          <p:nvPr/>
        </p:nvSpPr>
        <p:spPr>
          <a:xfrm>
            <a:off x="411480" y="273253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12</a:t>
            </a:r>
          </a:p>
        </p:txBody>
      </p:sp>
      <p:sp>
        <p:nvSpPr>
          <p:cNvPr id="117" name="nombre c0f11"/>
          <p:cNvSpPr txBox="1"/>
          <p:nvPr/>
        </p:nvSpPr>
        <p:spPr>
          <a:xfrm>
            <a:off x="630936" y="273253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48PC</a:t>
            </a:r>
          </a:p>
        </p:txBody>
      </p:sp>
      <p:sp>
        <p:nvSpPr>
          <p:cNvPr id="118" name="barra c0f11"/>
          <p:cNvSpPr/>
          <p:nvPr/>
        </p:nvSpPr>
        <p:spPr>
          <a:xfrm>
            <a:off x="1307592" y="2761031"/>
            <a:ext cx="933696" cy="7254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119" name="diseno c0f11"/>
          <p:cNvSpPr/>
          <p:nvPr/>
        </p:nvSpPr>
        <p:spPr>
          <a:xfrm>
            <a:off x="2326338" y="2742895"/>
            <a:ext cx="10973" cy="108814"/>
          </a:xfrm>
          <a:prstGeom prst="rect">
            <a:avLst/>
          </a:prstGeom>
          <a:solidFill>
            <a:srgbClr val="1B3A6B"/>
          </a:solidFill>
          <a:ln w="12700">
            <a:noFill/>
          </a:ln>
        </p:spPr>
        <p:txBody>
          <a:bodyPr rtlCol="0" anchor="ctr"/>
          <a:lstStyle/>
          <a:p>
            <a:pPr algn="ctr"/>
            <a:endParaRPr lang="es-CO" noProof="0" dirty="0"/>
          </a:p>
        </p:txBody>
      </p:sp>
      <p:sp>
        <p:nvSpPr>
          <p:cNvPr id="120" name="real c0f11"/>
          <p:cNvSpPr txBox="1"/>
          <p:nvPr/>
        </p:nvSpPr>
        <p:spPr>
          <a:xfrm>
            <a:off x="2496312" y="273253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1.083</a:t>
            </a:r>
          </a:p>
        </p:txBody>
      </p:sp>
      <p:sp>
        <p:nvSpPr>
          <p:cNvPr id="121" name="pd c0f11"/>
          <p:cNvSpPr txBox="1"/>
          <p:nvPr/>
        </p:nvSpPr>
        <p:spPr>
          <a:xfrm>
            <a:off x="2898648" y="273253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91,2%</a:t>
            </a:r>
          </a:p>
        </p:txBody>
      </p:sp>
      <p:sp>
        <p:nvSpPr>
          <p:cNvPr id="122" name="lim c0f11"/>
          <p:cNvSpPr txBox="1"/>
          <p:nvPr/>
        </p:nvSpPr>
        <p:spPr>
          <a:xfrm>
            <a:off x="3337560" y="273253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5 de 20</a:t>
            </a:r>
          </a:p>
        </p:txBody>
      </p:sp>
      <p:sp>
        <p:nvSpPr>
          <p:cNvPr id="123" name="marca c0f11"/>
          <p:cNvSpPr txBox="1"/>
          <p:nvPr/>
        </p:nvSpPr>
        <p:spPr>
          <a:xfrm>
            <a:off x="3849624" y="273253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Deye</a:t>
            </a:r>
          </a:p>
        </p:txBody>
      </p:sp>
      <p:sp>
        <p:nvSpPr>
          <p:cNvPr id="124" name="banda c0f12"/>
          <p:cNvSpPr/>
          <p:nvPr/>
        </p:nvSpPr>
        <p:spPr>
          <a:xfrm>
            <a:off x="411480" y="2862072"/>
            <a:ext cx="4114800" cy="129540"/>
          </a:xfrm>
          <a:prstGeom prst="rect">
            <a:avLst/>
          </a:prstGeom>
          <a:solidFill>
            <a:srgbClr val="FFFFFF"/>
          </a:solidFill>
          <a:ln>
            <a:noFill/>
          </a:ln>
        </p:spPr>
        <p:txBody>
          <a:bodyPr rtlCol="0" anchor="ctr"/>
          <a:lstStyle/>
          <a:p>
            <a:pPr algn="ctr"/>
            <a:endParaRPr lang="es-CO" noProof="0" dirty="0"/>
          </a:p>
        </p:txBody>
      </p:sp>
      <p:sp>
        <p:nvSpPr>
          <p:cNvPr id="125" name="num c0f12"/>
          <p:cNvSpPr txBox="1"/>
          <p:nvPr/>
        </p:nvSpPr>
        <p:spPr>
          <a:xfrm>
            <a:off x="411480" y="286207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13</a:t>
            </a:r>
          </a:p>
        </p:txBody>
      </p:sp>
      <p:sp>
        <p:nvSpPr>
          <p:cNvPr id="126" name="nombre c0f12"/>
          <p:cNvSpPr txBox="1"/>
          <p:nvPr/>
        </p:nvSpPr>
        <p:spPr>
          <a:xfrm>
            <a:off x="630936" y="286207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77</a:t>
            </a:r>
          </a:p>
        </p:txBody>
      </p:sp>
      <p:sp>
        <p:nvSpPr>
          <p:cNvPr id="127" name="barra c0f12"/>
          <p:cNvSpPr/>
          <p:nvPr/>
        </p:nvSpPr>
        <p:spPr>
          <a:xfrm>
            <a:off x="1307592" y="2890571"/>
            <a:ext cx="928258" cy="7254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128" name="diseno c0f12"/>
          <p:cNvSpPr/>
          <p:nvPr/>
        </p:nvSpPr>
        <p:spPr>
          <a:xfrm>
            <a:off x="2326338" y="2872435"/>
            <a:ext cx="10973" cy="108814"/>
          </a:xfrm>
          <a:prstGeom prst="rect">
            <a:avLst/>
          </a:prstGeom>
          <a:solidFill>
            <a:srgbClr val="1B3A6B"/>
          </a:solidFill>
          <a:ln w="12700">
            <a:noFill/>
          </a:ln>
        </p:spPr>
        <p:txBody>
          <a:bodyPr rtlCol="0" anchor="ctr"/>
          <a:lstStyle/>
          <a:p>
            <a:pPr algn="ctr"/>
            <a:endParaRPr lang="es-CO" noProof="0" dirty="0"/>
          </a:p>
        </p:txBody>
      </p:sp>
      <p:sp>
        <p:nvSpPr>
          <p:cNvPr id="129" name="real c0f12"/>
          <p:cNvSpPr txBox="1"/>
          <p:nvPr/>
        </p:nvSpPr>
        <p:spPr>
          <a:xfrm>
            <a:off x="2496312" y="286207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1.077</a:t>
            </a:r>
          </a:p>
        </p:txBody>
      </p:sp>
      <p:sp>
        <p:nvSpPr>
          <p:cNvPr id="130" name="pd c0f12"/>
          <p:cNvSpPr txBox="1"/>
          <p:nvPr/>
        </p:nvSpPr>
        <p:spPr>
          <a:xfrm>
            <a:off x="2898648" y="286207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90,6%</a:t>
            </a:r>
          </a:p>
        </p:txBody>
      </p:sp>
      <p:sp>
        <p:nvSpPr>
          <p:cNvPr id="131" name="lim c0f12"/>
          <p:cNvSpPr txBox="1"/>
          <p:nvPr/>
        </p:nvSpPr>
        <p:spPr>
          <a:xfrm>
            <a:off x="3337560" y="286207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 de 20</a:t>
            </a:r>
          </a:p>
        </p:txBody>
      </p:sp>
      <p:sp>
        <p:nvSpPr>
          <p:cNvPr id="132" name="marca c0f12"/>
          <p:cNvSpPr txBox="1"/>
          <p:nvPr/>
        </p:nvSpPr>
        <p:spPr>
          <a:xfrm>
            <a:off x="3849624" y="286207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133" name="num c0f13"/>
          <p:cNvSpPr txBox="1"/>
          <p:nvPr/>
        </p:nvSpPr>
        <p:spPr>
          <a:xfrm>
            <a:off x="411480" y="299161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14</a:t>
            </a:r>
          </a:p>
        </p:txBody>
      </p:sp>
      <p:sp>
        <p:nvSpPr>
          <p:cNvPr id="134" name="nombre c0f13"/>
          <p:cNvSpPr txBox="1"/>
          <p:nvPr/>
        </p:nvSpPr>
        <p:spPr>
          <a:xfrm>
            <a:off x="630936" y="299161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60p</a:t>
            </a:r>
          </a:p>
        </p:txBody>
      </p:sp>
      <p:sp>
        <p:nvSpPr>
          <p:cNvPr id="135" name="barra c0f13"/>
          <p:cNvSpPr/>
          <p:nvPr/>
        </p:nvSpPr>
        <p:spPr>
          <a:xfrm>
            <a:off x="1307592" y="3020111"/>
            <a:ext cx="925658"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136" name="diseno c0f13"/>
          <p:cNvSpPr/>
          <p:nvPr/>
        </p:nvSpPr>
        <p:spPr>
          <a:xfrm>
            <a:off x="2442728" y="3001975"/>
            <a:ext cx="10973" cy="108814"/>
          </a:xfrm>
          <a:prstGeom prst="rect">
            <a:avLst/>
          </a:prstGeom>
          <a:solidFill>
            <a:srgbClr val="1B3A6B"/>
          </a:solidFill>
          <a:ln w="12700">
            <a:noFill/>
          </a:ln>
        </p:spPr>
        <p:txBody>
          <a:bodyPr rtlCol="0" anchor="ctr"/>
          <a:lstStyle/>
          <a:p>
            <a:pPr algn="ctr"/>
            <a:endParaRPr lang="es-CO" noProof="0" dirty="0"/>
          </a:p>
        </p:txBody>
      </p:sp>
      <p:sp>
        <p:nvSpPr>
          <p:cNvPr id="137" name="real c0f13"/>
          <p:cNvSpPr txBox="1"/>
          <p:nvPr/>
        </p:nvSpPr>
        <p:spPr>
          <a:xfrm>
            <a:off x="2496312" y="299161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1.074</a:t>
            </a:r>
          </a:p>
        </p:txBody>
      </p:sp>
      <p:sp>
        <p:nvSpPr>
          <p:cNvPr id="138" name="pd c0f13"/>
          <p:cNvSpPr txBox="1"/>
          <p:nvPr/>
        </p:nvSpPr>
        <p:spPr>
          <a:xfrm>
            <a:off x="2898648" y="299161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81,2%</a:t>
            </a:r>
          </a:p>
        </p:txBody>
      </p:sp>
      <p:sp>
        <p:nvSpPr>
          <p:cNvPr id="139" name="lim c0f13"/>
          <p:cNvSpPr txBox="1"/>
          <p:nvPr/>
        </p:nvSpPr>
        <p:spPr>
          <a:xfrm>
            <a:off x="3337560" y="299161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0 de 20</a:t>
            </a:r>
          </a:p>
        </p:txBody>
      </p:sp>
      <p:sp>
        <p:nvSpPr>
          <p:cNvPr id="140" name="marca c0f13"/>
          <p:cNvSpPr txBox="1"/>
          <p:nvPr/>
        </p:nvSpPr>
        <p:spPr>
          <a:xfrm>
            <a:off x="3849624" y="299161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141" name="banda c0f14"/>
          <p:cNvSpPr/>
          <p:nvPr/>
        </p:nvSpPr>
        <p:spPr>
          <a:xfrm>
            <a:off x="411480" y="3121152"/>
            <a:ext cx="4114800" cy="129540"/>
          </a:xfrm>
          <a:prstGeom prst="rect">
            <a:avLst/>
          </a:prstGeom>
          <a:solidFill>
            <a:srgbClr val="FFFFFF"/>
          </a:solidFill>
          <a:ln>
            <a:noFill/>
          </a:ln>
        </p:spPr>
        <p:txBody>
          <a:bodyPr rtlCol="0" anchor="ctr"/>
          <a:lstStyle/>
          <a:p>
            <a:pPr algn="ctr"/>
            <a:endParaRPr lang="es-CO" noProof="0" dirty="0"/>
          </a:p>
        </p:txBody>
      </p:sp>
      <p:sp>
        <p:nvSpPr>
          <p:cNvPr id="142" name="num c0f14"/>
          <p:cNvSpPr txBox="1"/>
          <p:nvPr/>
        </p:nvSpPr>
        <p:spPr>
          <a:xfrm>
            <a:off x="411480" y="312115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15</a:t>
            </a:r>
          </a:p>
        </p:txBody>
      </p:sp>
      <p:sp>
        <p:nvSpPr>
          <p:cNvPr id="143" name="nombre c0f14"/>
          <p:cNvSpPr txBox="1"/>
          <p:nvPr/>
        </p:nvSpPr>
        <p:spPr>
          <a:xfrm>
            <a:off x="630936" y="312115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56</a:t>
            </a:r>
          </a:p>
        </p:txBody>
      </p:sp>
      <p:sp>
        <p:nvSpPr>
          <p:cNvPr id="144" name="barra c0f14"/>
          <p:cNvSpPr/>
          <p:nvPr/>
        </p:nvSpPr>
        <p:spPr>
          <a:xfrm>
            <a:off x="1307592" y="3149651"/>
            <a:ext cx="922153" cy="7254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145" name="diseno c0f14"/>
          <p:cNvSpPr/>
          <p:nvPr/>
        </p:nvSpPr>
        <p:spPr>
          <a:xfrm>
            <a:off x="2326338" y="3131515"/>
            <a:ext cx="10973" cy="108814"/>
          </a:xfrm>
          <a:prstGeom prst="rect">
            <a:avLst/>
          </a:prstGeom>
          <a:solidFill>
            <a:srgbClr val="1B3A6B"/>
          </a:solidFill>
          <a:ln w="12700">
            <a:noFill/>
          </a:ln>
        </p:spPr>
        <p:txBody>
          <a:bodyPr rtlCol="0" anchor="ctr"/>
          <a:lstStyle/>
          <a:p>
            <a:pPr algn="ctr"/>
            <a:endParaRPr lang="es-CO" noProof="0" dirty="0"/>
          </a:p>
        </p:txBody>
      </p:sp>
      <p:sp>
        <p:nvSpPr>
          <p:cNvPr id="146" name="real c0f14"/>
          <p:cNvSpPr txBox="1"/>
          <p:nvPr/>
        </p:nvSpPr>
        <p:spPr>
          <a:xfrm>
            <a:off x="2496312" y="312115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1.070</a:t>
            </a:r>
          </a:p>
        </p:txBody>
      </p:sp>
      <p:sp>
        <p:nvSpPr>
          <p:cNvPr id="147" name="pd c0f14"/>
          <p:cNvSpPr txBox="1"/>
          <p:nvPr/>
        </p:nvSpPr>
        <p:spPr>
          <a:xfrm>
            <a:off x="2898648" y="312115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90,0%</a:t>
            </a:r>
          </a:p>
        </p:txBody>
      </p:sp>
      <p:sp>
        <p:nvSpPr>
          <p:cNvPr id="148" name="lim c0f14"/>
          <p:cNvSpPr txBox="1"/>
          <p:nvPr/>
        </p:nvSpPr>
        <p:spPr>
          <a:xfrm>
            <a:off x="3337560" y="312115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0 de 20</a:t>
            </a:r>
          </a:p>
        </p:txBody>
      </p:sp>
      <p:sp>
        <p:nvSpPr>
          <p:cNvPr id="149" name="marca c0f14"/>
          <p:cNvSpPr txBox="1"/>
          <p:nvPr/>
        </p:nvSpPr>
        <p:spPr>
          <a:xfrm>
            <a:off x="3849624" y="312115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150" name="num c0f15"/>
          <p:cNvSpPr txBox="1"/>
          <p:nvPr/>
        </p:nvSpPr>
        <p:spPr>
          <a:xfrm>
            <a:off x="411480" y="325069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16</a:t>
            </a:r>
          </a:p>
        </p:txBody>
      </p:sp>
      <p:sp>
        <p:nvSpPr>
          <p:cNvPr id="151" name="nombre c0f15"/>
          <p:cNvSpPr txBox="1"/>
          <p:nvPr/>
        </p:nvSpPr>
        <p:spPr>
          <a:xfrm>
            <a:off x="630936" y="325069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9G</a:t>
            </a:r>
          </a:p>
        </p:txBody>
      </p:sp>
      <p:sp>
        <p:nvSpPr>
          <p:cNvPr id="152" name="barra c0f15"/>
          <p:cNvSpPr/>
          <p:nvPr/>
        </p:nvSpPr>
        <p:spPr>
          <a:xfrm>
            <a:off x="1307592" y="3279191"/>
            <a:ext cx="920018"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153" name="diseno c0f15"/>
          <p:cNvSpPr/>
          <p:nvPr/>
        </p:nvSpPr>
        <p:spPr>
          <a:xfrm>
            <a:off x="2442728" y="3261055"/>
            <a:ext cx="10973" cy="108814"/>
          </a:xfrm>
          <a:prstGeom prst="rect">
            <a:avLst/>
          </a:prstGeom>
          <a:solidFill>
            <a:srgbClr val="1B3A6B"/>
          </a:solidFill>
          <a:ln w="12700">
            <a:noFill/>
          </a:ln>
        </p:spPr>
        <p:txBody>
          <a:bodyPr rtlCol="0" anchor="ctr"/>
          <a:lstStyle/>
          <a:p>
            <a:pPr algn="ctr"/>
            <a:endParaRPr lang="es-CO" noProof="0" dirty="0"/>
          </a:p>
        </p:txBody>
      </p:sp>
      <p:sp>
        <p:nvSpPr>
          <p:cNvPr id="154" name="real c0f15"/>
          <p:cNvSpPr txBox="1"/>
          <p:nvPr/>
        </p:nvSpPr>
        <p:spPr>
          <a:xfrm>
            <a:off x="2496312" y="325069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1.067</a:t>
            </a:r>
          </a:p>
        </p:txBody>
      </p:sp>
      <p:sp>
        <p:nvSpPr>
          <p:cNvPr id="155" name="pd c0f15"/>
          <p:cNvSpPr txBox="1"/>
          <p:nvPr/>
        </p:nvSpPr>
        <p:spPr>
          <a:xfrm>
            <a:off x="2898648" y="325069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80,7%</a:t>
            </a:r>
          </a:p>
        </p:txBody>
      </p:sp>
      <p:sp>
        <p:nvSpPr>
          <p:cNvPr id="156" name="lim c0f15"/>
          <p:cNvSpPr txBox="1"/>
          <p:nvPr/>
        </p:nvSpPr>
        <p:spPr>
          <a:xfrm>
            <a:off x="3337560" y="325069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10 de 20</a:t>
            </a:r>
          </a:p>
        </p:txBody>
      </p:sp>
      <p:sp>
        <p:nvSpPr>
          <p:cNvPr id="157" name="marca c0f15"/>
          <p:cNvSpPr txBox="1"/>
          <p:nvPr/>
        </p:nvSpPr>
        <p:spPr>
          <a:xfrm>
            <a:off x="3849624" y="325069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Deye</a:t>
            </a:r>
          </a:p>
        </p:txBody>
      </p:sp>
      <p:sp>
        <p:nvSpPr>
          <p:cNvPr id="158" name="banda c0f16"/>
          <p:cNvSpPr/>
          <p:nvPr/>
        </p:nvSpPr>
        <p:spPr>
          <a:xfrm>
            <a:off x="411480" y="3380232"/>
            <a:ext cx="4114800" cy="129540"/>
          </a:xfrm>
          <a:prstGeom prst="rect">
            <a:avLst/>
          </a:prstGeom>
          <a:solidFill>
            <a:srgbClr val="FFFFFF"/>
          </a:solidFill>
          <a:ln>
            <a:noFill/>
          </a:ln>
        </p:spPr>
        <p:txBody>
          <a:bodyPr rtlCol="0" anchor="ctr"/>
          <a:lstStyle/>
          <a:p>
            <a:pPr algn="ctr"/>
            <a:endParaRPr lang="es-CO" noProof="0" dirty="0"/>
          </a:p>
        </p:txBody>
      </p:sp>
      <p:sp>
        <p:nvSpPr>
          <p:cNvPr id="159" name="num c0f16"/>
          <p:cNvSpPr txBox="1"/>
          <p:nvPr/>
        </p:nvSpPr>
        <p:spPr>
          <a:xfrm>
            <a:off x="411480" y="338023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17</a:t>
            </a:r>
          </a:p>
        </p:txBody>
      </p:sp>
      <p:sp>
        <p:nvSpPr>
          <p:cNvPr id="160" name="nombre c0f16"/>
          <p:cNvSpPr txBox="1"/>
          <p:nvPr/>
        </p:nvSpPr>
        <p:spPr>
          <a:xfrm>
            <a:off x="630936" y="338023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2</a:t>
            </a:r>
          </a:p>
        </p:txBody>
      </p:sp>
      <p:sp>
        <p:nvSpPr>
          <p:cNvPr id="161" name="barra c0f16"/>
          <p:cNvSpPr/>
          <p:nvPr/>
        </p:nvSpPr>
        <p:spPr>
          <a:xfrm>
            <a:off x="1307592" y="3408731"/>
            <a:ext cx="899375"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162" name="diseno c0f16"/>
          <p:cNvSpPr/>
          <p:nvPr/>
        </p:nvSpPr>
        <p:spPr>
          <a:xfrm>
            <a:off x="2326338" y="3390595"/>
            <a:ext cx="10973" cy="108814"/>
          </a:xfrm>
          <a:prstGeom prst="rect">
            <a:avLst/>
          </a:prstGeom>
          <a:solidFill>
            <a:srgbClr val="1B3A6B"/>
          </a:solidFill>
          <a:ln w="12700">
            <a:noFill/>
          </a:ln>
        </p:spPr>
        <p:txBody>
          <a:bodyPr rtlCol="0" anchor="ctr"/>
          <a:lstStyle/>
          <a:p>
            <a:pPr algn="ctr"/>
            <a:endParaRPr lang="es-CO" noProof="0" dirty="0"/>
          </a:p>
        </p:txBody>
      </p:sp>
      <p:sp>
        <p:nvSpPr>
          <p:cNvPr id="163" name="real c0f16"/>
          <p:cNvSpPr txBox="1"/>
          <p:nvPr/>
        </p:nvSpPr>
        <p:spPr>
          <a:xfrm>
            <a:off x="2496312" y="338023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1.043</a:t>
            </a:r>
          </a:p>
        </p:txBody>
      </p:sp>
      <p:sp>
        <p:nvSpPr>
          <p:cNvPr id="164" name="pd c0f16"/>
          <p:cNvSpPr txBox="1"/>
          <p:nvPr/>
        </p:nvSpPr>
        <p:spPr>
          <a:xfrm>
            <a:off x="2898648" y="338023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87,8%</a:t>
            </a:r>
          </a:p>
        </p:txBody>
      </p:sp>
      <p:sp>
        <p:nvSpPr>
          <p:cNvPr id="165" name="lim c0f16"/>
          <p:cNvSpPr txBox="1"/>
          <p:nvPr/>
        </p:nvSpPr>
        <p:spPr>
          <a:xfrm>
            <a:off x="3337560" y="338023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7 de 20</a:t>
            </a:r>
          </a:p>
        </p:txBody>
      </p:sp>
      <p:sp>
        <p:nvSpPr>
          <p:cNvPr id="166" name="marca c0f16"/>
          <p:cNvSpPr txBox="1"/>
          <p:nvPr/>
        </p:nvSpPr>
        <p:spPr>
          <a:xfrm>
            <a:off x="3849624" y="338023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Deye</a:t>
            </a:r>
          </a:p>
        </p:txBody>
      </p:sp>
      <p:sp>
        <p:nvSpPr>
          <p:cNvPr id="167" name="num c0f17"/>
          <p:cNvSpPr txBox="1"/>
          <p:nvPr/>
        </p:nvSpPr>
        <p:spPr>
          <a:xfrm>
            <a:off x="411480" y="350977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18</a:t>
            </a:r>
          </a:p>
        </p:txBody>
      </p:sp>
      <p:sp>
        <p:nvSpPr>
          <p:cNvPr id="168" name="nombre c0f17"/>
          <p:cNvSpPr txBox="1"/>
          <p:nvPr/>
        </p:nvSpPr>
        <p:spPr>
          <a:xfrm>
            <a:off x="630936" y="350977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86p</a:t>
            </a:r>
          </a:p>
        </p:txBody>
      </p:sp>
      <p:sp>
        <p:nvSpPr>
          <p:cNvPr id="169" name="barra c0f17"/>
          <p:cNvSpPr/>
          <p:nvPr/>
        </p:nvSpPr>
        <p:spPr>
          <a:xfrm>
            <a:off x="1307592" y="3538271"/>
            <a:ext cx="885237"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70" name="diseno c0f17"/>
          <p:cNvSpPr/>
          <p:nvPr/>
        </p:nvSpPr>
        <p:spPr>
          <a:xfrm>
            <a:off x="2442728" y="3520135"/>
            <a:ext cx="10973" cy="108814"/>
          </a:xfrm>
          <a:prstGeom prst="rect">
            <a:avLst/>
          </a:prstGeom>
          <a:solidFill>
            <a:srgbClr val="1B3A6B"/>
          </a:solidFill>
          <a:ln w="12700">
            <a:noFill/>
          </a:ln>
        </p:spPr>
        <p:txBody>
          <a:bodyPr rtlCol="0" anchor="ctr"/>
          <a:lstStyle/>
          <a:p>
            <a:pPr algn="ctr"/>
            <a:endParaRPr lang="es-CO" noProof="0" dirty="0"/>
          </a:p>
        </p:txBody>
      </p:sp>
      <p:sp>
        <p:nvSpPr>
          <p:cNvPr id="171" name="real c0f17"/>
          <p:cNvSpPr txBox="1"/>
          <p:nvPr/>
        </p:nvSpPr>
        <p:spPr>
          <a:xfrm>
            <a:off x="2496312" y="350977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1.027</a:t>
            </a:r>
          </a:p>
        </p:txBody>
      </p:sp>
      <p:sp>
        <p:nvSpPr>
          <p:cNvPr id="172" name="pd c0f17"/>
          <p:cNvSpPr txBox="1"/>
          <p:nvPr/>
        </p:nvSpPr>
        <p:spPr>
          <a:xfrm>
            <a:off x="2898648" y="350977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77,6%</a:t>
            </a:r>
          </a:p>
        </p:txBody>
      </p:sp>
      <p:sp>
        <p:nvSpPr>
          <p:cNvPr id="173" name="lim c0f17"/>
          <p:cNvSpPr txBox="1"/>
          <p:nvPr/>
        </p:nvSpPr>
        <p:spPr>
          <a:xfrm>
            <a:off x="3337560" y="350977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6 de 20</a:t>
            </a:r>
          </a:p>
        </p:txBody>
      </p:sp>
      <p:sp>
        <p:nvSpPr>
          <p:cNvPr id="174" name="marca c0f17"/>
          <p:cNvSpPr txBox="1"/>
          <p:nvPr/>
        </p:nvSpPr>
        <p:spPr>
          <a:xfrm>
            <a:off x="3849624" y="350977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Deye</a:t>
            </a:r>
          </a:p>
        </p:txBody>
      </p:sp>
      <p:sp>
        <p:nvSpPr>
          <p:cNvPr id="175" name="banda c0f18"/>
          <p:cNvSpPr/>
          <p:nvPr/>
        </p:nvSpPr>
        <p:spPr>
          <a:xfrm>
            <a:off x="411480" y="3639312"/>
            <a:ext cx="4114800" cy="129540"/>
          </a:xfrm>
          <a:prstGeom prst="rect">
            <a:avLst/>
          </a:prstGeom>
          <a:solidFill>
            <a:srgbClr val="FFFFFF"/>
          </a:solidFill>
          <a:ln>
            <a:noFill/>
          </a:ln>
        </p:spPr>
        <p:txBody>
          <a:bodyPr rtlCol="0" anchor="ctr"/>
          <a:lstStyle/>
          <a:p>
            <a:pPr algn="ctr"/>
            <a:endParaRPr lang="es-CO" noProof="0" dirty="0"/>
          </a:p>
        </p:txBody>
      </p:sp>
      <p:sp>
        <p:nvSpPr>
          <p:cNvPr id="176" name="num c0f18"/>
          <p:cNvSpPr txBox="1"/>
          <p:nvPr/>
        </p:nvSpPr>
        <p:spPr>
          <a:xfrm>
            <a:off x="411480" y="363931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19</a:t>
            </a:r>
          </a:p>
        </p:txBody>
      </p:sp>
      <p:sp>
        <p:nvSpPr>
          <p:cNvPr id="177" name="nombre c0f18"/>
          <p:cNvSpPr txBox="1"/>
          <p:nvPr/>
        </p:nvSpPr>
        <p:spPr>
          <a:xfrm>
            <a:off x="630936" y="363931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10p</a:t>
            </a:r>
          </a:p>
        </p:txBody>
      </p:sp>
      <p:sp>
        <p:nvSpPr>
          <p:cNvPr id="178" name="barra c0f18"/>
          <p:cNvSpPr/>
          <p:nvPr/>
        </p:nvSpPr>
        <p:spPr>
          <a:xfrm>
            <a:off x="1307592" y="3667811"/>
            <a:ext cx="862420"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79" name="diseno c0f18"/>
          <p:cNvSpPr/>
          <p:nvPr/>
        </p:nvSpPr>
        <p:spPr>
          <a:xfrm>
            <a:off x="2442728" y="3649675"/>
            <a:ext cx="10973" cy="108814"/>
          </a:xfrm>
          <a:prstGeom prst="rect">
            <a:avLst/>
          </a:prstGeom>
          <a:solidFill>
            <a:srgbClr val="1B3A6B"/>
          </a:solidFill>
          <a:ln w="12700">
            <a:noFill/>
          </a:ln>
        </p:spPr>
        <p:txBody>
          <a:bodyPr rtlCol="0" anchor="ctr"/>
          <a:lstStyle/>
          <a:p>
            <a:pPr algn="ctr"/>
            <a:endParaRPr lang="es-CO" noProof="0" dirty="0"/>
          </a:p>
        </p:txBody>
      </p:sp>
      <p:sp>
        <p:nvSpPr>
          <p:cNvPr id="180" name="real c0f18"/>
          <p:cNvSpPr txBox="1"/>
          <p:nvPr/>
        </p:nvSpPr>
        <p:spPr>
          <a:xfrm>
            <a:off x="2496312" y="363931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1.000</a:t>
            </a:r>
          </a:p>
        </p:txBody>
      </p:sp>
      <p:sp>
        <p:nvSpPr>
          <p:cNvPr id="181" name="pd c0f18"/>
          <p:cNvSpPr txBox="1"/>
          <p:nvPr/>
        </p:nvSpPr>
        <p:spPr>
          <a:xfrm>
            <a:off x="2898648" y="363931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75,6%</a:t>
            </a:r>
          </a:p>
        </p:txBody>
      </p:sp>
      <p:sp>
        <p:nvSpPr>
          <p:cNvPr id="182" name="lim c0f18"/>
          <p:cNvSpPr txBox="1"/>
          <p:nvPr/>
        </p:nvSpPr>
        <p:spPr>
          <a:xfrm>
            <a:off x="3337560" y="363931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 de 20</a:t>
            </a:r>
          </a:p>
        </p:txBody>
      </p:sp>
      <p:sp>
        <p:nvSpPr>
          <p:cNvPr id="183" name="marca c0f18"/>
          <p:cNvSpPr txBox="1"/>
          <p:nvPr/>
        </p:nvSpPr>
        <p:spPr>
          <a:xfrm>
            <a:off x="3849624" y="363931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184" name="num c0f19"/>
          <p:cNvSpPr txBox="1"/>
          <p:nvPr/>
        </p:nvSpPr>
        <p:spPr>
          <a:xfrm>
            <a:off x="411480" y="376885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20</a:t>
            </a:r>
          </a:p>
        </p:txBody>
      </p:sp>
      <p:sp>
        <p:nvSpPr>
          <p:cNvPr id="185" name="nombre c0f19"/>
          <p:cNvSpPr txBox="1"/>
          <p:nvPr/>
        </p:nvSpPr>
        <p:spPr>
          <a:xfrm>
            <a:off x="630936" y="376885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23</a:t>
            </a:r>
          </a:p>
        </p:txBody>
      </p:sp>
      <p:sp>
        <p:nvSpPr>
          <p:cNvPr id="186" name="barra c0f19"/>
          <p:cNvSpPr/>
          <p:nvPr/>
        </p:nvSpPr>
        <p:spPr>
          <a:xfrm>
            <a:off x="1307592" y="3797351"/>
            <a:ext cx="849917"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187" name="diseno c0f19"/>
          <p:cNvSpPr/>
          <p:nvPr/>
        </p:nvSpPr>
        <p:spPr>
          <a:xfrm>
            <a:off x="2326338" y="3779215"/>
            <a:ext cx="10973" cy="108814"/>
          </a:xfrm>
          <a:prstGeom prst="rect">
            <a:avLst/>
          </a:prstGeom>
          <a:solidFill>
            <a:srgbClr val="1B3A6B"/>
          </a:solidFill>
          <a:ln w="12700">
            <a:noFill/>
          </a:ln>
        </p:spPr>
        <p:txBody>
          <a:bodyPr rtlCol="0" anchor="ctr"/>
          <a:lstStyle/>
          <a:p>
            <a:pPr algn="ctr"/>
            <a:endParaRPr lang="es-CO" noProof="0" dirty="0"/>
          </a:p>
        </p:txBody>
      </p:sp>
      <p:sp>
        <p:nvSpPr>
          <p:cNvPr id="188" name="real c0f19"/>
          <p:cNvSpPr txBox="1"/>
          <p:nvPr/>
        </p:nvSpPr>
        <p:spPr>
          <a:xfrm>
            <a:off x="2496312" y="376885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986</a:t>
            </a:r>
          </a:p>
        </p:txBody>
      </p:sp>
      <p:sp>
        <p:nvSpPr>
          <p:cNvPr id="189" name="pd c0f19"/>
          <p:cNvSpPr txBox="1"/>
          <p:nvPr/>
        </p:nvSpPr>
        <p:spPr>
          <a:xfrm>
            <a:off x="2898648" y="376885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83,0%</a:t>
            </a:r>
          </a:p>
        </p:txBody>
      </p:sp>
      <p:sp>
        <p:nvSpPr>
          <p:cNvPr id="190" name="lim c0f19"/>
          <p:cNvSpPr txBox="1"/>
          <p:nvPr/>
        </p:nvSpPr>
        <p:spPr>
          <a:xfrm>
            <a:off x="3337560" y="376885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 de 20</a:t>
            </a:r>
          </a:p>
        </p:txBody>
      </p:sp>
      <p:sp>
        <p:nvSpPr>
          <p:cNvPr id="191" name="marca c0f19"/>
          <p:cNvSpPr txBox="1"/>
          <p:nvPr/>
        </p:nvSpPr>
        <p:spPr>
          <a:xfrm>
            <a:off x="3849624" y="376885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192" name="banda c0f20"/>
          <p:cNvSpPr/>
          <p:nvPr/>
        </p:nvSpPr>
        <p:spPr>
          <a:xfrm>
            <a:off x="411480" y="3898392"/>
            <a:ext cx="4114800" cy="129540"/>
          </a:xfrm>
          <a:prstGeom prst="rect">
            <a:avLst/>
          </a:prstGeom>
          <a:solidFill>
            <a:srgbClr val="FFFFFF"/>
          </a:solidFill>
          <a:ln>
            <a:noFill/>
          </a:ln>
        </p:spPr>
        <p:txBody>
          <a:bodyPr rtlCol="0" anchor="ctr"/>
          <a:lstStyle/>
          <a:p>
            <a:pPr algn="ctr"/>
            <a:endParaRPr lang="es-CO" noProof="0" dirty="0"/>
          </a:p>
        </p:txBody>
      </p:sp>
      <p:sp>
        <p:nvSpPr>
          <p:cNvPr id="193" name="num c0f20"/>
          <p:cNvSpPr txBox="1"/>
          <p:nvPr/>
        </p:nvSpPr>
        <p:spPr>
          <a:xfrm>
            <a:off x="411480" y="389839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21</a:t>
            </a:r>
          </a:p>
        </p:txBody>
      </p:sp>
      <p:sp>
        <p:nvSpPr>
          <p:cNvPr id="194" name="nombre c0f20"/>
          <p:cNvSpPr txBox="1"/>
          <p:nvPr/>
        </p:nvSpPr>
        <p:spPr>
          <a:xfrm>
            <a:off x="630936" y="389839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155</a:t>
            </a:r>
          </a:p>
        </p:txBody>
      </p:sp>
      <p:sp>
        <p:nvSpPr>
          <p:cNvPr id="195" name="barra c0f20"/>
          <p:cNvSpPr/>
          <p:nvPr/>
        </p:nvSpPr>
        <p:spPr>
          <a:xfrm>
            <a:off x="1307592" y="3926891"/>
            <a:ext cx="845258"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96" name="diseno c0f20"/>
          <p:cNvSpPr/>
          <p:nvPr/>
        </p:nvSpPr>
        <p:spPr>
          <a:xfrm>
            <a:off x="2442728" y="3908755"/>
            <a:ext cx="10973" cy="108814"/>
          </a:xfrm>
          <a:prstGeom prst="rect">
            <a:avLst/>
          </a:prstGeom>
          <a:solidFill>
            <a:srgbClr val="1B3A6B"/>
          </a:solidFill>
          <a:ln w="12700">
            <a:noFill/>
          </a:ln>
        </p:spPr>
        <p:txBody>
          <a:bodyPr rtlCol="0" anchor="ctr"/>
          <a:lstStyle/>
          <a:p>
            <a:pPr algn="ctr"/>
            <a:endParaRPr lang="es-CO" noProof="0" dirty="0"/>
          </a:p>
        </p:txBody>
      </p:sp>
      <p:sp>
        <p:nvSpPr>
          <p:cNvPr id="197" name="real c0f20"/>
          <p:cNvSpPr txBox="1"/>
          <p:nvPr/>
        </p:nvSpPr>
        <p:spPr>
          <a:xfrm>
            <a:off x="2496312" y="389839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980</a:t>
            </a:r>
          </a:p>
        </p:txBody>
      </p:sp>
      <p:sp>
        <p:nvSpPr>
          <p:cNvPr id="198" name="pd c0f20"/>
          <p:cNvSpPr txBox="1"/>
          <p:nvPr/>
        </p:nvSpPr>
        <p:spPr>
          <a:xfrm>
            <a:off x="2898648" y="389839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74,1%</a:t>
            </a:r>
          </a:p>
        </p:txBody>
      </p:sp>
      <p:sp>
        <p:nvSpPr>
          <p:cNvPr id="199" name="lim c0f20"/>
          <p:cNvSpPr txBox="1"/>
          <p:nvPr/>
        </p:nvSpPr>
        <p:spPr>
          <a:xfrm>
            <a:off x="3337560" y="389839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 de 20</a:t>
            </a:r>
          </a:p>
        </p:txBody>
      </p:sp>
      <p:sp>
        <p:nvSpPr>
          <p:cNvPr id="200" name="marca c0f20"/>
          <p:cNvSpPr txBox="1"/>
          <p:nvPr/>
        </p:nvSpPr>
        <p:spPr>
          <a:xfrm>
            <a:off x="3849624" y="389839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201" name="num c0f21"/>
          <p:cNvSpPr txBox="1"/>
          <p:nvPr/>
        </p:nvSpPr>
        <p:spPr>
          <a:xfrm>
            <a:off x="411480" y="402793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22</a:t>
            </a:r>
          </a:p>
        </p:txBody>
      </p:sp>
      <p:sp>
        <p:nvSpPr>
          <p:cNvPr id="202" name="nombre c0f21"/>
          <p:cNvSpPr txBox="1"/>
          <p:nvPr/>
        </p:nvSpPr>
        <p:spPr>
          <a:xfrm>
            <a:off x="630936" y="402793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121 CR</a:t>
            </a:r>
          </a:p>
        </p:txBody>
      </p:sp>
      <p:sp>
        <p:nvSpPr>
          <p:cNvPr id="203" name="barra c0f21"/>
          <p:cNvSpPr/>
          <p:nvPr/>
        </p:nvSpPr>
        <p:spPr>
          <a:xfrm>
            <a:off x="1307592" y="4056431"/>
            <a:ext cx="841535"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204" name="diseno c0f21"/>
          <p:cNvSpPr/>
          <p:nvPr/>
        </p:nvSpPr>
        <p:spPr>
          <a:xfrm>
            <a:off x="2442728" y="4038295"/>
            <a:ext cx="10973" cy="108814"/>
          </a:xfrm>
          <a:prstGeom prst="rect">
            <a:avLst/>
          </a:prstGeom>
          <a:solidFill>
            <a:srgbClr val="1B3A6B"/>
          </a:solidFill>
          <a:ln w="12700">
            <a:noFill/>
          </a:ln>
        </p:spPr>
        <p:txBody>
          <a:bodyPr rtlCol="0" anchor="ctr"/>
          <a:lstStyle/>
          <a:p>
            <a:pPr algn="ctr"/>
            <a:endParaRPr lang="es-CO" noProof="0" dirty="0"/>
          </a:p>
        </p:txBody>
      </p:sp>
      <p:sp>
        <p:nvSpPr>
          <p:cNvPr id="205" name="real c0f21"/>
          <p:cNvSpPr txBox="1"/>
          <p:nvPr/>
        </p:nvSpPr>
        <p:spPr>
          <a:xfrm>
            <a:off x="2496312" y="402793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976</a:t>
            </a:r>
          </a:p>
        </p:txBody>
      </p:sp>
      <p:sp>
        <p:nvSpPr>
          <p:cNvPr id="206" name="pd c0f21"/>
          <p:cNvSpPr txBox="1"/>
          <p:nvPr/>
        </p:nvSpPr>
        <p:spPr>
          <a:xfrm>
            <a:off x="2898648" y="402793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73,8%</a:t>
            </a:r>
          </a:p>
        </p:txBody>
      </p:sp>
      <p:sp>
        <p:nvSpPr>
          <p:cNvPr id="207" name="lim c0f21"/>
          <p:cNvSpPr txBox="1"/>
          <p:nvPr/>
        </p:nvSpPr>
        <p:spPr>
          <a:xfrm>
            <a:off x="3337560" y="402793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 de 20</a:t>
            </a:r>
          </a:p>
        </p:txBody>
      </p:sp>
      <p:sp>
        <p:nvSpPr>
          <p:cNvPr id="208" name="marca c0f21"/>
          <p:cNvSpPr txBox="1"/>
          <p:nvPr/>
        </p:nvSpPr>
        <p:spPr>
          <a:xfrm>
            <a:off x="3849624" y="402793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209" name="banda c0f22"/>
          <p:cNvSpPr/>
          <p:nvPr/>
        </p:nvSpPr>
        <p:spPr>
          <a:xfrm>
            <a:off x="411480" y="4157472"/>
            <a:ext cx="4114800" cy="129540"/>
          </a:xfrm>
          <a:prstGeom prst="rect">
            <a:avLst/>
          </a:prstGeom>
          <a:solidFill>
            <a:srgbClr val="FFFFFF"/>
          </a:solidFill>
          <a:ln>
            <a:noFill/>
          </a:ln>
        </p:spPr>
        <p:txBody>
          <a:bodyPr rtlCol="0" anchor="ctr"/>
          <a:lstStyle/>
          <a:p>
            <a:pPr algn="ctr"/>
            <a:endParaRPr lang="es-CO" noProof="0" dirty="0"/>
          </a:p>
        </p:txBody>
      </p:sp>
      <p:sp>
        <p:nvSpPr>
          <p:cNvPr id="210" name="num c0f22"/>
          <p:cNvSpPr txBox="1"/>
          <p:nvPr/>
        </p:nvSpPr>
        <p:spPr>
          <a:xfrm>
            <a:off x="411480" y="415747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23</a:t>
            </a:r>
          </a:p>
        </p:txBody>
      </p:sp>
      <p:sp>
        <p:nvSpPr>
          <p:cNvPr id="211" name="nombre c0f22"/>
          <p:cNvSpPr txBox="1"/>
          <p:nvPr/>
        </p:nvSpPr>
        <p:spPr>
          <a:xfrm>
            <a:off x="630936" y="415747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446p</a:t>
            </a:r>
          </a:p>
        </p:txBody>
      </p:sp>
      <p:sp>
        <p:nvSpPr>
          <p:cNvPr id="212" name="barra c0f22"/>
          <p:cNvSpPr/>
          <p:nvPr/>
        </p:nvSpPr>
        <p:spPr>
          <a:xfrm>
            <a:off x="1307592" y="4185971"/>
            <a:ext cx="839742"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213" name="diseno c0f22"/>
          <p:cNvSpPr/>
          <p:nvPr/>
        </p:nvSpPr>
        <p:spPr>
          <a:xfrm>
            <a:off x="2442728" y="4167835"/>
            <a:ext cx="10973" cy="108814"/>
          </a:xfrm>
          <a:prstGeom prst="rect">
            <a:avLst/>
          </a:prstGeom>
          <a:solidFill>
            <a:srgbClr val="1B3A6B"/>
          </a:solidFill>
          <a:ln w="12700">
            <a:noFill/>
          </a:ln>
        </p:spPr>
        <p:txBody>
          <a:bodyPr rtlCol="0" anchor="ctr"/>
          <a:lstStyle/>
          <a:p>
            <a:pPr algn="ctr"/>
            <a:endParaRPr lang="es-CO" noProof="0" dirty="0"/>
          </a:p>
        </p:txBody>
      </p:sp>
      <p:sp>
        <p:nvSpPr>
          <p:cNvPr id="214" name="real c0f22"/>
          <p:cNvSpPr txBox="1"/>
          <p:nvPr/>
        </p:nvSpPr>
        <p:spPr>
          <a:xfrm>
            <a:off x="2496312" y="415747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974</a:t>
            </a:r>
          </a:p>
        </p:txBody>
      </p:sp>
      <p:sp>
        <p:nvSpPr>
          <p:cNvPr id="215" name="pd c0f22"/>
          <p:cNvSpPr txBox="1"/>
          <p:nvPr/>
        </p:nvSpPr>
        <p:spPr>
          <a:xfrm>
            <a:off x="2898648" y="415747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73,6%</a:t>
            </a:r>
          </a:p>
        </p:txBody>
      </p:sp>
      <p:sp>
        <p:nvSpPr>
          <p:cNvPr id="216" name="lim c0f22"/>
          <p:cNvSpPr txBox="1"/>
          <p:nvPr/>
        </p:nvSpPr>
        <p:spPr>
          <a:xfrm>
            <a:off x="3337560" y="415747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5 de 20</a:t>
            </a:r>
          </a:p>
        </p:txBody>
      </p:sp>
      <p:sp>
        <p:nvSpPr>
          <p:cNvPr id="217" name="marca c0f22"/>
          <p:cNvSpPr txBox="1"/>
          <p:nvPr/>
        </p:nvSpPr>
        <p:spPr>
          <a:xfrm>
            <a:off x="3849624" y="415747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Deye</a:t>
            </a:r>
          </a:p>
        </p:txBody>
      </p:sp>
      <p:sp>
        <p:nvSpPr>
          <p:cNvPr id="218" name="num c0f23"/>
          <p:cNvSpPr txBox="1"/>
          <p:nvPr/>
        </p:nvSpPr>
        <p:spPr>
          <a:xfrm>
            <a:off x="411480" y="428701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24</a:t>
            </a:r>
          </a:p>
        </p:txBody>
      </p:sp>
      <p:sp>
        <p:nvSpPr>
          <p:cNvPr id="219" name="nombre c0f23"/>
          <p:cNvSpPr txBox="1"/>
          <p:nvPr/>
        </p:nvSpPr>
        <p:spPr>
          <a:xfrm>
            <a:off x="630936" y="428701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76 †</a:t>
            </a:r>
          </a:p>
        </p:txBody>
      </p:sp>
      <p:sp>
        <p:nvSpPr>
          <p:cNvPr id="220" name="barra c0f23"/>
          <p:cNvSpPr/>
          <p:nvPr/>
        </p:nvSpPr>
        <p:spPr>
          <a:xfrm>
            <a:off x="1307592" y="4315511"/>
            <a:ext cx="829812"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21" name="diseno c0f23"/>
          <p:cNvSpPr/>
          <p:nvPr/>
        </p:nvSpPr>
        <p:spPr>
          <a:xfrm>
            <a:off x="2326338" y="4297375"/>
            <a:ext cx="10973" cy="108814"/>
          </a:xfrm>
          <a:prstGeom prst="rect">
            <a:avLst/>
          </a:prstGeom>
          <a:solidFill>
            <a:srgbClr val="1B3A6B"/>
          </a:solidFill>
          <a:ln w="12700">
            <a:noFill/>
          </a:ln>
        </p:spPr>
        <p:txBody>
          <a:bodyPr rtlCol="0" anchor="ctr"/>
          <a:lstStyle/>
          <a:p>
            <a:pPr algn="ctr"/>
            <a:endParaRPr lang="es-CO" noProof="0" dirty="0"/>
          </a:p>
        </p:txBody>
      </p:sp>
      <p:sp>
        <p:nvSpPr>
          <p:cNvPr id="222" name="real c0f23"/>
          <p:cNvSpPr txBox="1"/>
          <p:nvPr/>
        </p:nvSpPr>
        <p:spPr>
          <a:xfrm>
            <a:off x="2496312" y="428701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962</a:t>
            </a:r>
          </a:p>
        </p:txBody>
      </p:sp>
      <p:sp>
        <p:nvSpPr>
          <p:cNvPr id="223" name="pd c0f23"/>
          <p:cNvSpPr txBox="1"/>
          <p:nvPr/>
        </p:nvSpPr>
        <p:spPr>
          <a:xfrm>
            <a:off x="2898648" y="428701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81,0%</a:t>
            </a:r>
          </a:p>
        </p:txBody>
      </p:sp>
      <p:sp>
        <p:nvSpPr>
          <p:cNvPr id="224" name="lim c0f23"/>
          <p:cNvSpPr txBox="1"/>
          <p:nvPr/>
        </p:nvSpPr>
        <p:spPr>
          <a:xfrm>
            <a:off x="3337560" y="428701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 de 20</a:t>
            </a:r>
          </a:p>
        </p:txBody>
      </p:sp>
      <p:sp>
        <p:nvSpPr>
          <p:cNvPr id="225" name="marca c0f23"/>
          <p:cNvSpPr txBox="1"/>
          <p:nvPr/>
        </p:nvSpPr>
        <p:spPr>
          <a:xfrm>
            <a:off x="3849624" y="428701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226" name="banda c1f0"/>
          <p:cNvSpPr/>
          <p:nvPr/>
        </p:nvSpPr>
        <p:spPr>
          <a:xfrm>
            <a:off x="4636008" y="1307592"/>
            <a:ext cx="4114800" cy="129540"/>
          </a:xfrm>
          <a:prstGeom prst="rect">
            <a:avLst/>
          </a:prstGeom>
          <a:solidFill>
            <a:srgbClr val="FFFFFF"/>
          </a:solidFill>
          <a:ln>
            <a:noFill/>
          </a:ln>
        </p:spPr>
        <p:txBody>
          <a:bodyPr rtlCol="0" anchor="ctr"/>
          <a:lstStyle/>
          <a:p>
            <a:pPr algn="ctr"/>
            <a:endParaRPr lang="es-CO" noProof="0" dirty="0"/>
          </a:p>
        </p:txBody>
      </p:sp>
      <p:sp>
        <p:nvSpPr>
          <p:cNvPr id="227" name="num c1f0"/>
          <p:cNvSpPr txBox="1"/>
          <p:nvPr/>
        </p:nvSpPr>
        <p:spPr>
          <a:xfrm>
            <a:off x="4636008" y="130759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25</a:t>
            </a:r>
          </a:p>
        </p:txBody>
      </p:sp>
      <p:sp>
        <p:nvSpPr>
          <p:cNvPr id="228" name="nombre c1f0"/>
          <p:cNvSpPr txBox="1"/>
          <p:nvPr/>
        </p:nvSpPr>
        <p:spPr>
          <a:xfrm>
            <a:off x="4855464" y="130759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435p</a:t>
            </a:r>
          </a:p>
        </p:txBody>
      </p:sp>
      <p:sp>
        <p:nvSpPr>
          <p:cNvPr id="229" name="barra c1f0"/>
          <p:cNvSpPr/>
          <p:nvPr/>
        </p:nvSpPr>
        <p:spPr>
          <a:xfrm>
            <a:off x="5532120" y="1336091"/>
            <a:ext cx="828148"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230" name="diseno c1f0"/>
          <p:cNvSpPr/>
          <p:nvPr/>
        </p:nvSpPr>
        <p:spPr>
          <a:xfrm>
            <a:off x="6667256" y="1317955"/>
            <a:ext cx="10973" cy="108814"/>
          </a:xfrm>
          <a:prstGeom prst="rect">
            <a:avLst/>
          </a:prstGeom>
          <a:solidFill>
            <a:srgbClr val="1B3A6B"/>
          </a:solidFill>
          <a:ln w="12700">
            <a:noFill/>
          </a:ln>
        </p:spPr>
        <p:txBody>
          <a:bodyPr rtlCol="0" anchor="ctr"/>
          <a:lstStyle/>
          <a:p>
            <a:pPr algn="ctr"/>
            <a:endParaRPr lang="es-CO" noProof="0" dirty="0"/>
          </a:p>
        </p:txBody>
      </p:sp>
      <p:sp>
        <p:nvSpPr>
          <p:cNvPr id="231" name="real c1f0"/>
          <p:cNvSpPr txBox="1"/>
          <p:nvPr/>
        </p:nvSpPr>
        <p:spPr>
          <a:xfrm>
            <a:off x="6720840" y="130759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961</a:t>
            </a:r>
          </a:p>
        </p:txBody>
      </p:sp>
      <p:sp>
        <p:nvSpPr>
          <p:cNvPr id="232" name="pd c1f0"/>
          <p:cNvSpPr txBox="1"/>
          <p:nvPr/>
        </p:nvSpPr>
        <p:spPr>
          <a:xfrm>
            <a:off x="7123176" y="130759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72,6%</a:t>
            </a:r>
          </a:p>
        </p:txBody>
      </p:sp>
      <p:sp>
        <p:nvSpPr>
          <p:cNvPr id="233" name="lim c1f0"/>
          <p:cNvSpPr txBox="1"/>
          <p:nvPr/>
        </p:nvSpPr>
        <p:spPr>
          <a:xfrm>
            <a:off x="7562088" y="130759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0 de 20</a:t>
            </a:r>
          </a:p>
        </p:txBody>
      </p:sp>
      <p:sp>
        <p:nvSpPr>
          <p:cNvPr id="234" name="marca c1f0"/>
          <p:cNvSpPr txBox="1"/>
          <p:nvPr/>
        </p:nvSpPr>
        <p:spPr>
          <a:xfrm>
            <a:off x="8074152" y="130759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235" name="num c1f1"/>
          <p:cNvSpPr txBox="1"/>
          <p:nvPr/>
        </p:nvSpPr>
        <p:spPr>
          <a:xfrm>
            <a:off x="4636008" y="143713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26</a:t>
            </a:r>
          </a:p>
        </p:txBody>
      </p:sp>
      <p:sp>
        <p:nvSpPr>
          <p:cNvPr id="236" name="nombre c1f1"/>
          <p:cNvSpPr txBox="1"/>
          <p:nvPr/>
        </p:nvSpPr>
        <p:spPr>
          <a:xfrm>
            <a:off x="4855464" y="143713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30</a:t>
            </a:r>
          </a:p>
        </p:txBody>
      </p:sp>
      <p:sp>
        <p:nvSpPr>
          <p:cNvPr id="237" name="barra c1f1"/>
          <p:cNvSpPr/>
          <p:nvPr/>
        </p:nvSpPr>
        <p:spPr>
          <a:xfrm>
            <a:off x="5532120" y="1465631"/>
            <a:ext cx="828028"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38" name="diseno c1f1"/>
          <p:cNvSpPr/>
          <p:nvPr/>
        </p:nvSpPr>
        <p:spPr>
          <a:xfrm>
            <a:off x="6550866" y="1447495"/>
            <a:ext cx="10973" cy="108814"/>
          </a:xfrm>
          <a:prstGeom prst="rect">
            <a:avLst/>
          </a:prstGeom>
          <a:solidFill>
            <a:srgbClr val="1B3A6B"/>
          </a:solidFill>
          <a:ln w="12700">
            <a:noFill/>
          </a:ln>
        </p:spPr>
        <p:txBody>
          <a:bodyPr rtlCol="0" anchor="ctr"/>
          <a:lstStyle/>
          <a:p>
            <a:pPr algn="ctr"/>
            <a:endParaRPr lang="es-CO" noProof="0" dirty="0"/>
          </a:p>
        </p:txBody>
      </p:sp>
      <p:sp>
        <p:nvSpPr>
          <p:cNvPr id="239" name="real c1f1"/>
          <p:cNvSpPr txBox="1"/>
          <p:nvPr/>
        </p:nvSpPr>
        <p:spPr>
          <a:xfrm>
            <a:off x="6720840" y="143713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960</a:t>
            </a:r>
          </a:p>
        </p:txBody>
      </p:sp>
      <p:sp>
        <p:nvSpPr>
          <p:cNvPr id="240" name="pd c1f1"/>
          <p:cNvSpPr txBox="1"/>
          <p:nvPr/>
        </p:nvSpPr>
        <p:spPr>
          <a:xfrm>
            <a:off x="7123176" y="143713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80,8%</a:t>
            </a:r>
          </a:p>
        </p:txBody>
      </p:sp>
      <p:sp>
        <p:nvSpPr>
          <p:cNvPr id="241" name="lim c1f1"/>
          <p:cNvSpPr txBox="1"/>
          <p:nvPr/>
        </p:nvSpPr>
        <p:spPr>
          <a:xfrm>
            <a:off x="7562088" y="143713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5 de 20</a:t>
            </a:r>
          </a:p>
        </p:txBody>
      </p:sp>
      <p:sp>
        <p:nvSpPr>
          <p:cNvPr id="242" name="marca c1f1"/>
          <p:cNvSpPr txBox="1"/>
          <p:nvPr/>
        </p:nvSpPr>
        <p:spPr>
          <a:xfrm>
            <a:off x="8074152" y="143713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243" name="banda c1f2"/>
          <p:cNvSpPr/>
          <p:nvPr/>
        </p:nvSpPr>
        <p:spPr>
          <a:xfrm>
            <a:off x="4636008" y="1566672"/>
            <a:ext cx="4114800" cy="129540"/>
          </a:xfrm>
          <a:prstGeom prst="rect">
            <a:avLst/>
          </a:prstGeom>
          <a:solidFill>
            <a:srgbClr val="FFFFFF"/>
          </a:solidFill>
          <a:ln>
            <a:noFill/>
          </a:ln>
        </p:spPr>
        <p:txBody>
          <a:bodyPr rtlCol="0" anchor="ctr"/>
          <a:lstStyle/>
          <a:p>
            <a:pPr algn="ctr"/>
            <a:endParaRPr lang="es-CO" noProof="0" dirty="0"/>
          </a:p>
        </p:txBody>
      </p:sp>
      <p:sp>
        <p:nvSpPr>
          <p:cNvPr id="244" name="num c1f2"/>
          <p:cNvSpPr txBox="1"/>
          <p:nvPr/>
        </p:nvSpPr>
        <p:spPr>
          <a:xfrm>
            <a:off x="4636008" y="156667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27</a:t>
            </a:r>
          </a:p>
        </p:txBody>
      </p:sp>
      <p:sp>
        <p:nvSpPr>
          <p:cNvPr id="245" name="nombre c1f2"/>
          <p:cNvSpPr txBox="1"/>
          <p:nvPr/>
        </p:nvSpPr>
        <p:spPr>
          <a:xfrm>
            <a:off x="4855464" y="156667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42</a:t>
            </a:r>
          </a:p>
        </p:txBody>
      </p:sp>
      <p:sp>
        <p:nvSpPr>
          <p:cNvPr id="246" name="barra c1f2"/>
          <p:cNvSpPr/>
          <p:nvPr/>
        </p:nvSpPr>
        <p:spPr>
          <a:xfrm>
            <a:off x="5532120" y="1595171"/>
            <a:ext cx="825107"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47" name="diseno c1f2"/>
          <p:cNvSpPr/>
          <p:nvPr/>
        </p:nvSpPr>
        <p:spPr>
          <a:xfrm>
            <a:off x="6550866" y="1577035"/>
            <a:ext cx="10973" cy="108814"/>
          </a:xfrm>
          <a:prstGeom prst="rect">
            <a:avLst/>
          </a:prstGeom>
          <a:solidFill>
            <a:srgbClr val="1B3A6B"/>
          </a:solidFill>
          <a:ln w="12700">
            <a:noFill/>
          </a:ln>
        </p:spPr>
        <p:txBody>
          <a:bodyPr rtlCol="0" anchor="ctr"/>
          <a:lstStyle/>
          <a:p>
            <a:pPr algn="ctr"/>
            <a:endParaRPr lang="es-CO" noProof="0" dirty="0"/>
          </a:p>
        </p:txBody>
      </p:sp>
      <p:sp>
        <p:nvSpPr>
          <p:cNvPr id="248" name="real c1f2"/>
          <p:cNvSpPr txBox="1"/>
          <p:nvPr/>
        </p:nvSpPr>
        <p:spPr>
          <a:xfrm>
            <a:off x="6720840" y="156667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957</a:t>
            </a:r>
          </a:p>
        </p:txBody>
      </p:sp>
      <p:sp>
        <p:nvSpPr>
          <p:cNvPr id="249" name="pd c1f2"/>
          <p:cNvSpPr txBox="1"/>
          <p:nvPr/>
        </p:nvSpPr>
        <p:spPr>
          <a:xfrm>
            <a:off x="7123176" y="156667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80,6%</a:t>
            </a:r>
          </a:p>
        </p:txBody>
      </p:sp>
      <p:sp>
        <p:nvSpPr>
          <p:cNvPr id="250" name="lim c1f2"/>
          <p:cNvSpPr txBox="1"/>
          <p:nvPr/>
        </p:nvSpPr>
        <p:spPr>
          <a:xfrm>
            <a:off x="7562088" y="156667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0 de 20</a:t>
            </a:r>
          </a:p>
        </p:txBody>
      </p:sp>
      <p:sp>
        <p:nvSpPr>
          <p:cNvPr id="251" name="marca c1f2"/>
          <p:cNvSpPr txBox="1"/>
          <p:nvPr/>
        </p:nvSpPr>
        <p:spPr>
          <a:xfrm>
            <a:off x="8074152" y="156667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252" name="num c1f3"/>
          <p:cNvSpPr txBox="1"/>
          <p:nvPr/>
        </p:nvSpPr>
        <p:spPr>
          <a:xfrm>
            <a:off x="4636008" y="169621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28</a:t>
            </a:r>
          </a:p>
        </p:txBody>
      </p:sp>
      <p:sp>
        <p:nvSpPr>
          <p:cNvPr id="253" name="nombre c1f3"/>
          <p:cNvSpPr txBox="1"/>
          <p:nvPr/>
        </p:nvSpPr>
        <p:spPr>
          <a:xfrm>
            <a:off x="4855464" y="169621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73 †</a:t>
            </a:r>
          </a:p>
        </p:txBody>
      </p:sp>
      <p:sp>
        <p:nvSpPr>
          <p:cNvPr id="254" name="barra c1f3"/>
          <p:cNvSpPr/>
          <p:nvPr/>
        </p:nvSpPr>
        <p:spPr>
          <a:xfrm>
            <a:off x="5532120" y="1724711"/>
            <a:ext cx="795759"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255" name="diseno c1f3"/>
          <p:cNvSpPr/>
          <p:nvPr/>
        </p:nvSpPr>
        <p:spPr>
          <a:xfrm>
            <a:off x="6550866" y="1706575"/>
            <a:ext cx="10973" cy="108814"/>
          </a:xfrm>
          <a:prstGeom prst="rect">
            <a:avLst/>
          </a:prstGeom>
          <a:solidFill>
            <a:srgbClr val="1B3A6B"/>
          </a:solidFill>
          <a:ln w="12700">
            <a:noFill/>
          </a:ln>
        </p:spPr>
        <p:txBody>
          <a:bodyPr rtlCol="0" anchor="ctr"/>
          <a:lstStyle/>
          <a:p>
            <a:pPr algn="ctr"/>
            <a:endParaRPr lang="es-CO" noProof="0" dirty="0"/>
          </a:p>
        </p:txBody>
      </p:sp>
      <p:sp>
        <p:nvSpPr>
          <p:cNvPr id="256" name="real c1f3"/>
          <p:cNvSpPr txBox="1"/>
          <p:nvPr/>
        </p:nvSpPr>
        <p:spPr>
          <a:xfrm>
            <a:off x="6720840" y="169621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923</a:t>
            </a:r>
          </a:p>
        </p:txBody>
      </p:sp>
      <p:sp>
        <p:nvSpPr>
          <p:cNvPr id="257" name="pd c1f3"/>
          <p:cNvSpPr txBox="1"/>
          <p:nvPr/>
        </p:nvSpPr>
        <p:spPr>
          <a:xfrm>
            <a:off x="7123176" y="169621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77,7%</a:t>
            </a:r>
          </a:p>
        </p:txBody>
      </p:sp>
      <p:sp>
        <p:nvSpPr>
          <p:cNvPr id="258" name="lim c1f3"/>
          <p:cNvSpPr txBox="1"/>
          <p:nvPr/>
        </p:nvSpPr>
        <p:spPr>
          <a:xfrm>
            <a:off x="7562088" y="169621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5 de 20</a:t>
            </a:r>
          </a:p>
        </p:txBody>
      </p:sp>
      <p:sp>
        <p:nvSpPr>
          <p:cNvPr id="259" name="marca c1f3"/>
          <p:cNvSpPr txBox="1"/>
          <p:nvPr/>
        </p:nvSpPr>
        <p:spPr>
          <a:xfrm>
            <a:off x="8074152" y="169621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260" name="banda c1f4"/>
          <p:cNvSpPr/>
          <p:nvPr/>
        </p:nvSpPr>
        <p:spPr>
          <a:xfrm>
            <a:off x="4636008" y="1825752"/>
            <a:ext cx="4114800" cy="129540"/>
          </a:xfrm>
          <a:prstGeom prst="rect">
            <a:avLst/>
          </a:prstGeom>
          <a:solidFill>
            <a:srgbClr val="FFFFFF"/>
          </a:solidFill>
          <a:ln>
            <a:noFill/>
          </a:ln>
        </p:spPr>
        <p:txBody>
          <a:bodyPr rtlCol="0" anchor="ctr"/>
          <a:lstStyle/>
          <a:p>
            <a:pPr algn="ctr"/>
            <a:endParaRPr lang="es-CO" noProof="0" dirty="0"/>
          </a:p>
        </p:txBody>
      </p:sp>
      <p:sp>
        <p:nvSpPr>
          <p:cNvPr id="261" name="num c1f4"/>
          <p:cNvSpPr txBox="1"/>
          <p:nvPr/>
        </p:nvSpPr>
        <p:spPr>
          <a:xfrm>
            <a:off x="4636008" y="182575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29</a:t>
            </a:r>
          </a:p>
        </p:txBody>
      </p:sp>
      <p:sp>
        <p:nvSpPr>
          <p:cNvPr id="262" name="nombre c1f4"/>
          <p:cNvSpPr txBox="1"/>
          <p:nvPr/>
        </p:nvSpPr>
        <p:spPr>
          <a:xfrm>
            <a:off x="4855464" y="182575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70</a:t>
            </a:r>
          </a:p>
        </p:txBody>
      </p:sp>
      <p:sp>
        <p:nvSpPr>
          <p:cNvPr id="263" name="barra c1f4"/>
          <p:cNvSpPr/>
          <p:nvPr/>
        </p:nvSpPr>
        <p:spPr>
          <a:xfrm>
            <a:off x="5532120" y="1854251"/>
            <a:ext cx="792951"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264" name="diseno c1f4"/>
          <p:cNvSpPr/>
          <p:nvPr/>
        </p:nvSpPr>
        <p:spPr>
          <a:xfrm>
            <a:off x="6550866" y="1836115"/>
            <a:ext cx="10973" cy="108814"/>
          </a:xfrm>
          <a:prstGeom prst="rect">
            <a:avLst/>
          </a:prstGeom>
          <a:solidFill>
            <a:srgbClr val="1B3A6B"/>
          </a:solidFill>
          <a:ln w="12700">
            <a:noFill/>
          </a:ln>
        </p:spPr>
        <p:txBody>
          <a:bodyPr rtlCol="0" anchor="ctr"/>
          <a:lstStyle/>
          <a:p>
            <a:pPr algn="ctr"/>
            <a:endParaRPr lang="es-CO" noProof="0" dirty="0"/>
          </a:p>
        </p:txBody>
      </p:sp>
      <p:sp>
        <p:nvSpPr>
          <p:cNvPr id="265" name="real c1f4"/>
          <p:cNvSpPr txBox="1"/>
          <p:nvPr/>
        </p:nvSpPr>
        <p:spPr>
          <a:xfrm>
            <a:off x="6720840" y="182575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920</a:t>
            </a:r>
          </a:p>
        </p:txBody>
      </p:sp>
      <p:sp>
        <p:nvSpPr>
          <p:cNvPr id="266" name="pd c1f4"/>
          <p:cNvSpPr txBox="1"/>
          <p:nvPr/>
        </p:nvSpPr>
        <p:spPr>
          <a:xfrm>
            <a:off x="7123176" y="182575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77,4%</a:t>
            </a:r>
          </a:p>
        </p:txBody>
      </p:sp>
      <p:sp>
        <p:nvSpPr>
          <p:cNvPr id="267" name="lim c1f4"/>
          <p:cNvSpPr txBox="1"/>
          <p:nvPr/>
        </p:nvSpPr>
        <p:spPr>
          <a:xfrm>
            <a:off x="7562088" y="182575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8 de 20</a:t>
            </a:r>
          </a:p>
        </p:txBody>
      </p:sp>
      <p:sp>
        <p:nvSpPr>
          <p:cNvPr id="268" name="marca c1f4"/>
          <p:cNvSpPr txBox="1"/>
          <p:nvPr/>
        </p:nvSpPr>
        <p:spPr>
          <a:xfrm>
            <a:off x="8074152" y="182575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Deye</a:t>
            </a:r>
          </a:p>
        </p:txBody>
      </p:sp>
      <p:sp>
        <p:nvSpPr>
          <p:cNvPr id="269" name="num c1f5"/>
          <p:cNvSpPr txBox="1"/>
          <p:nvPr/>
        </p:nvSpPr>
        <p:spPr>
          <a:xfrm>
            <a:off x="4636008" y="195529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30</a:t>
            </a:r>
          </a:p>
        </p:txBody>
      </p:sp>
      <p:sp>
        <p:nvSpPr>
          <p:cNvPr id="270" name="nombre c1f5"/>
          <p:cNvSpPr txBox="1"/>
          <p:nvPr/>
        </p:nvSpPr>
        <p:spPr>
          <a:xfrm>
            <a:off x="4855464" y="195529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412p</a:t>
            </a:r>
          </a:p>
        </p:txBody>
      </p:sp>
      <p:sp>
        <p:nvSpPr>
          <p:cNvPr id="271" name="barra c1f5"/>
          <p:cNvSpPr/>
          <p:nvPr/>
        </p:nvSpPr>
        <p:spPr>
          <a:xfrm>
            <a:off x="5532120" y="1983791"/>
            <a:ext cx="792015"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272" name="diseno c1f5"/>
          <p:cNvSpPr/>
          <p:nvPr/>
        </p:nvSpPr>
        <p:spPr>
          <a:xfrm>
            <a:off x="6667256" y="1965655"/>
            <a:ext cx="10973" cy="108814"/>
          </a:xfrm>
          <a:prstGeom prst="rect">
            <a:avLst/>
          </a:prstGeom>
          <a:solidFill>
            <a:srgbClr val="1B3A6B"/>
          </a:solidFill>
          <a:ln w="12700">
            <a:noFill/>
          </a:ln>
        </p:spPr>
        <p:txBody>
          <a:bodyPr rtlCol="0" anchor="ctr"/>
          <a:lstStyle/>
          <a:p>
            <a:pPr algn="ctr"/>
            <a:endParaRPr lang="es-CO" noProof="0" dirty="0"/>
          </a:p>
        </p:txBody>
      </p:sp>
      <p:sp>
        <p:nvSpPr>
          <p:cNvPr id="273" name="real c1f5"/>
          <p:cNvSpPr txBox="1"/>
          <p:nvPr/>
        </p:nvSpPr>
        <p:spPr>
          <a:xfrm>
            <a:off x="6720840" y="195529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919</a:t>
            </a:r>
          </a:p>
        </p:txBody>
      </p:sp>
      <p:sp>
        <p:nvSpPr>
          <p:cNvPr id="274" name="pd c1f5"/>
          <p:cNvSpPr txBox="1"/>
          <p:nvPr/>
        </p:nvSpPr>
        <p:spPr>
          <a:xfrm>
            <a:off x="7123176" y="195529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69,4%</a:t>
            </a:r>
          </a:p>
        </p:txBody>
      </p:sp>
      <p:sp>
        <p:nvSpPr>
          <p:cNvPr id="275" name="lim c1f5"/>
          <p:cNvSpPr txBox="1"/>
          <p:nvPr/>
        </p:nvSpPr>
        <p:spPr>
          <a:xfrm>
            <a:off x="7562088" y="195529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5 de 20</a:t>
            </a:r>
          </a:p>
        </p:txBody>
      </p:sp>
      <p:sp>
        <p:nvSpPr>
          <p:cNvPr id="276" name="marca c1f5"/>
          <p:cNvSpPr txBox="1"/>
          <p:nvPr/>
        </p:nvSpPr>
        <p:spPr>
          <a:xfrm>
            <a:off x="8074152" y="195529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Deye</a:t>
            </a:r>
          </a:p>
        </p:txBody>
      </p:sp>
      <p:sp>
        <p:nvSpPr>
          <p:cNvPr id="277" name="banda c1f6"/>
          <p:cNvSpPr/>
          <p:nvPr/>
        </p:nvSpPr>
        <p:spPr>
          <a:xfrm>
            <a:off x="4636008" y="2084832"/>
            <a:ext cx="4114800" cy="129540"/>
          </a:xfrm>
          <a:prstGeom prst="rect">
            <a:avLst/>
          </a:prstGeom>
          <a:solidFill>
            <a:srgbClr val="FFFFFF"/>
          </a:solidFill>
          <a:ln>
            <a:noFill/>
          </a:ln>
        </p:spPr>
        <p:txBody>
          <a:bodyPr rtlCol="0" anchor="ctr"/>
          <a:lstStyle/>
          <a:p>
            <a:pPr algn="ctr"/>
            <a:endParaRPr lang="es-CO" noProof="0" dirty="0"/>
          </a:p>
        </p:txBody>
      </p:sp>
      <p:sp>
        <p:nvSpPr>
          <p:cNvPr id="278" name="num c1f6"/>
          <p:cNvSpPr txBox="1"/>
          <p:nvPr/>
        </p:nvSpPr>
        <p:spPr>
          <a:xfrm>
            <a:off x="4636008" y="208483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31</a:t>
            </a:r>
          </a:p>
        </p:txBody>
      </p:sp>
      <p:sp>
        <p:nvSpPr>
          <p:cNvPr id="279" name="nombre c1f6"/>
          <p:cNvSpPr txBox="1"/>
          <p:nvPr/>
        </p:nvSpPr>
        <p:spPr>
          <a:xfrm>
            <a:off x="4855464" y="208483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18</a:t>
            </a:r>
          </a:p>
        </p:txBody>
      </p:sp>
      <p:sp>
        <p:nvSpPr>
          <p:cNvPr id="280" name="barra c1f6"/>
          <p:cNvSpPr/>
          <p:nvPr/>
        </p:nvSpPr>
        <p:spPr>
          <a:xfrm>
            <a:off x="5532120" y="2113331"/>
            <a:ext cx="774459"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281" name="diseno c1f6"/>
          <p:cNvSpPr/>
          <p:nvPr/>
        </p:nvSpPr>
        <p:spPr>
          <a:xfrm>
            <a:off x="6550866" y="2095195"/>
            <a:ext cx="10973" cy="108814"/>
          </a:xfrm>
          <a:prstGeom prst="rect">
            <a:avLst/>
          </a:prstGeom>
          <a:solidFill>
            <a:srgbClr val="1B3A6B"/>
          </a:solidFill>
          <a:ln w="12700">
            <a:noFill/>
          </a:ln>
        </p:spPr>
        <p:txBody>
          <a:bodyPr rtlCol="0" anchor="ctr"/>
          <a:lstStyle/>
          <a:p>
            <a:pPr algn="ctr"/>
            <a:endParaRPr lang="es-CO" noProof="0" dirty="0"/>
          </a:p>
        </p:txBody>
      </p:sp>
      <p:sp>
        <p:nvSpPr>
          <p:cNvPr id="282" name="real c1f6"/>
          <p:cNvSpPr txBox="1"/>
          <p:nvPr/>
        </p:nvSpPr>
        <p:spPr>
          <a:xfrm>
            <a:off x="6720840" y="208483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898</a:t>
            </a:r>
          </a:p>
        </p:txBody>
      </p:sp>
      <p:sp>
        <p:nvSpPr>
          <p:cNvPr id="283" name="pd c1f6"/>
          <p:cNvSpPr txBox="1"/>
          <p:nvPr/>
        </p:nvSpPr>
        <p:spPr>
          <a:xfrm>
            <a:off x="7123176" y="208483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75,6%</a:t>
            </a:r>
          </a:p>
        </p:txBody>
      </p:sp>
      <p:sp>
        <p:nvSpPr>
          <p:cNvPr id="284" name="lim c1f6"/>
          <p:cNvSpPr txBox="1"/>
          <p:nvPr/>
        </p:nvSpPr>
        <p:spPr>
          <a:xfrm>
            <a:off x="7562088" y="208483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7 de 20</a:t>
            </a:r>
          </a:p>
        </p:txBody>
      </p:sp>
      <p:sp>
        <p:nvSpPr>
          <p:cNvPr id="285" name="marca c1f6"/>
          <p:cNvSpPr txBox="1"/>
          <p:nvPr/>
        </p:nvSpPr>
        <p:spPr>
          <a:xfrm>
            <a:off x="8074152" y="208483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286" name="num c1f7"/>
          <p:cNvSpPr txBox="1"/>
          <p:nvPr/>
        </p:nvSpPr>
        <p:spPr>
          <a:xfrm>
            <a:off x="4636008" y="221437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32</a:t>
            </a:r>
          </a:p>
        </p:txBody>
      </p:sp>
      <p:sp>
        <p:nvSpPr>
          <p:cNvPr id="287" name="nombre c1f7"/>
          <p:cNvSpPr txBox="1"/>
          <p:nvPr/>
        </p:nvSpPr>
        <p:spPr>
          <a:xfrm>
            <a:off x="4855464" y="221437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18PR</a:t>
            </a:r>
          </a:p>
        </p:txBody>
      </p:sp>
      <p:sp>
        <p:nvSpPr>
          <p:cNvPr id="288" name="barra c1f7"/>
          <p:cNvSpPr/>
          <p:nvPr/>
        </p:nvSpPr>
        <p:spPr>
          <a:xfrm>
            <a:off x="5532120" y="2242871"/>
            <a:ext cx="772472"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289" name="diseno c1f7"/>
          <p:cNvSpPr/>
          <p:nvPr/>
        </p:nvSpPr>
        <p:spPr>
          <a:xfrm>
            <a:off x="6550866" y="2224735"/>
            <a:ext cx="10973" cy="108814"/>
          </a:xfrm>
          <a:prstGeom prst="rect">
            <a:avLst/>
          </a:prstGeom>
          <a:solidFill>
            <a:srgbClr val="1B3A6B"/>
          </a:solidFill>
          <a:ln w="12700">
            <a:noFill/>
          </a:ln>
        </p:spPr>
        <p:txBody>
          <a:bodyPr rtlCol="0" anchor="ctr"/>
          <a:lstStyle/>
          <a:p>
            <a:pPr algn="ctr"/>
            <a:endParaRPr lang="es-CO" noProof="0" dirty="0"/>
          </a:p>
        </p:txBody>
      </p:sp>
      <p:sp>
        <p:nvSpPr>
          <p:cNvPr id="290" name="real c1f7"/>
          <p:cNvSpPr txBox="1"/>
          <p:nvPr/>
        </p:nvSpPr>
        <p:spPr>
          <a:xfrm>
            <a:off x="6720840" y="221437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896</a:t>
            </a:r>
          </a:p>
        </p:txBody>
      </p:sp>
      <p:sp>
        <p:nvSpPr>
          <p:cNvPr id="291" name="pd c1f7"/>
          <p:cNvSpPr txBox="1"/>
          <p:nvPr/>
        </p:nvSpPr>
        <p:spPr>
          <a:xfrm>
            <a:off x="7123176" y="221437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75,4%</a:t>
            </a:r>
          </a:p>
        </p:txBody>
      </p:sp>
      <p:sp>
        <p:nvSpPr>
          <p:cNvPr id="292" name="lim c1f7"/>
          <p:cNvSpPr txBox="1"/>
          <p:nvPr/>
        </p:nvSpPr>
        <p:spPr>
          <a:xfrm>
            <a:off x="7562088" y="221437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9 de 20</a:t>
            </a:r>
          </a:p>
        </p:txBody>
      </p:sp>
      <p:sp>
        <p:nvSpPr>
          <p:cNvPr id="293" name="marca c1f7"/>
          <p:cNvSpPr txBox="1"/>
          <p:nvPr/>
        </p:nvSpPr>
        <p:spPr>
          <a:xfrm>
            <a:off x="8074152" y="221437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Deye</a:t>
            </a:r>
          </a:p>
        </p:txBody>
      </p:sp>
      <p:sp>
        <p:nvSpPr>
          <p:cNvPr id="294" name="banda c1f8"/>
          <p:cNvSpPr/>
          <p:nvPr/>
        </p:nvSpPr>
        <p:spPr>
          <a:xfrm>
            <a:off x="4636008" y="2343912"/>
            <a:ext cx="4114800" cy="129540"/>
          </a:xfrm>
          <a:prstGeom prst="rect">
            <a:avLst/>
          </a:prstGeom>
          <a:solidFill>
            <a:srgbClr val="FFFFFF"/>
          </a:solidFill>
          <a:ln>
            <a:noFill/>
          </a:ln>
        </p:spPr>
        <p:txBody>
          <a:bodyPr rtlCol="0" anchor="ctr"/>
          <a:lstStyle/>
          <a:p>
            <a:pPr algn="ctr"/>
            <a:endParaRPr lang="es-CO" noProof="0" dirty="0"/>
          </a:p>
        </p:txBody>
      </p:sp>
      <p:sp>
        <p:nvSpPr>
          <p:cNvPr id="295" name="num c1f8"/>
          <p:cNvSpPr txBox="1"/>
          <p:nvPr/>
        </p:nvSpPr>
        <p:spPr>
          <a:xfrm>
            <a:off x="4636008" y="234391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33</a:t>
            </a:r>
          </a:p>
        </p:txBody>
      </p:sp>
      <p:sp>
        <p:nvSpPr>
          <p:cNvPr id="296" name="nombre c1f8"/>
          <p:cNvSpPr txBox="1"/>
          <p:nvPr/>
        </p:nvSpPr>
        <p:spPr>
          <a:xfrm>
            <a:off x="4855464" y="234391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12</a:t>
            </a:r>
          </a:p>
        </p:txBody>
      </p:sp>
      <p:sp>
        <p:nvSpPr>
          <p:cNvPr id="297" name="barra c1f8"/>
          <p:cNvSpPr/>
          <p:nvPr/>
        </p:nvSpPr>
        <p:spPr>
          <a:xfrm>
            <a:off x="5532120" y="2372411"/>
            <a:ext cx="743901"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298" name="diseno c1f8"/>
          <p:cNvSpPr/>
          <p:nvPr/>
        </p:nvSpPr>
        <p:spPr>
          <a:xfrm>
            <a:off x="6550866" y="2354275"/>
            <a:ext cx="10973" cy="108814"/>
          </a:xfrm>
          <a:prstGeom prst="rect">
            <a:avLst/>
          </a:prstGeom>
          <a:solidFill>
            <a:srgbClr val="1B3A6B"/>
          </a:solidFill>
          <a:ln w="12700">
            <a:noFill/>
          </a:ln>
        </p:spPr>
        <p:txBody>
          <a:bodyPr rtlCol="0" anchor="ctr"/>
          <a:lstStyle/>
          <a:p>
            <a:pPr algn="ctr"/>
            <a:endParaRPr lang="es-CO" noProof="0" dirty="0"/>
          </a:p>
        </p:txBody>
      </p:sp>
      <p:sp>
        <p:nvSpPr>
          <p:cNvPr id="299" name="real c1f8"/>
          <p:cNvSpPr txBox="1"/>
          <p:nvPr/>
        </p:nvSpPr>
        <p:spPr>
          <a:xfrm>
            <a:off x="6720840" y="234391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863</a:t>
            </a:r>
          </a:p>
        </p:txBody>
      </p:sp>
      <p:sp>
        <p:nvSpPr>
          <p:cNvPr id="300" name="pd c1f8"/>
          <p:cNvSpPr txBox="1"/>
          <p:nvPr/>
        </p:nvSpPr>
        <p:spPr>
          <a:xfrm>
            <a:off x="7123176" y="234391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72,6%</a:t>
            </a:r>
          </a:p>
        </p:txBody>
      </p:sp>
      <p:sp>
        <p:nvSpPr>
          <p:cNvPr id="301" name="lim c1f8"/>
          <p:cNvSpPr txBox="1"/>
          <p:nvPr/>
        </p:nvSpPr>
        <p:spPr>
          <a:xfrm>
            <a:off x="7562088" y="234391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9 de 20</a:t>
            </a:r>
          </a:p>
        </p:txBody>
      </p:sp>
      <p:sp>
        <p:nvSpPr>
          <p:cNvPr id="302" name="marca c1f8"/>
          <p:cNvSpPr txBox="1"/>
          <p:nvPr/>
        </p:nvSpPr>
        <p:spPr>
          <a:xfrm>
            <a:off x="8074152" y="234391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303" name="num c1f9"/>
          <p:cNvSpPr txBox="1"/>
          <p:nvPr/>
        </p:nvSpPr>
        <p:spPr>
          <a:xfrm>
            <a:off x="4636008" y="247345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34</a:t>
            </a:r>
          </a:p>
        </p:txBody>
      </p:sp>
      <p:sp>
        <p:nvSpPr>
          <p:cNvPr id="304" name="nombre c1f9"/>
          <p:cNvSpPr txBox="1"/>
          <p:nvPr/>
        </p:nvSpPr>
        <p:spPr>
          <a:xfrm>
            <a:off x="4855464" y="247345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55p</a:t>
            </a:r>
          </a:p>
        </p:txBody>
      </p:sp>
      <p:sp>
        <p:nvSpPr>
          <p:cNvPr id="305" name="barra c1f9"/>
          <p:cNvSpPr/>
          <p:nvPr/>
        </p:nvSpPr>
        <p:spPr>
          <a:xfrm>
            <a:off x="5532120" y="2501951"/>
            <a:ext cx="739954"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306" name="diseno c1f9"/>
          <p:cNvSpPr/>
          <p:nvPr/>
        </p:nvSpPr>
        <p:spPr>
          <a:xfrm>
            <a:off x="6667256" y="2483815"/>
            <a:ext cx="10973" cy="108814"/>
          </a:xfrm>
          <a:prstGeom prst="rect">
            <a:avLst/>
          </a:prstGeom>
          <a:solidFill>
            <a:srgbClr val="1B3A6B"/>
          </a:solidFill>
          <a:ln w="12700">
            <a:noFill/>
          </a:ln>
        </p:spPr>
        <p:txBody>
          <a:bodyPr rtlCol="0" anchor="ctr"/>
          <a:lstStyle/>
          <a:p>
            <a:pPr algn="ctr"/>
            <a:endParaRPr lang="es-CO" noProof="0" dirty="0"/>
          </a:p>
        </p:txBody>
      </p:sp>
      <p:sp>
        <p:nvSpPr>
          <p:cNvPr id="307" name="real c1f9"/>
          <p:cNvSpPr txBox="1"/>
          <p:nvPr/>
        </p:nvSpPr>
        <p:spPr>
          <a:xfrm>
            <a:off x="6720840" y="247345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858</a:t>
            </a:r>
          </a:p>
        </p:txBody>
      </p:sp>
      <p:sp>
        <p:nvSpPr>
          <p:cNvPr id="308" name="pd c1f9"/>
          <p:cNvSpPr txBox="1"/>
          <p:nvPr/>
        </p:nvSpPr>
        <p:spPr>
          <a:xfrm>
            <a:off x="7123176" y="247345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64,9%</a:t>
            </a:r>
          </a:p>
        </p:txBody>
      </p:sp>
      <p:sp>
        <p:nvSpPr>
          <p:cNvPr id="309" name="lim c1f9"/>
          <p:cNvSpPr txBox="1"/>
          <p:nvPr/>
        </p:nvSpPr>
        <p:spPr>
          <a:xfrm>
            <a:off x="7562088" y="247345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7 de 20</a:t>
            </a:r>
          </a:p>
        </p:txBody>
      </p:sp>
      <p:sp>
        <p:nvSpPr>
          <p:cNvPr id="310" name="marca c1f9"/>
          <p:cNvSpPr txBox="1"/>
          <p:nvPr/>
        </p:nvSpPr>
        <p:spPr>
          <a:xfrm>
            <a:off x="8074152" y="247345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Deye</a:t>
            </a:r>
          </a:p>
        </p:txBody>
      </p:sp>
      <p:sp>
        <p:nvSpPr>
          <p:cNvPr id="311" name="banda c1f10"/>
          <p:cNvSpPr/>
          <p:nvPr/>
        </p:nvSpPr>
        <p:spPr>
          <a:xfrm>
            <a:off x="4636008" y="2602992"/>
            <a:ext cx="4114800" cy="129540"/>
          </a:xfrm>
          <a:prstGeom prst="rect">
            <a:avLst/>
          </a:prstGeom>
          <a:solidFill>
            <a:srgbClr val="FFFFFF"/>
          </a:solidFill>
          <a:ln>
            <a:noFill/>
          </a:ln>
        </p:spPr>
        <p:txBody>
          <a:bodyPr rtlCol="0" anchor="ctr"/>
          <a:lstStyle/>
          <a:p>
            <a:pPr algn="ctr"/>
            <a:endParaRPr lang="es-CO" noProof="0" dirty="0"/>
          </a:p>
        </p:txBody>
      </p:sp>
      <p:sp>
        <p:nvSpPr>
          <p:cNvPr id="312" name="num c1f10"/>
          <p:cNvSpPr txBox="1"/>
          <p:nvPr/>
        </p:nvSpPr>
        <p:spPr>
          <a:xfrm>
            <a:off x="4636008" y="260299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35</a:t>
            </a:r>
          </a:p>
        </p:txBody>
      </p:sp>
      <p:sp>
        <p:nvSpPr>
          <p:cNvPr id="313" name="nombre c1f10"/>
          <p:cNvSpPr txBox="1"/>
          <p:nvPr/>
        </p:nvSpPr>
        <p:spPr>
          <a:xfrm>
            <a:off x="4855464" y="260299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29 †</a:t>
            </a:r>
          </a:p>
        </p:txBody>
      </p:sp>
      <p:sp>
        <p:nvSpPr>
          <p:cNvPr id="314" name="barra c1f10"/>
          <p:cNvSpPr/>
          <p:nvPr/>
        </p:nvSpPr>
        <p:spPr>
          <a:xfrm>
            <a:off x="5532120" y="2631491"/>
            <a:ext cx="726521"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315" name="diseno c1f10"/>
          <p:cNvSpPr/>
          <p:nvPr/>
        </p:nvSpPr>
        <p:spPr>
          <a:xfrm>
            <a:off x="6550866" y="2613355"/>
            <a:ext cx="10973" cy="108814"/>
          </a:xfrm>
          <a:prstGeom prst="rect">
            <a:avLst/>
          </a:prstGeom>
          <a:solidFill>
            <a:srgbClr val="1B3A6B"/>
          </a:solidFill>
          <a:ln w="12700">
            <a:noFill/>
          </a:ln>
        </p:spPr>
        <p:txBody>
          <a:bodyPr rtlCol="0" anchor="ctr"/>
          <a:lstStyle/>
          <a:p>
            <a:pPr algn="ctr"/>
            <a:endParaRPr lang="es-CO" noProof="0" dirty="0"/>
          </a:p>
        </p:txBody>
      </p:sp>
      <p:sp>
        <p:nvSpPr>
          <p:cNvPr id="316" name="real c1f10"/>
          <p:cNvSpPr txBox="1"/>
          <p:nvPr/>
        </p:nvSpPr>
        <p:spPr>
          <a:xfrm>
            <a:off x="6720840" y="260299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843</a:t>
            </a:r>
          </a:p>
        </p:txBody>
      </p:sp>
      <p:sp>
        <p:nvSpPr>
          <p:cNvPr id="317" name="pd c1f10"/>
          <p:cNvSpPr txBox="1"/>
          <p:nvPr/>
        </p:nvSpPr>
        <p:spPr>
          <a:xfrm>
            <a:off x="7123176" y="260299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70,9%</a:t>
            </a:r>
          </a:p>
        </p:txBody>
      </p:sp>
      <p:sp>
        <p:nvSpPr>
          <p:cNvPr id="318" name="lim c1f10"/>
          <p:cNvSpPr txBox="1"/>
          <p:nvPr/>
        </p:nvSpPr>
        <p:spPr>
          <a:xfrm>
            <a:off x="7562088" y="260299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6 de 20</a:t>
            </a:r>
          </a:p>
        </p:txBody>
      </p:sp>
      <p:sp>
        <p:nvSpPr>
          <p:cNvPr id="319" name="marca c1f10"/>
          <p:cNvSpPr txBox="1"/>
          <p:nvPr/>
        </p:nvSpPr>
        <p:spPr>
          <a:xfrm>
            <a:off x="8074152" y="260299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320" name="num c1f11"/>
          <p:cNvSpPr txBox="1"/>
          <p:nvPr/>
        </p:nvSpPr>
        <p:spPr>
          <a:xfrm>
            <a:off x="4636008" y="273253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36</a:t>
            </a:r>
          </a:p>
        </p:txBody>
      </p:sp>
      <p:sp>
        <p:nvSpPr>
          <p:cNvPr id="321" name="nombre c1f11"/>
          <p:cNvSpPr txBox="1"/>
          <p:nvPr/>
        </p:nvSpPr>
        <p:spPr>
          <a:xfrm>
            <a:off x="4855464" y="273253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99</a:t>
            </a:r>
          </a:p>
        </p:txBody>
      </p:sp>
      <p:sp>
        <p:nvSpPr>
          <p:cNvPr id="322" name="barra c1f11"/>
          <p:cNvSpPr/>
          <p:nvPr/>
        </p:nvSpPr>
        <p:spPr>
          <a:xfrm>
            <a:off x="5532120" y="2761031"/>
            <a:ext cx="714110"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323" name="diseno c1f11"/>
          <p:cNvSpPr/>
          <p:nvPr/>
        </p:nvSpPr>
        <p:spPr>
          <a:xfrm>
            <a:off x="6550866" y="2742895"/>
            <a:ext cx="10973" cy="108814"/>
          </a:xfrm>
          <a:prstGeom prst="rect">
            <a:avLst/>
          </a:prstGeom>
          <a:solidFill>
            <a:srgbClr val="1B3A6B"/>
          </a:solidFill>
          <a:ln w="12700">
            <a:noFill/>
          </a:ln>
        </p:spPr>
        <p:txBody>
          <a:bodyPr rtlCol="0" anchor="ctr"/>
          <a:lstStyle/>
          <a:p>
            <a:pPr algn="ctr"/>
            <a:endParaRPr lang="es-CO" noProof="0" dirty="0"/>
          </a:p>
        </p:txBody>
      </p:sp>
      <p:sp>
        <p:nvSpPr>
          <p:cNvPr id="324" name="real c1f11"/>
          <p:cNvSpPr txBox="1"/>
          <p:nvPr/>
        </p:nvSpPr>
        <p:spPr>
          <a:xfrm>
            <a:off x="6720840" y="273253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828</a:t>
            </a:r>
          </a:p>
        </p:txBody>
      </p:sp>
      <p:sp>
        <p:nvSpPr>
          <p:cNvPr id="325" name="pd c1f11"/>
          <p:cNvSpPr txBox="1"/>
          <p:nvPr/>
        </p:nvSpPr>
        <p:spPr>
          <a:xfrm>
            <a:off x="7123176" y="273253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69,7%</a:t>
            </a:r>
          </a:p>
        </p:txBody>
      </p:sp>
      <p:sp>
        <p:nvSpPr>
          <p:cNvPr id="326" name="lim c1f11"/>
          <p:cNvSpPr txBox="1"/>
          <p:nvPr/>
        </p:nvSpPr>
        <p:spPr>
          <a:xfrm>
            <a:off x="7562088" y="273253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8 de 20</a:t>
            </a:r>
          </a:p>
        </p:txBody>
      </p:sp>
      <p:sp>
        <p:nvSpPr>
          <p:cNvPr id="327" name="marca c1f11"/>
          <p:cNvSpPr txBox="1"/>
          <p:nvPr/>
        </p:nvSpPr>
        <p:spPr>
          <a:xfrm>
            <a:off x="8074152" y="273253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Deye</a:t>
            </a:r>
          </a:p>
        </p:txBody>
      </p:sp>
      <p:sp>
        <p:nvSpPr>
          <p:cNvPr id="328" name="banda c1f12"/>
          <p:cNvSpPr/>
          <p:nvPr/>
        </p:nvSpPr>
        <p:spPr>
          <a:xfrm>
            <a:off x="4636008" y="2862072"/>
            <a:ext cx="4114800" cy="129540"/>
          </a:xfrm>
          <a:prstGeom prst="rect">
            <a:avLst/>
          </a:prstGeom>
          <a:solidFill>
            <a:srgbClr val="FFFFFF"/>
          </a:solidFill>
          <a:ln>
            <a:noFill/>
          </a:ln>
        </p:spPr>
        <p:txBody>
          <a:bodyPr rtlCol="0" anchor="ctr"/>
          <a:lstStyle/>
          <a:p>
            <a:pPr algn="ctr"/>
            <a:endParaRPr lang="es-CO" noProof="0" dirty="0"/>
          </a:p>
        </p:txBody>
      </p:sp>
      <p:sp>
        <p:nvSpPr>
          <p:cNvPr id="329" name="num c1f12"/>
          <p:cNvSpPr txBox="1"/>
          <p:nvPr/>
        </p:nvSpPr>
        <p:spPr>
          <a:xfrm>
            <a:off x="4636008" y="286207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37</a:t>
            </a:r>
          </a:p>
        </p:txBody>
      </p:sp>
      <p:sp>
        <p:nvSpPr>
          <p:cNvPr id="330" name="nombre c1f12"/>
          <p:cNvSpPr txBox="1"/>
          <p:nvPr/>
        </p:nvSpPr>
        <p:spPr>
          <a:xfrm>
            <a:off x="4855464" y="286207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63</a:t>
            </a:r>
          </a:p>
        </p:txBody>
      </p:sp>
      <p:sp>
        <p:nvSpPr>
          <p:cNvPr id="331" name="barra c1f12"/>
          <p:cNvSpPr/>
          <p:nvPr/>
        </p:nvSpPr>
        <p:spPr>
          <a:xfrm>
            <a:off x="5532120" y="2890571"/>
            <a:ext cx="687598"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332" name="diseno c1f12"/>
          <p:cNvSpPr/>
          <p:nvPr/>
        </p:nvSpPr>
        <p:spPr>
          <a:xfrm>
            <a:off x="6550866" y="2872435"/>
            <a:ext cx="10973" cy="108814"/>
          </a:xfrm>
          <a:prstGeom prst="rect">
            <a:avLst/>
          </a:prstGeom>
          <a:solidFill>
            <a:srgbClr val="1B3A6B"/>
          </a:solidFill>
          <a:ln w="12700">
            <a:noFill/>
          </a:ln>
        </p:spPr>
        <p:txBody>
          <a:bodyPr rtlCol="0" anchor="ctr"/>
          <a:lstStyle/>
          <a:p>
            <a:pPr algn="ctr"/>
            <a:endParaRPr lang="es-CO" noProof="0" dirty="0"/>
          </a:p>
        </p:txBody>
      </p:sp>
      <p:sp>
        <p:nvSpPr>
          <p:cNvPr id="333" name="real c1f12"/>
          <p:cNvSpPr txBox="1"/>
          <p:nvPr/>
        </p:nvSpPr>
        <p:spPr>
          <a:xfrm>
            <a:off x="6720840" y="286207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798</a:t>
            </a:r>
          </a:p>
        </p:txBody>
      </p:sp>
      <p:sp>
        <p:nvSpPr>
          <p:cNvPr id="334" name="pd c1f12"/>
          <p:cNvSpPr txBox="1"/>
          <p:nvPr/>
        </p:nvSpPr>
        <p:spPr>
          <a:xfrm>
            <a:off x="7123176" y="286207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67,1%</a:t>
            </a:r>
          </a:p>
        </p:txBody>
      </p:sp>
      <p:sp>
        <p:nvSpPr>
          <p:cNvPr id="335" name="lim c1f12"/>
          <p:cNvSpPr txBox="1"/>
          <p:nvPr/>
        </p:nvSpPr>
        <p:spPr>
          <a:xfrm>
            <a:off x="7562088" y="286207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 de 20</a:t>
            </a:r>
          </a:p>
        </p:txBody>
      </p:sp>
      <p:sp>
        <p:nvSpPr>
          <p:cNvPr id="336" name="marca c1f12"/>
          <p:cNvSpPr txBox="1"/>
          <p:nvPr/>
        </p:nvSpPr>
        <p:spPr>
          <a:xfrm>
            <a:off x="8074152" y="286207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Deye</a:t>
            </a:r>
          </a:p>
        </p:txBody>
      </p:sp>
      <p:sp>
        <p:nvSpPr>
          <p:cNvPr id="337" name="num c1f13"/>
          <p:cNvSpPr txBox="1"/>
          <p:nvPr/>
        </p:nvSpPr>
        <p:spPr>
          <a:xfrm>
            <a:off x="4636008" y="299161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38</a:t>
            </a:r>
          </a:p>
        </p:txBody>
      </p:sp>
      <p:sp>
        <p:nvSpPr>
          <p:cNvPr id="338" name="nombre c1f13"/>
          <p:cNvSpPr txBox="1"/>
          <p:nvPr/>
        </p:nvSpPr>
        <p:spPr>
          <a:xfrm>
            <a:off x="4855464" y="299161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11 †</a:t>
            </a:r>
          </a:p>
        </p:txBody>
      </p:sp>
      <p:sp>
        <p:nvSpPr>
          <p:cNvPr id="339" name="barra c1f13"/>
          <p:cNvSpPr/>
          <p:nvPr/>
        </p:nvSpPr>
        <p:spPr>
          <a:xfrm>
            <a:off x="5532120" y="3020111"/>
            <a:ext cx="673016"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340" name="diseno c1f13"/>
          <p:cNvSpPr/>
          <p:nvPr/>
        </p:nvSpPr>
        <p:spPr>
          <a:xfrm>
            <a:off x="6550866" y="3001975"/>
            <a:ext cx="10973" cy="108814"/>
          </a:xfrm>
          <a:prstGeom prst="rect">
            <a:avLst/>
          </a:prstGeom>
          <a:solidFill>
            <a:srgbClr val="1B3A6B"/>
          </a:solidFill>
          <a:ln w="12700">
            <a:noFill/>
          </a:ln>
        </p:spPr>
        <p:txBody>
          <a:bodyPr rtlCol="0" anchor="ctr"/>
          <a:lstStyle/>
          <a:p>
            <a:pPr algn="ctr"/>
            <a:endParaRPr lang="es-CO" noProof="0" dirty="0"/>
          </a:p>
        </p:txBody>
      </p:sp>
      <p:sp>
        <p:nvSpPr>
          <p:cNvPr id="341" name="real c1f13"/>
          <p:cNvSpPr txBox="1"/>
          <p:nvPr/>
        </p:nvSpPr>
        <p:spPr>
          <a:xfrm>
            <a:off x="6720840" y="299161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781</a:t>
            </a:r>
          </a:p>
        </p:txBody>
      </p:sp>
      <p:sp>
        <p:nvSpPr>
          <p:cNvPr id="342" name="pd c1f13"/>
          <p:cNvSpPr txBox="1"/>
          <p:nvPr/>
        </p:nvSpPr>
        <p:spPr>
          <a:xfrm>
            <a:off x="7123176" y="299161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65,7%</a:t>
            </a:r>
          </a:p>
        </p:txBody>
      </p:sp>
      <p:sp>
        <p:nvSpPr>
          <p:cNvPr id="343" name="lim c1f13"/>
          <p:cNvSpPr txBox="1"/>
          <p:nvPr/>
        </p:nvSpPr>
        <p:spPr>
          <a:xfrm>
            <a:off x="7562088" y="299161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6 de 20</a:t>
            </a:r>
          </a:p>
        </p:txBody>
      </p:sp>
      <p:sp>
        <p:nvSpPr>
          <p:cNvPr id="344" name="marca c1f13"/>
          <p:cNvSpPr txBox="1"/>
          <p:nvPr/>
        </p:nvSpPr>
        <p:spPr>
          <a:xfrm>
            <a:off x="8074152" y="299161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345" name="banda c1f14"/>
          <p:cNvSpPr/>
          <p:nvPr/>
        </p:nvSpPr>
        <p:spPr>
          <a:xfrm>
            <a:off x="4636008" y="3121152"/>
            <a:ext cx="4114800" cy="129540"/>
          </a:xfrm>
          <a:prstGeom prst="rect">
            <a:avLst/>
          </a:prstGeom>
          <a:solidFill>
            <a:srgbClr val="FFFFFF"/>
          </a:solidFill>
          <a:ln>
            <a:noFill/>
          </a:ln>
        </p:spPr>
        <p:txBody>
          <a:bodyPr rtlCol="0" anchor="ctr"/>
          <a:lstStyle/>
          <a:p>
            <a:pPr algn="ctr"/>
            <a:endParaRPr lang="es-CO" noProof="0" dirty="0"/>
          </a:p>
        </p:txBody>
      </p:sp>
      <p:sp>
        <p:nvSpPr>
          <p:cNvPr id="346" name="num c1f14"/>
          <p:cNvSpPr txBox="1"/>
          <p:nvPr/>
        </p:nvSpPr>
        <p:spPr>
          <a:xfrm>
            <a:off x="4636008" y="312115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39</a:t>
            </a:r>
          </a:p>
        </p:txBody>
      </p:sp>
      <p:sp>
        <p:nvSpPr>
          <p:cNvPr id="347" name="nombre c1f14"/>
          <p:cNvSpPr txBox="1"/>
          <p:nvPr/>
        </p:nvSpPr>
        <p:spPr>
          <a:xfrm>
            <a:off x="4855464" y="312115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108</a:t>
            </a:r>
          </a:p>
        </p:txBody>
      </p:sp>
      <p:sp>
        <p:nvSpPr>
          <p:cNvPr id="348" name="barra c1f14"/>
          <p:cNvSpPr/>
          <p:nvPr/>
        </p:nvSpPr>
        <p:spPr>
          <a:xfrm>
            <a:off x="5532120" y="3149651"/>
            <a:ext cx="671445"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349" name="diseno c1f14"/>
          <p:cNvSpPr/>
          <p:nvPr/>
        </p:nvSpPr>
        <p:spPr>
          <a:xfrm>
            <a:off x="6550866" y="3131515"/>
            <a:ext cx="10973" cy="108814"/>
          </a:xfrm>
          <a:prstGeom prst="rect">
            <a:avLst/>
          </a:prstGeom>
          <a:solidFill>
            <a:srgbClr val="1B3A6B"/>
          </a:solidFill>
          <a:ln w="12700">
            <a:noFill/>
          </a:ln>
        </p:spPr>
        <p:txBody>
          <a:bodyPr rtlCol="0" anchor="ctr"/>
          <a:lstStyle/>
          <a:p>
            <a:pPr algn="ctr"/>
            <a:endParaRPr lang="es-CO" noProof="0" dirty="0"/>
          </a:p>
        </p:txBody>
      </p:sp>
      <p:sp>
        <p:nvSpPr>
          <p:cNvPr id="350" name="real c1f14"/>
          <p:cNvSpPr txBox="1"/>
          <p:nvPr/>
        </p:nvSpPr>
        <p:spPr>
          <a:xfrm>
            <a:off x="6720840" y="312115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779</a:t>
            </a:r>
          </a:p>
        </p:txBody>
      </p:sp>
      <p:sp>
        <p:nvSpPr>
          <p:cNvPr id="351" name="pd c1f14"/>
          <p:cNvSpPr txBox="1"/>
          <p:nvPr/>
        </p:nvSpPr>
        <p:spPr>
          <a:xfrm>
            <a:off x="7123176" y="312115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65,6%</a:t>
            </a:r>
          </a:p>
        </p:txBody>
      </p:sp>
      <p:sp>
        <p:nvSpPr>
          <p:cNvPr id="352" name="lim c1f14"/>
          <p:cNvSpPr txBox="1"/>
          <p:nvPr/>
        </p:nvSpPr>
        <p:spPr>
          <a:xfrm>
            <a:off x="7562088" y="312115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9 de 20</a:t>
            </a:r>
          </a:p>
        </p:txBody>
      </p:sp>
      <p:sp>
        <p:nvSpPr>
          <p:cNvPr id="353" name="marca c1f14"/>
          <p:cNvSpPr txBox="1"/>
          <p:nvPr/>
        </p:nvSpPr>
        <p:spPr>
          <a:xfrm>
            <a:off x="8074152" y="312115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354" name="num c1f15"/>
          <p:cNvSpPr txBox="1"/>
          <p:nvPr/>
        </p:nvSpPr>
        <p:spPr>
          <a:xfrm>
            <a:off x="4636008" y="325069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40</a:t>
            </a:r>
          </a:p>
        </p:txBody>
      </p:sp>
      <p:sp>
        <p:nvSpPr>
          <p:cNvPr id="355" name="nombre c1f15"/>
          <p:cNvSpPr txBox="1"/>
          <p:nvPr/>
        </p:nvSpPr>
        <p:spPr>
          <a:xfrm>
            <a:off x="4855464" y="325069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111</a:t>
            </a:r>
          </a:p>
        </p:txBody>
      </p:sp>
      <p:sp>
        <p:nvSpPr>
          <p:cNvPr id="356" name="barra c1f15"/>
          <p:cNvSpPr/>
          <p:nvPr/>
        </p:nvSpPr>
        <p:spPr>
          <a:xfrm>
            <a:off x="5532120" y="3279191"/>
            <a:ext cx="659312"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357" name="diseno c1f15"/>
          <p:cNvSpPr/>
          <p:nvPr/>
        </p:nvSpPr>
        <p:spPr>
          <a:xfrm>
            <a:off x="6550866" y="3261055"/>
            <a:ext cx="10973" cy="108814"/>
          </a:xfrm>
          <a:prstGeom prst="rect">
            <a:avLst/>
          </a:prstGeom>
          <a:solidFill>
            <a:srgbClr val="1B3A6B"/>
          </a:solidFill>
          <a:ln w="12700">
            <a:noFill/>
          </a:ln>
        </p:spPr>
        <p:txBody>
          <a:bodyPr rtlCol="0" anchor="ctr"/>
          <a:lstStyle/>
          <a:p>
            <a:pPr algn="ctr"/>
            <a:endParaRPr lang="es-CO" noProof="0" dirty="0"/>
          </a:p>
        </p:txBody>
      </p:sp>
      <p:sp>
        <p:nvSpPr>
          <p:cNvPr id="358" name="real c1f15"/>
          <p:cNvSpPr txBox="1"/>
          <p:nvPr/>
        </p:nvSpPr>
        <p:spPr>
          <a:xfrm>
            <a:off x="6720840" y="325069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765</a:t>
            </a:r>
          </a:p>
        </p:txBody>
      </p:sp>
      <p:sp>
        <p:nvSpPr>
          <p:cNvPr id="359" name="pd c1f15"/>
          <p:cNvSpPr txBox="1"/>
          <p:nvPr/>
        </p:nvSpPr>
        <p:spPr>
          <a:xfrm>
            <a:off x="7123176" y="325069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64,4%</a:t>
            </a:r>
          </a:p>
        </p:txBody>
      </p:sp>
      <p:sp>
        <p:nvSpPr>
          <p:cNvPr id="360" name="lim c1f15"/>
          <p:cNvSpPr txBox="1"/>
          <p:nvPr/>
        </p:nvSpPr>
        <p:spPr>
          <a:xfrm>
            <a:off x="7562088" y="325069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13 de 20</a:t>
            </a:r>
          </a:p>
        </p:txBody>
      </p:sp>
      <p:sp>
        <p:nvSpPr>
          <p:cNvPr id="361" name="marca c1f15"/>
          <p:cNvSpPr txBox="1"/>
          <p:nvPr/>
        </p:nvSpPr>
        <p:spPr>
          <a:xfrm>
            <a:off x="8074152" y="325069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Deye</a:t>
            </a:r>
          </a:p>
        </p:txBody>
      </p:sp>
      <p:sp>
        <p:nvSpPr>
          <p:cNvPr id="362" name="banda c1f16"/>
          <p:cNvSpPr/>
          <p:nvPr/>
        </p:nvSpPr>
        <p:spPr>
          <a:xfrm>
            <a:off x="4636008" y="3380232"/>
            <a:ext cx="4114800" cy="129540"/>
          </a:xfrm>
          <a:prstGeom prst="rect">
            <a:avLst/>
          </a:prstGeom>
          <a:solidFill>
            <a:srgbClr val="FFFFFF"/>
          </a:solidFill>
          <a:ln>
            <a:noFill/>
          </a:ln>
        </p:spPr>
        <p:txBody>
          <a:bodyPr rtlCol="0" anchor="ctr"/>
          <a:lstStyle/>
          <a:p>
            <a:pPr algn="ctr"/>
            <a:endParaRPr lang="es-CO" noProof="0" dirty="0"/>
          </a:p>
        </p:txBody>
      </p:sp>
      <p:sp>
        <p:nvSpPr>
          <p:cNvPr id="363" name="num c1f16"/>
          <p:cNvSpPr txBox="1"/>
          <p:nvPr/>
        </p:nvSpPr>
        <p:spPr>
          <a:xfrm>
            <a:off x="4636008" y="338023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41</a:t>
            </a:r>
          </a:p>
        </p:txBody>
      </p:sp>
      <p:sp>
        <p:nvSpPr>
          <p:cNvPr id="364" name="nombre c1f16"/>
          <p:cNvSpPr txBox="1"/>
          <p:nvPr/>
        </p:nvSpPr>
        <p:spPr>
          <a:xfrm>
            <a:off x="4855464" y="338023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15</a:t>
            </a:r>
          </a:p>
        </p:txBody>
      </p:sp>
      <p:sp>
        <p:nvSpPr>
          <p:cNvPr id="365" name="barra c1f16"/>
          <p:cNvSpPr/>
          <p:nvPr/>
        </p:nvSpPr>
        <p:spPr>
          <a:xfrm>
            <a:off x="5532120" y="3408731"/>
            <a:ext cx="615417"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366" name="diseno c1f16"/>
          <p:cNvSpPr/>
          <p:nvPr/>
        </p:nvSpPr>
        <p:spPr>
          <a:xfrm>
            <a:off x="6550866" y="3390595"/>
            <a:ext cx="10973" cy="108814"/>
          </a:xfrm>
          <a:prstGeom prst="rect">
            <a:avLst/>
          </a:prstGeom>
          <a:solidFill>
            <a:srgbClr val="1B3A6B"/>
          </a:solidFill>
          <a:ln w="12700">
            <a:noFill/>
          </a:ln>
        </p:spPr>
        <p:txBody>
          <a:bodyPr rtlCol="0" anchor="ctr"/>
          <a:lstStyle/>
          <a:p>
            <a:pPr algn="ctr"/>
            <a:endParaRPr lang="es-CO" noProof="0" dirty="0"/>
          </a:p>
        </p:txBody>
      </p:sp>
      <p:sp>
        <p:nvSpPr>
          <p:cNvPr id="367" name="real c1f16"/>
          <p:cNvSpPr txBox="1"/>
          <p:nvPr/>
        </p:nvSpPr>
        <p:spPr>
          <a:xfrm>
            <a:off x="6720840" y="338023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714</a:t>
            </a:r>
          </a:p>
        </p:txBody>
      </p:sp>
      <p:sp>
        <p:nvSpPr>
          <p:cNvPr id="368" name="pd c1f16"/>
          <p:cNvSpPr txBox="1"/>
          <p:nvPr/>
        </p:nvSpPr>
        <p:spPr>
          <a:xfrm>
            <a:off x="7123176" y="338023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60,1%</a:t>
            </a:r>
          </a:p>
        </p:txBody>
      </p:sp>
      <p:sp>
        <p:nvSpPr>
          <p:cNvPr id="369" name="lim c1f16"/>
          <p:cNvSpPr txBox="1"/>
          <p:nvPr/>
        </p:nvSpPr>
        <p:spPr>
          <a:xfrm>
            <a:off x="7562088" y="338023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14 de 20</a:t>
            </a:r>
          </a:p>
        </p:txBody>
      </p:sp>
      <p:sp>
        <p:nvSpPr>
          <p:cNvPr id="370" name="marca c1f16"/>
          <p:cNvSpPr txBox="1"/>
          <p:nvPr/>
        </p:nvSpPr>
        <p:spPr>
          <a:xfrm>
            <a:off x="8074152" y="338023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371" name="num c1f17"/>
          <p:cNvSpPr txBox="1"/>
          <p:nvPr/>
        </p:nvSpPr>
        <p:spPr>
          <a:xfrm>
            <a:off x="4636008" y="350977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42</a:t>
            </a:r>
          </a:p>
        </p:txBody>
      </p:sp>
      <p:sp>
        <p:nvSpPr>
          <p:cNvPr id="372" name="nombre c1f17"/>
          <p:cNvSpPr txBox="1"/>
          <p:nvPr/>
        </p:nvSpPr>
        <p:spPr>
          <a:xfrm>
            <a:off x="4855464" y="350977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35 †</a:t>
            </a:r>
          </a:p>
        </p:txBody>
      </p:sp>
      <p:sp>
        <p:nvSpPr>
          <p:cNvPr id="373" name="barra c1f17"/>
          <p:cNvSpPr/>
          <p:nvPr/>
        </p:nvSpPr>
        <p:spPr>
          <a:xfrm>
            <a:off x="5532120" y="3538271"/>
            <a:ext cx="615194"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374" name="diseno c1f17"/>
          <p:cNvSpPr/>
          <p:nvPr/>
        </p:nvSpPr>
        <p:spPr>
          <a:xfrm>
            <a:off x="6550866" y="3520135"/>
            <a:ext cx="10973" cy="108814"/>
          </a:xfrm>
          <a:prstGeom prst="rect">
            <a:avLst/>
          </a:prstGeom>
          <a:solidFill>
            <a:srgbClr val="1B3A6B"/>
          </a:solidFill>
          <a:ln w="12700">
            <a:noFill/>
          </a:ln>
        </p:spPr>
        <p:txBody>
          <a:bodyPr rtlCol="0" anchor="ctr"/>
          <a:lstStyle/>
          <a:p>
            <a:pPr algn="ctr"/>
            <a:endParaRPr lang="es-CO" noProof="0" dirty="0"/>
          </a:p>
        </p:txBody>
      </p:sp>
      <p:sp>
        <p:nvSpPr>
          <p:cNvPr id="375" name="real c1f17"/>
          <p:cNvSpPr txBox="1"/>
          <p:nvPr/>
        </p:nvSpPr>
        <p:spPr>
          <a:xfrm>
            <a:off x="6720840" y="350977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714</a:t>
            </a:r>
          </a:p>
        </p:txBody>
      </p:sp>
      <p:sp>
        <p:nvSpPr>
          <p:cNvPr id="376" name="pd c1f17"/>
          <p:cNvSpPr txBox="1"/>
          <p:nvPr/>
        </p:nvSpPr>
        <p:spPr>
          <a:xfrm>
            <a:off x="7123176" y="350977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60,1%</a:t>
            </a:r>
          </a:p>
        </p:txBody>
      </p:sp>
      <p:sp>
        <p:nvSpPr>
          <p:cNvPr id="377" name="lim c1f17"/>
          <p:cNvSpPr txBox="1"/>
          <p:nvPr/>
        </p:nvSpPr>
        <p:spPr>
          <a:xfrm>
            <a:off x="7562088" y="350977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11 de 20</a:t>
            </a:r>
          </a:p>
        </p:txBody>
      </p:sp>
      <p:sp>
        <p:nvSpPr>
          <p:cNvPr id="378" name="marca c1f17"/>
          <p:cNvSpPr txBox="1"/>
          <p:nvPr/>
        </p:nvSpPr>
        <p:spPr>
          <a:xfrm>
            <a:off x="8074152" y="350977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379" name="banda c1f18"/>
          <p:cNvSpPr/>
          <p:nvPr/>
        </p:nvSpPr>
        <p:spPr>
          <a:xfrm>
            <a:off x="4636008" y="3639312"/>
            <a:ext cx="4114800" cy="129540"/>
          </a:xfrm>
          <a:prstGeom prst="rect">
            <a:avLst/>
          </a:prstGeom>
          <a:solidFill>
            <a:srgbClr val="FFFFFF"/>
          </a:solidFill>
          <a:ln>
            <a:noFill/>
          </a:ln>
        </p:spPr>
        <p:txBody>
          <a:bodyPr rtlCol="0" anchor="ctr"/>
          <a:lstStyle/>
          <a:p>
            <a:pPr algn="ctr"/>
            <a:endParaRPr lang="es-CO" noProof="0" dirty="0"/>
          </a:p>
        </p:txBody>
      </p:sp>
      <p:sp>
        <p:nvSpPr>
          <p:cNvPr id="380" name="num c1f18"/>
          <p:cNvSpPr txBox="1"/>
          <p:nvPr/>
        </p:nvSpPr>
        <p:spPr>
          <a:xfrm>
            <a:off x="4636008" y="363931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43</a:t>
            </a:r>
          </a:p>
        </p:txBody>
      </p:sp>
      <p:sp>
        <p:nvSpPr>
          <p:cNvPr id="381" name="nombre c1f18"/>
          <p:cNvSpPr txBox="1"/>
          <p:nvPr/>
        </p:nvSpPr>
        <p:spPr>
          <a:xfrm>
            <a:off x="4855464" y="363931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10</a:t>
            </a:r>
          </a:p>
        </p:txBody>
      </p:sp>
      <p:sp>
        <p:nvSpPr>
          <p:cNvPr id="382" name="barra c1f18"/>
          <p:cNvSpPr/>
          <p:nvPr/>
        </p:nvSpPr>
        <p:spPr>
          <a:xfrm>
            <a:off x="5532120" y="3667811"/>
            <a:ext cx="589222" cy="7254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383" name="diseno c1f18"/>
          <p:cNvSpPr/>
          <p:nvPr/>
        </p:nvSpPr>
        <p:spPr>
          <a:xfrm>
            <a:off x="6550866" y="3649675"/>
            <a:ext cx="10973" cy="108814"/>
          </a:xfrm>
          <a:prstGeom prst="rect">
            <a:avLst/>
          </a:prstGeom>
          <a:solidFill>
            <a:srgbClr val="1B3A6B"/>
          </a:solidFill>
          <a:ln w="12700">
            <a:noFill/>
          </a:ln>
        </p:spPr>
        <p:txBody>
          <a:bodyPr rtlCol="0" anchor="ctr"/>
          <a:lstStyle/>
          <a:p>
            <a:pPr algn="ctr"/>
            <a:endParaRPr lang="es-CO" noProof="0" dirty="0"/>
          </a:p>
        </p:txBody>
      </p:sp>
      <p:sp>
        <p:nvSpPr>
          <p:cNvPr id="384" name="real c1f18"/>
          <p:cNvSpPr txBox="1"/>
          <p:nvPr/>
        </p:nvSpPr>
        <p:spPr>
          <a:xfrm>
            <a:off x="6720840" y="363931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0392B"/>
                </a:solidFill>
                <a:latin typeface="Calibri"/>
              </a:rPr>
              <a:t>683</a:t>
            </a:r>
          </a:p>
        </p:txBody>
      </p:sp>
      <p:sp>
        <p:nvSpPr>
          <p:cNvPr id="385" name="pd c1f18"/>
          <p:cNvSpPr txBox="1"/>
          <p:nvPr/>
        </p:nvSpPr>
        <p:spPr>
          <a:xfrm>
            <a:off x="7123176" y="363931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0392B"/>
                </a:solidFill>
                <a:latin typeface="Calibri"/>
              </a:rPr>
              <a:t>57,5%</a:t>
            </a:r>
          </a:p>
        </p:txBody>
      </p:sp>
      <p:sp>
        <p:nvSpPr>
          <p:cNvPr id="386" name="lim c1f18"/>
          <p:cNvSpPr txBox="1"/>
          <p:nvPr/>
        </p:nvSpPr>
        <p:spPr>
          <a:xfrm>
            <a:off x="7562088" y="363931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11 de 20</a:t>
            </a:r>
          </a:p>
        </p:txBody>
      </p:sp>
      <p:sp>
        <p:nvSpPr>
          <p:cNvPr id="387" name="marca c1f18"/>
          <p:cNvSpPr txBox="1"/>
          <p:nvPr/>
        </p:nvSpPr>
        <p:spPr>
          <a:xfrm>
            <a:off x="8074152" y="363931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Deye</a:t>
            </a:r>
          </a:p>
        </p:txBody>
      </p:sp>
      <p:sp>
        <p:nvSpPr>
          <p:cNvPr id="388" name="num c1f19"/>
          <p:cNvSpPr txBox="1"/>
          <p:nvPr/>
        </p:nvSpPr>
        <p:spPr>
          <a:xfrm>
            <a:off x="4636008" y="376885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44</a:t>
            </a:r>
          </a:p>
        </p:txBody>
      </p:sp>
      <p:sp>
        <p:nvSpPr>
          <p:cNvPr id="389" name="nombre c1f19"/>
          <p:cNvSpPr txBox="1"/>
          <p:nvPr/>
        </p:nvSpPr>
        <p:spPr>
          <a:xfrm>
            <a:off x="4855464" y="376885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447p *</a:t>
            </a:r>
          </a:p>
        </p:txBody>
      </p:sp>
      <p:sp>
        <p:nvSpPr>
          <p:cNvPr id="390" name="barra c1f19"/>
          <p:cNvSpPr/>
          <p:nvPr/>
        </p:nvSpPr>
        <p:spPr>
          <a:xfrm>
            <a:off x="5532120" y="3797351"/>
            <a:ext cx="573552" cy="7254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391" name="diseno c1f19"/>
          <p:cNvSpPr/>
          <p:nvPr/>
        </p:nvSpPr>
        <p:spPr>
          <a:xfrm>
            <a:off x="6667256" y="3779215"/>
            <a:ext cx="10973" cy="108814"/>
          </a:xfrm>
          <a:prstGeom prst="rect">
            <a:avLst/>
          </a:prstGeom>
          <a:solidFill>
            <a:srgbClr val="1B3A6B"/>
          </a:solidFill>
          <a:ln w="12700">
            <a:noFill/>
          </a:ln>
        </p:spPr>
        <p:txBody>
          <a:bodyPr rtlCol="0" anchor="ctr"/>
          <a:lstStyle/>
          <a:p>
            <a:pPr algn="ctr"/>
            <a:endParaRPr lang="es-CO" noProof="0" dirty="0"/>
          </a:p>
        </p:txBody>
      </p:sp>
      <p:sp>
        <p:nvSpPr>
          <p:cNvPr id="392" name="real c1f19"/>
          <p:cNvSpPr txBox="1"/>
          <p:nvPr/>
        </p:nvSpPr>
        <p:spPr>
          <a:xfrm>
            <a:off x="6720840" y="376885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0392B"/>
                </a:solidFill>
                <a:latin typeface="Calibri"/>
              </a:rPr>
              <a:t>665</a:t>
            </a:r>
          </a:p>
        </p:txBody>
      </p:sp>
      <p:sp>
        <p:nvSpPr>
          <p:cNvPr id="393" name="pd c1f19"/>
          <p:cNvSpPr txBox="1"/>
          <p:nvPr/>
        </p:nvSpPr>
        <p:spPr>
          <a:xfrm>
            <a:off x="7123176" y="376885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0392B"/>
                </a:solidFill>
                <a:latin typeface="Calibri"/>
              </a:rPr>
              <a:t>50,3%</a:t>
            </a:r>
          </a:p>
        </p:txBody>
      </p:sp>
      <p:sp>
        <p:nvSpPr>
          <p:cNvPr id="394" name="lim c1f19"/>
          <p:cNvSpPr txBox="1"/>
          <p:nvPr/>
        </p:nvSpPr>
        <p:spPr>
          <a:xfrm>
            <a:off x="7562088" y="376885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9 de 9</a:t>
            </a:r>
          </a:p>
        </p:txBody>
      </p:sp>
      <p:sp>
        <p:nvSpPr>
          <p:cNvPr id="395" name="marca c1f19"/>
          <p:cNvSpPr txBox="1"/>
          <p:nvPr/>
        </p:nvSpPr>
        <p:spPr>
          <a:xfrm>
            <a:off x="8074152" y="376885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396" name="banda c1f20"/>
          <p:cNvSpPr/>
          <p:nvPr/>
        </p:nvSpPr>
        <p:spPr>
          <a:xfrm>
            <a:off x="4636008" y="3898392"/>
            <a:ext cx="4114800" cy="129540"/>
          </a:xfrm>
          <a:prstGeom prst="rect">
            <a:avLst/>
          </a:prstGeom>
          <a:solidFill>
            <a:srgbClr val="FFFFFF"/>
          </a:solidFill>
          <a:ln>
            <a:noFill/>
          </a:ln>
        </p:spPr>
        <p:txBody>
          <a:bodyPr rtlCol="0" anchor="ctr"/>
          <a:lstStyle/>
          <a:p>
            <a:pPr algn="ctr"/>
            <a:endParaRPr lang="es-CO" noProof="0" dirty="0"/>
          </a:p>
        </p:txBody>
      </p:sp>
      <p:sp>
        <p:nvSpPr>
          <p:cNvPr id="397" name="num c1f20"/>
          <p:cNvSpPr txBox="1"/>
          <p:nvPr/>
        </p:nvSpPr>
        <p:spPr>
          <a:xfrm>
            <a:off x="4636008" y="389839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45</a:t>
            </a:r>
          </a:p>
        </p:txBody>
      </p:sp>
      <p:sp>
        <p:nvSpPr>
          <p:cNvPr id="398" name="nombre c1f20"/>
          <p:cNvSpPr txBox="1"/>
          <p:nvPr/>
        </p:nvSpPr>
        <p:spPr>
          <a:xfrm>
            <a:off x="4855464" y="389839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48</a:t>
            </a:r>
          </a:p>
        </p:txBody>
      </p:sp>
      <p:sp>
        <p:nvSpPr>
          <p:cNvPr id="399" name="barra c1f20"/>
          <p:cNvSpPr/>
          <p:nvPr/>
        </p:nvSpPr>
        <p:spPr>
          <a:xfrm>
            <a:off x="5532120" y="3926891"/>
            <a:ext cx="572086" cy="7254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400" name="diseno c1f20"/>
          <p:cNvSpPr/>
          <p:nvPr/>
        </p:nvSpPr>
        <p:spPr>
          <a:xfrm>
            <a:off x="6550866" y="3908755"/>
            <a:ext cx="10973" cy="108814"/>
          </a:xfrm>
          <a:prstGeom prst="rect">
            <a:avLst/>
          </a:prstGeom>
          <a:solidFill>
            <a:srgbClr val="1B3A6B"/>
          </a:solidFill>
          <a:ln w="12700">
            <a:noFill/>
          </a:ln>
        </p:spPr>
        <p:txBody>
          <a:bodyPr rtlCol="0" anchor="ctr"/>
          <a:lstStyle/>
          <a:p>
            <a:pPr algn="ctr"/>
            <a:endParaRPr lang="es-CO" noProof="0" dirty="0"/>
          </a:p>
        </p:txBody>
      </p:sp>
      <p:sp>
        <p:nvSpPr>
          <p:cNvPr id="401" name="real c1f20"/>
          <p:cNvSpPr txBox="1"/>
          <p:nvPr/>
        </p:nvSpPr>
        <p:spPr>
          <a:xfrm>
            <a:off x="6720840" y="389839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0392B"/>
                </a:solidFill>
                <a:latin typeface="Calibri"/>
              </a:rPr>
              <a:t>664</a:t>
            </a:r>
          </a:p>
        </p:txBody>
      </p:sp>
      <p:sp>
        <p:nvSpPr>
          <p:cNvPr id="402" name="pd c1f20"/>
          <p:cNvSpPr txBox="1"/>
          <p:nvPr/>
        </p:nvSpPr>
        <p:spPr>
          <a:xfrm>
            <a:off x="7123176" y="389839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0392B"/>
                </a:solidFill>
                <a:latin typeface="Calibri"/>
              </a:rPr>
              <a:t>55,9%</a:t>
            </a:r>
          </a:p>
        </p:txBody>
      </p:sp>
      <p:sp>
        <p:nvSpPr>
          <p:cNvPr id="403" name="lim c1f20"/>
          <p:cNvSpPr txBox="1"/>
          <p:nvPr/>
        </p:nvSpPr>
        <p:spPr>
          <a:xfrm>
            <a:off x="7562088" y="389839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12 de 20</a:t>
            </a:r>
          </a:p>
        </p:txBody>
      </p:sp>
      <p:sp>
        <p:nvSpPr>
          <p:cNvPr id="404" name="marca c1f20"/>
          <p:cNvSpPr txBox="1"/>
          <p:nvPr/>
        </p:nvSpPr>
        <p:spPr>
          <a:xfrm>
            <a:off x="8074152" y="389839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405" name="num c1f21"/>
          <p:cNvSpPr txBox="1"/>
          <p:nvPr/>
        </p:nvSpPr>
        <p:spPr>
          <a:xfrm>
            <a:off x="4636008" y="402793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46</a:t>
            </a:r>
          </a:p>
        </p:txBody>
      </p:sp>
      <p:sp>
        <p:nvSpPr>
          <p:cNvPr id="406" name="nombre c1f21"/>
          <p:cNvSpPr txBox="1"/>
          <p:nvPr/>
        </p:nvSpPr>
        <p:spPr>
          <a:xfrm>
            <a:off x="4855464" y="402793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74</a:t>
            </a:r>
          </a:p>
        </p:txBody>
      </p:sp>
      <p:sp>
        <p:nvSpPr>
          <p:cNvPr id="407" name="barra c1f21"/>
          <p:cNvSpPr/>
          <p:nvPr/>
        </p:nvSpPr>
        <p:spPr>
          <a:xfrm>
            <a:off x="5532120" y="4056431"/>
            <a:ext cx="563205" cy="7254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408" name="diseno c1f21"/>
          <p:cNvSpPr/>
          <p:nvPr/>
        </p:nvSpPr>
        <p:spPr>
          <a:xfrm>
            <a:off x="6550866" y="4038295"/>
            <a:ext cx="10973" cy="108814"/>
          </a:xfrm>
          <a:prstGeom prst="rect">
            <a:avLst/>
          </a:prstGeom>
          <a:solidFill>
            <a:srgbClr val="1B3A6B"/>
          </a:solidFill>
          <a:ln w="12700">
            <a:noFill/>
          </a:ln>
        </p:spPr>
        <p:txBody>
          <a:bodyPr rtlCol="0" anchor="ctr"/>
          <a:lstStyle/>
          <a:p>
            <a:pPr algn="ctr"/>
            <a:endParaRPr lang="es-CO" noProof="0" dirty="0"/>
          </a:p>
        </p:txBody>
      </p:sp>
      <p:sp>
        <p:nvSpPr>
          <p:cNvPr id="409" name="real c1f21"/>
          <p:cNvSpPr txBox="1"/>
          <p:nvPr/>
        </p:nvSpPr>
        <p:spPr>
          <a:xfrm>
            <a:off x="6720840" y="402793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0392B"/>
                </a:solidFill>
                <a:latin typeface="Calibri"/>
              </a:rPr>
              <a:t>653</a:t>
            </a:r>
          </a:p>
        </p:txBody>
      </p:sp>
      <p:sp>
        <p:nvSpPr>
          <p:cNvPr id="410" name="pd c1f21"/>
          <p:cNvSpPr txBox="1"/>
          <p:nvPr/>
        </p:nvSpPr>
        <p:spPr>
          <a:xfrm>
            <a:off x="7123176" y="402793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0392B"/>
                </a:solidFill>
                <a:latin typeface="Calibri"/>
              </a:rPr>
              <a:t>55,0%</a:t>
            </a:r>
          </a:p>
        </p:txBody>
      </p:sp>
      <p:sp>
        <p:nvSpPr>
          <p:cNvPr id="411" name="lim c1f21"/>
          <p:cNvSpPr txBox="1"/>
          <p:nvPr/>
        </p:nvSpPr>
        <p:spPr>
          <a:xfrm>
            <a:off x="7562088" y="402793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12 de 20</a:t>
            </a:r>
          </a:p>
        </p:txBody>
      </p:sp>
      <p:sp>
        <p:nvSpPr>
          <p:cNvPr id="412" name="marca c1f21"/>
          <p:cNvSpPr txBox="1"/>
          <p:nvPr/>
        </p:nvSpPr>
        <p:spPr>
          <a:xfrm>
            <a:off x="8074152" y="402793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Deye</a:t>
            </a:r>
          </a:p>
        </p:txBody>
      </p:sp>
      <p:sp>
        <p:nvSpPr>
          <p:cNvPr id="413" name="banda c1f22"/>
          <p:cNvSpPr/>
          <p:nvPr/>
        </p:nvSpPr>
        <p:spPr>
          <a:xfrm>
            <a:off x="4636008" y="4157472"/>
            <a:ext cx="4114800" cy="129540"/>
          </a:xfrm>
          <a:prstGeom prst="rect">
            <a:avLst/>
          </a:prstGeom>
          <a:solidFill>
            <a:srgbClr val="FFFFFF"/>
          </a:solidFill>
          <a:ln>
            <a:noFill/>
          </a:ln>
        </p:spPr>
        <p:txBody>
          <a:bodyPr rtlCol="0" anchor="ctr"/>
          <a:lstStyle/>
          <a:p>
            <a:pPr algn="ctr"/>
            <a:endParaRPr lang="es-CO" noProof="0" dirty="0"/>
          </a:p>
        </p:txBody>
      </p:sp>
      <p:sp>
        <p:nvSpPr>
          <p:cNvPr id="414" name="num c1f22"/>
          <p:cNvSpPr txBox="1"/>
          <p:nvPr/>
        </p:nvSpPr>
        <p:spPr>
          <a:xfrm>
            <a:off x="4636008" y="415747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47</a:t>
            </a:r>
          </a:p>
        </p:txBody>
      </p:sp>
      <p:sp>
        <p:nvSpPr>
          <p:cNvPr id="415" name="nombre c1f22"/>
          <p:cNvSpPr txBox="1"/>
          <p:nvPr/>
        </p:nvSpPr>
        <p:spPr>
          <a:xfrm>
            <a:off x="4855464" y="415747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57</a:t>
            </a:r>
          </a:p>
        </p:txBody>
      </p:sp>
      <p:sp>
        <p:nvSpPr>
          <p:cNvPr id="416" name="barra c1f22"/>
          <p:cNvSpPr/>
          <p:nvPr/>
        </p:nvSpPr>
        <p:spPr>
          <a:xfrm>
            <a:off x="5532120" y="4185971"/>
            <a:ext cx="485384" cy="7254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417" name="diseno c1f22"/>
          <p:cNvSpPr/>
          <p:nvPr/>
        </p:nvSpPr>
        <p:spPr>
          <a:xfrm>
            <a:off x="6550866" y="4167835"/>
            <a:ext cx="10973" cy="108814"/>
          </a:xfrm>
          <a:prstGeom prst="rect">
            <a:avLst/>
          </a:prstGeom>
          <a:solidFill>
            <a:srgbClr val="1B3A6B"/>
          </a:solidFill>
          <a:ln w="12700">
            <a:noFill/>
          </a:ln>
        </p:spPr>
        <p:txBody>
          <a:bodyPr rtlCol="0" anchor="ctr"/>
          <a:lstStyle/>
          <a:p>
            <a:pPr algn="ctr"/>
            <a:endParaRPr lang="es-CO" noProof="0" dirty="0"/>
          </a:p>
        </p:txBody>
      </p:sp>
      <p:sp>
        <p:nvSpPr>
          <p:cNvPr id="418" name="real c1f22"/>
          <p:cNvSpPr txBox="1"/>
          <p:nvPr/>
        </p:nvSpPr>
        <p:spPr>
          <a:xfrm>
            <a:off x="6720840" y="415747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0392B"/>
                </a:solidFill>
                <a:latin typeface="Calibri"/>
              </a:rPr>
              <a:t>563</a:t>
            </a:r>
          </a:p>
        </p:txBody>
      </p:sp>
      <p:sp>
        <p:nvSpPr>
          <p:cNvPr id="419" name="pd c1f22"/>
          <p:cNvSpPr txBox="1"/>
          <p:nvPr/>
        </p:nvSpPr>
        <p:spPr>
          <a:xfrm>
            <a:off x="7123176" y="415747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0392B"/>
                </a:solidFill>
                <a:latin typeface="Calibri"/>
              </a:rPr>
              <a:t>47,4%</a:t>
            </a:r>
          </a:p>
        </p:txBody>
      </p:sp>
      <p:sp>
        <p:nvSpPr>
          <p:cNvPr id="420" name="lim c1f22"/>
          <p:cNvSpPr txBox="1"/>
          <p:nvPr/>
        </p:nvSpPr>
        <p:spPr>
          <a:xfrm>
            <a:off x="7562088" y="415747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12 de 20</a:t>
            </a:r>
          </a:p>
        </p:txBody>
      </p:sp>
      <p:sp>
        <p:nvSpPr>
          <p:cNvPr id="421" name="marca c1f22"/>
          <p:cNvSpPr txBox="1"/>
          <p:nvPr/>
        </p:nvSpPr>
        <p:spPr>
          <a:xfrm>
            <a:off x="8074152" y="415747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422" name="num c1f23"/>
          <p:cNvSpPr txBox="1"/>
          <p:nvPr/>
        </p:nvSpPr>
        <p:spPr>
          <a:xfrm>
            <a:off x="4636008" y="428701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48</a:t>
            </a:r>
          </a:p>
        </p:txBody>
      </p:sp>
      <p:sp>
        <p:nvSpPr>
          <p:cNvPr id="423" name="nombre c1f23"/>
          <p:cNvSpPr txBox="1"/>
          <p:nvPr/>
        </p:nvSpPr>
        <p:spPr>
          <a:xfrm>
            <a:off x="4855464" y="428701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104 †</a:t>
            </a:r>
          </a:p>
        </p:txBody>
      </p:sp>
      <p:sp>
        <p:nvSpPr>
          <p:cNvPr id="424" name="barra c1f23"/>
          <p:cNvSpPr/>
          <p:nvPr/>
        </p:nvSpPr>
        <p:spPr>
          <a:xfrm>
            <a:off x="5532120" y="4315511"/>
            <a:ext cx="199313" cy="7254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425" name="diseno c1f23"/>
          <p:cNvSpPr/>
          <p:nvPr/>
        </p:nvSpPr>
        <p:spPr>
          <a:xfrm>
            <a:off x="6550866" y="4297375"/>
            <a:ext cx="10973" cy="108814"/>
          </a:xfrm>
          <a:prstGeom prst="rect">
            <a:avLst/>
          </a:prstGeom>
          <a:solidFill>
            <a:srgbClr val="1B3A6B"/>
          </a:solidFill>
          <a:ln w="12700">
            <a:noFill/>
          </a:ln>
        </p:spPr>
        <p:txBody>
          <a:bodyPr rtlCol="0" anchor="ctr"/>
          <a:lstStyle/>
          <a:p>
            <a:pPr algn="ctr"/>
            <a:endParaRPr lang="es-CO" noProof="0" dirty="0"/>
          </a:p>
        </p:txBody>
      </p:sp>
      <p:sp>
        <p:nvSpPr>
          <p:cNvPr id="426" name="real c1f23"/>
          <p:cNvSpPr txBox="1"/>
          <p:nvPr/>
        </p:nvSpPr>
        <p:spPr>
          <a:xfrm>
            <a:off x="6720840" y="428701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0392B"/>
                </a:solidFill>
                <a:latin typeface="Calibri"/>
              </a:rPr>
              <a:t>231</a:t>
            </a:r>
          </a:p>
        </p:txBody>
      </p:sp>
      <p:sp>
        <p:nvSpPr>
          <p:cNvPr id="427" name="pd c1f23"/>
          <p:cNvSpPr txBox="1"/>
          <p:nvPr/>
        </p:nvSpPr>
        <p:spPr>
          <a:xfrm>
            <a:off x="7123176" y="428701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0392B"/>
                </a:solidFill>
                <a:latin typeface="Calibri"/>
              </a:rPr>
              <a:t>19,5%</a:t>
            </a:r>
          </a:p>
        </p:txBody>
      </p:sp>
      <p:sp>
        <p:nvSpPr>
          <p:cNvPr id="428" name="lim c1f23"/>
          <p:cNvSpPr txBox="1"/>
          <p:nvPr/>
        </p:nvSpPr>
        <p:spPr>
          <a:xfrm>
            <a:off x="7562088" y="428701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19 de 20</a:t>
            </a:r>
          </a:p>
        </p:txBody>
      </p:sp>
      <p:sp>
        <p:nvSpPr>
          <p:cNvPr id="429" name="marca c1f23"/>
          <p:cNvSpPr txBox="1"/>
          <p:nvPr/>
        </p:nvSpPr>
        <p:spPr>
          <a:xfrm>
            <a:off x="8074152" y="428701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430" name="nota rank"/>
          <p:cNvSpPr txBox="1"/>
          <p:nvPr/>
        </p:nvSpPr>
        <p:spPr>
          <a:xfrm>
            <a:off x="411480" y="4526280"/>
            <a:ext cx="8321040" cy="329184"/>
          </a:xfrm>
          <a:prstGeom prst="rect">
            <a:avLst/>
          </a:prstGeom>
          <a:noFill/>
        </p:spPr>
        <p:txBody>
          <a:bodyPr wrap="square" lIns="0" tIns="0" rIns="0" bIns="0" anchor="ctr">
            <a:spAutoFit/>
          </a:bodyPr>
          <a:lstStyle/>
          <a:p>
            <a:pPr algn="l">
              <a:spcAft>
                <a:spcPts val="0"/>
              </a:spcAft>
            </a:pPr>
            <a:r>
              <a:rPr lang="es-CO" sz="750" b="0" i="1" noProof="0" dirty="0">
                <a:solidFill>
                  <a:srgbClr val="55636E"/>
                </a:solidFill>
                <a:latin typeface="Calibri"/>
              </a:rPr>
              <a:t>Verde ≥ 90% del diseño · azul 80 - 90% · naranja 60 - 80% · rojo &lt; 60%. Marca azul oscura = diseño de la región (Cali 1.188 · costa 1.323). Días </a:t>
            </a:r>
            <a:r>
              <a:rPr lang="es-CO" sz="750" b="0" i="1" noProof="0" dirty="0" err="1">
                <a:solidFill>
                  <a:srgbClr val="55636E"/>
                </a:solidFill>
                <a:latin typeface="Calibri"/>
              </a:rPr>
              <a:t>lim</a:t>
            </a:r>
            <a:r>
              <a:rPr lang="es-CO" sz="750" b="0" i="1" noProof="0" dirty="0">
                <a:solidFill>
                  <a:srgbClr val="55636E"/>
                </a:solidFill>
                <a:latin typeface="Calibri"/>
              </a:rPr>
              <a:t>. = días con la batería llena antes de las 12:00 (la producción queda limitada al consumo). * Casa 447p: 9 días (8 al 16/10). † medidor solar e inversor difieren más de 20% en la carga del periodo: medición por validar.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GENERACIÓN SOLAR · RECORTE (CURTAILMENT)</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1800" b="1" i="0" noProof="0" dirty="0">
                <a:solidFill>
                  <a:srgbClr val="1B3A6B"/>
                </a:solidFill>
                <a:latin typeface="Calibri"/>
              </a:rPr>
              <a:t>Se dejaron de producir ≈ 4.375 kWh por batería llena: sin ese recorte, el rendimiento pasaría de 76,4% a ≈ 97,8% del diseño</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10</a:t>
            </a:r>
          </a:p>
        </p:txBody>
      </p:sp>
      <p:sp>
        <p:nvSpPr>
          <p:cNvPr id="8" name="tarjeta 1"/>
          <p:cNvSpPr/>
          <p:nvPr/>
        </p:nvSpPr>
        <p:spPr>
          <a:xfrm>
            <a:off x="411480" y="1143000"/>
            <a:ext cx="2697480" cy="658368"/>
          </a:xfrm>
          <a:prstGeom prst="rect">
            <a:avLst/>
          </a:prstGeom>
          <a:solidFill>
            <a:srgbClr val="FFFFFF"/>
          </a:solidFill>
          <a:ln w="10160">
            <a:solidFill>
              <a:srgbClr val="E3E7EA"/>
            </a:solidFill>
          </a:ln>
        </p:spPr>
        <p:txBody>
          <a:bodyPr rtlCol="0" anchor="ctr"/>
          <a:lstStyle/>
          <a:p>
            <a:pPr algn="ctr"/>
            <a:endParaRPr lang="es-CO" noProof="0" dirty="0"/>
          </a:p>
        </p:txBody>
      </p:sp>
      <p:sp>
        <p:nvSpPr>
          <p:cNvPr id="9" name="barra tarjeta 1"/>
          <p:cNvSpPr/>
          <p:nvPr/>
        </p:nvSpPr>
        <p:spPr>
          <a:xfrm>
            <a:off x="411480" y="1143000"/>
            <a:ext cx="54864" cy="658368"/>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0" name="cifra tarjeta 1"/>
          <p:cNvSpPr txBox="1"/>
          <p:nvPr/>
        </p:nvSpPr>
        <p:spPr>
          <a:xfrm>
            <a:off x="557784" y="1179576"/>
            <a:ext cx="2496312" cy="342351"/>
          </a:xfrm>
          <a:prstGeom prst="rect">
            <a:avLst/>
          </a:prstGeom>
          <a:noFill/>
        </p:spPr>
        <p:txBody>
          <a:bodyPr wrap="square" lIns="0" tIns="0" rIns="0" bIns="0" anchor="ctr">
            <a:spAutoFit/>
          </a:bodyPr>
          <a:lstStyle/>
          <a:p>
            <a:pPr algn="l">
              <a:spcAft>
                <a:spcPts val="0"/>
              </a:spcAft>
            </a:pPr>
            <a:r>
              <a:rPr lang="es-CO" sz="1700" b="1" i="0" noProof="0" dirty="0">
                <a:solidFill>
                  <a:srgbClr val="CA6F1E"/>
                </a:solidFill>
                <a:latin typeface="Calibri"/>
              </a:rPr>
              <a:t>4.375 kWh</a:t>
            </a:r>
          </a:p>
        </p:txBody>
      </p:sp>
      <p:sp>
        <p:nvSpPr>
          <p:cNvPr id="11" name="etiqueta tarjeta 1"/>
          <p:cNvSpPr txBox="1"/>
          <p:nvPr/>
        </p:nvSpPr>
        <p:spPr>
          <a:xfrm>
            <a:off x="557784" y="1499616"/>
            <a:ext cx="2496312" cy="144840"/>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recorte estimado del 1 al 20/10</a:t>
            </a:r>
          </a:p>
        </p:txBody>
      </p:sp>
      <p:sp>
        <p:nvSpPr>
          <p:cNvPr id="12" name="detalle tarjeta 1"/>
          <p:cNvSpPr txBox="1"/>
          <p:nvPr/>
        </p:nvSpPr>
        <p:spPr>
          <a:xfrm>
            <a:off x="557784" y="1627632"/>
            <a:ext cx="2496312" cy="158008"/>
          </a:xfrm>
          <a:prstGeom prst="rect">
            <a:avLst/>
          </a:prstGeom>
          <a:noFill/>
        </p:spPr>
        <p:txBody>
          <a:bodyPr wrap="square" lIns="0" tIns="0" rIns="0" bIns="0" anchor="t">
            <a:spAutoFit/>
          </a:bodyPr>
          <a:lstStyle/>
          <a:p>
            <a:pPr algn="l">
              <a:spcAft>
                <a:spcPts val="0"/>
              </a:spcAft>
            </a:pPr>
            <a:r>
              <a:rPr lang="es-CO" sz="720" b="0" i="0" noProof="0" dirty="0">
                <a:solidFill>
                  <a:srgbClr val="55636E"/>
                </a:solidFill>
                <a:latin typeface="Calibri"/>
              </a:rPr>
              <a:t>22,4% del potencial · rango 4.182 a 4.893 kWh</a:t>
            </a:r>
          </a:p>
        </p:txBody>
      </p:sp>
      <p:sp>
        <p:nvSpPr>
          <p:cNvPr id="13" name="tarjeta 2"/>
          <p:cNvSpPr/>
          <p:nvPr/>
        </p:nvSpPr>
        <p:spPr>
          <a:xfrm>
            <a:off x="3218688" y="1143000"/>
            <a:ext cx="2697480" cy="658368"/>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4" name="barra tarjeta 2"/>
          <p:cNvSpPr/>
          <p:nvPr/>
        </p:nvSpPr>
        <p:spPr>
          <a:xfrm>
            <a:off x="3218688" y="1143000"/>
            <a:ext cx="54864" cy="65836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15" name="cifra tarjeta 2"/>
          <p:cNvSpPr txBox="1"/>
          <p:nvPr/>
        </p:nvSpPr>
        <p:spPr>
          <a:xfrm>
            <a:off x="3364992" y="1179576"/>
            <a:ext cx="2496312" cy="342351"/>
          </a:xfrm>
          <a:prstGeom prst="rect">
            <a:avLst/>
          </a:prstGeom>
          <a:noFill/>
        </p:spPr>
        <p:txBody>
          <a:bodyPr wrap="square" lIns="0" tIns="0" rIns="0" bIns="0" anchor="ctr">
            <a:spAutoFit/>
          </a:bodyPr>
          <a:lstStyle/>
          <a:p>
            <a:pPr algn="l">
              <a:spcAft>
                <a:spcPts val="0"/>
              </a:spcAft>
            </a:pPr>
            <a:r>
              <a:rPr lang="es-CO" sz="1700" b="1" i="0" noProof="0" dirty="0">
                <a:solidFill>
                  <a:srgbClr val="1F6F78"/>
                </a:solidFill>
                <a:latin typeface="Calibri"/>
              </a:rPr>
              <a:t>97,8%</a:t>
            </a:r>
          </a:p>
        </p:txBody>
      </p:sp>
      <p:sp>
        <p:nvSpPr>
          <p:cNvPr id="16" name="etiqueta tarjeta 2"/>
          <p:cNvSpPr txBox="1"/>
          <p:nvPr/>
        </p:nvSpPr>
        <p:spPr>
          <a:xfrm>
            <a:off x="3364992" y="1499616"/>
            <a:ext cx="2496312" cy="144840"/>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del diseño sin recorte (hoy 76,4%)</a:t>
            </a:r>
          </a:p>
        </p:txBody>
      </p:sp>
      <p:sp>
        <p:nvSpPr>
          <p:cNvPr id="17" name="detalle tarjeta 2"/>
          <p:cNvSpPr txBox="1"/>
          <p:nvPr/>
        </p:nvSpPr>
        <p:spPr>
          <a:xfrm>
            <a:off x="3364992" y="1627632"/>
            <a:ext cx="2496312" cy="158008"/>
          </a:xfrm>
          <a:prstGeom prst="rect">
            <a:avLst/>
          </a:prstGeom>
          <a:noFill/>
        </p:spPr>
        <p:txBody>
          <a:bodyPr wrap="square" lIns="0" tIns="0" rIns="0" bIns="0" anchor="t">
            <a:spAutoFit/>
          </a:bodyPr>
          <a:lstStyle/>
          <a:p>
            <a:pPr algn="l">
              <a:spcAft>
                <a:spcPts val="0"/>
              </a:spcAft>
            </a:pPr>
            <a:r>
              <a:rPr lang="es-CO" sz="720" b="0" i="0" noProof="0" dirty="0">
                <a:solidFill>
                  <a:srgbClr val="55636E"/>
                </a:solidFill>
                <a:latin typeface="Calibri"/>
              </a:rPr>
              <a:t>17.439 kWh sin recorte vs 13.631 medidos y 17.835 de diseño</a:t>
            </a:r>
          </a:p>
        </p:txBody>
      </p:sp>
      <p:sp>
        <p:nvSpPr>
          <p:cNvPr id="18" name="tarjeta 3"/>
          <p:cNvSpPr/>
          <p:nvPr/>
        </p:nvSpPr>
        <p:spPr>
          <a:xfrm>
            <a:off x="6025896" y="1143000"/>
            <a:ext cx="2697480" cy="658368"/>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9" name="barra tarjeta 3"/>
          <p:cNvSpPr/>
          <p:nvPr/>
        </p:nvSpPr>
        <p:spPr>
          <a:xfrm>
            <a:off x="6025896" y="1143000"/>
            <a:ext cx="54864" cy="65836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0" name="cifra tarjeta 3"/>
          <p:cNvSpPr txBox="1"/>
          <p:nvPr/>
        </p:nvSpPr>
        <p:spPr>
          <a:xfrm>
            <a:off x="6172200" y="1179576"/>
            <a:ext cx="2496312" cy="342351"/>
          </a:xfrm>
          <a:prstGeom prst="rect">
            <a:avLst/>
          </a:prstGeom>
          <a:noFill/>
        </p:spPr>
        <p:txBody>
          <a:bodyPr wrap="square" lIns="0" tIns="0" rIns="0" bIns="0" anchor="ctr">
            <a:spAutoFit/>
          </a:bodyPr>
          <a:lstStyle/>
          <a:p>
            <a:pPr algn="l">
              <a:spcAft>
                <a:spcPts val="0"/>
              </a:spcAft>
            </a:pPr>
            <a:r>
              <a:rPr lang="es-CO" sz="1700" b="1" i="0" noProof="0" dirty="0">
                <a:solidFill>
                  <a:srgbClr val="2B5BA3"/>
                </a:solidFill>
                <a:latin typeface="Calibri"/>
              </a:rPr>
              <a:t>82%</a:t>
            </a:r>
          </a:p>
        </p:txBody>
      </p:sp>
      <p:sp>
        <p:nvSpPr>
          <p:cNvPr id="21" name="etiqueta tarjeta 3"/>
          <p:cNvSpPr txBox="1"/>
          <p:nvPr/>
        </p:nvSpPr>
        <p:spPr>
          <a:xfrm>
            <a:off x="6172200" y="1499616"/>
            <a:ext cx="2496312" cy="144840"/>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del recorte con batería llena en reposo</a:t>
            </a:r>
          </a:p>
        </p:txBody>
      </p:sp>
      <p:sp>
        <p:nvSpPr>
          <p:cNvPr id="22" name="detalle tarjeta 3"/>
          <p:cNvSpPr txBox="1"/>
          <p:nvPr/>
        </p:nvSpPr>
        <p:spPr>
          <a:xfrm>
            <a:off x="6172200" y="1627632"/>
            <a:ext cx="2496312" cy="158008"/>
          </a:xfrm>
          <a:prstGeom prst="rect">
            <a:avLst/>
          </a:prstGeom>
          <a:noFill/>
        </p:spPr>
        <p:txBody>
          <a:bodyPr wrap="square" lIns="0" tIns="0" rIns="0" bIns="0" anchor="t">
            <a:spAutoFit/>
          </a:bodyPr>
          <a:lstStyle/>
          <a:p>
            <a:pPr algn="l">
              <a:spcAft>
                <a:spcPts val="0"/>
              </a:spcAft>
            </a:pPr>
            <a:r>
              <a:rPr lang="es-CO" sz="720" b="0" i="0" noProof="0" dirty="0">
                <a:solidFill>
                  <a:srgbClr val="55636E"/>
                </a:solidFill>
                <a:latin typeface="Calibri"/>
              </a:rPr>
              <a:t>14% cargando con poca corriente · 4% descargando</a:t>
            </a:r>
          </a:p>
        </p:txBody>
      </p:sp>
      <p:sp>
        <p:nvSpPr>
          <p:cNvPr id="23" name="panel por día"/>
          <p:cNvSpPr/>
          <p:nvPr/>
        </p:nvSpPr>
        <p:spPr>
          <a:xfrm>
            <a:off x="411480" y="1920240"/>
            <a:ext cx="4754880" cy="2633472"/>
          </a:xfrm>
          <a:prstGeom prst="rect">
            <a:avLst/>
          </a:prstGeom>
          <a:solidFill>
            <a:srgbClr val="FFFFFF"/>
          </a:solidFill>
          <a:ln w="10160">
            <a:solidFill>
              <a:srgbClr val="E3E7EA"/>
            </a:solidFill>
          </a:ln>
        </p:spPr>
        <p:txBody>
          <a:bodyPr rtlCol="0" anchor="ctr"/>
          <a:lstStyle/>
          <a:p>
            <a:pPr algn="ctr"/>
            <a:endParaRPr lang="es-CO" noProof="0" dirty="0"/>
          </a:p>
        </p:txBody>
      </p:sp>
      <p:sp>
        <p:nvSpPr>
          <p:cNvPr id="24" name="título panel por día"/>
          <p:cNvSpPr txBox="1"/>
          <p:nvPr/>
        </p:nvSpPr>
        <p:spPr>
          <a:xfrm>
            <a:off x="548640" y="1956816"/>
            <a:ext cx="4480560" cy="21945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Producción medida y recorte estimado por día de octubre (kWh)</a:t>
            </a:r>
          </a:p>
        </p:txBody>
      </p:sp>
      <p:graphicFrame>
        <p:nvGraphicFramePr>
          <p:cNvPr id="25" name="Gráfico recorte por día"/>
          <p:cNvGraphicFramePr>
            <a:graphicFrameLocks noGrp="1"/>
          </p:cNvGraphicFramePr>
          <p:nvPr/>
        </p:nvGraphicFramePr>
        <p:xfrm>
          <a:off x="457200" y="2157984"/>
          <a:ext cx="4663440" cy="2359152"/>
        </p:xfrm>
        <a:graphic>
          <a:graphicData uri="http://schemas.openxmlformats.org/drawingml/2006/chart">
            <c:chart xmlns:c="http://schemas.openxmlformats.org/drawingml/2006/chart" xmlns:r="http://schemas.openxmlformats.org/officeDocument/2006/relationships" r:id="rId3"/>
          </a:graphicData>
        </a:graphic>
      </p:graphicFrame>
      <p:sp>
        <p:nvSpPr>
          <p:cNvPr id="26" name="panel por conjunto"/>
          <p:cNvSpPr/>
          <p:nvPr/>
        </p:nvSpPr>
        <p:spPr>
          <a:xfrm>
            <a:off x="5349240" y="1920240"/>
            <a:ext cx="3383280" cy="2633472"/>
          </a:xfrm>
          <a:prstGeom prst="rect">
            <a:avLst/>
          </a:prstGeom>
          <a:solidFill>
            <a:srgbClr val="FFFFFF"/>
          </a:solidFill>
          <a:ln w="10160">
            <a:solidFill>
              <a:srgbClr val="E3E7EA"/>
            </a:solidFill>
          </a:ln>
        </p:spPr>
        <p:txBody>
          <a:bodyPr rtlCol="0" anchor="ctr"/>
          <a:lstStyle/>
          <a:p>
            <a:pPr algn="ctr"/>
            <a:endParaRPr lang="es-CO" noProof="0" dirty="0"/>
          </a:p>
        </p:txBody>
      </p:sp>
      <p:sp>
        <p:nvSpPr>
          <p:cNvPr id="27" name="título panel por conjunto"/>
          <p:cNvSpPr txBox="1"/>
          <p:nvPr/>
        </p:nvSpPr>
        <p:spPr>
          <a:xfrm>
            <a:off x="5486400" y="1956816"/>
            <a:ext cx="3108960" cy="21945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Recorte por conjunto (% del potencial · kWh)</a:t>
            </a:r>
          </a:p>
        </p:txBody>
      </p:sp>
      <p:sp>
        <p:nvSpPr>
          <p:cNvPr id="28" name="conjunto 0 nombre"/>
          <p:cNvSpPr txBox="1"/>
          <p:nvPr/>
        </p:nvSpPr>
        <p:spPr>
          <a:xfrm>
            <a:off x="5486400" y="2249424"/>
            <a:ext cx="1234440" cy="201168"/>
          </a:xfrm>
          <a:prstGeom prst="rect">
            <a:avLst/>
          </a:prstGeom>
          <a:noFill/>
        </p:spPr>
        <p:txBody>
          <a:bodyPr wrap="square" lIns="0" tIns="0" rIns="0" bIns="0" anchor="ctr">
            <a:spAutoFit/>
          </a:bodyPr>
          <a:lstStyle/>
          <a:p>
            <a:pPr algn="l">
              <a:spcAft>
                <a:spcPts val="0"/>
              </a:spcAft>
            </a:pPr>
            <a:r>
              <a:rPr lang="es-CO" sz="800" b="0" i="0" noProof="0" dirty="0">
                <a:solidFill>
                  <a:srgbClr val="1A1A2E"/>
                </a:solidFill>
                <a:latin typeface="Calibri"/>
              </a:rPr>
              <a:t>Reservas de Pance (22)</a:t>
            </a:r>
          </a:p>
        </p:txBody>
      </p:sp>
      <p:sp>
        <p:nvSpPr>
          <p:cNvPr id="29" name="conjunto 0 pista"/>
          <p:cNvSpPr/>
          <p:nvPr/>
        </p:nvSpPr>
        <p:spPr>
          <a:xfrm>
            <a:off x="6720840" y="2290572"/>
            <a:ext cx="914400" cy="118872"/>
          </a:xfrm>
          <a:prstGeom prst="rect">
            <a:avLst/>
          </a:prstGeom>
          <a:solidFill>
            <a:srgbClr val="E9EDF3"/>
          </a:solidFill>
          <a:ln w="12700">
            <a:solidFill>
              <a:srgbClr val="E9EDF3"/>
            </a:solidFill>
          </a:ln>
        </p:spPr>
        <p:txBody>
          <a:bodyPr rtlCol="0" anchor="ctr"/>
          <a:lstStyle/>
          <a:p>
            <a:pPr algn="ctr"/>
            <a:endParaRPr lang="es-CO" noProof="0" dirty="0"/>
          </a:p>
        </p:txBody>
      </p:sp>
      <p:sp>
        <p:nvSpPr>
          <p:cNvPr id="30" name="conjunto 0 barra"/>
          <p:cNvSpPr/>
          <p:nvPr/>
        </p:nvSpPr>
        <p:spPr>
          <a:xfrm>
            <a:off x="6720840" y="2290572"/>
            <a:ext cx="804710" cy="11887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31" name="conjunto 0 promedio"/>
          <p:cNvSpPr/>
          <p:nvPr/>
        </p:nvSpPr>
        <p:spPr>
          <a:xfrm>
            <a:off x="7295711" y="2258568"/>
            <a:ext cx="18288" cy="18288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2" name="conjunto 0 valor"/>
          <p:cNvSpPr txBox="1"/>
          <p:nvPr/>
        </p:nvSpPr>
        <p:spPr>
          <a:xfrm>
            <a:off x="7708392" y="2249424"/>
            <a:ext cx="960120" cy="201168"/>
          </a:xfrm>
          <a:prstGeom prst="rect">
            <a:avLst/>
          </a:prstGeom>
          <a:noFill/>
        </p:spPr>
        <p:txBody>
          <a:bodyPr wrap="square" lIns="0" tIns="0" rIns="0" bIns="0" anchor="ctr">
            <a:spAutoFit/>
          </a:bodyPr>
          <a:lstStyle/>
          <a:p>
            <a:pPr algn="l">
              <a:spcAft>
                <a:spcPts val="0"/>
              </a:spcAft>
            </a:pPr>
            <a:r>
              <a:rPr lang="es-CO" sz="800" b="1" i="0" noProof="0" dirty="0">
                <a:solidFill>
                  <a:srgbClr val="CA6F1E"/>
                </a:solidFill>
                <a:latin typeface="Calibri"/>
              </a:rPr>
              <a:t>30,8%</a:t>
            </a:r>
            <a:r>
              <a:rPr lang="es-CO" sz="700" b="0" i="0" noProof="0" dirty="0">
                <a:solidFill>
                  <a:srgbClr val="55636E"/>
                </a:solidFill>
                <a:latin typeface="Calibri"/>
              </a:rPr>
              <a:t>  2.737 kWh</a:t>
            </a:r>
          </a:p>
        </p:txBody>
      </p:sp>
      <p:sp>
        <p:nvSpPr>
          <p:cNvPr id="33" name="conjunto 1 nombre"/>
          <p:cNvSpPr txBox="1"/>
          <p:nvPr/>
        </p:nvSpPr>
        <p:spPr>
          <a:xfrm>
            <a:off x="5486400" y="2452421"/>
            <a:ext cx="1234440" cy="201168"/>
          </a:xfrm>
          <a:prstGeom prst="rect">
            <a:avLst/>
          </a:prstGeom>
          <a:noFill/>
        </p:spPr>
        <p:txBody>
          <a:bodyPr wrap="square" lIns="0" tIns="0" rIns="0" bIns="0" anchor="ctr">
            <a:spAutoFit/>
          </a:bodyPr>
          <a:lstStyle/>
          <a:p>
            <a:pPr algn="l">
              <a:spcAft>
                <a:spcPts val="0"/>
              </a:spcAft>
            </a:pPr>
            <a:r>
              <a:rPr lang="es-CO" sz="800" b="0" i="0" noProof="0" dirty="0">
                <a:solidFill>
                  <a:srgbClr val="1A1A2E"/>
                </a:solidFill>
                <a:latin typeface="Calibri"/>
              </a:rPr>
              <a:t>Prado Verde (16)</a:t>
            </a:r>
          </a:p>
        </p:txBody>
      </p:sp>
      <p:sp>
        <p:nvSpPr>
          <p:cNvPr id="34" name="conjunto 1 pista"/>
          <p:cNvSpPr/>
          <p:nvPr/>
        </p:nvSpPr>
        <p:spPr>
          <a:xfrm>
            <a:off x="6720840" y="2493569"/>
            <a:ext cx="914400" cy="118872"/>
          </a:xfrm>
          <a:prstGeom prst="rect">
            <a:avLst/>
          </a:prstGeom>
          <a:solidFill>
            <a:srgbClr val="E9EDF3"/>
          </a:solidFill>
          <a:ln w="12700">
            <a:solidFill>
              <a:srgbClr val="E9EDF3"/>
            </a:solidFill>
          </a:ln>
        </p:spPr>
        <p:txBody>
          <a:bodyPr rtlCol="0" anchor="ctr"/>
          <a:lstStyle/>
          <a:p>
            <a:pPr algn="ctr"/>
            <a:endParaRPr lang="es-CO" noProof="0" dirty="0"/>
          </a:p>
        </p:txBody>
      </p:sp>
      <p:sp>
        <p:nvSpPr>
          <p:cNvPr id="35" name="conjunto 1 barra"/>
          <p:cNvSpPr/>
          <p:nvPr/>
        </p:nvSpPr>
        <p:spPr>
          <a:xfrm>
            <a:off x="6720840" y="2493569"/>
            <a:ext cx="354490" cy="11887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36" name="conjunto 1 promedio"/>
          <p:cNvSpPr/>
          <p:nvPr/>
        </p:nvSpPr>
        <p:spPr>
          <a:xfrm>
            <a:off x="7295711" y="2461565"/>
            <a:ext cx="18288" cy="18288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7" name="conjunto 1 valor"/>
          <p:cNvSpPr txBox="1"/>
          <p:nvPr/>
        </p:nvSpPr>
        <p:spPr>
          <a:xfrm>
            <a:off x="7708392" y="2452421"/>
            <a:ext cx="960120" cy="201168"/>
          </a:xfrm>
          <a:prstGeom prst="rect">
            <a:avLst/>
          </a:prstGeom>
          <a:noFill/>
        </p:spPr>
        <p:txBody>
          <a:bodyPr wrap="square" lIns="0" tIns="0" rIns="0" bIns="0" anchor="ctr">
            <a:spAutoFit/>
          </a:bodyPr>
          <a:lstStyle/>
          <a:p>
            <a:pPr algn="l">
              <a:spcAft>
                <a:spcPts val="0"/>
              </a:spcAft>
            </a:pPr>
            <a:r>
              <a:rPr lang="es-CO" sz="800" b="1" i="0" noProof="0" dirty="0">
                <a:solidFill>
                  <a:srgbClr val="2B5BA3"/>
                </a:solidFill>
                <a:latin typeface="Calibri"/>
              </a:rPr>
              <a:t>13,6%</a:t>
            </a:r>
            <a:r>
              <a:rPr lang="es-CO" sz="700" b="0" i="0" noProof="0" dirty="0">
                <a:solidFill>
                  <a:srgbClr val="55636E"/>
                </a:solidFill>
                <a:latin typeface="Calibri"/>
              </a:rPr>
              <a:t>  573 kWh</a:t>
            </a:r>
          </a:p>
        </p:txBody>
      </p:sp>
      <p:sp>
        <p:nvSpPr>
          <p:cNvPr id="38" name="conjunto 2 nombre"/>
          <p:cNvSpPr txBox="1"/>
          <p:nvPr/>
        </p:nvSpPr>
        <p:spPr>
          <a:xfrm>
            <a:off x="5486400" y="2655418"/>
            <a:ext cx="1234440" cy="201168"/>
          </a:xfrm>
          <a:prstGeom prst="rect">
            <a:avLst/>
          </a:prstGeom>
          <a:noFill/>
        </p:spPr>
        <p:txBody>
          <a:bodyPr wrap="square" lIns="0" tIns="0" rIns="0" bIns="0" anchor="ctr">
            <a:spAutoFit/>
          </a:bodyPr>
          <a:lstStyle/>
          <a:p>
            <a:pPr algn="l">
              <a:spcAft>
                <a:spcPts val="0"/>
              </a:spcAft>
            </a:pPr>
            <a:r>
              <a:rPr lang="es-CO" sz="800" b="0" i="0" noProof="0" dirty="0">
                <a:solidFill>
                  <a:srgbClr val="1A1A2E"/>
                </a:solidFill>
                <a:latin typeface="Calibri"/>
              </a:rPr>
              <a:t>Los Abedules</a:t>
            </a:r>
          </a:p>
        </p:txBody>
      </p:sp>
      <p:sp>
        <p:nvSpPr>
          <p:cNvPr id="39" name="conjunto 2 pista"/>
          <p:cNvSpPr/>
          <p:nvPr/>
        </p:nvSpPr>
        <p:spPr>
          <a:xfrm>
            <a:off x="6720840" y="2696566"/>
            <a:ext cx="914400" cy="118872"/>
          </a:xfrm>
          <a:prstGeom prst="rect">
            <a:avLst/>
          </a:prstGeom>
          <a:solidFill>
            <a:srgbClr val="E9EDF3"/>
          </a:solidFill>
          <a:ln w="12700">
            <a:solidFill>
              <a:srgbClr val="E9EDF3"/>
            </a:solidFill>
          </a:ln>
        </p:spPr>
        <p:txBody>
          <a:bodyPr rtlCol="0" anchor="ctr"/>
          <a:lstStyle/>
          <a:p>
            <a:pPr algn="ctr"/>
            <a:endParaRPr lang="es-CO" noProof="0" dirty="0"/>
          </a:p>
        </p:txBody>
      </p:sp>
      <p:sp>
        <p:nvSpPr>
          <p:cNvPr id="40" name="conjunto 2 barra"/>
          <p:cNvSpPr/>
          <p:nvPr/>
        </p:nvSpPr>
        <p:spPr>
          <a:xfrm>
            <a:off x="6720840" y="2696566"/>
            <a:ext cx="704673" cy="11887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41" name="conjunto 2 promedio"/>
          <p:cNvSpPr/>
          <p:nvPr/>
        </p:nvSpPr>
        <p:spPr>
          <a:xfrm>
            <a:off x="7295711" y="2664562"/>
            <a:ext cx="18288" cy="18288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42" name="conjunto 2 valor"/>
          <p:cNvSpPr txBox="1"/>
          <p:nvPr/>
        </p:nvSpPr>
        <p:spPr>
          <a:xfrm>
            <a:off x="7708392" y="2655418"/>
            <a:ext cx="960120" cy="201168"/>
          </a:xfrm>
          <a:prstGeom prst="rect">
            <a:avLst/>
          </a:prstGeom>
          <a:noFill/>
        </p:spPr>
        <p:txBody>
          <a:bodyPr wrap="square" lIns="0" tIns="0" rIns="0" bIns="0" anchor="ctr">
            <a:spAutoFit/>
          </a:bodyPr>
          <a:lstStyle/>
          <a:p>
            <a:pPr algn="l">
              <a:spcAft>
                <a:spcPts val="0"/>
              </a:spcAft>
            </a:pPr>
            <a:r>
              <a:rPr lang="es-CO" sz="800" b="1" i="0" noProof="0" dirty="0">
                <a:solidFill>
                  <a:srgbClr val="CA6F1E"/>
                </a:solidFill>
                <a:latin typeface="Calibri"/>
              </a:rPr>
              <a:t>27,0%</a:t>
            </a:r>
            <a:r>
              <a:rPr lang="es-CO" sz="700" b="0" i="0" noProof="0" dirty="0">
                <a:solidFill>
                  <a:srgbClr val="55636E"/>
                </a:solidFill>
                <a:latin typeface="Calibri"/>
              </a:rPr>
              <a:t>  248 kWh</a:t>
            </a:r>
          </a:p>
        </p:txBody>
      </p:sp>
      <p:sp>
        <p:nvSpPr>
          <p:cNvPr id="43" name="conjunto 3 nombre"/>
          <p:cNvSpPr txBox="1"/>
          <p:nvPr/>
        </p:nvSpPr>
        <p:spPr>
          <a:xfrm>
            <a:off x="5486400" y="2858414"/>
            <a:ext cx="1234440" cy="201168"/>
          </a:xfrm>
          <a:prstGeom prst="rect">
            <a:avLst/>
          </a:prstGeom>
          <a:noFill/>
        </p:spPr>
        <p:txBody>
          <a:bodyPr wrap="square" lIns="0" tIns="0" rIns="0" bIns="0" anchor="ctr">
            <a:spAutoFit/>
          </a:bodyPr>
          <a:lstStyle/>
          <a:p>
            <a:pPr algn="l">
              <a:spcAft>
                <a:spcPts val="0"/>
              </a:spcAft>
            </a:pPr>
            <a:r>
              <a:rPr lang="es-CO" sz="800" b="0" i="0" noProof="0" dirty="0">
                <a:solidFill>
                  <a:srgbClr val="1A1A2E"/>
                </a:solidFill>
                <a:latin typeface="Calibri"/>
              </a:rPr>
              <a:t>Gerona Club House</a:t>
            </a:r>
          </a:p>
        </p:txBody>
      </p:sp>
      <p:sp>
        <p:nvSpPr>
          <p:cNvPr id="44" name="conjunto 3 pista"/>
          <p:cNvSpPr/>
          <p:nvPr/>
        </p:nvSpPr>
        <p:spPr>
          <a:xfrm>
            <a:off x="6720840" y="2899562"/>
            <a:ext cx="914400" cy="118872"/>
          </a:xfrm>
          <a:prstGeom prst="rect">
            <a:avLst/>
          </a:prstGeom>
          <a:solidFill>
            <a:srgbClr val="E9EDF3"/>
          </a:solidFill>
          <a:ln w="12700">
            <a:solidFill>
              <a:srgbClr val="E9EDF3"/>
            </a:solidFill>
          </a:ln>
        </p:spPr>
        <p:txBody>
          <a:bodyPr rtlCol="0" anchor="ctr"/>
          <a:lstStyle/>
          <a:p>
            <a:pPr algn="ctr"/>
            <a:endParaRPr lang="es-CO" noProof="0" dirty="0"/>
          </a:p>
        </p:txBody>
      </p:sp>
      <p:sp>
        <p:nvSpPr>
          <p:cNvPr id="45" name="conjunto 3 barra"/>
          <p:cNvSpPr/>
          <p:nvPr/>
        </p:nvSpPr>
        <p:spPr>
          <a:xfrm>
            <a:off x="6720840" y="2899562"/>
            <a:ext cx="622714" cy="11887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46" name="conjunto 3 promedio"/>
          <p:cNvSpPr/>
          <p:nvPr/>
        </p:nvSpPr>
        <p:spPr>
          <a:xfrm>
            <a:off x="7295711" y="2867558"/>
            <a:ext cx="18288" cy="18288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47" name="conjunto 3 valor"/>
          <p:cNvSpPr txBox="1"/>
          <p:nvPr/>
        </p:nvSpPr>
        <p:spPr>
          <a:xfrm>
            <a:off x="7708392" y="2858414"/>
            <a:ext cx="960120" cy="201168"/>
          </a:xfrm>
          <a:prstGeom prst="rect">
            <a:avLst/>
          </a:prstGeom>
          <a:noFill/>
        </p:spPr>
        <p:txBody>
          <a:bodyPr wrap="square" lIns="0" tIns="0" rIns="0" bIns="0" anchor="ctr">
            <a:spAutoFit/>
          </a:bodyPr>
          <a:lstStyle/>
          <a:p>
            <a:pPr algn="l">
              <a:spcAft>
                <a:spcPts val="0"/>
              </a:spcAft>
            </a:pPr>
            <a:r>
              <a:rPr lang="es-CO" sz="800" b="1" i="0" noProof="0" dirty="0">
                <a:solidFill>
                  <a:srgbClr val="CA6F1E"/>
                </a:solidFill>
                <a:latin typeface="Calibri"/>
              </a:rPr>
              <a:t>23,8%</a:t>
            </a:r>
            <a:r>
              <a:rPr lang="es-CO" sz="700" b="0" i="0" noProof="0" dirty="0">
                <a:solidFill>
                  <a:srgbClr val="55636E"/>
                </a:solidFill>
                <a:latin typeface="Calibri"/>
              </a:rPr>
              <a:t>  247 kWh</a:t>
            </a:r>
          </a:p>
        </p:txBody>
      </p:sp>
      <p:sp>
        <p:nvSpPr>
          <p:cNvPr id="48" name="conjunto 4 nombre"/>
          <p:cNvSpPr txBox="1"/>
          <p:nvPr/>
        </p:nvSpPr>
        <p:spPr>
          <a:xfrm>
            <a:off x="5486400" y="3061411"/>
            <a:ext cx="1234440" cy="201168"/>
          </a:xfrm>
          <a:prstGeom prst="rect">
            <a:avLst/>
          </a:prstGeom>
          <a:noFill/>
        </p:spPr>
        <p:txBody>
          <a:bodyPr wrap="square" lIns="0" tIns="0" rIns="0" bIns="0" anchor="ctr">
            <a:spAutoFit/>
          </a:bodyPr>
          <a:lstStyle/>
          <a:p>
            <a:pPr algn="l">
              <a:spcAft>
                <a:spcPts val="0"/>
              </a:spcAft>
            </a:pPr>
            <a:r>
              <a:rPr lang="es-CO" sz="800" b="0" i="0" noProof="0" dirty="0">
                <a:solidFill>
                  <a:srgbClr val="1A1A2E"/>
                </a:solidFill>
                <a:latin typeface="Calibri"/>
              </a:rPr>
              <a:t>Terra </a:t>
            </a:r>
            <a:r>
              <a:rPr lang="es-CO" sz="800" b="0" i="0" noProof="0" dirty="0" err="1">
                <a:solidFill>
                  <a:srgbClr val="1A1A2E"/>
                </a:solidFill>
                <a:latin typeface="Calibri"/>
              </a:rPr>
              <a:t>by</a:t>
            </a:r>
            <a:r>
              <a:rPr lang="es-CO" sz="800" b="0" i="0" noProof="0" dirty="0">
                <a:solidFill>
                  <a:srgbClr val="1A1A2E"/>
                </a:solidFill>
                <a:latin typeface="Calibri"/>
              </a:rPr>
              <a:t> Kaia (3)</a:t>
            </a:r>
          </a:p>
        </p:txBody>
      </p:sp>
      <p:sp>
        <p:nvSpPr>
          <p:cNvPr id="49" name="conjunto 4 pista"/>
          <p:cNvSpPr/>
          <p:nvPr/>
        </p:nvSpPr>
        <p:spPr>
          <a:xfrm>
            <a:off x="6720840" y="3102559"/>
            <a:ext cx="914400" cy="118872"/>
          </a:xfrm>
          <a:prstGeom prst="rect">
            <a:avLst/>
          </a:prstGeom>
          <a:solidFill>
            <a:srgbClr val="E9EDF3"/>
          </a:solidFill>
          <a:ln w="12700">
            <a:solidFill>
              <a:srgbClr val="E9EDF3"/>
            </a:solidFill>
          </a:ln>
        </p:spPr>
        <p:txBody>
          <a:bodyPr rtlCol="0" anchor="ctr"/>
          <a:lstStyle/>
          <a:p>
            <a:pPr algn="ctr"/>
            <a:endParaRPr lang="es-CO" noProof="0" dirty="0"/>
          </a:p>
        </p:txBody>
      </p:sp>
      <p:sp>
        <p:nvSpPr>
          <p:cNvPr id="50" name="conjunto 4 barra"/>
          <p:cNvSpPr/>
          <p:nvPr/>
        </p:nvSpPr>
        <p:spPr>
          <a:xfrm>
            <a:off x="6720840" y="3102559"/>
            <a:ext cx="217122" cy="11887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51" name="conjunto 4 promedio"/>
          <p:cNvSpPr/>
          <p:nvPr/>
        </p:nvSpPr>
        <p:spPr>
          <a:xfrm>
            <a:off x="7295711" y="3070555"/>
            <a:ext cx="18288" cy="18288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52" name="conjunto 4 valor"/>
          <p:cNvSpPr txBox="1"/>
          <p:nvPr/>
        </p:nvSpPr>
        <p:spPr>
          <a:xfrm>
            <a:off x="7708392" y="3061411"/>
            <a:ext cx="960120" cy="201168"/>
          </a:xfrm>
          <a:prstGeom prst="rect">
            <a:avLst/>
          </a:prstGeom>
          <a:noFill/>
        </p:spPr>
        <p:txBody>
          <a:bodyPr wrap="square" lIns="0" tIns="0" rIns="0" bIns="0" anchor="ctr">
            <a:spAutoFit/>
          </a:bodyPr>
          <a:lstStyle/>
          <a:p>
            <a:pPr algn="l">
              <a:spcAft>
                <a:spcPts val="0"/>
              </a:spcAft>
            </a:pPr>
            <a:r>
              <a:rPr lang="es-CO" sz="800" b="1" i="0" noProof="0" dirty="0">
                <a:solidFill>
                  <a:srgbClr val="1E8449"/>
                </a:solidFill>
                <a:latin typeface="Calibri"/>
              </a:rPr>
              <a:t>8,3%</a:t>
            </a:r>
            <a:r>
              <a:rPr lang="es-CO" sz="700" b="0" i="0" noProof="0" dirty="0">
                <a:solidFill>
                  <a:srgbClr val="55636E"/>
                </a:solidFill>
                <a:latin typeface="Calibri"/>
              </a:rPr>
              <a:t>  125 kWh</a:t>
            </a:r>
          </a:p>
        </p:txBody>
      </p:sp>
      <p:sp>
        <p:nvSpPr>
          <p:cNvPr id="53" name="conjunto 5 nombre"/>
          <p:cNvSpPr txBox="1"/>
          <p:nvPr/>
        </p:nvSpPr>
        <p:spPr>
          <a:xfrm>
            <a:off x="5486400" y="3264408"/>
            <a:ext cx="1234440" cy="201168"/>
          </a:xfrm>
          <a:prstGeom prst="rect">
            <a:avLst/>
          </a:prstGeom>
          <a:noFill/>
        </p:spPr>
        <p:txBody>
          <a:bodyPr wrap="square" lIns="0" tIns="0" rIns="0" bIns="0" anchor="ctr">
            <a:spAutoFit/>
          </a:bodyPr>
          <a:lstStyle/>
          <a:p>
            <a:pPr algn="l">
              <a:spcAft>
                <a:spcPts val="0"/>
              </a:spcAft>
            </a:pPr>
            <a:r>
              <a:rPr lang="es-CO" sz="800" b="0" i="0" noProof="0" dirty="0">
                <a:solidFill>
                  <a:srgbClr val="1A1A2E"/>
                </a:solidFill>
                <a:latin typeface="Calibri"/>
              </a:rPr>
              <a:t>Pance Campestre</a:t>
            </a:r>
          </a:p>
        </p:txBody>
      </p:sp>
      <p:sp>
        <p:nvSpPr>
          <p:cNvPr id="54" name="conjunto 5 pista"/>
          <p:cNvSpPr/>
          <p:nvPr/>
        </p:nvSpPr>
        <p:spPr>
          <a:xfrm>
            <a:off x="6720840" y="3305556"/>
            <a:ext cx="914400" cy="118872"/>
          </a:xfrm>
          <a:prstGeom prst="rect">
            <a:avLst/>
          </a:prstGeom>
          <a:solidFill>
            <a:srgbClr val="E9EDF3"/>
          </a:solidFill>
          <a:ln w="12700">
            <a:solidFill>
              <a:srgbClr val="E9EDF3"/>
            </a:solidFill>
          </a:ln>
        </p:spPr>
        <p:txBody>
          <a:bodyPr rtlCol="0" anchor="ctr"/>
          <a:lstStyle/>
          <a:p>
            <a:pPr algn="ctr"/>
            <a:endParaRPr lang="es-CO" noProof="0" dirty="0"/>
          </a:p>
        </p:txBody>
      </p:sp>
      <p:sp>
        <p:nvSpPr>
          <p:cNvPr id="55" name="conjunto 5 barra"/>
          <p:cNvSpPr/>
          <p:nvPr/>
        </p:nvSpPr>
        <p:spPr>
          <a:xfrm>
            <a:off x="6720840" y="3305556"/>
            <a:ext cx="400532" cy="11887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56" name="conjunto 5 promedio"/>
          <p:cNvSpPr/>
          <p:nvPr/>
        </p:nvSpPr>
        <p:spPr>
          <a:xfrm>
            <a:off x="7295711" y="3273552"/>
            <a:ext cx="18288" cy="18288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57" name="conjunto 5 valor"/>
          <p:cNvSpPr txBox="1"/>
          <p:nvPr/>
        </p:nvSpPr>
        <p:spPr>
          <a:xfrm>
            <a:off x="7708392" y="3264408"/>
            <a:ext cx="960120" cy="201168"/>
          </a:xfrm>
          <a:prstGeom prst="rect">
            <a:avLst/>
          </a:prstGeom>
          <a:noFill/>
        </p:spPr>
        <p:txBody>
          <a:bodyPr wrap="square" lIns="0" tIns="0" rIns="0" bIns="0" anchor="ctr">
            <a:spAutoFit/>
          </a:bodyPr>
          <a:lstStyle/>
          <a:p>
            <a:pPr algn="l">
              <a:spcAft>
                <a:spcPts val="0"/>
              </a:spcAft>
            </a:pPr>
            <a:r>
              <a:rPr lang="es-CO" sz="800" b="1" i="0" noProof="0" dirty="0">
                <a:solidFill>
                  <a:srgbClr val="2B5BA3"/>
                </a:solidFill>
                <a:latin typeface="Calibri"/>
              </a:rPr>
              <a:t>15,3%</a:t>
            </a:r>
            <a:r>
              <a:rPr lang="es-CO" sz="700" b="0" i="0" noProof="0" dirty="0">
                <a:solidFill>
                  <a:srgbClr val="55636E"/>
                </a:solidFill>
                <a:latin typeface="Calibri"/>
              </a:rPr>
              <a:t>  125 kWh</a:t>
            </a:r>
          </a:p>
        </p:txBody>
      </p:sp>
      <p:sp>
        <p:nvSpPr>
          <p:cNvPr id="58" name="conjunto 6 nombre"/>
          <p:cNvSpPr txBox="1"/>
          <p:nvPr/>
        </p:nvSpPr>
        <p:spPr>
          <a:xfrm>
            <a:off x="5486400" y="3467405"/>
            <a:ext cx="1234440" cy="201168"/>
          </a:xfrm>
          <a:prstGeom prst="rect">
            <a:avLst/>
          </a:prstGeom>
          <a:noFill/>
        </p:spPr>
        <p:txBody>
          <a:bodyPr wrap="square" lIns="0" tIns="0" rIns="0" bIns="0" anchor="ctr">
            <a:spAutoFit/>
          </a:bodyPr>
          <a:lstStyle/>
          <a:p>
            <a:pPr algn="l">
              <a:spcAft>
                <a:spcPts val="0"/>
              </a:spcAft>
            </a:pPr>
            <a:r>
              <a:rPr lang="es-CO" sz="800" b="0" i="0" noProof="0" dirty="0">
                <a:solidFill>
                  <a:srgbClr val="1A1A2E"/>
                </a:solidFill>
                <a:latin typeface="Calibri"/>
              </a:rPr>
              <a:t>Portón de la Rivera</a:t>
            </a:r>
          </a:p>
        </p:txBody>
      </p:sp>
      <p:sp>
        <p:nvSpPr>
          <p:cNvPr id="59" name="conjunto 6 pista"/>
          <p:cNvSpPr/>
          <p:nvPr/>
        </p:nvSpPr>
        <p:spPr>
          <a:xfrm>
            <a:off x="6720840" y="3508553"/>
            <a:ext cx="914400" cy="118872"/>
          </a:xfrm>
          <a:prstGeom prst="rect">
            <a:avLst/>
          </a:prstGeom>
          <a:solidFill>
            <a:srgbClr val="E9EDF3"/>
          </a:solidFill>
          <a:ln w="12700">
            <a:solidFill>
              <a:srgbClr val="E9EDF3"/>
            </a:solidFill>
          </a:ln>
        </p:spPr>
        <p:txBody>
          <a:bodyPr rtlCol="0" anchor="ctr"/>
          <a:lstStyle/>
          <a:p>
            <a:pPr algn="ctr"/>
            <a:endParaRPr lang="es-CO" noProof="0" dirty="0"/>
          </a:p>
        </p:txBody>
      </p:sp>
      <p:sp>
        <p:nvSpPr>
          <p:cNvPr id="60" name="conjunto 6 barra"/>
          <p:cNvSpPr/>
          <p:nvPr/>
        </p:nvSpPr>
        <p:spPr>
          <a:xfrm>
            <a:off x="6720840" y="3508553"/>
            <a:ext cx="802592" cy="11887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61" name="conjunto 6 promedio"/>
          <p:cNvSpPr/>
          <p:nvPr/>
        </p:nvSpPr>
        <p:spPr>
          <a:xfrm>
            <a:off x="7295711" y="3476549"/>
            <a:ext cx="18288" cy="18288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62" name="conjunto 6 valor"/>
          <p:cNvSpPr txBox="1"/>
          <p:nvPr/>
        </p:nvSpPr>
        <p:spPr>
          <a:xfrm>
            <a:off x="7708392" y="3467405"/>
            <a:ext cx="960120" cy="201168"/>
          </a:xfrm>
          <a:prstGeom prst="rect">
            <a:avLst/>
          </a:prstGeom>
          <a:noFill/>
        </p:spPr>
        <p:txBody>
          <a:bodyPr wrap="square" lIns="0" tIns="0" rIns="0" bIns="0" anchor="ctr">
            <a:spAutoFit/>
          </a:bodyPr>
          <a:lstStyle/>
          <a:p>
            <a:pPr algn="l">
              <a:spcAft>
                <a:spcPts val="0"/>
              </a:spcAft>
            </a:pPr>
            <a:r>
              <a:rPr lang="es-CO" sz="800" b="1" i="0" noProof="0" dirty="0">
                <a:solidFill>
                  <a:srgbClr val="CA6F1E"/>
                </a:solidFill>
                <a:latin typeface="Calibri"/>
              </a:rPr>
              <a:t>30,7%</a:t>
            </a:r>
            <a:r>
              <a:rPr lang="es-CO" sz="700" b="0" i="0" noProof="0" dirty="0">
                <a:solidFill>
                  <a:srgbClr val="55636E"/>
                </a:solidFill>
                <a:latin typeface="Calibri"/>
              </a:rPr>
              <a:t>  111 kWh</a:t>
            </a:r>
          </a:p>
        </p:txBody>
      </p:sp>
      <p:sp>
        <p:nvSpPr>
          <p:cNvPr id="63" name="conjunto 7 nombre"/>
          <p:cNvSpPr txBox="1"/>
          <p:nvPr/>
        </p:nvSpPr>
        <p:spPr>
          <a:xfrm>
            <a:off x="5486400" y="3670402"/>
            <a:ext cx="1234440" cy="201168"/>
          </a:xfrm>
          <a:prstGeom prst="rect">
            <a:avLst/>
          </a:prstGeom>
          <a:noFill/>
        </p:spPr>
        <p:txBody>
          <a:bodyPr wrap="square" lIns="0" tIns="0" rIns="0" bIns="0" anchor="ctr">
            <a:spAutoFit/>
          </a:bodyPr>
          <a:lstStyle/>
          <a:p>
            <a:pPr algn="l">
              <a:spcAft>
                <a:spcPts val="0"/>
              </a:spcAft>
            </a:pPr>
            <a:r>
              <a:rPr lang="es-CO" sz="800" b="0" i="0" noProof="0" dirty="0">
                <a:solidFill>
                  <a:srgbClr val="1A1A2E"/>
                </a:solidFill>
                <a:latin typeface="Calibri"/>
              </a:rPr>
              <a:t>Castellana Real</a:t>
            </a:r>
          </a:p>
        </p:txBody>
      </p:sp>
      <p:sp>
        <p:nvSpPr>
          <p:cNvPr id="64" name="conjunto 7 pista"/>
          <p:cNvSpPr/>
          <p:nvPr/>
        </p:nvSpPr>
        <p:spPr>
          <a:xfrm>
            <a:off x="6720840" y="3711550"/>
            <a:ext cx="914400" cy="118872"/>
          </a:xfrm>
          <a:prstGeom prst="rect">
            <a:avLst/>
          </a:prstGeom>
          <a:solidFill>
            <a:srgbClr val="E9EDF3"/>
          </a:solidFill>
          <a:ln w="12700">
            <a:solidFill>
              <a:srgbClr val="E9EDF3"/>
            </a:solidFill>
          </a:ln>
        </p:spPr>
        <p:txBody>
          <a:bodyPr rtlCol="0" anchor="ctr"/>
          <a:lstStyle/>
          <a:p>
            <a:pPr algn="ctr"/>
            <a:endParaRPr lang="es-CO" noProof="0" dirty="0"/>
          </a:p>
        </p:txBody>
      </p:sp>
      <p:sp>
        <p:nvSpPr>
          <p:cNvPr id="65" name="conjunto 7 barra"/>
          <p:cNvSpPr/>
          <p:nvPr/>
        </p:nvSpPr>
        <p:spPr>
          <a:xfrm>
            <a:off x="6720840" y="3711550"/>
            <a:ext cx="320725" cy="11887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66" name="conjunto 7 promedio"/>
          <p:cNvSpPr/>
          <p:nvPr/>
        </p:nvSpPr>
        <p:spPr>
          <a:xfrm>
            <a:off x="7295711" y="3679546"/>
            <a:ext cx="18288" cy="18288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67" name="conjunto 7 valor"/>
          <p:cNvSpPr txBox="1"/>
          <p:nvPr/>
        </p:nvSpPr>
        <p:spPr>
          <a:xfrm>
            <a:off x="7708392" y="3670402"/>
            <a:ext cx="960120" cy="201168"/>
          </a:xfrm>
          <a:prstGeom prst="rect">
            <a:avLst/>
          </a:prstGeom>
          <a:noFill/>
        </p:spPr>
        <p:txBody>
          <a:bodyPr wrap="square" lIns="0" tIns="0" rIns="0" bIns="0" anchor="ctr">
            <a:spAutoFit/>
          </a:bodyPr>
          <a:lstStyle/>
          <a:p>
            <a:pPr algn="l">
              <a:spcAft>
                <a:spcPts val="0"/>
              </a:spcAft>
            </a:pPr>
            <a:r>
              <a:rPr lang="es-CO" sz="800" b="1" i="0" noProof="0" dirty="0">
                <a:solidFill>
                  <a:srgbClr val="2B5BA3"/>
                </a:solidFill>
                <a:latin typeface="Calibri"/>
              </a:rPr>
              <a:t>12,3%</a:t>
            </a:r>
            <a:r>
              <a:rPr lang="es-CO" sz="700" b="0" i="0" noProof="0" dirty="0">
                <a:solidFill>
                  <a:srgbClr val="55636E"/>
                </a:solidFill>
                <a:latin typeface="Calibri"/>
              </a:rPr>
              <a:t>  96 kWh</a:t>
            </a:r>
          </a:p>
        </p:txBody>
      </p:sp>
      <p:sp>
        <p:nvSpPr>
          <p:cNvPr id="68" name="conjunto 8 nombre"/>
          <p:cNvSpPr txBox="1"/>
          <p:nvPr/>
        </p:nvSpPr>
        <p:spPr>
          <a:xfrm>
            <a:off x="5486400" y="3873398"/>
            <a:ext cx="1234440" cy="201168"/>
          </a:xfrm>
          <a:prstGeom prst="rect">
            <a:avLst/>
          </a:prstGeom>
          <a:noFill/>
        </p:spPr>
        <p:txBody>
          <a:bodyPr wrap="square" lIns="0" tIns="0" rIns="0" bIns="0" anchor="ctr">
            <a:spAutoFit/>
          </a:bodyPr>
          <a:lstStyle/>
          <a:p>
            <a:pPr algn="l">
              <a:spcAft>
                <a:spcPts val="0"/>
              </a:spcAft>
            </a:pPr>
            <a:r>
              <a:rPr lang="es-CO" sz="800" b="0" i="0" noProof="0" dirty="0">
                <a:solidFill>
                  <a:srgbClr val="1A1A2E"/>
                </a:solidFill>
                <a:latin typeface="Calibri"/>
              </a:rPr>
              <a:t>Llanos de Pance</a:t>
            </a:r>
          </a:p>
        </p:txBody>
      </p:sp>
      <p:sp>
        <p:nvSpPr>
          <p:cNvPr id="69" name="conjunto 8 pista"/>
          <p:cNvSpPr/>
          <p:nvPr/>
        </p:nvSpPr>
        <p:spPr>
          <a:xfrm>
            <a:off x="6720840" y="3914546"/>
            <a:ext cx="914400" cy="118872"/>
          </a:xfrm>
          <a:prstGeom prst="rect">
            <a:avLst/>
          </a:prstGeom>
          <a:solidFill>
            <a:srgbClr val="E9EDF3"/>
          </a:solidFill>
          <a:ln w="12700">
            <a:solidFill>
              <a:srgbClr val="E9EDF3"/>
            </a:solidFill>
          </a:ln>
        </p:spPr>
        <p:txBody>
          <a:bodyPr rtlCol="0" anchor="ctr"/>
          <a:lstStyle/>
          <a:p>
            <a:pPr algn="ctr"/>
            <a:endParaRPr lang="es-CO" noProof="0" dirty="0"/>
          </a:p>
        </p:txBody>
      </p:sp>
      <p:sp>
        <p:nvSpPr>
          <p:cNvPr id="70" name="conjunto 8 barra"/>
          <p:cNvSpPr/>
          <p:nvPr/>
        </p:nvSpPr>
        <p:spPr>
          <a:xfrm>
            <a:off x="6720840" y="3914546"/>
            <a:ext cx="723371" cy="11887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71" name="conjunto 8 promedio"/>
          <p:cNvSpPr/>
          <p:nvPr/>
        </p:nvSpPr>
        <p:spPr>
          <a:xfrm>
            <a:off x="7295711" y="3882542"/>
            <a:ext cx="18288" cy="18288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72" name="conjunto 8 valor"/>
          <p:cNvSpPr txBox="1"/>
          <p:nvPr/>
        </p:nvSpPr>
        <p:spPr>
          <a:xfrm>
            <a:off x="7708392" y="3873398"/>
            <a:ext cx="960120" cy="201168"/>
          </a:xfrm>
          <a:prstGeom prst="rect">
            <a:avLst/>
          </a:prstGeom>
          <a:noFill/>
        </p:spPr>
        <p:txBody>
          <a:bodyPr wrap="square" lIns="0" tIns="0" rIns="0" bIns="0" anchor="ctr">
            <a:spAutoFit/>
          </a:bodyPr>
          <a:lstStyle/>
          <a:p>
            <a:pPr algn="l">
              <a:spcAft>
                <a:spcPts val="0"/>
              </a:spcAft>
            </a:pPr>
            <a:r>
              <a:rPr lang="es-CO" sz="800" b="1" i="0" noProof="0" dirty="0">
                <a:solidFill>
                  <a:srgbClr val="CA6F1E"/>
                </a:solidFill>
                <a:latin typeface="Calibri"/>
              </a:rPr>
              <a:t>27,7%</a:t>
            </a:r>
            <a:r>
              <a:rPr lang="es-CO" sz="700" b="0" i="0" noProof="0" dirty="0">
                <a:solidFill>
                  <a:srgbClr val="55636E"/>
                </a:solidFill>
                <a:latin typeface="Calibri"/>
              </a:rPr>
              <a:t>  81 kWh</a:t>
            </a:r>
          </a:p>
        </p:txBody>
      </p:sp>
      <p:sp>
        <p:nvSpPr>
          <p:cNvPr id="73" name="conjunto 9 nombre"/>
          <p:cNvSpPr txBox="1"/>
          <p:nvPr/>
        </p:nvSpPr>
        <p:spPr>
          <a:xfrm>
            <a:off x="5486400" y="4076395"/>
            <a:ext cx="1234440" cy="201168"/>
          </a:xfrm>
          <a:prstGeom prst="rect">
            <a:avLst/>
          </a:prstGeom>
          <a:noFill/>
        </p:spPr>
        <p:txBody>
          <a:bodyPr wrap="square" lIns="0" tIns="0" rIns="0" bIns="0" anchor="ctr">
            <a:spAutoFit/>
          </a:bodyPr>
          <a:lstStyle/>
          <a:p>
            <a:pPr algn="l">
              <a:spcAft>
                <a:spcPts val="0"/>
              </a:spcAft>
            </a:pPr>
            <a:r>
              <a:rPr lang="es-CO" sz="800" b="0" i="0" noProof="0" dirty="0">
                <a:solidFill>
                  <a:srgbClr val="1A1A2E"/>
                </a:solidFill>
                <a:latin typeface="Calibri"/>
              </a:rPr>
              <a:t>Terranova</a:t>
            </a:r>
          </a:p>
        </p:txBody>
      </p:sp>
      <p:sp>
        <p:nvSpPr>
          <p:cNvPr id="74" name="conjunto 9 pista"/>
          <p:cNvSpPr/>
          <p:nvPr/>
        </p:nvSpPr>
        <p:spPr>
          <a:xfrm>
            <a:off x="6720840" y="4117543"/>
            <a:ext cx="914400" cy="118872"/>
          </a:xfrm>
          <a:prstGeom prst="rect">
            <a:avLst/>
          </a:prstGeom>
          <a:solidFill>
            <a:srgbClr val="E9EDF3"/>
          </a:solidFill>
          <a:ln w="12700">
            <a:solidFill>
              <a:srgbClr val="E9EDF3"/>
            </a:solidFill>
          </a:ln>
        </p:spPr>
        <p:txBody>
          <a:bodyPr rtlCol="0" anchor="ctr"/>
          <a:lstStyle/>
          <a:p>
            <a:pPr algn="ctr"/>
            <a:endParaRPr lang="es-CO" noProof="0" dirty="0"/>
          </a:p>
        </p:txBody>
      </p:sp>
      <p:sp>
        <p:nvSpPr>
          <p:cNvPr id="75" name="conjunto 9 barra"/>
          <p:cNvSpPr/>
          <p:nvPr/>
        </p:nvSpPr>
        <p:spPr>
          <a:xfrm>
            <a:off x="6720840" y="4117543"/>
            <a:ext cx="112470" cy="11887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76" name="conjunto 9 promedio"/>
          <p:cNvSpPr/>
          <p:nvPr/>
        </p:nvSpPr>
        <p:spPr>
          <a:xfrm>
            <a:off x="7295711" y="4085539"/>
            <a:ext cx="18288" cy="18288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77" name="conjunto 9 valor"/>
          <p:cNvSpPr txBox="1"/>
          <p:nvPr/>
        </p:nvSpPr>
        <p:spPr>
          <a:xfrm>
            <a:off x="7708392" y="4076395"/>
            <a:ext cx="960120" cy="201168"/>
          </a:xfrm>
          <a:prstGeom prst="rect">
            <a:avLst/>
          </a:prstGeom>
          <a:noFill/>
        </p:spPr>
        <p:txBody>
          <a:bodyPr wrap="square" lIns="0" tIns="0" rIns="0" bIns="0" anchor="ctr">
            <a:spAutoFit/>
          </a:bodyPr>
          <a:lstStyle/>
          <a:p>
            <a:pPr algn="l">
              <a:spcAft>
                <a:spcPts val="0"/>
              </a:spcAft>
            </a:pPr>
            <a:r>
              <a:rPr lang="es-CO" sz="800" b="1" i="0" noProof="0" dirty="0">
                <a:solidFill>
                  <a:srgbClr val="1E8449"/>
                </a:solidFill>
                <a:latin typeface="Calibri"/>
              </a:rPr>
              <a:t>4,3%</a:t>
            </a:r>
            <a:r>
              <a:rPr lang="es-CO" sz="700" b="0" i="0" noProof="0" dirty="0">
                <a:solidFill>
                  <a:srgbClr val="55636E"/>
                </a:solidFill>
                <a:latin typeface="Calibri"/>
              </a:rPr>
              <a:t>  32 kWh</a:t>
            </a:r>
          </a:p>
        </p:txBody>
      </p:sp>
      <p:sp>
        <p:nvSpPr>
          <p:cNvPr id="78" name="nota promedio"/>
          <p:cNvSpPr txBox="1"/>
          <p:nvPr/>
        </p:nvSpPr>
        <p:spPr>
          <a:xfrm>
            <a:off x="5486400" y="4334256"/>
            <a:ext cx="3154680" cy="182880"/>
          </a:xfrm>
          <a:prstGeom prst="rect">
            <a:avLst/>
          </a:prstGeom>
          <a:noFill/>
        </p:spPr>
        <p:txBody>
          <a:bodyPr wrap="square" lIns="0" tIns="0" rIns="0" bIns="0" anchor="ctr">
            <a:spAutoFit/>
          </a:bodyPr>
          <a:lstStyle/>
          <a:p>
            <a:pPr algn="l">
              <a:spcAft>
                <a:spcPts val="0"/>
              </a:spcAft>
            </a:pPr>
            <a:r>
              <a:rPr lang="es-CO" sz="700" b="0" i="1" noProof="0" dirty="0">
                <a:solidFill>
                  <a:srgbClr val="55636E"/>
                </a:solidFill>
                <a:latin typeface="Calibri"/>
              </a:rPr>
              <a:t>Línea azul oscura = promedio del portafolio (22,4%) · (n) = sistemas</a:t>
            </a:r>
          </a:p>
        </p:txBody>
      </p:sp>
      <p:sp>
        <p:nvSpPr>
          <p:cNvPr id="79" name="pie recorte"/>
          <p:cNvSpPr txBox="1"/>
          <p:nvPr/>
        </p:nvSpPr>
        <p:spPr>
          <a:xfrm>
            <a:off x="411480" y="4612032"/>
            <a:ext cx="8321040" cy="230832"/>
          </a:xfrm>
          <a:prstGeom prst="rect">
            <a:avLst/>
          </a:prstGeom>
          <a:noFill/>
        </p:spPr>
        <p:txBody>
          <a:bodyPr wrap="square" lIns="0" tIns="0" rIns="0" bIns="0" anchor="ctr">
            <a:spAutoFit/>
          </a:bodyPr>
          <a:lstStyle/>
          <a:p>
            <a:pPr algn="l">
              <a:spcAft>
                <a:spcPts val="0"/>
              </a:spcAft>
            </a:pPr>
            <a:r>
              <a:rPr lang="es-CO" sz="750" b="0" i="1" noProof="0" dirty="0">
                <a:solidFill>
                  <a:srgbClr val="55636E"/>
                </a:solidFill>
                <a:latin typeface="Calibri"/>
              </a:rPr>
              <a:t>Recorte = energía FV que no se produjo con la batería llena y sin consumo que la absorba, estimada con irradiancia satelital GOES-19 (NOAA). Por ciudad: Cali 3.302 kWh (29%) · Turbaco 573 (14%) · Barranquilla 468 (14%) · Cartagena 32 (4%). Reservas de Pance concentra 63% del recorte.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GENERACIÓN SOLAR · RECORTE POR SISTEMA</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1800" b="1" i="0" noProof="0" dirty="0">
                <a:solidFill>
                  <a:srgbClr val="1B3A6B"/>
                </a:solidFill>
                <a:latin typeface="Calibri"/>
              </a:rPr>
              <a:t>13 de 48 sistemas pierden 30% o más de su potencial por recorte; 10 de ellos están en Reservas de Pance</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11</a:t>
            </a:r>
          </a:p>
        </p:txBody>
      </p:sp>
      <p:sp>
        <p:nvSpPr>
          <p:cNvPr id="8" name="enc 0 #"/>
          <p:cNvSpPr txBox="1"/>
          <p:nvPr/>
        </p:nvSpPr>
        <p:spPr>
          <a:xfrm>
            <a:off x="411480" y="1097280"/>
            <a:ext cx="164592"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a:t>
            </a:r>
          </a:p>
        </p:txBody>
      </p:sp>
      <p:sp>
        <p:nvSpPr>
          <p:cNvPr id="9" name="enc 0 Sistema"/>
          <p:cNvSpPr txBox="1"/>
          <p:nvPr/>
        </p:nvSpPr>
        <p:spPr>
          <a:xfrm>
            <a:off x="630936" y="1097280"/>
            <a:ext cx="640080" cy="182880"/>
          </a:xfrm>
          <a:prstGeom prst="rect">
            <a:avLst/>
          </a:prstGeom>
          <a:noFill/>
        </p:spPr>
        <p:txBody>
          <a:bodyPr wrap="square" lIns="0" tIns="0" rIns="0" bIns="0" anchor="ctr">
            <a:spAutoFit/>
          </a:bodyPr>
          <a:lstStyle/>
          <a:p>
            <a:pPr algn="l">
              <a:spcAft>
                <a:spcPts val="0"/>
              </a:spcAft>
            </a:pPr>
            <a:r>
              <a:rPr lang="es-CO" sz="680" b="1" i="0" noProof="0" dirty="0">
                <a:solidFill>
                  <a:srgbClr val="7F8C8D"/>
                </a:solidFill>
                <a:latin typeface="Calibri"/>
              </a:rPr>
              <a:t>Sistema</a:t>
            </a:r>
          </a:p>
        </p:txBody>
      </p:sp>
      <p:sp>
        <p:nvSpPr>
          <p:cNvPr id="10" name="enc 0 Recorte (% del potencial)"/>
          <p:cNvSpPr txBox="1"/>
          <p:nvPr/>
        </p:nvSpPr>
        <p:spPr>
          <a:xfrm>
            <a:off x="1307592" y="1097280"/>
            <a:ext cx="1097280" cy="182880"/>
          </a:xfrm>
          <a:prstGeom prst="rect">
            <a:avLst/>
          </a:prstGeom>
          <a:noFill/>
        </p:spPr>
        <p:txBody>
          <a:bodyPr wrap="square" lIns="0" tIns="0" rIns="0" bIns="0" anchor="ctr">
            <a:spAutoFit/>
          </a:bodyPr>
          <a:lstStyle/>
          <a:p>
            <a:pPr algn="l">
              <a:spcAft>
                <a:spcPts val="0"/>
              </a:spcAft>
            </a:pPr>
            <a:r>
              <a:rPr lang="es-CO" sz="680" b="1" i="0" noProof="0" dirty="0">
                <a:solidFill>
                  <a:srgbClr val="7F8C8D"/>
                </a:solidFill>
                <a:latin typeface="Calibri"/>
              </a:rPr>
              <a:t>Recorte (% del potencial)</a:t>
            </a:r>
          </a:p>
        </p:txBody>
      </p:sp>
      <p:sp>
        <p:nvSpPr>
          <p:cNvPr id="11" name="enc 0 %"/>
          <p:cNvSpPr txBox="1"/>
          <p:nvPr/>
        </p:nvSpPr>
        <p:spPr>
          <a:xfrm>
            <a:off x="2441448" y="1097280"/>
            <a:ext cx="36576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a:t>
            </a:r>
          </a:p>
        </p:txBody>
      </p:sp>
      <p:sp>
        <p:nvSpPr>
          <p:cNvPr id="12" name="enc 0 kWh"/>
          <p:cNvSpPr txBox="1"/>
          <p:nvPr/>
        </p:nvSpPr>
        <p:spPr>
          <a:xfrm>
            <a:off x="2843784" y="1097280"/>
            <a:ext cx="347472"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kWh</a:t>
            </a:r>
          </a:p>
        </p:txBody>
      </p:sp>
      <p:sp>
        <p:nvSpPr>
          <p:cNvPr id="13" name="enc 0 Yield → sin recorte"/>
          <p:cNvSpPr txBox="1"/>
          <p:nvPr/>
        </p:nvSpPr>
        <p:spPr>
          <a:xfrm>
            <a:off x="3136392" y="1097280"/>
            <a:ext cx="82296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Yield → sin recorte</a:t>
            </a:r>
          </a:p>
        </p:txBody>
      </p:sp>
      <p:sp>
        <p:nvSpPr>
          <p:cNvPr id="14" name="enc 0 Conjunto"/>
          <p:cNvSpPr txBox="1"/>
          <p:nvPr/>
        </p:nvSpPr>
        <p:spPr>
          <a:xfrm>
            <a:off x="3977640" y="1097280"/>
            <a:ext cx="54864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Conjunto</a:t>
            </a:r>
          </a:p>
        </p:txBody>
      </p:sp>
      <p:sp>
        <p:nvSpPr>
          <p:cNvPr id="15" name="enc 1 #"/>
          <p:cNvSpPr txBox="1"/>
          <p:nvPr/>
        </p:nvSpPr>
        <p:spPr>
          <a:xfrm>
            <a:off x="4636008" y="1097280"/>
            <a:ext cx="164592"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a:t>
            </a:r>
          </a:p>
        </p:txBody>
      </p:sp>
      <p:sp>
        <p:nvSpPr>
          <p:cNvPr id="16" name="enc 1 Sistema"/>
          <p:cNvSpPr txBox="1"/>
          <p:nvPr/>
        </p:nvSpPr>
        <p:spPr>
          <a:xfrm>
            <a:off x="4855464" y="1097280"/>
            <a:ext cx="640080" cy="182880"/>
          </a:xfrm>
          <a:prstGeom prst="rect">
            <a:avLst/>
          </a:prstGeom>
          <a:noFill/>
        </p:spPr>
        <p:txBody>
          <a:bodyPr wrap="square" lIns="0" tIns="0" rIns="0" bIns="0" anchor="ctr">
            <a:spAutoFit/>
          </a:bodyPr>
          <a:lstStyle/>
          <a:p>
            <a:pPr algn="l">
              <a:spcAft>
                <a:spcPts val="0"/>
              </a:spcAft>
            </a:pPr>
            <a:r>
              <a:rPr lang="es-CO" sz="680" b="1" i="0" noProof="0" dirty="0">
                <a:solidFill>
                  <a:srgbClr val="7F8C8D"/>
                </a:solidFill>
                <a:latin typeface="Calibri"/>
              </a:rPr>
              <a:t>Sistema</a:t>
            </a:r>
          </a:p>
        </p:txBody>
      </p:sp>
      <p:sp>
        <p:nvSpPr>
          <p:cNvPr id="17" name="enc 1 Recorte (% del potencial)"/>
          <p:cNvSpPr txBox="1"/>
          <p:nvPr/>
        </p:nvSpPr>
        <p:spPr>
          <a:xfrm>
            <a:off x="5532120" y="1097280"/>
            <a:ext cx="1097280" cy="182880"/>
          </a:xfrm>
          <a:prstGeom prst="rect">
            <a:avLst/>
          </a:prstGeom>
          <a:noFill/>
        </p:spPr>
        <p:txBody>
          <a:bodyPr wrap="square" lIns="0" tIns="0" rIns="0" bIns="0" anchor="ctr">
            <a:spAutoFit/>
          </a:bodyPr>
          <a:lstStyle/>
          <a:p>
            <a:pPr algn="l">
              <a:spcAft>
                <a:spcPts val="0"/>
              </a:spcAft>
            </a:pPr>
            <a:r>
              <a:rPr lang="es-CO" sz="680" b="1" i="0" noProof="0" dirty="0">
                <a:solidFill>
                  <a:srgbClr val="7F8C8D"/>
                </a:solidFill>
                <a:latin typeface="Calibri"/>
              </a:rPr>
              <a:t>Recorte (% del potencial)</a:t>
            </a:r>
          </a:p>
        </p:txBody>
      </p:sp>
      <p:sp>
        <p:nvSpPr>
          <p:cNvPr id="18" name="enc 1 %"/>
          <p:cNvSpPr txBox="1"/>
          <p:nvPr/>
        </p:nvSpPr>
        <p:spPr>
          <a:xfrm>
            <a:off x="6665976" y="1097280"/>
            <a:ext cx="36576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a:t>
            </a:r>
          </a:p>
        </p:txBody>
      </p:sp>
      <p:sp>
        <p:nvSpPr>
          <p:cNvPr id="19" name="enc 1 kWh"/>
          <p:cNvSpPr txBox="1"/>
          <p:nvPr/>
        </p:nvSpPr>
        <p:spPr>
          <a:xfrm>
            <a:off x="7068312" y="1097280"/>
            <a:ext cx="347472"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kWh</a:t>
            </a:r>
          </a:p>
        </p:txBody>
      </p:sp>
      <p:sp>
        <p:nvSpPr>
          <p:cNvPr id="20" name="enc 1 Yield → sin recorte"/>
          <p:cNvSpPr txBox="1"/>
          <p:nvPr/>
        </p:nvSpPr>
        <p:spPr>
          <a:xfrm>
            <a:off x="7360920" y="1097280"/>
            <a:ext cx="82296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Yield → sin recorte</a:t>
            </a:r>
          </a:p>
        </p:txBody>
      </p:sp>
      <p:sp>
        <p:nvSpPr>
          <p:cNvPr id="21" name="enc 1 Conjunto"/>
          <p:cNvSpPr txBox="1"/>
          <p:nvPr/>
        </p:nvSpPr>
        <p:spPr>
          <a:xfrm>
            <a:off x="8202168" y="1097280"/>
            <a:ext cx="54864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Conjunto</a:t>
            </a:r>
          </a:p>
        </p:txBody>
      </p:sp>
      <p:sp>
        <p:nvSpPr>
          <p:cNvPr id="22" name="banda c0f0"/>
          <p:cNvSpPr/>
          <p:nvPr/>
        </p:nvSpPr>
        <p:spPr>
          <a:xfrm>
            <a:off x="411480" y="1307592"/>
            <a:ext cx="4114800" cy="129540"/>
          </a:xfrm>
          <a:prstGeom prst="rect">
            <a:avLst/>
          </a:prstGeom>
          <a:solidFill>
            <a:srgbClr val="FFFFFF"/>
          </a:solidFill>
          <a:ln>
            <a:noFill/>
          </a:ln>
        </p:spPr>
        <p:txBody>
          <a:bodyPr rtlCol="0" anchor="ctr"/>
          <a:lstStyle/>
          <a:p>
            <a:pPr algn="ctr"/>
            <a:endParaRPr lang="es-CO" noProof="0" dirty="0"/>
          </a:p>
        </p:txBody>
      </p:sp>
      <p:sp>
        <p:nvSpPr>
          <p:cNvPr id="23" name="num c0f0"/>
          <p:cNvSpPr txBox="1"/>
          <p:nvPr/>
        </p:nvSpPr>
        <p:spPr>
          <a:xfrm>
            <a:off x="411480" y="130759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a:t>
            </a:r>
          </a:p>
        </p:txBody>
      </p:sp>
      <p:sp>
        <p:nvSpPr>
          <p:cNvPr id="24" name="nombre c0f0"/>
          <p:cNvSpPr txBox="1"/>
          <p:nvPr/>
        </p:nvSpPr>
        <p:spPr>
          <a:xfrm>
            <a:off x="630936" y="130759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104 †</a:t>
            </a:r>
          </a:p>
        </p:txBody>
      </p:sp>
      <p:sp>
        <p:nvSpPr>
          <p:cNvPr id="25" name="barra c0f0"/>
          <p:cNvSpPr/>
          <p:nvPr/>
        </p:nvSpPr>
        <p:spPr>
          <a:xfrm>
            <a:off x="1307592" y="1336091"/>
            <a:ext cx="1057890" cy="7254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26" name="pct c0f0"/>
          <p:cNvSpPr txBox="1"/>
          <p:nvPr/>
        </p:nvSpPr>
        <p:spPr>
          <a:xfrm>
            <a:off x="2441448" y="130759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0392B"/>
                </a:solidFill>
                <a:latin typeface="Calibri"/>
              </a:rPr>
              <a:t>75,2%</a:t>
            </a:r>
          </a:p>
        </p:txBody>
      </p:sp>
      <p:sp>
        <p:nvSpPr>
          <p:cNvPr id="27" name="kwh c0f0"/>
          <p:cNvSpPr txBox="1"/>
          <p:nvPr/>
        </p:nvSpPr>
        <p:spPr>
          <a:xfrm>
            <a:off x="2843784" y="130759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232</a:t>
            </a:r>
          </a:p>
        </p:txBody>
      </p:sp>
      <p:sp>
        <p:nvSpPr>
          <p:cNvPr id="28" name="yield c0f0"/>
          <p:cNvSpPr txBox="1"/>
          <p:nvPr/>
        </p:nvSpPr>
        <p:spPr>
          <a:xfrm>
            <a:off x="3136392" y="130759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231 → 932</a:t>
            </a:r>
          </a:p>
        </p:txBody>
      </p:sp>
      <p:sp>
        <p:nvSpPr>
          <p:cNvPr id="29" name="conjunto c0f0"/>
          <p:cNvSpPr txBox="1"/>
          <p:nvPr/>
        </p:nvSpPr>
        <p:spPr>
          <a:xfrm>
            <a:off x="3977640" y="130759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30" name="num c0f1"/>
          <p:cNvSpPr txBox="1"/>
          <p:nvPr/>
        </p:nvSpPr>
        <p:spPr>
          <a:xfrm>
            <a:off x="411480" y="143713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a:t>
            </a:r>
          </a:p>
        </p:txBody>
      </p:sp>
      <p:sp>
        <p:nvSpPr>
          <p:cNvPr id="31" name="nombre c0f1"/>
          <p:cNvSpPr txBox="1"/>
          <p:nvPr/>
        </p:nvSpPr>
        <p:spPr>
          <a:xfrm>
            <a:off x="630936" y="143713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57</a:t>
            </a:r>
          </a:p>
        </p:txBody>
      </p:sp>
      <p:sp>
        <p:nvSpPr>
          <p:cNvPr id="32" name="barra c0f1"/>
          <p:cNvSpPr/>
          <p:nvPr/>
        </p:nvSpPr>
        <p:spPr>
          <a:xfrm>
            <a:off x="1307592" y="1465631"/>
            <a:ext cx="672436" cy="7254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33" name="pct c0f1"/>
          <p:cNvSpPr txBox="1"/>
          <p:nvPr/>
        </p:nvSpPr>
        <p:spPr>
          <a:xfrm>
            <a:off x="2441448" y="143713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0392B"/>
                </a:solidFill>
                <a:latin typeface="Calibri"/>
              </a:rPr>
              <a:t>47,8%</a:t>
            </a:r>
          </a:p>
        </p:txBody>
      </p:sp>
      <p:sp>
        <p:nvSpPr>
          <p:cNvPr id="34" name="kwh c0f1"/>
          <p:cNvSpPr txBox="1"/>
          <p:nvPr/>
        </p:nvSpPr>
        <p:spPr>
          <a:xfrm>
            <a:off x="2843784" y="143713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153</a:t>
            </a:r>
          </a:p>
        </p:txBody>
      </p:sp>
      <p:sp>
        <p:nvSpPr>
          <p:cNvPr id="35" name="yield c0f1"/>
          <p:cNvSpPr txBox="1"/>
          <p:nvPr/>
        </p:nvSpPr>
        <p:spPr>
          <a:xfrm>
            <a:off x="3136392" y="143713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563 → 1.078</a:t>
            </a:r>
          </a:p>
        </p:txBody>
      </p:sp>
      <p:sp>
        <p:nvSpPr>
          <p:cNvPr id="36" name="conjunto c0f1"/>
          <p:cNvSpPr txBox="1"/>
          <p:nvPr/>
        </p:nvSpPr>
        <p:spPr>
          <a:xfrm>
            <a:off x="3977640" y="143713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37" name="banda c0f2"/>
          <p:cNvSpPr/>
          <p:nvPr/>
        </p:nvSpPr>
        <p:spPr>
          <a:xfrm>
            <a:off x="411480" y="1566672"/>
            <a:ext cx="4114800" cy="129540"/>
          </a:xfrm>
          <a:prstGeom prst="rect">
            <a:avLst/>
          </a:prstGeom>
          <a:solidFill>
            <a:srgbClr val="FFFFFF"/>
          </a:solidFill>
          <a:ln>
            <a:noFill/>
          </a:ln>
        </p:spPr>
        <p:txBody>
          <a:bodyPr rtlCol="0" anchor="ctr"/>
          <a:lstStyle/>
          <a:p>
            <a:pPr algn="ctr"/>
            <a:endParaRPr lang="es-CO" noProof="0" dirty="0"/>
          </a:p>
        </p:txBody>
      </p:sp>
      <p:sp>
        <p:nvSpPr>
          <p:cNvPr id="38" name="num c0f2"/>
          <p:cNvSpPr txBox="1"/>
          <p:nvPr/>
        </p:nvSpPr>
        <p:spPr>
          <a:xfrm>
            <a:off x="411480" y="156667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a:t>
            </a:r>
          </a:p>
        </p:txBody>
      </p:sp>
      <p:sp>
        <p:nvSpPr>
          <p:cNvPr id="39" name="nombre c0f2"/>
          <p:cNvSpPr txBox="1"/>
          <p:nvPr/>
        </p:nvSpPr>
        <p:spPr>
          <a:xfrm>
            <a:off x="630936" y="156667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10</a:t>
            </a:r>
          </a:p>
        </p:txBody>
      </p:sp>
      <p:sp>
        <p:nvSpPr>
          <p:cNvPr id="40" name="barra c0f2"/>
          <p:cNvSpPr/>
          <p:nvPr/>
        </p:nvSpPr>
        <p:spPr>
          <a:xfrm>
            <a:off x="1307592" y="1595171"/>
            <a:ext cx="617572" cy="7254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41" name="pct c0f2"/>
          <p:cNvSpPr txBox="1"/>
          <p:nvPr/>
        </p:nvSpPr>
        <p:spPr>
          <a:xfrm>
            <a:off x="2441448" y="156667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0392B"/>
                </a:solidFill>
                <a:latin typeface="Calibri"/>
              </a:rPr>
              <a:t>43,9%</a:t>
            </a:r>
          </a:p>
        </p:txBody>
      </p:sp>
      <p:sp>
        <p:nvSpPr>
          <p:cNvPr id="42" name="kwh c0f2"/>
          <p:cNvSpPr txBox="1"/>
          <p:nvPr/>
        </p:nvSpPr>
        <p:spPr>
          <a:xfrm>
            <a:off x="2843784" y="156667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254</a:t>
            </a:r>
          </a:p>
        </p:txBody>
      </p:sp>
      <p:sp>
        <p:nvSpPr>
          <p:cNvPr id="43" name="yield c0f2"/>
          <p:cNvSpPr txBox="1"/>
          <p:nvPr/>
        </p:nvSpPr>
        <p:spPr>
          <a:xfrm>
            <a:off x="3136392" y="156667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683 → 1.218</a:t>
            </a:r>
          </a:p>
        </p:txBody>
      </p:sp>
      <p:sp>
        <p:nvSpPr>
          <p:cNvPr id="44" name="conjunto c0f2"/>
          <p:cNvSpPr txBox="1"/>
          <p:nvPr/>
        </p:nvSpPr>
        <p:spPr>
          <a:xfrm>
            <a:off x="3977640" y="156667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45" name="num c0f3"/>
          <p:cNvSpPr txBox="1"/>
          <p:nvPr/>
        </p:nvSpPr>
        <p:spPr>
          <a:xfrm>
            <a:off x="411480" y="169621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a:t>
            </a:r>
          </a:p>
        </p:txBody>
      </p:sp>
      <p:sp>
        <p:nvSpPr>
          <p:cNvPr id="46" name="nombre c0f3"/>
          <p:cNvSpPr txBox="1"/>
          <p:nvPr/>
        </p:nvSpPr>
        <p:spPr>
          <a:xfrm>
            <a:off x="630936" y="169621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447p *</a:t>
            </a:r>
          </a:p>
        </p:txBody>
      </p:sp>
      <p:sp>
        <p:nvSpPr>
          <p:cNvPr id="47" name="barra c0f3"/>
          <p:cNvSpPr/>
          <p:nvPr/>
        </p:nvSpPr>
        <p:spPr>
          <a:xfrm>
            <a:off x="1307592" y="1724711"/>
            <a:ext cx="610538" cy="7254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48" name="pct c0f3"/>
          <p:cNvSpPr txBox="1"/>
          <p:nvPr/>
        </p:nvSpPr>
        <p:spPr>
          <a:xfrm>
            <a:off x="2441448" y="169621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0392B"/>
                </a:solidFill>
                <a:latin typeface="Calibri"/>
              </a:rPr>
              <a:t>43,4%</a:t>
            </a:r>
          </a:p>
        </p:txBody>
      </p:sp>
      <p:sp>
        <p:nvSpPr>
          <p:cNvPr id="49" name="kwh c0f3"/>
          <p:cNvSpPr txBox="1"/>
          <p:nvPr/>
        </p:nvSpPr>
        <p:spPr>
          <a:xfrm>
            <a:off x="2843784" y="169621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40</a:t>
            </a:r>
          </a:p>
        </p:txBody>
      </p:sp>
      <p:sp>
        <p:nvSpPr>
          <p:cNvPr id="50" name="yield c0f3"/>
          <p:cNvSpPr txBox="1"/>
          <p:nvPr/>
        </p:nvSpPr>
        <p:spPr>
          <a:xfrm>
            <a:off x="3136392" y="169621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665 → 1.176</a:t>
            </a:r>
          </a:p>
        </p:txBody>
      </p:sp>
      <p:sp>
        <p:nvSpPr>
          <p:cNvPr id="51" name="conjunto c0f3"/>
          <p:cNvSpPr txBox="1"/>
          <p:nvPr/>
        </p:nvSpPr>
        <p:spPr>
          <a:xfrm>
            <a:off x="3977640" y="169621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Prado V.</a:t>
            </a:r>
          </a:p>
        </p:txBody>
      </p:sp>
      <p:sp>
        <p:nvSpPr>
          <p:cNvPr id="52" name="banda c0f4"/>
          <p:cNvSpPr/>
          <p:nvPr/>
        </p:nvSpPr>
        <p:spPr>
          <a:xfrm>
            <a:off x="411480" y="1825752"/>
            <a:ext cx="4114800" cy="129540"/>
          </a:xfrm>
          <a:prstGeom prst="rect">
            <a:avLst/>
          </a:prstGeom>
          <a:solidFill>
            <a:srgbClr val="FFFFFF"/>
          </a:solidFill>
          <a:ln>
            <a:noFill/>
          </a:ln>
        </p:spPr>
        <p:txBody>
          <a:bodyPr rtlCol="0" anchor="ctr"/>
          <a:lstStyle/>
          <a:p>
            <a:pPr algn="ctr"/>
            <a:endParaRPr lang="es-CO" noProof="0" dirty="0"/>
          </a:p>
        </p:txBody>
      </p:sp>
      <p:sp>
        <p:nvSpPr>
          <p:cNvPr id="53" name="num c0f4"/>
          <p:cNvSpPr txBox="1"/>
          <p:nvPr/>
        </p:nvSpPr>
        <p:spPr>
          <a:xfrm>
            <a:off x="411480" y="182575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5</a:t>
            </a:r>
          </a:p>
        </p:txBody>
      </p:sp>
      <p:sp>
        <p:nvSpPr>
          <p:cNvPr id="54" name="nombre c0f4"/>
          <p:cNvSpPr txBox="1"/>
          <p:nvPr/>
        </p:nvSpPr>
        <p:spPr>
          <a:xfrm>
            <a:off x="630936" y="182575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74</a:t>
            </a:r>
          </a:p>
        </p:txBody>
      </p:sp>
      <p:sp>
        <p:nvSpPr>
          <p:cNvPr id="55" name="barra c0f4"/>
          <p:cNvSpPr/>
          <p:nvPr/>
        </p:nvSpPr>
        <p:spPr>
          <a:xfrm>
            <a:off x="1307592" y="1854251"/>
            <a:ext cx="603504" cy="7254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56" name="pct c0f4"/>
          <p:cNvSpPr txBox="1"/>
          <p:nvPr/>
        </p:nvSpPr>
        <p:spPr>
          <a:xfrm>
            <a:off x="2441448" y="182575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0392B"/>
                </a:solidFill>
                <a:latin typeface="Calibri"/>
              </a:rPr>
              <a:t>42,9%</a:t>
            </a:r>
          </a:p>
        </p:txBody>
      </p:sp>
      <p:sp>
        <p:nvSpPr>
          <p:cNvPr id="57" name="kwh c0f4"/>
          <p:cNvSpPr txBox="1"/>
          <p:nvPr/>
        </p:nvSpPr>
        <p:spPr>
          <a:xfrm>
            <a:off x="2843784" y="182575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175</a:t>
            </a:r>
          </a:p>
        </p:txBody>
      </p:sp>
      <p:sp>
        <p:nvSpPr>
          <p:cNvPr id="58" name="yield c0f4"/>
          <p:cNvSpPr txBox="1"/>
          <p:nvPr/>
        </p:nvSpPr>
        <p:spPr>
          <a:xfrm>
            <a:off x="3136392" y="182575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653 → 1.144</a:t>
            </a:r>
          </a:p>
        </p:txBody>
      </p:sp>
      <p:sp>
        <p:nvSpPr>
          <p:cNvPr id="59" name="conjunto c0f4"/>
          <p:cNvSpPr txBox="1"/>
          <p:nvPr/>
        </p:nvSpPr>
        <p:spPr>
          <a:xfrm>
            <a:off x="3977640" y="182575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60" name="num c0f5"/>
          <p:cNvSpPr txBox="1"/>
          <p:nvPr/>
        </p:nvSpPr>
        <p:spPr>
          <a:xfrm>
            <a:off x="411480" y="195529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6</a:t>
            </a:r>
          </a:p>
        </p:txBody>
      </p:sp>
      <p:sp>
        <p:nvSpPr>
          <p:cNvPr id="61" name="nombre c0f5"/>
          <p:cNvSpPr txBox="1"/>
          <p:nvPr/>
        </p:nvSpPr>
        <p:spPr>
          <a:xfrm>
            <a:off x="630936" y="195529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111</a:t>
            </a:r>
          </a:p>
        </p:txBody>
      </p:sp>
      <p:sp>
        <p:nvSpPr>
          <p:cNvPr id="62" name="barra c0f5"/>
          <p:cNvSpPr/>
          <p:nvPr/>
        </p:nvSpPr>
        <p:spPr>
          <a:xfrm>
            <a:off x="1307592" y="1983791"/>
            <a:ext cx="602097" cy="7254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63" name="pct c0f5"/>
          <p:cNvSpPr txBox="1"/>
          <p:nvPr/>
        </p:nvSpPr>
        <p:spPr>
          <a:xfrm>
            <a:off x="2441448" y="195529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0392B"/>
                </a:solidFill>
                <a:latin typeface="Calibri"/>
              </a:rPr>
              <a:t>42,8%</a:t>
            </a:r>
          </a:p>
        </p:txBody>
      </p:sp>
      <p:sp>
        <p:nvSpPr>
          <p:cNvPr id="64" name="kwh c0f5"/>
          <p:cNvSpPr txBox="1"/>
          <p:nvPr/>
        </p:nvSpPr>
        <p:spPr>
          <a:xfrm>
            <a:off x="2843784" y="195529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291</a:t>
            </a:r>
          </a:p>
        </p:txBody>
      </p:sp>
      <p:sp>
        <p:nvSpPr>
          <p:cNvPr id="65" name="yield c0f5"/>
          <p:cNvSpPr txBox="1"/>
          <p:nvPr/>
        </p:nvSpPr>
        <p:spPr>
          <a:xfrm>
            <a:off x="3136392" y="195529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765 → 1.338</a:t>
            </a:r>
          </a:p>
        </p:txBody>
      </p:sp>
      <p:sp>
        <p:nvSpPr>
          <p:cNvPr id="66" name="conjunto c0f5"/>
          <p:cNvSpPr txBox="1"/>
          <p:nvPr/>
        </p:nvSpPr>
        <p:spPr>
          <a:xfrm>
            <a:off x="3977640" y="195529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67" name="banda c0f6"/>
          <p:cNvSpPr/>
          <p:nvPr/>
        </p:nvSpPr>
        <p:spPr>
          <a:xfrm>
            <a:off x="411480" y="2084832"/>
            <a:ext cx="4114800" cy="129540"/>
          </a:xfrm>
          <a:prstGeom prst="rect">
            <a:avLst/>
          </a:prstGeom>
          <a:solidFill>
            <a:srgbClr val="FFFFFF"/>
          </a:solidFill>
          <a:ln>
            <a:noFill/>
          </a:ln>
        </p:spPr>
        <p:txBody>
          <a:bodyPr rtlCol="0" anchor="ctr"/>
          <a:lstStyle/>
          <a:p>
            <a:pPr algn="ctr"/>
            <a:endParaRPr lang="es-CO" noProof="0" dirty="0"/>
          </a:p>
        </p:txBody>
      </p:sp>
      <p:sp>
        <p:nvSpPr>
          <p:cNvPr id="68" name="num c0f6"/>
          <p:cNvSpPr txBox="1"/>
          <p:nvPr/>
        </p:nvSpPr>
        <p:spPr>
          <a:xfrm>
            <a:off x="411480" y="208483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7</a:t>
            </a:r>
          </a:p>
        </p:txBody>
      </p:sp>
      <p:sp>
        <p:nvSpPr>
          <p:cNvPr id="69" name="nombre c0f6"/>
          <p:cNvSpPr txBox="1"/>
          <p:nvPr/>
        </p:nvSpPr>
        <p:spPr>
          <a:xfrm>
            <a:off x="630936" y="208483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15</a:t>
            </a:r>
          </a:p>
        </p:txBody>
      </p:sp>
      <p:sp>
        <p:nvSpPr>
          <p:cNvPr id="70" name="barra c0f6"/>
          <p:cNvSpPr/>
          <p:nvPr/>
        </p:nvSpPr>
        <p:spPr>
          <a:xfrm>
            <a:off x="1307592" y="2113331"/>
            <a:ext cx="602097" cy="7254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71" name="pct c0f6"/>
          <p:cNvSpPr txBox="1"/>
          <p:nvPr/>
        </p:nvSpPr>
        <p:spPr>
          <a:xfrm>
            <a:off x="2441448" y="208483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0392B"/>
                </a:solidFill>
                <a:latin typeface="Calibri"/>
              </a:rPr>
              <a:t>42,8%</a:t>
            </a:r>
          </a:p>
        </p:txBody>
      </p:sp>
      <p:sp>
        <p:nvSpPr>
          <p:cNvPr id="72" name="kwh c0f6"/>
          <p:cNvSpPr txBox="1"/>
          <p:nvPr/>
        </p:nvSpPr>
        <p:spPr>
          <a:xfrm>
            <a:off x="2843784" y="208483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294</a:t>
            </a:r>
          </a:p>
        </p:txBody>
      </p:sp>
      <p:sp>
        <p:nvSpPr>
          <p:cNvPr id="73" name="yield c0f6"/>
          <p:cNvSpPr txBox="1"/>
          <p:nvPr/>
        </p:nvSpPr>
        <p:spPr>
          <a:xfrm>
            <a:off x="3136392" y="208483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714 → 1.248</a:t>
            </a:r>
          </a:p>
        </p:txBody>
      </p:sp>
      <p:sp>
        <p:nvSpPr>
          <p:cNvPr id="74" name="conjunto c0f6"/>
          <p:cNvSpPr txBox="1"/>
          <p:nvPr/>
        </p:nvSpPr>
        <p:spPr>
          <a:xfrm>
            <a:off x="3977640" y="208483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75" name="num c0f7"/>
          <p:cNvSpPr txBox="1"/>
          <p:nvPr/>
        </p:nvSpPr>
        <p:spPr>
          <a:xfrm>
            <a:off x="411480" y="221437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8</a:t>
            </a:r>
          </a:p>
        </p:txBody>
      </p:sp>
      <p:sp>
        <p:nvSpPr>
          <p:cNvPr id="76" name="nombre c0f7"/>
          <p:cNvSpPr txBox="1"/>
          <p:nvPr/>
        </p:nvSpPr>
        <p:spPr>
          <a:xfrm>
            <a:off x="630936" y="221437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35 †</a:t>
            </a:r>
          </a:p>
        </p:txBody>
      </p:sp>
      <p:sp>
        <p:nvSpPr>
          <p:cNvPr id="77" name="barra c0f7"/>
          <p:cNvSpPr/>
          <p:nvPr/>
        </p:nvSpPr>
        <p:spPr>
          <a:xfrm>
            <a:off x="1307592" y="2242871"/>
            <a:ext cx="526132"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78" name="pct c0f7"/>
          <p:cNvSpPr txBox="1"/>
          <p:nvPr/>
        </p:nvSpPr>
        <p:spPr>
          <a:xfrm>
            <a:off x="2441448" y="221437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37,4%</a:t>
            </a:r>
          </a:p>
        </p:txBody>
      </p:sp>
      <p:sp>
        <p:nvSpPr>
          <p:cNvPr id="79" name="kwh c0f7"/>
          <p:cNvSpPr txBox="1"/>
          <p:nvPr/>
        </p:nvSpPr>
        <p:spPr>
          <a:xfrm>
            <a:off x="2843784" y="221437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102</a:t>
            </a:r>
          </a:p>
        </p:txBody>
      </p:sp>
      <p:sp>
        <p:nvSpPr>
          <p:cNvPr id="80" name="yield c0f7"/>
          <p:cNvSpPr txBox="1"/>
          <p:nvPr/>
        </p:nvSpPr>
        <p:spPr>
          <a:xfrm>
            <a:off x="3136392" y="221437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714 → 1.139</a:t>
            </a:r>
          </a:p>
        </p:txBody>
      </p:sp>
      <p:sp>
        <p:nvSpPr>
          <p:cNvPr id="81" name="conjunto c0f7"/>
          <p:cNvSpPr txBox="1"/>
          <p:nvPr/>
        </p:nvSpPr>
        <p:spPr>
          <a:xfrm>
            <a:off x="3977640" y="221437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82" name="banda c0f8"/>
          <p:cNvSpPr/>
          <p:nvPr/>
        </p:nvSpPr>
        <p:spPr>
          <a:xfrm>
            <a:off x="411480" y="2343912"/>
            <a:ext cx="4114800" cy="129540"/>
          </a:xfrm>
          <a:prstGeom prst="rect">
            <a:avLst/>
          </a:prstGeom>
          <a:solidFill>
            <a:srgbClr val="FFFFFF"/>
          </a:solidFill>
          <a:ln>
            <a:noFill/>
          </a:ln>
        </p:spPr>
        <p:txBody>
          <a:bodyPr rtlCol="0" anchor="ctr"/>
          <a:lstStyle/>
          <a:p>
            <a:pPr algn="ctr"/>
            <a:endParaRPr lang="es-CO" noProof="0" dirty="0"/>
          </a:p>
        </p:txBody>
      </p:sp>
      <p:sp>
        <p:nvSpPr>
          <p:cNvPr id="83" name="num c0f8"/>
          <p:cNvSpPr txBox="1"/>
          <p:nvPr/>
        </p:nvSpPr>
        <p:spPr>
          <a:xfrm>
            <a:off x="411480" y="234391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9</a:t>
            </a:r>
          </a:p>
        </p:txBody>
      </p:sp>
      <p:sp>
        <p:nvSpPr>
          <p:cNvPr id="84" name="nombre c0f8"/>
          <p:cNvSpPr txBox="1"/>
          <p:nvPr/>
        </p:nvSpPr>
        <p:spPr>
          <a:xfrm>
            <a:off x="630936" y="234391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48</a:t>
            </a:r>
          </a:p>
        </p:txBody>
      </p:sp>
      <p:sp>
        <p:nvSpPr>
          <p:cNvPr id="85" name="barra c0f8"/>
          <p:cNvSpPr/>
          <p:nvPr/>
        </p:nvSpPr>
        <p:spPr>
          <a:xfrm>
            <a:off x="1307592" y="2372411"/>
            <a:ext cx="517691"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86" name="pct c0f8"/>
          <p:cNvSpPr txBox="1"/>
          <p:nvPr/>
        </p:nvSpPr>
        <p:spPr>
          <a:xfrm>
            <a:off x="2441448" y="234391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36,8%</a:t>
            </a:r>
          </a:p>
        </p:txBody>
      </p:sp>
      <p:sp>
        <p:nvSpPr>
          <p:cNvPr id="87" name="kwh c0f8"/>
          <p:cNvSpPr txBox="1"/>
          <p:nvPr/>
        </p:nvSpPr>
        <p:spPr>
          <a:xfrm>
            <a:off x="2843784" y="234391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100</a:t>
            </a:r>
          </a:p>
        </p:txBody>
      </p:sp>
      <p:sp>
        <p:nvSpPr>
          <p:cNvPr id="88" name="yield c0f8"/>
          <p:cNvSpPr txBox="1"/>
          <p:nvPr/>
        </p:nvSpPr>
        <p:spPr>
          <a:xfrm>
            <a:off x="3136392" y="234391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664 → 1.050</a:t>
            </a:r>
          </a:p>
        </p:txBody>
      </p:sp>
      <p:sp>
        <p:nvSpPr>
          <p:cNvPr id="89" name="conjunto c0f8"/>
          <p:cNvSpPr txBox="1"/>
          <p:nvPr/>
        </p:nvSpPr>
        <p:spPr>
          <a:xfrm>
            <a:off x="3977640" y="234391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90" name="num c0f9"/>
          <p:cNvSpPr txBox="1"/>
          <p:nvPr/>
        </p:nvSpPr>
        <p:spPr>
          <a:xfrm>
            <a:off x="411480" y="247345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10</a:t>
            </a:r>
          </a:p>
        </p:txBody>
      </p:sp>
      <p:sp>
        <p:nvSpPr>
          <p:cNvPr id="91" name="nombre c0f9"/>
          <p:cNvSpPr txBox="1"/>
          <p:nvPr/>
        </p:nvSpPr>
        <p:spPr>
          <a:xfrm>
            <a:off x="630936" y="247345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108</a:t>
            </a:r>
          </a:p>
        </p:txBody>
      </p:sp>
      <p:sp>
        <p:nvSpPr>
          <p:cNvPr id="92" name="barra c0f9"/>
          <p:cNvSpPr/>
          <p:nvPr/>
        </p:nvSpPr>
        <p:spPr>
          <a:xfrm>
            <a:off x="1307592" y="2501951"/>
            <a:ext cx="460014"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93" name="pct c0f9"/>
          <p:cNvSpPr txBox="1"/>
          <p:nvPr/>
        </p:nvSpPr>
        <p:spPr>
          <a:xfrm>
            <a:off x="2441448" y="247345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32,7%</a:t>
            </a:r>
          </a:p>
        </p:txBody>
      </p:sp>
      <p:sp>
        <p:nvSpPr>
          <p:cNvPr id="94" name="kwh c0f9"/>
          <p:cNvSpPr txBox="1"/>
          <p:nvPr/>
        </p:nvSpPr>
        <p:spPr>
          <a:xfrm>
            <a:off x="2843784" y="247345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100</a:t>
            </a:r>
          </a:p>
        </p:txBody>
      </p:sp>
      <p:sp>
        <p:nvSpPr>
          <p:cNvPr id="95" name="yield c0f9"/>
          <p:cNvSpPr txBox="1"/>
          <p:nvPr/>
        </p:nvSpPr>
        <p:spPr>
          <a:xfrm>
            <a:off x="3136392" y="247345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779 → 1.156</a:t>
            </a:r>
          </a:p>
        </p:txBody>
      </p:sp>
      <p:sp>
        <p:nvSpPr>
          <p:cNvPr id="96" name="conjunto c0f9"/>
          <p:cNvSpPr txBox="1"/>
          <p:nvPr/>
        </p:nvSpPr>
        <p:spPr>
          <a:xfrm>
            <a:off x="3977640" y="247345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97" name="banda c0f10"/>
          <p:cNvSpPr/>
          <p:nvPr/>
        </p:nvSpPr>
        <p:spPr>
          <a:xfrm>
            <a:off x="411480" y="2602992"/>
            <a:ext cx="4114800" cy="129540"/>
          </a:xfrm>
          <a:prstGeom prst="rect">
            <a:avLst/>
          </a:prstGeom>
          <a:solidFill>
            <a:srgbClr val="FFFFFF"/>
          </a:solidFill>
          <a:ln>
            <a:noFill/>
          </a:ln>
        </p:spPr>
        <p:txBody>
          <a:bodyPr rtlCol="0" anchor="ctr"/>
          <a:lstStyle/>
          <a:p>
            <a:pPr algn="ctr"/>
            <a:endParaRPr lang="es-CO" noProof="0" dirty="0"/>
          </a:p>
        </p:txBody>
      </p:sp>
      <p:sp>
        <p:nvSpPr>
          <p:cNvPr id="98" name="num c0f10"/>
          <p:cNvSpPr txBox="1"/>
          <p:nvPr/>
        </p:nvSpPr>
        <p:spPr>
          <a:xfrm>
            <a:off x="411480" y="260299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11</a:t>
            </a:r>
          </a:p>
        </p:txBody>
      </p:sp>
      <p:sp>
        <p:nvSpPr>
          <p:cNvPr id="99" name="nombre c0f10"/>
          <p:cNvSpPr txBox="1"/>
          <p:nvPr/>
        </p:nvSpPr>
        <p:spPr>
          <a:xfrm>
            <a:off x="630936" y="260299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99</a:t>
            </a:r>
          </a:p>
        </p:txBody>
      </p:sp>
      <p:sp>
        <p:nvSpPr>
          <p:cNvPr id="100" name="barra c0f10"/>
          <p:cNvSpPr/>
          <p:nvPr/>
        </p:nvSpPr>
        <p:spPr>
          <a:xfrm>
            <a:off x="1307592" y="2631491"/>
            <a:ext cx="438912"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01" name="pct c0f10"/>
          <p:cNvSpPr txBox="1"/>
          <p:nvPr/>
        </p:nvSpPr>
        <p:spPr>
          <a:xfrm>
            <a:off x="2441448" y="260299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31,2%</a:t>
            </a:r>
          </a:p>
        </p:txBody>
      </p:sp>
      <p:sp>
        <p:nvSpPr>
          <p:cNvPr id="102" name="kwh c0f10"/>
          <p:cNvSpPr txBox="1"/>
          <p:nvPr/>
        </p:nvSpPr>
        <p:spPr>
          <a:xfrm>
            <a:off x="2843784" y="260299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128</a:t>
            </a:r>
          </a:p>
        </p:txBody>
      </p:sp>
      <p:sp>
        <p:nvSpPr>
          <p:cNvPr id="103" name="yield c0f10"/>
          <p:cNvSpPr txBox="1"/>
          <p:nvPr/>
        </p:nvSpPr>
        <p:spPr>
          <a:xfrm>
            <a:off x="3136392" y="260299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828 → 1.204</a:t>
            </a:r>
          </a:p>
        </p:txBody>
      </p:sp>
      <p:sp>
        <p:nvSpPr>
          <p:cNvPr id="104" name="conjunto c0f10"/>
          <p:cNvSpPr txBox="1"/>
          <p:nvPr/>
        </p:nvSpPr>
        <p:spPr>
          <a:xfrm>
            <a:off x="3977640" y="260299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105" name="num c0f11"/>
          <p:cNvSpPr txBox="1"/>
          <p:nvPr/>
        </p:nvSpPr>
        <p:spPr>
          <a:xfrm>
            <a:off x="411480" y="273253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12</a:t>
            </a:r>
          </a:p>
        </p:txBody>
      </p:sp>
      <p:sp>
        <p:nvSpPr>
          <p:cNvPr id="106" name="nombre c0f11"/>
          <p:cNvSpPr txBox="1"/>
          <p:nvPr/>
        </p:nvSpPr>
        <p:spPr>
          <a:xfrm>
            <a:off x="630936" y="273253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55p</a:t>
            </a:r>
          </a:p>
        </p:txBody>
      </p:sp>
      <p:sp>
        <p:nvSpPr>
          <p:cNvPr id="107" name="barra c0f11"/>
          <p:cNvSpPr/>
          <p:nvPr/>
        </p:nvSpPr>
        <p:spPr>
          <a:xfrm>
            <a:off x="1307592" y="2761031"/>
            <a:ext cx="433285"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08" name="pct c0f11"/>
          <p:cNvSpPr txBox="1"/>
          <p:nvPr/>
        </p:nvSpPr>
        <p:spPr>
          <a:xfrm>
            <a:off x="2441448" y="273253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30,8%</a:t>
            </a:r>
          </a:p>
        </p:txBody>
      </p:sp>
      <p:sp>
        <p:nvSpPr>
          <p:cNvPr id="109" name="kwh c0f11"/>
          <p:cNvSpPr txBox="1"/>
          <p:nvPr/>
        </p:nvSpPr>
        <p:spPr>
          <a:xfrm>
            <a:off x="2843784" y="273253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120</a:t>
            </a:r>
          </a:p>
        </p:txBody>
      </p:sp>
      <p:sp>
        <p:nvSpPr>
          <p:cNvPr id="110" name="yield c0f11"/>
          <p:cNvSpPr txBox="1"/>
          <p:nvPr/>
        </p:nvSpPr>
        <p:spPr>
          <a:xfrm>
            <a:off x="3136392" y="273253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858 → 1.239</a:t>
            </a:r>
          </a:p>
        </p:txBody>
      </p:sp>
      <p:sp>
        <p:nvSpPr>
          <p:cNvPr id="111" name="conjunto c0f11"/>
          <p:cNvSpPr txBox="1"/>
          <p:nvPr/>
        </p:nvSpPr>
        <p:spPr>
          <a:xfrm>
            <a:off x="3977640" y="273253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Prado V.</a:t>
            </a:r>
          </a:p>
        </p:txBody>
      </p:sp>
      <p:sp>
        <p:nvSpPr>
          <p:cNvPr id="112" name="banda c0f12"/>
          <p:cNvSpPr/>
          <p:nvPr/>
        </p:nvSpPr>
        <p:spPr>
          <a:xfrm>
            <a:off x="411480" y="2862072"/>
            <a:ext cx="4114800" cy="129540"/>
          </a:xfrm>
          <a:prstGeom prst="rect">
            <a:avLst/>
          </a:prstGeom>
          <a:solidFill>
            <a:srgbClr val="FFFFFF"/>
          </a:solidFill>
          <a:ln>
            <a:noFill/>
          </a:ln>
        </p:spPr>
        <p:txBody>
          <a:bodyPr rtlCol="0" anchor="ctr"/>
          <a:lstStyle/>
          <a:p>
            <a:pPr algn="ctr"/>
            <a:endParaRPr lang="es-CO" noProof="0" dirty="0"/>
          </a:p>
        </p:txBody>
      </p:sp>
      <p:sp>
        <p:nvSpPr>
          <p:cNvPr id="113" name="num c0f12"/>
          <p:cNvSpPr txBox="1"/>
          <p:nvPr/>
        </p:nvSpPr>
        <p:spPr>
          <a:xfrm>
            <a:off x="411480" y="286207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13</a:t>
            </a:r>
          </a:p>
        </p:txBody>
      </p:sp>
      <p:sp>
        <p:nvSpPr>
          <p:cNvPr id="114" name="nombre c0f12"/>
          <p:cNvSpPr txBox="1"/>
          <p:nvPr/>
        </p:nvSpPr>
        <p:spPr>
          <a:xfrm>
            <a:off x="630936" y="286207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18PR</a:t>
            </a:r>
          </a:p>
        </p:txBody>
      </p:sp>
      <p:sp>
        <p:nvSpPr>
          <p:cNvPr id="115" name="barra c0f12"/>
          <p:cNvSpPr/>
          <p:nvPr/>
        </p:nvSpPr>
        <p:spPr>
          <a:xfrm>
            <a:off x="1307592" y="2890571"/>
            <a:ext cx="431878"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16" name="pct c0f12"/>
          <p:cNvSpPr txBox="1"/>
          <p:nvPr/>
        </p:nvSpPr>
        <p:spPr>
          <a:xfrm>
            <a:off x="2441448" y="286207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30,7%</a:t>
            </a:r>
          </a:p>
        </p:txBody>
      </p:sp>
      <p:sp>
        <p:nvSpPr>
          <p:cNvPr id="117" name="kwh c0f12"/>
          <p:cNvSpPr txBox="1"/>
          <p:nvPr/>
        </p:nvSpPr>
        <p:spPr>
          <a:xfrm>
            <a:off x="2843784" y="286207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111</a:t>
            </a:r>
          </a:p>
        </p:txBody>
      </p:sp>
      <p:sp>
        <p:nvSpPr>
          <p:cNvPr id="118" name="yield c0f12"/>
          <p:cNvSpPr txBox="1"/>
          <p:nvPr/>
        </p:nvSpPr>
        <p:spPr>
          <a:xfrm>
            <a:off x="3136392" y="286207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896 → 1.293</a:t>
            </a:r>
          </a:p>
        </p:txBody>
      </p:sp>
      <p:sp>
        <p:nvSpPr>
          <p:cNvPr id="119" name="conjunto c0f12"/>
          <p:cNvSpPr txBox="1"/>
          <p:nvPr/>
        </p:nvSpPr>
        <p:spPr>
          <a:xfrm>
            <a:off x="3977640" y="286207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Portón R.</a:t>
            </a:r>
          </a:p>
        </p:txBody>
      </p:sp>
      <p:sp>
        <p:nvSpPr>
          <p:cNvPr id="120" name="num c0f13"/>
          <p:cNvSpPr txBox="1"/>
          <p:nvPr/>
        </p:nvSpPr>
        <p:spPr>
          <a:xfrm>
            <a:off x="411480" y="299161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14</a:t>
            </a:r>
          </a:p>
        </p:txBody>
      </p:sp>
      <p:sp>
        <p:nvSpPr>
          <p:cNvPr id="121" name="nombre c0f13"/>
          <p:cNvSpPr txBox="1"/>
          <p:nvPr/>
        </p:nvSpPr>
        <p:spPr>
          <a:xfrm>
            <a:off x="630936" y="299161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73 †</a:t>
            </a:r>
          </a:p>
        </p:txBody>
      </p:sp>
      <p:sp>
        <p:nvSpPr>
          <p:cNvPr id="122" name="barra c0f13"/>
          <p:cNvSpPr/>
          <p:nvPr/>
        </p:nvSpPr>
        <p:spPr>
          <a:xfrm>
            <a:off x="1307592" y="3020111"/>
            <a:ext cx="389675"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23" name="pct c0f13"/>
          <p:cNvSpPr txBox="1"/>
          <p:nvPr/>
        </p:nvSpPr>
        <p:spPr>
          <a:xfrm>
            <a:off x="2441448" y="299161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27,7%</a:t>
            </a:r>
          </a:p>
        </p:txBody>
      </p:sp>
      <p:sp>
        <p:nvSpPr>
          <p:cNvPr id="124" name="kwh c0f13"/>
          <p:cNvSpPr txBox="1"/>
          <p:nvPr/>
        </p:nvSpPr>
        <p:spPr>
          <a:xfrm>
            <a:off x="2843784" y="299161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81</a:t>
            </a:r>
          </a:p>
        </p:txBody>
      </p:sp>
      <p:sp>
        <p:nvSpPr>
          <p:cNvPr id="125" name="yield c0f13"/>
          <p:cNvSpPr txBox="1"/>
          <p:nvPr/>
        </p:nvSpPr>
        <p:spPr>
          <a:xfrm>
            <a:off x="3136392" y="299161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923 → 1.276</a:t>
            </a:r>
          </a:p>
        </p:txBody>
      </p:sp>
      <p:sp>
        <p:nvSpPr>
          <p:cNvPr id="126" name="conjunto c0f13"/>
          <p:cNvSpPr txBox="1"/>
          <p:nvPr/>
        </p:nvSpPr>
        <p:spPr>
          <a:xfrm>
            <a:off x="3977640" y="299161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Llanos</a:t>
            </a:r>
          </a:p>
        </p:txBody>
      </p:sp>
      <p:sp>
        <p:nvSpPr>
          <p:cNvPr id="127" name="banda c0f14"/>
          <p:cNvSpPr/>
          <p:nvPr/>
        </p:nvSpPr>
        <p:spPr>
          <a:xfrm>
            <a:off x="411480" y="3121152"/>
            <a:ext cx="4114800" cy="129540"/>
          </a:xfrm>
          <a:prstGeom prst="rect">
            <a:avLst/>
          </a:prstGeom>
          <a:solidFill>
            <a:srgbClr val="FFFFFF"/>
          </a:solidFill>
          <a:ln>
            <a:noFill/>
          </a:ln>
        </p:spPr>
        <p:txBody>
          <a:bodyPr rtlCol="0" anchor="ctr"/>
          <a:lstStyle/>
          <a:p>
            <a:pPr algn="ctr"/>
            <a:endParaRPr lang="es-CO" noProof="0" dirty="0"/>
          </a:p>
        </p:txBody>
      </p:sp>
      <p:sp>
        <p:nvSpPr>
          <p:cNvPr id="128" name="num c0f14"/>
          <p:cNvSpPr txBox="1"/>
          <p:nvPr/>
        </p:nvSpPr>
        <p:spPr>
          <a:xfrm>
            <a:off x="411480" y="312115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15</a:t>
            </a:r>
          </a:p>
        </p:txBody>
      </p:sp>
      <p:sp>
        <p:nvSpPr>
          <p:cNvPr id="129" name="nombre c0f14"/>
          <p:cNvSpPr txBox="1"/>
          <p:nvPr/>
        </p:nvSpPr>
        <p:spPr>
          <a:xfrm>
            <a:off x="630936" y="312115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12</a:t>
            </a:r>
          </a:p>
        </p:txBody>
      </p:sp>
      <p:sp>
        <p:nvSpPr>
          <p:cNvPr id="130" name="barra c0f14"/>
          <p:cNvSpPr/>
          <p:nvPr/>
        </p:nvSpPr>
        <p:spPr>
          <a:xfrm>
            <a:off x="1307592" y="3149651"/>
            <a:ext cx="379828"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31" name="pct c0f14"/>
          <p:cNvSpPr txBox="1"/>
          <p:nvPr/>
        </p:nvSpPr>
        <p:spPr>
          <a:xfrm>
            <a:off x="2441448" y="312115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27,0%</a:t>
            </a:r>
          </a:p>
        </p:txBody>
      </p:sp>
      <p:sp>
        <p:nvSpPr>
          <p:cNvPr id="132" name="kwh c0f14"/>
          <p:cNvSpPr txBox="1"/>
          <p:nvPr/>
        </p:nvSpPr>
        <p:spPr>
          <a:xfrm>
            <a:off x="2843784" y="312115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248</a:t>
            </a:r>
          </a:p>
        </p:txBody>
      </p:sp>
      <p:sp>
        <p:nvSpPr>
          <p:cNvPr id="133" name="yield c0f14"/>
          <p:cNvSpPr txBox="1"/>
          <p:nvPr/>
        </p:nvSpPr>
        <p:spPr>
          <a:xfrm>
            <a:off x="3136392" y="312115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863 → 1.182</a:t>
            </a:r>
          </a:p>
        </p:txBody>
      </p:sp>
      <p:sp>
        <p:nvSpPr>
          <p:cNvPr id="134" name="conjunto c0f14"/>
          <p:cNvSpPr txBox="1"/>
          <p:nvPr/>
        </p:nvSpPr>
        <p:spPr>
          <a:xfrm>
            <a:off x="3977640" y="312115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Abedules</a:t>
            </a:r>
          </a:p>
        </p:txBody>
      </p:sp>
      <p:sp>
        <p:nvSpPr>
          <p:cNvPr id="135" name="num c0f15"/>
          <p:cNvSpPr txBox="1"/>
          <p:nvPr/>
        </p:nvSpPr>
        <p:spPr>
          <a:xfrm>
            <a:off x="411480" y="325069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16</a:t>
            </a:r>
          </a:p>
        </p:txBody>
      </p:sp>
      <p:sp>
        <p:nvSpPr>
          <p:cNvPr id="136" name="nombre c0f15"/>
          <p:cNvSpPr txBox="1"/>
          <p:nvPr/>
        </p:nvSpPr>
        <p:spPr>
          <a:xfrm>
            <a:off x="630936" y="325069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70</a:t>
            </a:r>
          </a:p>
        </p:txBody>
      </p:sp>
      <p:sp>
        <p:nvSpPr>
          <p:cNvPr id="137" name="barra c0f15"/>
          <p:cNvSpPr/>
          <p:nvPr/>
        </p:nvSpPr>
        <p:spPr>
          <a:xfrm>
            <a:off x="1307592" y="3279191"/>
            <a:ext cx="372794"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38" name="pct c0f15"/>
          <p:cNvSpPr txBox="1"/>
          <p:nvPr/>
        </p:nvSpPr>
        <p:spPr>
          <a:xfrm>
            <a:off x="2441448" y="325069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26,5%</a:t>
            </a:r>
          </a:p>
        </p:txBody>
      </p:sp>
      <p:sp>
        <p:nvSpPr>
          <p:cNvPr id="139" name="kwh c0f15"/>
          <p:cNvSpPr txBox="1"/>
          <p:nvPr/>
        </p:nvSpPr>
        <p:spPr>
          <a:xfrm>
            <a:off x="2843784" y="325069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113</a:t>
            </a:r>
          </a:p>
        </p:txBody>
      </p:sp>
      <p:sp>
        <p:nvSpPr>
          <p:cNvPr id="140" name="yield c0f15"/>
          <p:cNvSpPr txBox="1"/>
          <p:nvPr/>
        </p:nvSpPr>
        <p:spPr>
          <a:xfrm>
            <a:off x="3136392" y="325069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920 → 1.251</a:t>
            </a:r>
          </a:p>
        </p:txBody>
      </p:sp>
      <p:sp>
        <p:nvSpPr>
          <p:cNvPr id="141" name="conjunto c0f15"/>
          <p:cNvSpPr txBox="1"/>
          <p:nvPr/>
        </p:nvSpPr>
        <p:spPr>
          <a:xfrm>
            <a:off x="3977640" y="325069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142" name="banda c0f16"/>
          <p:cNvSpPr/>
          <p:nvPr/>
        </p:nvSpPr>
        <p:spPr>
          <a:xfrm>
            <a:off x="411480" y="3380232"/>
            <a:ext cx="4114800" cy="129540"/>
          </a:xfrm>
          <a:prstGeom prst="rect">
            <a:avLst/>
          </a:prstGeom>
          <a:solidFill>
            <a:srgbClr val="FFFFFF"/>
          </a:solidFill>
          <a:ln>
            <a:noFill/>
          </a:ln>
        </p:spPr>
        <p:txBody>
          <a:bodyPr rtlCol="0" anchor="ctr"/>
          <a:lstStyle/>
          <a:p>
            <a:pPr algn="ctr"/>
            <a:endParaRPr lang="es-CO" noProof="0" dirty="0"/>
          </a:p>
        </p:txBody>
      </p:sp>
      <p:sp>
        <p:nvSpPr>
          <p:cNvPr id="143" name="num c0f16"/>
          <p:cNvSpPr txBox="1"/>
          <p:nvPr/>
        </p:nvSpPr>
        <p:spPr>
          <a:xfrm>
            <a:off x="411480" y="338023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17</a:t>
            </a:r>
          </a:p>
        </p:txBody>
      </p:sp>
      <p:sp>
        <p:nvSpPr>
          <p:cNvPr id="144" name="nombre c0f16"/>
          <p:cNvSpPr txBox="1"/>
          <p:nvPr/>
        </p:nvSpPr>
        <p:spPr>
          <a:xfrm>
            <a:off x="630936" y="338023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18</a:t>
            </a:r>
          </a:p>
        </p:txBody>
      </p:sp>
      <p:sp>
        <p:nvSpPr>
          <p:cNvPr id="145" name="barra c0f16"/>
          <p:cNvSpPr/>
          <p:nvPr/>
        </p:nvSpPr>
        <p:spPr>
          <a:xfrm>
            <a:off x="1307592" y="3408731"/>
            <a:ext cx="371387"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46" name="pct c0f16"/>
          <p:cNvSpPr txBox="1"/>
          <p:nvPr/>
        </p:nvSpPr>
        <p:spPr>
          <a:xfrm>
            <a:off x="2441448" y="338023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26,4%</a:t>
            </a:r>
          </a:p>
        </p:txBody>
      </p:sp>
      <p:sp>
        <p:nvSpPr>
          <p:cNvPr id="147" name="kwh c0f16"/>
          <p:cNvSpPr txBox="1"/>
          <p:nvPr/>
        </p:nvSpPr>
        <p:spPr>
          <a:xfrm>
            <a:off x="2843784" y="338023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85</a:t>
            </a:r>
          </a:p>
        </p:txBody>
      </p:sp>
      <p:sp>
        <p:nvSpPr>
          <p:cNvPr id="148" name="yield c0f16"/>
          <p:cNvSpPr txBox="1"/>
          <p:nvPr/>
        </p:nvSpPr>
        <p:spPr>
          <a:xfrm>
            <a:off x="3136392" y="338023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898 → 1.221</a:t>
            </a:r>
          </a:p>
        </p:txBody>
      </p:sp>
      <p:sp>
        <p:nvSpPr>
          <p:cNvPr id="149" name="conjunto c0f16"/>
          <p:cNvSpPr txBox="1"/>
          <p:nvPr/>
        </p:nvSpPr>
        <p:spPr>
          <a:xfrm>
            <a:off x="3977640" y="338023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150" name="num c0f17"/>
          <p:cNvSpPr txBox="1"/>
          <p:nvPr/>
        </p:nvSpPr>
        <p:spPr>
          <a:xfrm>
            <a:off x="411480" y="350977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18</a:t>
            </a:r>
          </a:p>
        </p:txBody>
      </p:sp>
      <p:sp>
        <p:nvSpPr>
          <p:cNvPr id="151" name="nombre c0f17"/>
          <p:cNvSpPr txBox="1"/>
          <p:nvPr/>
        </p:nvSpPr>
        <p:spPr>
          <a:xfrm>
            <a:off x="630936" y="350977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11 †</a:t>
            </a:r>
          </a:p>
        </p:txBody>
      </p:sp>
      <p:sp>
        <p:nvSpPr>
          <p:cNvPr id="152" name="barra c0f17"/>
          <p:cNvSpPr/>
          <p:nvPr/>
        </p:nvSpPr>
        <p:spPr>
          <a:xfrm>
            <a:off x="1307592" y="3538271"/>
            <a:ext cx="350286"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53" name="pct c0f17"/>
          <p:cNvSpPr txBox="1"/>
          <p:nvPr/>
        </p:nvSpPr>
        <p:spPr>
          <a:xfrm>
            <a:off x="2441448" y="350977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24,9%</a:t>
            </a:r>
          </a:p>
        </p:txBody>
      </p:sp>
      <p:sp>
        <p:nvSpPr>
          <p:cNvPr id="154" name="kwh c0f17"/>
          <p:cNvSpPr txBox="1"/>
          <p:nvPr/>
        </p:nvSpPr>
        <p:spPr>
          <a:xfrm>
            <a:off x="2843784" y="350977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97</a:t>
            </a:r>
          </a:p>
        </p:txBody>
      </p:sp>
      <p:sp>
        <p:nvSpPr>
          <p:cNvPr id="155" name="yield c0f17"/>
          <p:cNvSpPr txBox="1"/>
          <p:nvPr/>
        </p:nvSpPr>
        <p:spPr>
          <a:xfrm>
            <a:off x="3136392" y="350977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781 → 1.039</a:t>
            </a:r>
          </a:p>
        </p:txBody>
      </p:sp>
      <p:sp>
        <p:nvSpPr>
          <p:cNvPr id="156" name="conjunto c0f17"/>
          <p:cNvSpPr txBox="1"/>
          <p:nvPr/>
        </p:nvSpPr>
        <p:spPr>
          <a:xfrm>
            <a:off x="3977640" y="350977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157" name="banda c0f18"/>
          <p:cNvSpPr/>
          <p:nvPr/>
        </p:nvSpPr>
        <p:spPr>
          <a:xfrm>
            <a:off x="411480" y="3639312"/>
            <a:ext cx="4114800" cy="129540"/>
          </a:xfrm>
          <a:prstGeom prst="rect">
            <a:avLst/>
          </a:prstGeom>
          <a:solidFill>
            <a:srgbClr val="FFFFFF"/>
          </a:solidFill>
          <a:ln>
            <a:noFill/>
          </a:ln>
        </p:spPr>
        <p:txBody>
          <a:bodyPr rtlCol="0" anchor="ctr"/>
          <a:lstStyle/>
          <a:p>
            <a:pPr algn="ctr"/>
            <a:endParaRPr lang="es-CO" noProof="0" dirty="0"/>
          </a:p>
        </p:txBody>
      </p:sp>
      <p:sp>
        <p:nvSpPr>
          <p:cNvPr id="158" name="num c0f18"/>
          <p:cNvSpPr txBox="1"/>
          <p:nvPr/>
        </p:nvSpPr>
        <p:spPr>
          <a:xfrm>
            <a:off x="411480" y="363931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19</a:t>
            </a:r>
          </a:p>
        </p:txBody>
      </p:sp>
      <p:sp>
        <p:nvSpPr>
          <p:cNvPr id="159" name="nombre c0f18"/>
          <p:cNvSpPr txBox="1"/>
          <p:nvPr/>
        </p:nvSpPr>
        <p:spPr>
          <a:xfrm>
            <a:off x="630936" y="363931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9G</a:t>
            </a:r>
          </a:p>
        </p:txBody>
      </p:sp>
      <p:sp>
        <p:nvSpPr>
          <p:cNvPr id="160" name="barra c0f18"/>
          <p:cNvSpPr/>
          <p:nvPr/>
        </p:nvSpPr>
        <p:spPr>
          <a:xfrm>
            <a:off x="1307592" y="3667811"/>
            <a:ext cx="334811"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61" name="pct c0f18"/>
          <p:cNvSpPr txBox="1"/>
          <p:nvPr/>
        </p:nvSpPr>
        <p:spPr>
          <a:xfrm>
            <a:off x="2441448" y="363931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23,8%</a:t>
            </a:r>
          </a:p>
        </p:txBody>
      </p:sp>
      <p:sp>
        <p:nvSpPr>
          <p:cNvPr id="162" name="kwh c0f18"/>
          <p:cNvSpPr txBox="1"/>
          <p:nvPr/>
        </p:nvSpPr>
        <p:spPr>
          <a:xfrm>
            <a:off x="2843784" y="363931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247</a:t>
            </a:r>
          </a:p>
        </p:txBody>
      </p:sp>
      <p:sp>
        <p:nvSpPr>
          <p:cNvPr id="163" name="yield c0f18"/>
          <p:cNvSpPr txBox="1"/>
          <p:nvPr/>
        </p:nvSpPr>
        <p:spPr>
          <a:xfrm>
            <a:off x="3136392" y="363931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1.067 → 1.401</a:t>
            </a:r>
          </a:p>
        </p:txBody>
      </p:sp>
      <p:sp>
        <p:nvSpPr>
          <p:cNvPr id="164" name="conjunto c0f18"/>
          <p:cNvSpPr txBox="1"/>
          <p:nvPr/>
        </p:nvSpPr>
        <p:spPr>
          <a:xfrm>
            <a:off x="3977640" y="363931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Gerona</a:t>
            </a:r>
          </a:p>
        </p:txBody>
      </p:sp>
      <p:sp>
        <p:nvSpPr>
          <p:cNvPr id="165" name="num c0f19"/>
          <p:cNvSpPr txBox="1"/>
          <p:nvPr/>
        </p:nvSpPr>
        <p:spPr>
          <a:xfrm>
            <a:off x="411480" y="376885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20</a:t>
            </a:r>
          </a:p>
        </p:txBody>
      </p:sp>
      <p:sp>
        <p:nvSpPr>
          <p:cNvPr id="166" name="nombre c0f19"/>
          <p:cNvSpPr txBox="1"/>
          <p:nvPr/>
        </p:nvSpPr>
        <p:spPr>
          <a:xfrm>
            <a:off x="630936" y="376885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29 †</a:t>
            </a:r>
          </a:p>
        </p:txBody>
      </p:sp>
      <p:sp>
        <p:nvSpPr>
          <p:cNvPr id="167" name="barra c0f19"/>
          <p:cNvSpPr/>
          <p:nvPr/>
        </p:nvSpPr>
        <p:spPr>
          <a:xfrm>
            <a:off x="1307592" y="3797351"/>
            <a:ext cx="329184"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68" name="pct c0f19"/>
          <p:cNvSpPr txBox="1"/>
          <p:nvPr/>
        </p:nvSpPr>
        <p:spPr>
          <a:xfrm>
            <a:off x="2441448" y="376885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23,4%</a:t>
            </a:r>
          </a:p>
        </p:txBody>
      </p:sp>
      <p:sp>
        <p:nvSpPr>
          <p:cNvPr id="169" name="kwh c0f19"/>
          <p:cNvSpPr txBox="1"/>
          <p:nvPr/>
        </p:nvSpPr>
        <p:spPr>
          <a:xfrm>
            <a:off x="2843784" y="376885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87</a:t>
            </a:r>
          </a:p>
        </p:txBody>
      </p:sp>
      <p:sp>
        <p:nvSpPr>
          <p:cNvPr id="170" name="yield c0f19"/>
          <p:cNvSpPr txBox="1"/>
          <p:nvPr/>
        </p:nvSpPr>
        <p:spPr>
          <a:xfrm>
            <a:off x="3136392" y="376885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843 → 1.101</a:t>
            </a:r>
          </a:p>
        </p:txBody>
      </p:sp>
      <p:sp>
        <p:nvSpPr>
          <p:cNvPr id="171" name="conjunto c0f19"/>
          <p:cNvSpPr txBox="1"/>
          <p:nvPr/>
        </p:nvSpPr>
        <p:spPr>
          <a:xfrm>
            <a:off x="3977640" y="376885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172" name="banda c0f20"/>
          <p:cNvSpPr/>
          <p:nvPr/>
        </p:nvSpPr>
        <p:spPr>
          <a:xfrm>
            <a:off x="411480" y="3898392"/>
            <a:ext cx="4114800" cy="129540"/>
          </a:xfrm>
          <a:prstGeom prst="rect">
            <a:avLst/>
          </a:prstGeom>
          <a:solidFill>
            <a:srgbClr val="FFFFFF"/>
          </a:solidFill>
          <a:ln>
            <a:noFill/>
          </a:ln>
        </p:spPr>
        <p:txBody>
          <a:bodyPr rtlCol="0" anchor="ctr"/>
          <a:lstStyle/>
          <a:p>
            <a:pPr algn="ctr"/>
            <a:endParaRPr lang="es-CO" noProof="0" dirty="0"/>
          </a:p>
        </p:txBody>
      </p:sp>
      <p:sp>
        <p:nvSpPr>
          <p:cNvPr id="173" name="num c0f20"/>
          <p:cNvSpPr txBox="1"/>
          <p:nvPr/>
        </p:nvSpPr>
        <p:spPr>
          <a:xfrm>
            <a:off x="411480" y="389839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21</a:t>
            </a:r>
          </a:p>
        </p:txBody>
      </p:sp>
      <p:sp>
        <p:nvSpPr>
          <p:cNvPr id="174" name="nombre c0f20"/>
          <p:cNvSpPr txBox="1"/>
          <p:nvPr/>
        </p:nvSpPr>
        <p:spPr>
          <a:xfrm>
            <a:off x="630936" y="389839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412p</a:t>
            </a:r>
          </a:p>
        </p:txBody>
      </p:sp>
      <p:sp>
        <p:nvSpPr>
          <p:cNvPr id="175" name="barra c0f20"/>
          <p:cNvSpPr/>
          <p:nvPr/>
        </p:nvSpPr>
        <p:spPr>
          <a:xfrm>
            <a:off x="1307592" y="3926891"/>
            <a:ext cx="313710"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76" name="pct c0f20"/>
          <p:cNvSpPr txBox="1"/>
          <p:nvPr/>
        </p:nvSpPr>
        <p:spPr>
          <a:xfrm>
            <a:off x="2441448" y="389839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22,3%</a:t>
            </a:r>
          </a:p>
        </p:txBody>
      </p:sp>
      <p:sp>
        <p:nvSpPr>
          <p:cNvPr id="177" name="kwh c0f20"/>
          <p:cNvSpPr txBox="1"/>
          <p:nvPr/>
        </p:nvSpPr>
        <p:spPr>
          <a:xfrm>
            <a:off x="2843784" y="389839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86</a:t>
            </a:r>
          </a:p>
        </p:txBody>
      </p:sp>
      <p:sp>
        <p:nvSpPr>
          <p:cNvPr id="178" name="yield c0f20"/>
          <p:cNvSpPr txBox="1"/>
          <p:nvPr/>
        </p:nvSpPr>
        <p:spPr>
          <a:xfrm>
            <a:off x="3136392" y="389839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919 → 1.182</a:t>
            </a:r>
          </a:p>
        </p:txBody>
      </p:sp>
      <p:sp>
        <p:nvSpPr>
          <p:cNvPr id="179" name="conjunto c0f20"/>
          <p:cNvSpPr txBox="1"/>
          <p:nvPr/>
        </p:nvSpPr>
        <p:spPr>
          <a:xfrm>
            <a:off x="3977640" y="389839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Prado V.</a:t>
            </a:r>
          </a:p>
        </p:txBody>
      </p:sp>
      <p:sp>
        <p:nvSpPr>
          <p:cNvPr id="180" name="num c0f21"/>
          <p:cNvSpPr txBox="1"/>
          <p:nvPr/>
        </p:nvSpPr>
        <p:spPr>
          <a:xfrm>
            <a:off x="411480" y="402793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22</a:t>
            </a:r>
          </a:p>
        </p:txBody>
      </p:sp>
      <p:sp>
        <p:nvSpPr>
          <p:cNvPr id="181" name="nombre c0f21"/>
          <p:cNvSpPr txBox="1"/>
          <p:nvPr/>
        </p:nvSpPr>
        <p:spPr>
          <a:xfrm>
            <a:off x="630936" y="402793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30</a:t>
            </a:r>
          </a:p>
        </p:txBody>
      </p:sp>
      <p:sp>
        <p:nvSpPr>
          <p:cNvPr id="182" name="barra c0f21"/>
          <p:cNvSpPr/>
          <p:nvPr/>
        </p:nvSpPr>
        <p:spPr>
          <a:xfrm>
            <a:off x="1307592" y="4056431"/>
            <a:ext cx="292608"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83" name="pct c0f21"/>
          <p:cNvSpPr txBox="1"/>
          <p:nvPr/>
        </p:nvSpPr>
        <p:spPr>
          <a:xfrm>
            <a:off x="2441448" y="402793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20,8%</a:t>
            </a:r>
          </a:p>
        </p:txBody>
      </p:sp>
      <p:sp>
        <p:nvSpPr>
          <p:cNvPr id="184" name="kwh c0f21"/>
          <p:cNvSpPr txBox="1"/>
          <p:nvPr/>
        </p:nvSpPr>
        <p:spPr>
          <a:xfrm>
            <a:off x="2843784" y="402793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62</a:t>
            </a:r>
          </a:p>
        </p:txBody>
      </p:sp>
      <p:sp>
        <p:nvSpPr>
          <p:cNvPr id="185" name="yield c0f21"/>
          <p:cNvSpPr txBox="1"/>
          <p:nvPr/>
        </p:nvSpPr>
        <p:spPr>
          <a:xfrm>
            <a:off x="3136392" y="402793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960 → 1.213</a:t>
            </a:r>
          </a:p>
        </p:txBody>
      </p:sp>
      <p:sp>
        <p:nvSpPr>
          <p:cNvPr id="186" name="conjunto c0f21"/>
          <p:cNvSpPr txBox="1"/>
          <p:nvPr/>
        </p:nvSpPr>
        <p:spPr>
          <a:xfrm>
            <a:off x="3977640" y="402793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187" name="banda c0f22"/>
          <p:cNvSpPr/>
          <p:nvPr/>
        </p:nvSpPr>
        <p:spPr>
          <a:xfrm>
            <a:off x="411480" y="4157472"/>
            <a:ext cx="4114800" cy="129540"/>
          </a:xfrm>
          <a:prstGeom prst="rect">
            <a:avLst/>
          </a:prstGeom>
          <a:solidFill>
            <a:srgbClr val="FFFFFF"/>
          </a:solidFill>
          <a:ln>
            <a:noFill/>
          </a:ln>
        </p:spPr>
        <p:txBody>
          <a:bodyPr rtlCol="0" anchor="ctr"/>
          <a:lstStyle/>
          <a:p>
            <a:pPr algn="ctr"/>
            <a:endParaRPr lang="es-CO" noProof="0" dirty="0"/>
          </a:p>
        </p:txBody>
      </p:sp>
      <p:sp>
        <p:nvSpPr>
          <p:cNvPr id="188" name="num c0f22"/>
          <p:cNvSpPr txBox="1"/>
          <p:nvPr/>
        </p:nvSpPr>
        <p:spPr>
          <a:xfrm>
            <a:off x="411480" y="415747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23</a:t>
            </a:r>
          </a:p>
        </p:txBody>
      </p:sp>
      <p:sp>
        <p:nvSpPr>
          <p:cNvPr id="189" name="nombre c0f22"/>
          <p:cNvSpPr txBox="1"/>
          <p:nvPr/>
        </p:nvSpPr>
        <p:spPr>
          <a:xfrm>
            <a:off x="630936" y="415747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76 †</a:t>
            </a:r>
          </a:p>
        </p:txBody>
      </p:sp>
      <p:sp>
        <p:nvSpPr>
          <p:cNvPr id="190" name="barra c0f22"/>
          <p:cNvSpPr/>
          <p:nvPr/>
        </p:nvSpPr>
        <p:spPr>
          <a:xfrm>
            <a:off x="1307592" y="4185971"/>
            <a:ext cx="288388"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91" name="pct c0f22"/>
          <p:cNvSpPr txBox="1"/>
          <p:nvPr/>
        </p:nvSpPr>
        <p:spPr>
          <a:xfrm>
            <a:off x="2441448" y="415747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20,5%</a:t>
            </a:r>
          </a:p>
        </p:txBody>
      </p:sp>
      <p:sp>
        <p:nvSpPr>
          <p:cNvPr id="192" name="kwh c0f22"/>
          <p:cNvSpPr txBox="1"/>
          <p:nvPr/>
        </p:nvSpPr>
        <p:spPr>
          <a:xfrm>
            <a:off x="2843784" y="415747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127</a:t>
            </a:r>
          </a:p>
        </p:txBody>
      </p:sp>
      <p:sp>
        <p:nvSpPr>
          <p:cNvPr id="193" name="yield c0f22"/>
          <p:cNvSpPr txBox="1"/>
          <p:nvPr/>
        </p:nvSpPr>
        <p:spPr>
          <a:xfrm>
            <a:off x="3136392" y="415747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962 → 1.211</a:t>
            </a:r>
          </a:p>
        </p:txBody>
      </p:sp>
      <p:sp>
        <p:nvSpPr>
          <p:cNvPr id="194" name="conjunto c0f22"/>
          <p:cNvSpPr txBox="1"/>
          <p:nvPr/>
        </p:nvSpPr>
        <p:spPr>
          <a:xfrm>
            <a:off x="3977640" y="415747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195" name="num c0f23"/>
          <p:cNvSpPr txBox="1"/>
          <p:nvPr/>
        </p:nvSpPr>
        <p:spPr>
          <a:xfrm>
            <a:off x="411480" y="428701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24</a:t>
            </a:r>
          </a:p>
        </p:txBody>
      </p:sp>
      <p:sp>
        <p:nvSpPr>
          <p:cNvPr id="196" name="nombre c0f23"/>
          <p:cNvSpPr txBox="1"/>
          <p:nvPr/>
        </p:nvSpPr>
        <p:spPr>
          <a:xfrm>
            <a:off x="630936" y="428701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86p</a:t>
            </a:r>
          </a:p>
        </p:txBody>
      </p:sp>
      <p:sp>
        <p:nvSpPr>
          <p:cNvPr id="197" name="barra c0f23"/>
          <p:cNvSpPr/>
          <p:nvPr/>
        </p:nvSpPr>
        <p:spPr>
          <a:xfrm>
            <a:off x="1307592" y="4315511"/>
            <a:ext cx="279947"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198" name="pct c0f23"/>
          <p:cNvSpPr txBox="1"/>
          <p:nvPr/>
        </p:nvSpPr>
        <p:spPr>
          <a:xfrm>
            <a:off x="2441448" y="428701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19,9%</a:t>
            </a:r>
          </a:p>
        </p:txBody>
      </p:sp>
      <p:sp>
        <p:nvSpPr>
          <p:cNvPr id="199" name="kwh c0f23"/>
          <p:cNvSpPr txBox="1"/>
          <p:nvPr/>
        </p:nvSpPr>
        <p:spPr>
          <a:xfrm>
            <a:off x="2843784" y="428701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51</a:t>
            </a:r>
          </a:p>
        </p:txBody>
      </p:sp>
      <p:sp>
        <p:nvSpPr>
          <p:cNvPr id="200" name="yield c0f23"/>
          <p:cNvSpPr txBox="1"/>
          <p:nvPr/>
        </p:nvSpPr>
        <p:spPr>
          <a:xfrm>
            <a:off x="3136392" y="428701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1.027 → 1.281</a:t>
            </a:r>
          </a:p>
        </p:txBody>
      </p:sp>
      <p:sp>
        <p:nvSpPr>
          <p:cNvPr id="201" name="conjunto c0f23"/>
          <p:cNvSpPr txBox="1"/>
          <p:nvPr/>
        </p:nvSpPr>
        <p:spPr>
          <a:xfrm>
            <a:off x="3977640" y="428701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Prado V.</a:t>
            </a:r>
          </a:p>
        </p:txBody>
      </p:sp>
      <p:sp>
        <p:nvSpPr>
          <p:cNvPr id="202" name="banda c1f0"/>
          <p:cNvSpPr/>
          <p:nvPr/>
        </p:nvSpPr>
        <p:spPr>
          <a:xfrm>
            <a:off x="4636008" y="1307592"/>
            <a:ext cx="4114800" cy="129540"/>
          </a:xfrm>
          <a:prstGeom prst="rect">
            <a:avLst/>
          </a:prstGeom>
          <a:solidFill>
            <a:srgbClr val="FFFFFF"/>
          </a:solidFill>
          <a:ln>
            <a:noFill/>
          </a:ln>
        </p:spPr>
        <p:txBody>
          <a:bodyPr rtlCol="0" anchor="ctr"/>
          <a:lstStyle/>
          <a:p>
            <a:pPr algn="ctr"/>
            <a:endParaRPr lang="es-CO" noProof="0" dirty="0"/>
          </a:p>
        </p:txBody>
      </p:sp>
      <p:sp>
        <p:nvSpPr>
          <p:cNvPr id="203" name="num c1f0"/>
          <p:cNvSpPr txBox="1"/>
          <p:nvPr/>
        </p:nvSpPr>
        <p:spPr>
          <a:xfrm>
            <a:off x="4636008" y="130759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25</a:t>
            </a:r>
          </a:p>
        </p:txBody>
      </p:sp>
      <p:sp>
        <p:nvSpPr>
          <p:cNvPr id="204" name="nombre c1f0"/>
          <p:cNvSpPr txBox="1"/>
          <p:nvPr/>
        </p:nvSpPr>
        <p:spPr>
          <a:xfrm>
            <a:off x="4855464" y="130759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155</a:t>
            </a:r>
          </a:p>
        </p:txBody>
      </p:sp>
      <p:sp>
        <p:nvSpPr>
          <p:cNvPr id="205" name="barra c1f0"/>
          <p:cNvSpPr/>
          <p:nvPr/>
        </p:nvSpPr>
        <p:spPr>
          <a:xfrm>
            <a:off x="5532120" y="1336091"/>
            <a:ext cx="277134"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06" name="pct c1f0"/>
          <p:cNvSpPr txBox="1"/>
          <p:nvPr/>
        </p:nvSpPr>
        <p:spPr>
          <a:xfrm>
            <a:off x="6665976" y="130759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19,7%</a:t>
            </a:r>
          </a:p>
        </p:txBody>
      </p:sp>
      <p:sp>
        <p:nvSpPr>
          <p:cNvPr id="207" name="kwh c1f0"/>
          <p:cNvSpPr txBox="1"/>
          <p:nvPr/>
        </p:nvSpPr>
        <p:spPr>
          <a:xfrm>
            <a:off x="7068312" y="130759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104</a:t>
            </a:r>
          </a:p>
        </p:txBody>
      </p:sp>
      <p:sp>
        <p:nvSpPr>
          <p:cNvPr id="208" name="yield c1f0"/>
          <p:cNvSpPr txBox="1"/>
          <p:nvPr/>
        </p:nvSpPr>
        <p:spPr>
          <a:xfrm>
            <a:off x="7360920" y="130759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980 → 1.220</a:t>
            </a:r>
          </a:p>
        </p:txBody>
      </p:sp>
      <p:sp>
        <p:nvSpPr>
          <p:cNvPr id="209" name="conjunto c1f0"/>
          <p:cNvSpPr txBox="1"/>
          <p:nvPr/>
        </p:nvSpPr>
        <p:spPr>
          <a:xfrm>
            <a:off x="8202168" y="130759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Terra Kaia</a:t>
            </a:r>
          </a:p>
        </p:txBody>
      </p:sp>
      <p:sp>
        <p:nvSpPr>
          <p:cNvPr id="210" name="num c1f1"/>
          <p:cNvSpPr txBox="1"/>
          <p:nvPr/>
        </p:nvSpPr>
        <p:spPr>
          <a:xfrm>
            <a:off x="4636008" y="143713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26</a:t>
            </a:r>
          </a:p>
        </p:txBody>
      </p:sp>
      <p:sp>
        <p:nvSpPr>
          <p:cNvPr id="211" name="nombre c1f1"/>
          <p:cNvSpPr txBox="1"/>
          <p:nvPr/>
        </p:nvSpPr>
        <p:spPr>
          <a:xfrm>
            <a:off x="4855464" y="143713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446p</a:t>
            </a:r>
          </a:p>
        </p:txBody>
      </p:sp>
      <p:sp>
        <p:nvSpPr>
          <p:cNvPr id="212" name="barra c1f1"/>
          <p:cNvSpPr/>
          <p:nvPr/>
        </p:nvSpPr>
        <p:spPr>
          <a:xfrm>
            <a:off x="5532120" y="1465631"/>
            <a:ext cx="258846"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13" name="pct c1f1"/>
          <p:cNvSpPr txBox="1"/>
          <p:nvPr/>
        </p:nvSpPr>
        <p:spPr>
          <a:xfrm>
            <a:off x="6665976" y="143713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18,4%</a:t>
            </a:r>
          </a:p>
        </p:txBody>
      </p:sp>
      <p:sp>
        <p:nvSpPr>
          <p:cNvPr id="214" name="kwh c1f1"/>
          <p:cNvSpPr txBox="1"/>
          <p:nvPr/>
        </p:nvSpPr>
        <p:spPr>
          <a:xfrm>
            <a:off x="7068312" y="143713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57</a:t>
            </a:r>
          </a:p>
        </p:txBody>
      </p:sp>
      <p:sp>
        <p:nvSpPr>
          <p:cNvPr id="215" name="yield c1f1"/>
          <p:cNvSpPr txBox="1"/>
          <p:nvPr/>
        </p:nvSpPr>
        <p:spPr>
          <a:xfrm>
            <a:off x="7360920" y="143713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974 → 1.194</a:t>
            </a:r>
          </a:p>
        </p:txBody>
      </p:sp>
      <p:sp>
        <p:nvSpPr>
          <p:cNvPr id="216" name="conjunto c1f1"/>
          <p:cNvSpPr txBox="1"/>
          <p:nvPr/>
        </p:nvSpPr>
        <p:spPr>
          <a:xfrm>
            <a:off x="8202168" y="143713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Prado V.</a:t>
            </a:r>
          </a:p>
        </p:txBody>
      </p:sp>
      <p:sp>
        <p:nvSpPr>
          <p:cNvPr id="217" name="banda c1f2"/>
          <p:cNvSpPr/>
          <p:nvPr/>
        </p:nvSpPr>
        <p:spPr>
          <a:xfrm>
            <a:off x="4636008" y="1566672"/>
            <a:ext cx="4114800" cy="129540"/>
          </a:xfrm>
          <a:prstGeom prst="rect">
            <a:avLst/>
          </a:prstGeom>
          <a:solidFill>
            <a:srgbClr val="FFFFFF"/>
          </a:solidFill>
          <a:ln>
            <a:noFill/>
          </a:ln>
        </p:spPr>
        <p:txBody>
          <a:bodyPr rtlCol="0" anchor="ctr"/>
          <a:lstStyle/>
          <a:p>
            <a:pPr algn="ctr"/>
            <a:endParaRPr lang="es-CO" noProof="0" dirty="0"/>
          </a:p>
        </p:txBody>
      </p:sp>
      <p:sp>
        <p:nvSpPr>
          <p:cNvPr id="218" name="num c1f2"/>
          <p:cNvSpPr txBox="1"/>
          <p:nvPr/>
        </p:nvSpPr>
        <p:spPr>
          <a:xfrm>
            <a:off x="4636008" y="156667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27</a:t>
            </a:r>
          </a:p>
        </p:txBody>
      </p:sp>
      <p:sp>
        <p:nvSpPr>
          <p:cNvPr id="219" name="nombre c1f2"/>
          <p:cNvSpPr txBox="1"/>
          <p:nvPr/>
        </p:nvSpPr>
        <p:spPr>
          <a:xfrm>
            <a:off x="4855464" y="156667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23</a:t>
            </a:r>
          </a:p>
        </p:txBody>
      </p:sp>
      <p:sp>
        <p:nvSpPr>
          <p:cNvPr id="220" name="barra c1f2"/>
          <p:cNvSpPr/>
          <p:nvPr/>
        </p:nvSpPr>
        <p:spPr>
          <a:xfrm>
            <a:off x="5532120" y="1595171"/>
            <a:ext cx="251812"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21" name="pct c1f2"/>
          <p:cNvSpPr txBox="1"/>
          <p:nvPr/>
        </p:nvSpPr>
        <p:spPr>
          <a:xfrm>
            <a:off x="6665976" y="156667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17,9%</a:t>
            </a:r>
          </a:p>
        </p:txBody>
      </p:sp>
      <p:sp>
        <p:nvSpPr>
          <p:cNvPr id="222" name="kwh c1f2"/>
          <p:cNvSpPr txBox="1"/>
          <p:nvPr/>
        </p:nvSpPr>
        <p:spPr>
          <a:xfrm>
            <a:off x="7068312" y="156667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86</a:t>
            </a:r>
          </a:p>
        </p:txBody>
      </p:sp>
      <p:sp>
        <p:nvSpPr>
          <p:cNvPr id="223" name="yield c1f2"/>
          <p:cNvSpPr txBox="1"/>
          <p:nvPr/>
        </p:nvSpPr>
        <p:spPr>
          <a:xfrm>
            <a:off x="7360920" y="156667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986 → 1.201</a:t>
            </a:r>
          </a:p>
        </p:txBody>
      </p:sp>
      <p:sp>
        <p:nvSpPr>
          <p:cNvPr id="224" name="conjunto c1f2"/>
          <p:cNvSpPr txBox="1"/>
          <p:nvPr/>
        </p:nvSpPr>
        <p:spPr>
          <a:xfrm>
            <a:off x="8202168" y="156667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225" name="num c1f3"/>
          <p:cNvSpPr txBox="1"/>
          <p:nvPr/>
        </p:nvSpPr>
        <p:spPr>
          <a:xfrm>
            <a:off x="4636008" y="169621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28</a:t>
            </a:r>
          </a:p>
        </p:txBody>
      </p:sp>
      <p:sp>
        <p:nvSpPr>
          <p:cNvPr id="226" name="nombre c1f3"/>
          <p:cNvSpPr txBox="1"/>
          <p:nvPr/>
        </p:nvSpPr>
        <p:spPr>
          <a:xfrm>
            <a:off x="4855464" y="169621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2</a:t>
            </a:r>
          </a:p>
        </p:txBody>
      </p:sp>
      <p:sp>
        <p:nvSpPr>
          <p:cNvPr id="227" name="barra c1f3"/>
          <p:cNvSpPr/>
          <p:nvPr/>
        </p:nvSpPr>
        <p:spPr>
          <a:xfrm>
            <a:off x="5532120" y="1724711"/>
            <a:ext cx="251812"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28" name="pct c1f3"/>
          <p:cNvSpPr txBox="1"/>
          <p:nvPr/>
        </p:nvSpPr>
        <p:spPr>
          <a:xfrm>
            <a:off x="6665976" y="169621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17,9%</a:t>
            </a:r>
          </a:p>
        </p:txBody>
      </p:sp>
      <p:sp>
        <p:nvSpPr>
          <p:cNvPr id="229" name="kwh c1f3"/>
          <p:cNvSpPr txBox="1"/>
          <p:nvPr/>
        </p:nvSpPr>
        <p:spPr>
          <a:xfrm>
            <a:off x="7068312" y="169621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97</a:t>
            </a:r>
          </a:p>
        </p:txBody>
      </p:sp>
      <p:sp>
        <p:nvSpPr>
          <p:cNvPr id="230" name="yield c1f3"/>
          <p:cNvSpPr txBox="1"/>
          <p:nvPr/>
        </p:nvSpPr>
        <p:spPr>
          <a:xfrm>
            <a:off x="7360920" y="169621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1.043 → 1.270</a:t>
            </a:r>
          </a:p>
        </p:txBody>
      </p:sp>
      <p:sp>
        <p:nvSpPr>
          <p:cNvPr id="231" name="conjunto c1f3"/>
          <p:cNvSpPr txBox="1"/>
          <p:nvPr/>
        </p:nvSpPr>
        <p:spPr>
          <a:xfrm>
            <a:off x="8202168" y="169621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232" name="banda c1f4"/>
          <p:cNvSpPr/>
          <p:nvPr/>
        </p:nvSpPr>
        <p:spPr>
          <a:xfrm>
            <a:off x="4636008" y="1825752"/>
            <a:ext cx="4114800" cy="129540"/>
          </a:xfrm>
          <a:prstGeom prst="rect">
            <a:avLst/>
          </a:prstGeom>
          <a:solidFill>
            <a:srgbClr val="FFFFFF"/>
          </a:solidFill>
          <a:ln>
            <a:noFill/>
          </a:ln>
        </p:spPr>
        <p:txBody>
          <a:bodyPr rtlCol="0" anchor="ctr"/>
          <a:lstStyle/>
          <a:p>
            <a:pPr algn="ctr"/>
            <a:endParaRPr lang="es-CO" noProof="0" dirty="0"/>
          </a:p>
        </p:txBody>
      </p:sp>
      <p:sp>
        <p:nvSpPr>
          <p:cNvPr id="233" name="num c1f4"/>
          <p:cNvSpPr txBox="1"/>
          <p:nvPr/>
        </p:nvSpPr>
        <p:spPr>
          <a:xfrm>
            <a:off x="4636008" y="182575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29</a:t>
            </a:r>
          </a:p>
        </p:txBody>
      </p:sp>
      <p:sp>
        <p:nvSpPr>
          <p:cNvPr id="234" name="nombre c1f4"/>
          <p:cNvSpPr txBox="1"/>
          <p:nvPr/>
        </p:nvSpPr>
        <p:spPr>
          <a:xfrm>
            <a:off x="4855464" y="182575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48PC</a:t>
            </a:r>
          </a:p>
        </p:txBody>
      </p:sp>
      <p:sp>
        <p:nvSpPr>
          <p:cNvPr id="235" name="barra c1f4"/>
          <p:cNvSpPr/>
          <p:nvPr/>
        </p:nvSpPr>
        <p:spPr>
          <a:xfrm>
            <a:off x="5532120" y="1854251"/>
            <a:ext cx="215236"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36" name="pct c1f4"/>
          <p:cNvSpPr txBox="1"/>
          <p:nvPr/>
        </p:nvSpPr>
        <p:spPr>
          <a:xfrm>
            <a:off x="6665976" y="182575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15,3%</a:t>
            </a:r>
          </a:p>
        </p:txBody>
      </p:sp>
      <p:sp>
        <p:nvSpPr>
          <p:cNvPr id="237" name="kwh c1f4"/>
          <p:cNvSpPr txBox="1"/>
          <p:nvPr/>
        </p:nvSpPr>
        <p:spPr>
          <a:xfrm>
            <a:off x="7068312" y="182575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125</a:t>
            </a:r>
          </a:p>
        </p:txBody>
      </p:sp>
      <p:sp>
        <p:nvSpPr>
          <p:cNvPr id="238" name="yield c1f4"/>
          <p:cNvSpPr txBox="1"/>
          <p:nvPr/>
        </p:nvSpPr>
        <p:spPr>
          <a:xfrm>
            <a:off x="7360920" y="182575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1.083 → 1.279</a:t>
            </a:r>
          </a:p>
        </p:txBody>
      </p:sp>
      <p:sp>
        <p:nvSpPr>
          <p:cNvPr id="239" name="conjunto c1f4"/>
          <p:cNvSpPr txBox="1"/>
          <p:nvPr/>
        </p:nvSpPr>
        <p:spPr>
          <a:xfrm>
            <a:off x="8202168" y="182575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Pance C.</a:t>
            </a:r>
          </a:p>
        </p:txBody>
      </p:sp>
      <p:sp>
        <p:nvSpPr>
          <p:cNvPr id="240" name="num c1f5"/>
          <p:cNvSpPr txBox="1"/>
          <p:nvPr/>
        </p:nvSpPr>
        <p:spPr>
          <a:xfrm>
            <a:off x="4636008" y="195529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30</a:t>
            </a:r>
          </a:p>
        </p:txBody>
      </p:sp>
      <p:sp>
        <p:nvSpPr>
          <p:cNvPr id="241" name="nombre c1f5"/>
          <p:cNvSpPr txBox="1"/>
          <p:nvPr/>
        </p:nvSpPr>
        <p:spPr>
          <a:xfrm>
            <a:off x="4855464" y="195529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382p *</a:t>
            </a:r>
          </a:p>
        </p:txBody>
      </p:sp>
      <p:sp>
        <p:nvSpPr>
          <p:cNvPr id="242" name="barra c1f5"/>
          <p:cNvSpPr/>
          <p:nvPr/>
        </p:nvSpPr>
        <p:spPr>
          <a:xfrm>
            <a:off x="5532120" y="1983791"/>
            <a:ext cx="206795"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43" name="pct c1f5"/>
          <p:cNvSpPr txBox="1"/>
          <p:nvPr/>
        </p:nvSpPr>
        <p:spPr>
          <a:xfrm>
            <a:off x="6665976" y="195529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14,7%</a:t>
            </a:r>
          </a:p>
        </p:txBody>
      </p:sp>
      <p:sp>
        <p:nvSpPr>
          <p:cNvPr id="244" name="kwh c1f5"/>
          <p:cNvSpPr txBox="1"/>
          <p:nvPr/>
        </p:nvSpPr>
        <p:spPr>
          <a:xfrm>
            <a:off x="7068312" y="195529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24</a:t>
            </a:r>
          </a:p>
        </p:txBody>
      </p:sp>
      <p:sp>
        <p:nvSpPr>
          <p:cNvPr id="245" name="yield c1f5"/>
          <p:cNvSpPr txBox="1"/>
          <p:nvPr/>
        </p:nvSpPr>
        <p:spPr>
          <a:xfrm>
            <a:off x="7360920" y="195529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1.177 → 1.379</a:t>
            </a:r>
          </a:p>
        </p:txBody>
      </p:sp>
      <p:sp>
        <p:nvSpPr>
          <p:cNvPr id="246" name="conjunto c1f5"/>
          <p:cNvSpPr txBox="1"/>
          <p:nvPr/>
        </p:nvSpPr>
        <p:spPr>
          <a:xfrm>
            <a:off x="8202168" y="195529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Prado V.</a:t>
            </a:r>
          </a:p>
        </p:txBody>
      </p:sp>
      <p:sp>
        <p:nvSpPr>
          <p:cNvPr id="247" name="banda c1f6"/>
          <p:cNvSpPr/>
          <p:nvPr/>
        </p:nvSpPr>
        <p:spPr>
          <a:xfrm>
            <a:off x="4636008" y="2084832"/>
            <a:ext cx="4114800" cy="129540"/>
          </a:xfrm>
          <a:prstGeom prst="rect">
            <a:avLst/>
          </a:prstGeom>
          <a:solidFill>
            <a:srgbClr val="FFFFFF"/>
          </a:solidFill>
          <a:ln>
            <a:noFill/>
          </a:ln>
        </p:spPr>
        <p:txBody>
          <a:bodyPr rtlCol="0" anchor="ctr"/>
          <a:lstStyle/>
          <a:p>
            <a:pPr algn="ctr"/>
            <a:endParaRPr lang="es-CO" noProof="0" dirty="0"/>
          </a:p>
        </p:txBody>
      </p:sp>
      <p:sp>
        <p:nvSpPr>
          <p:cNvPr id="248" name="num c1f6"/>
          <p:cNvSpPr txBox="1"/>
          <p:nvPr/>
        </p:nvSpPr>
        <p:spPr>
          <a:xfrm>
            <a:off x="4636008" y="208483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31</a:t>
            </a:r>
          </a:p>
        </p:txBody>
      </p:sp>
      <p:sp>
        <p:nvSpPr>
          <p:cNvPr id="249" name="nombre c1f6"/>
          <p:cNvSpPr txBox="1"/>
          <p:nvPr/>
        </p:nvSpPr>
        <p:spPr>
          <a:xfrm>
            <a:off x="4855464" y="208483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77</a:t>
            </a:r>
          </a:p>
        </p:txBody>
      </p:sp>
      <p:sp>
        <p:nvSpPr>
          <p:cNvPr id="250" name="barra c1f6"/>
          <p:cNvSpPr/>
          <p:nvPr/>
        </p:nvSpPr>
        <p:spPr>
          <a:xfrm>
            <a:off x="5532120" y="2113331"/>
            <a:ext cx="201168"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51" name="pct c1f6"/>
          <p:cNvSpPr txBox="1"/>
          <p:nvPr/>
        </p:nvSpPr>
        <p:spPr>
          <a:xfrm>
            <a:off x="6665976" y="208483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14,3%</a:t>
            </a:r>
          </a:p>
        </p:txBody>
      </p:sp>
      <p:sp>
        <p:nvSpPr>
          <p:cNvPr id="252" name="kwh c1f6"/>
          <p:cNvSpPr txBox="1"/>
          <p:nvPr/>
        </p:nvSpPr>
        <p:spPr>
          <a:xfrm>
            <a:off x="7068312" y="208483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46</a:t>
            </a:r>
          </a:p>
        </p:txBody>
      </p:sp>
      <p:sp>
        <p:nvSpPr>
          <p:cNvPr id="253" name="yield c1f6"/>
          <p:cNvSpPr txBox="1"/>
          <p:nvPr/>
        </p:nvSpPr>
        <p:spPr>
          <a:xfrm>
            <a:off x="7360920" y="208483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1.077 → 1.256</a:t>
            </a:r>
          </a:p>
        </p:txBody>
      </p:sp>
      <p:sp>
        <p:nvSpPr>
          <p:cNvPr id="254" name="conjunto c1f6"/>
          <p:cNvSpPr txBox="1"/>
          <p:nvPr/>
        </p:nvSpPr>
        <p:spPr>
          <a:xfrm>
            <a:off x="8202168" y="208483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255" name="num c1f7"/>
          <p:cNvSpPr txBox="1"/>
          <p:nvPr/>
        </p:nvSpPr>
        <p:spPr>
          <a:xfrm>
            <a:off x="4636008" y="221437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32</a:t>
            </a:r>
          </a:p>
        </p:txBody>
      </p:sp>
      <p:sp>
        <p:nvSpPr>
          <p:cNvPr id="256" name="nombre c1f7"/>
          <p:cNvSpPr txBox="1"/>
          <p:nvPr/>
        </p:nvSpPr>
        <p:spPr>
          <a:xfrm>
            <a:off x="4855464" y="221437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10p</a:t>
            </a:r>
          </a:p>
        </p:txBody>
      </p:sp>
      <p:sp>
        <p:nvSpPr>
          <p:cNvPr id="257" name="barra c1f7"/>
          <p:cNvSpPr/>
          <p:nvPr/>
        </p:nvSpPr>
        <p:spPr>
          <a:xfrm>
            <a:off x="5532120" y="2242871"/>
            <a:ext cx="196948"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58" name="pct c1f7"/>
          <p:cNvSpPr txBox="1"/>
          <p:nvPr/>
        </p:nvSpPr>
        <p:spPr>
          <a:xfrm>
            <a:off x="6665976" y="221437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14,0%</a:t>
            </a:r>
          </a:p>
        </p:txBody>
      </p:sp>
      <p:sp>
        <p:nvSpPr>
          <p:cNvPr id="259" name="kwh c1f7"/>
          <p:cNvSpPr txBox="1"/>
          <p:nvPr/>
        </p:nvSpPr>
        <p:spPr>
          <a:xfrm>
            <a:off x="7068312" y="221437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37</a:t>
            </a:r>
          </a:p>
        </p:txBody>
      </p:sp>
      <p:sp>
        <p:nvSpPr>
          <p:cNvPr id="260" name="yield c1f7"/>
          <p:cNvSpPr txBox="1"/>
          <p:nvPr/>
        </p:nvSpPr>
        <p:spPr>
          <a:xfrm>
            <a:off x="7360920" y="221437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1.000 → 1.164</a:t>
            </a:r>
          </a:p>
        </p:txBody>
      </p:sp>
      <p:sp>
        <p:nvSpPr>
          <p:cNvPr id="261" name="conjunto c1f7"/>
          <p:cNvSpPr txBox="1"/>
          <p:nvPr/>
        </p:nvSpPr>
        <p:spPr>
          <a:xfrm>
            <a:off x="8202168" y="221437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Prado V.</a:t>
            </a:r>
          </a:p>
        </p:txBody>
      </p:sp>
      <p:sp>
        <p:nvSpPr>
          <p:cNvPr id="262" name="banda c1f8"/>
          <p:cNvSpPr/>
          <p:nvPr/>
        </p:nvSpPr>
        <p:spPr>
          <a:xfrm>
            <a:off x="4636008" y="2343912"/>
            <a:ext cx="4114800" cy="129540"/>
          </a:xfrm>
          <a:prstGeom prst="rect">
            <a:avLst/>
          </a:prstGeom>
          <a:solidFill>
            <a:srgbClr val="FFFFFF"/>
          </a:solidFill>
          <a:ln>
            <a:noFill/>
          </a:ln>
        </p:spPr>
        <p:txBody>
          <a:bodyPr rtlCol="0" anchor="ctr"/>
          <a:lstStyle/>
          <a:p>
            <a:pPr algn="ctr"/>
            <a:endParaRPr lang="es-CO" noProof="0" dirty="0"/>
          </a:p>
        </p:txBody>
      </p:sp>
      <p:sp>
        <p:nvSpPr>
          <p:cNvPr id="263" name="num c1f8"/>
          <p:cNvSpPr txBox="1"/>
          <p:nvPr/>
        </p:nvSpPr>
        <p:spPr>
          <a:xfrm>
            <a:off x="4636008" y="234391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33</a:t>
            </a:r>
          </a:p>
        </p:txBody>
      </p:sp>
      <p:sp>
        <p:nvSpPr>
          <p:cNvPr id="264" name="nombre c1f8"/>
          <p:cNvSpPr txBox="1"/>
          <p:nvPr/>
        </p:nvSpPr>
        <p:spPr>
          <a:xfrm>
            <a:off x="4855464" y="234391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42</a:t>
            </a:r>
          </a:p>
        </p:txBody>
      </p:sp>
      <p:sp>
        <p:nvSpPr>
          <p:cNvPr id="265" name="barra c1f8"/>
          <p:cNvSpPr/>
          <p:nvPr/>
        </p:nvSpPr>
        <p:spPr>
          <a:xfrm>
            <a:off x="5532120" y="2372411"/>
            <a:ext cx="191321"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66" name="pct c1f8"/>
          <p:cNvSpPr txBox="1"/>
          <p:nvPr/>
        </p:nvSpPr>
        <p:spPr>
          <a:xfrm>
            <a:off x="6665976" y="234391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13,6%</a:t>
            </a:r>
          </a:p>
        </p:txBody>
      </p:sp>
      <p:sp>
        <p:nvSpPr>
          <p:cNvPr id="267" name="kwh c1f8"/>
          <p:cNvSpPr txBox="1"/>
          <p:nvPr/>
        </p:nvSpPr>
        <p:spPr>
          <a:xfrm>
            <a:off x="7068312" y="234391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40</a:t>
            </a:r>
          </a:p>
        </p:txBody>
      </p:sp>
      <p:sp>
        <p:nvSpPr>
          <p:cNvPr id="268" name="yield c1f8"/>
          <p:cNvSpPr txBox="1"/>
          <p:nvPr/>
        </p:nvSpPr>
        <p:spPr>
          <a:xfrm>
            <a:off x="7360920" y="234391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957 → 1.108</a:t>
            </a:r>
          </a:p>
        </p:txBody>
      </p:sp>
      <p:sp>
        <p:nvSpPr>
          <p:cNvPr id="269" name="conjunto c1f8"/>
          <p:cNvSpPr txBox="1"/>
          <p:nvPr/>
        </p:nvSpPr>
        <p:spPr>
          <a:xfrm>
            <a:off x="8202168" y="234391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270" name="num c1f9"/>
          <p:cNvSpPr txBox="1"/>
          <p:nvPr/>
        </p:nvSpPr>
        <p:spPr>
          <a:xfrm>
            <a:off x="4636008" y="247345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34</a:t>
            </a:r>
          </a:p>
        </p:txBody>
      </p:sp>
      <p:sp>
        <p:nvSpPr>
          <p:cNvPr id="271" name="nombre c1f9"/>
          <p:cNvSpPr txBox="1"/>
          <p:nvPr/>
        </p:nvSpPr>
        <p:spPr>
          <a:xfrm>
            <a:off x="4855464" y="247345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63</a:t>
            </a:r>
          </a:p>
        </p:txBody>
      </p:sp>
      <p:sp>
        <p:nvSpPr>
          <p:cNvPr id="272" name="barra c1f9"/>
          <p:cNvSpPr/>
          <p:nvPr/>
        </p:nvSpPr>
        <p:spPr>
          <a:xfrm>
            <a:off x="5532120" y="2501951"/>
            <a:ext cx="184287"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73" name="pct c1f9"/>
          <p:cNvSpPr txBox="1"/>
          <p:nvPr/>
        </p:nvSpPr>
        <p:spPr>
          <a:xfrm>
            <a:off x="6665976" y="247345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13,1%</a:t>
            </a:r>
          </a:p>
        </p:txBody>
      </p:sp>
      <p:sp>
        <p:nvSpPr>
          <p:cNvPr id="274" name="kwh c1f9"/>
          <p:cNvSpPr txBox="1"/>
          <p:nvPr/>
        </p:nvSpPr>
        <p:spPr>
          <a:xfrm>
            <a:off x="7068312" y="247345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36</a:t>
            </a:r>
          </a:p>
        </p:txBody>
      </p:sp>
      <p:sp>
        <p:nvSpPr>
          <p:cNvPr id="275" name="yield c1f9"/>
          <p:cNvSpPr txBox="1"/>
          <p:nvPr/>
        </p:nvSpPr>
        <p:spPr>
          <a:xfrm>
            <a:off x="7360920" y="247345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798 → 918</a:t>
            </a:r>
          </a:p>
        </p:txBody>
      </p:sp>
      <p:sp>
        <p:nvSpPr>
          <p:cNvPr id="276" name="conjunto c1f9"/>
          <p:cNvSpPr txBox="1"/>
          <p:nvPr/>
        </p:nvSpPr>
        <p:spPr>
          <a:xfrm>
            <a:off x="8202168" y="247345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277" name="banda c1f10"/>
          <p:cNvSpPr/>
          <p:nvPr/>
        </p:nvSpPr>
        <p:spPr>
          <a:xfrm>
            <a:off x="4636008" y="2602992"/>
            <a:ext cx="4114800" cy="129540"/>
          </a:xfrm>
          <a:prstGeom prst="rect">
            <a:avLst/>
          </a:prstGeom>
          <a:solidFill>
            <a:srgbClr val="FFFFFF"/>
          </a:solidFill>
          <a:ln>
            <a:noFill/>
          </a:ln>
        </p:spPr>
        <p:txBody>
          <a:bodyPr rtlCol="0" anchor="ctr"/>
          <a:lstStyle/>
          <a:p>
            <a:pPr algn="ctr"/>
            <a:endParaRPr lang="es-CO" noProof="0" dirty="0"/>
          </a:p>
        </p:txBody>
      </p:sp>
      <p:sp>
        <p:nvSpPr>
          <p:cNvPr id="278" name="num c1f10"/>
          <p:cNvSpPr txBox="1"/>
          <p:nvPr/>
        </p:nvSpPr>
        <p:spPr>
          <a:xfrm>
            <a:off x="4636008" y="260299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35</a:t>
            </a:r>
          </a:p>
        </p:txBody>
      </p:sp>
      <p:sp>
        <p:nvSpPr>
          <p:cNvPr id="279" name="nombre c1f10"/>
          <p:cNvSpPr txBox="1"/>
          <p:nvPr/>
        </p:nvSpPr>
        <p:spPr>
          <a:xfrm>
            <a:off x="4855464" y="260299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435p</a:t>
            </a:r>
          </a:p>
        </p:txBody>
      </p:sp>
      <p:sp>
        <p:nvSpPr>
          <p:cNvPr id="280" name="barra c1f10"/>
          <p:cNvSpPr/>
          <p:nvPr/>
        </p:nvSpPr>
        <p:spPr>
          <a:xfrm>
            <a:off x="5532120" y="2631491"/>
            <a:ext cx="178660"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81" name="pct c1f10"/>
          <p:cNvSpPr txBox="1"/>
          <p:nvPr/>
        </p:nvSpPr>
        <p:spPr>
          <a:xfrm>
            <a:off x="6665976" y="260299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12,7%</a:t>
            </a:r>
          </a:p>
        </p:txBody>
      </p:sp>
      <p:sp>
        <p:nvSpPr>
          <p:cNvPr id="282" name="kwh c1f10"/>
          <p:cNvSpPr txBox="1"/>
          <p:nvPr/>
        </p:nvSpPr>
        <p:spPr>
          <a:xfrm>
            <a:off x="7068312" y="260299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30</a:t>
            </a:r>
          </a:p>
        </p:txBody>
      </p:sp>
      <p:sp>
        <p:nvSpPr>
          <p:cNvPr id="283" name="yield c1f10"/>
          <p:cNvSpPr txBox="1"/>
          <p:nvPr/>
        </p:nvSpPr>
        <p:spPr>
          <a:xfrm>
            <a:off x="7360920" y="260299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961 → 1.100</a:t>
            </a:r>
          </a:p>
        </p:txBody>
      </p:sp>
      <p:sp>
        <p:nvSpPr>
          <p:cNvPr id="284" name="conjunto c1f10"/>
          <p:cNvSpPr txBox="1"/>
          <p:nvPr/>
        </p:nvSpPr>
        <p:spPr>
          <a:xfrm>
            <a:off x="8202168" y="260299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Prado V.</a:t>
            </a:r>
          </a:p>
        </p:txBody>
      </p:sp>
      <p:sp>
        <p:nvSpPr>
          <p:cNvPr id="285" name="num c1f11"/>
          <p:cNvSpPr txBox="1"/>
          <p:nvPr/>
        </p:nvSpPr>
        <p:spPr>
          <a:xfrm>
            <a:off x="4636008" y="273253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36</a:t>
            </a:r>
          </a:p>
        </p:txBody>
      </p:sp>
      <p:sp>
        <p:nvSpPr>
          <p:cNvPr id="286" name="nombre c1f11"/>
          <p:cNvSpPr txBox="1"/>
          <p:nvPr/>
        </p:nvSpPr>
        <p:spPr>
          <a:xfrm>
            <a:off x="4855464" y="273253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121 CR</a:t>
            </a:r>
          </a:p>
        </p:txBody>
      </p:sp>
      <p:sp>
        <p:nvSpPr>
          <p:cNvPr id="287" name="barra c1f11"/>
          <p:cNvSpPr/>
          <p:nvPr/>
        </p:nvSpPr>
        <p:spPr>
          <a:xfrm>
            <a:off x="5532120" y="2761031"/>
            <a:ext cx="173033"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88" name="pct c1f11"/>
          <p:cNvSpPr txBox="1"/>
          <p:nvPr/>
        </p:nvSpPr>
        <p:spPr>
          <a:xfrm>
            <a:off x="6665976" y="273253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12,3%</a:t>
            </a:r>
          </a:p>
        </p:txBody>
      </p:sp>
      <p:sp>
        <p:nvSpPr>
          <p:cNvPr id="289" name="kwh c1f11"/>
          <p:cNvSpPr txBox="1"/>
          <p:nvPr/>
        </p:nvSpPr>
        <p:spPr>
          <a:xfrm>
            <a:off x="7068312" y="273253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96</a:t>
            </a:r>
          </a:p>
        </p:txBody>
      </p:sp>
      <p:sp>
        <p:nvSpPr>
          <p:cNvPr id="290" name="yield c1f11"/>
          <p:cNvSpPr txBox="1"/>
          <p:nvPr/>
        </p:nvSpPr>
        <p:spPr>
          <a:xfrm>
            <a:off x="7360920" y="273253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976 → 1.113</a:t>
            </a:r>
          </a:p>
        </p:txBody>
      </p:sp>
      <p:sp>
        <p:nvSpPr>
          <p:cNvPr id="291" name="conjunto c1f11"/>
          <p:cNvSpPr txBox="1"/>
          <p:nvPr/>
        </p:nvSpPr>
        <p:spPr>
          <a:xfrm>
            <a:off x="8202168" y="273253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Castellana</a:t>
            </a:r>
          </a:p>
        </p:txBody>
      </p:sp>
      <p:sp>
        <p:nvSpPr>
          <p:cNvPr id="292" name="banda c1f12"/>
          <p:cNvSpPr/>
          <p:nvPr/>
        </p:nvSpPr>
        <p:spPr>
          <a:xfrm>
            <a:off x="4636008" y="2862072"/>
            <a:ext cx="4114800" cy="129540"/>
          </a:xfrm>
          <a:prstGeom prst="rect">
            <a:avLst/>
          </a:prstGeom>
          <a:solidFill>
            <a:srgbClr val="FFFFFF"/>
          </a:solidFill>
          <a:ln>
            <a:noFill/>
          </a:ln>
        </p:spPr>
        <p:txBody>
          <a:bodyPr rtlCol="0" anchor="ctr"/>
          <a:lstStyle/>
          <a:p>
            <a:pPr algn="ctr"/>
            <a:endParaRPr lang="es-CO" noProof="0" dirty="0"/>
          </a:p>
        </p:txBody>
      </p:sp>
      <p:sp>
        <p:nvSpPr>
          <p:cNvPr id="293" name="num c1f12"/>
          <p:cNvSpPr txBox="1"/>
          <p:nvPr/>
        </p:nvSpPr>
        <p:spPr>
          <a:xfrm>
            <a:off x="4636008" y="286207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37</a:t>
            </a:r>
          </a:p>
        </p:txBody>
      </p:sp>
      <p:sp>
        <p:nvSpPr>
          <p:cNvPr id="294" name="nombre c1f12"/>
          <p:cNvSpPr txBox="1"/>
          <p:nvPr/>
        </p:nvSpPr>
        <p:spPr>
          <a:xfrm>
            <a:off x="4855464" y="286207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425p</a:t>
            </a:r>
          </a:p>
        </p:txBody>
      </p:sp>
      <p:sp>
        <p:nvSpPr>
          <p:cNvPr id="295" name="barra c1f12"/>
          <p:cNvSpPr/>
          <p:nvPr/>
        </p:nvSpPr>
        <p:spPr>
          <a:xfrm>
            <a:off x="5532120" y="2890571"/>
            <a:ext cx="154745"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96" name="pct c1f12"/>
          <p:cNvSpPr txBox="1"/>
          <p:nvPr/>
        </p:nvSpPr>
        <p:spPr>
          <a:xfrm>
            <a:off x="6665976" y="286207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11,0%</a:t>
            </a:r>
          </a:p>
        </p:txBody>
      </p:sp>
      <p:sp>
        <p:nvSpPr>
          <p:cNvPr id="297" name="kwh c1f12"/>
          <p:cNvSpPr txBox="1"/>
          <p:nvPr/>
        </p:nvSpPr>
        <p:spPr>
          <a:xfrm>
            <a:off x="7068312" y="286207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49</a:t>
            </a:r>
          </a:p>
        </p:txBody>
      </p:sp>
      <p:sp>
        <p:nvSpPr>
          <p:cNvPr id="298" name="yield c1f12"/>
          <p:cNvSpPr txBox="1"/>
          <p:nvPr/>
        </p:nvSpPr>
        <p:spPr>
          <a:xfrm>
            <a:off x="7360920" y="286207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1.258 → 1.414</a:t>
            </a:r>
          </a:p>
        </p:txBody>
      </p:sp>
      <p:sp>
        <p:nvSpPr>
          <p:cNvPr id="299" name="conjunto c1f12"/>
          <p:cNvSpPr txBox="1"/>
          <p:nvPr/>
        </p:nvSpPr>
        <p:spPr>
          <a:xfrm>
            <a:off x="8202168" y="286207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Prado V.</a:t>
            </a:r>
          </a:p>
        </p:txBody>
      </p:sp>
      <p:sp>
        <p:nvSpPr>
          <p:cNvPr id="300" name="num c1f13"/>
          <p:cNvSpPr txBox="1"/>
          <p:nvPr/>
        </p:nvSpPr>
        <p:spPr>
          <a:xfrm>
            <a:off x="4636008" y="299161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38</a:t>
            </a:r>
          </a:p>
        </p:txBody>
      </p:sp>
      <p:sp>
        <p:nvSpPr>
          <p:cNvPr id="301" name="nombre c1f13"/>
          <p:cNvSpPr txBox="1"/>
          <p:nvPr/>
        </p:nvSpPr>
        <p:spPr>
          <a:xfrm>
            <a:off x="4855464" y="299161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56</a:t>
            </a:r>
          </a:p>
        </p:txBody>
      </p:sp>
      <p:sp>
        <p:nvSpPr>
          <p:cNvPr id="302" name="barra c1f13"/>
          <p:cNvSpPr/>
          <p:nvPr/>
        </p:nvSpPr>
        <p:spPr>
          <a:xfrm>
            <a:off x="5532120" y="3020111"/>
            <a:ext cx="151931"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303" name="pct c1f13"/>
          <p:cNvSpPr txBox="1"/>
          <p:nvPr/>
        </p:nvSpPr>
        <p:spPr>
          <a:xfrm>
            <a:off x="6665976" y="299161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10,8%</a:t>
            </a:r>
          </a:p>
        </p:txBody>
      </p:sp>
      <p:sp>
        <p:nvSpPr>
          <p:cNvPr id="304" name="kwh c1f13"/>
          <p:cNvSpPr txBox="1"/>
          <p:nvPr/>
        </p:nvSpPr>
        <p:spPr>
          <a:xfrm>
            <a:off x="7068312" y="299161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33</a:t>
            </a:r>
          </a:p>
        </p:txBody>
      </p:sp>
      <p:sp>
        <p:nvSpPr>
          <p:cNvPr id="305" name="yield c1f13"/>
          <p:cNvSpPr txBox="1"/>
          <p:nvPr/>
        </p:nvSpPr>
        <p:spPr>
          <a:xfrm>
            <a:off x="7360920" y="299161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1.070 → 1.199</a:t>
            </a:r>
          </a:p>
        </p:txBody>
      </p:sp>
      <p:sp>
        <p:nvSpPr>
          <p:cNvPr id="306" name="conjunto c1f13"/>
          <p:cNvSpPr txBox="1"/>
          <p:nvPr/>
        </p:nvSpPr>
        <p:spPr>
          <a:xfrm>
            <a:off x="8202168" y="299161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307" name="banda c1f14"/>
          <p:cNvSpPr/>
          <p:nvPr/>
        </p:nvSpPr>
        <p:spPr>
          <a:xfrm>
            <a:off x="4636008" y="3121152"/>
            <a:ext cx="4114800" cy="129540"/>
          </a:xfrm>
          <a:prstGeom prst="rect">
            <a:avLst/>
          </a:prstGeom>
          <a:solidFill>
            <a:srgbClr val="FFFFFF"/>
          </a:solidFill>
          <a:ln>
            <a:noFill/>
          </a:ln>
        </p:spPr>
        <p:txBody>
          <a:bodyPr rtlCol="0" anchor="ctr"/>
          <a:lstStyle/>
          <a:p>
            <a:pPr algn="ctr"/>
            <a:endParaRPr lang="es-CO" noProof="0" dirty="0"/>
          </a:p>
        </p:txBody>
      </p:sp>
      <p:sp>
        <p:nvSpPr>
          <p:cNvPr id="308" name="num c1f14"/>
          <p:cNvSpPr txBox="1"/>
          <p:nvPr/>
        </p:nvSpPr>
        <p:spPr>
          <a:xfrm>
            <a:off x="4636008" y="312115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39</a:t>
            </a:r>
          </a:p>
        </p:txBody>
      </p:sp>
      <p:sp>
        <p:nvSpPr>
          <p:cNvPr id="309" name="nombre c1f14"/>
          <p:cNvSpPr txBox="1"/>
          <p:nvPr/>
        </p:nvSpPr>
        <p:spPr>
          <a:xfrm>
            <a:off x="4855464" y="312115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60p</a:t>
            </a:r>
          </a:p>
        </p:txBody>
      </p:sp>
      <p:sp>
        <p:nvSpPr>
          <p:cNvPr id="310" name="barra c1f14"/>
          <p:cNvSpPr/>
          <p:nvPr/>
        </p:nvSpPr>
        <p:spPr>
          <a:xfrm>
            <a:off x="5532120" y="3149651"/>
            <a:ext cx="150524"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311" name="pct c1f14"/>
          <p:cNvSpPr txBox="1"/>
          <p:nvPr/>
        </p:nvSpPr>
        <p:spPr>
          <a:xfrm>
            <a:off x="6665976" y="312115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10,7%</a:t>
            </a:r>
          </a:p>
        </p:txBody>
      </p:sp>
      <p:sp>
        <p:nvSpPr>
          <p:cNvPr id="312" name="kwh c1f14"/>
          <p:cNvSpPr txBox="1"/>
          <p:nvPr/>
        </p:nvSpPr>
        <p:spPr>
          <a:xfrm>
            <a:off x="7068312" y="312115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24</a:t>
            </a:r>
          </a:p>
        </p:txBody>
      </p:sp>
      <p:sp>
        <p:nvSpPr>
          <p:cNvPr id="313" name="yield c1f14"/>
          <p:cNvSpPr txBox="1"/>
          <p:nvPr/>
        </p:nvSpPr>
        <p:spPr>
          <a:xfrm>
            <a:off x="7360920" y="312115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1.074 → 1.202</a:t>
            </a:r>
          </a:p>
        </p:txBody>
      </p:sp>
      <p:sp>
        <p:nvSpPr>
          <p:cNvPr id="314" name="conjunto c1f14"/>
          <p:cNvSpPr txBox="1"/>
          <p:nvPr/>
        </p:nvSpPr>
        <p:spPr>
          <a:xfrm>
            <a:off x="8202168" y="312115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Prado V.</a:t>
            </a:r>
          </a:p>
        </p:txBody>
      </p:sp>
      <p:sp>
        <p:nvSpPr>
          <p:cNvPr id="315" name="num c1f15"/>
          <p:cNvSpPr txBox="1"/>
          <p:nvPr/>
        </p:nvSpPr>
        <p:spPr>
          <a:xfrm>
            <a:off x="4636008" y="325069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40</a:t>
            </a:r>
          </a:p>
        </p:txBody>
      </p:sp>
      <p:sp>
        <p:nvSpPr>
          <p:cNvPr id="316" name="nombre c1f15"/>
          <p:cNvSpPr txBox="1"/>
          <p:nvPr/>
        </p:nvSpPr>
        <p:spPr>
          <a:xfrm>
            <a:off x="4855464" y="325069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415p</a:t>
            </a:r>
          </a:p>
        </p:txBody>
      </p:sp>
      <p:sp>
        <p:nvSpPr>
          <p:cNvPr id="317" name="barra c1f15"/>
          <p:cNvSpPr/>
          <p:nvPr/>
        </p:nvSpPr>
        <p:spPr>
          <a:xfrm>
            <a:off x="5532120" y="3279191"/>
            <a:ext cx="123796" cy="7254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18" name="pct c1f15"/>
          <p:cNvSpPr txBox="1"/>
          <p:nvPr/>
        </p:nvSpPr>
        <p:spPr>
          <a:xfrm>
            <a:off x="6665976" y="325069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8,8%</a:t>
            </a:r>
          </a:p>
        </p:txBody>
      </p:sp>
      <p:sp>
        <p:nvSpPr>
          <p:cNvPr id="319" name="kwh c1f15"/>
          <p:cNvSpPr txBox="1"/>
          <p:nvPr/>
        </p:nvSpPr>
        <p:spPr>
          <a:xfrm>
            <a:off x="7068312" y="325069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20</a:t>
            </a:r>
          </a:p>
        </p:txBody>
      </p:sp>
      <p:sp>
        <p:nvSpPr>
          <p:cNvPr id="320" name="yield c1f15"/>
          <p:cNvSpPr txBox="1"/>
          <p:nvPr/>
        </p:nvSpPr>
        <p:spPr>
          <a:xfrm>
            <a:off x="7360920" y="325069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1.107 → 1.214</a:t>
            </a:r>
          </a:p>
        </p:txBody>
      </p:sp>
      <p:sp>
        <p:nvSpPr>
          <p:cNvPr id="321" name="conjunto c1f15"/>
          <p:cNvSpPr txBox="1"/>
          <p:nvPr/>
        </p:nvSpPr>
        <p:spPr>
          <a:xfrm>
            <a:off x="8202168" y="325069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Prado V.</a:t>
            </a:r>
          </a:p>
        </p:txBody>
      </p:sp>
      <p:sp>
        <p:nvSpPr>
          <p:cNvPr id="322" name="banda c1f16"/>
          <p:cNvSpPr/>
          <p:nvPr/>
        </p:nvSpPr>
        <p:spPr>
          <a:xfrm>
            <a:off x="4636008" y="3380232"/>
            <a:ext cx="4114800" cy="129540"/>
          </a:xfrm>
          <a:prstGeom prst="rect">
            <a:avLst/>
          </a:prstGeom>
          <a:solidFill>
            <a:srgbClr val="FFFFFF"/>
          </a:solidFill>
          <a:ln>
            <a:noFill/>
          </a:ln>
        </p:spPr>
        <p:txBody>
          <a:bodyPr rtlCol="0" anchor="ctr"/>
          <a:lstStyle/>
          <a:p>
            <a:pPr algn="ctr"/>
            <a:endParaRPr lang="es-CO" noProof="0" dirty="0"/>
          </a:p>
        </p:txBody>
      </p:sp>
      <p:sp>
        <p:nvSpPr>
          <p:cNvPr id="323" name="num c1f16"/>
          <p:cNvSpPr txBox="1"/>
          <p:nvPr/>
        </p:nvSpPr>
        <p:spPr>
          <a:xfrm>
            <a:off x="4636008" y="338023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41</a:t>
            </a:r>
          </a:p>
        </p:txBody>
      </p:sp>
      <p:sp>
        <p:nvSpPr>
          <p:cNvPr id="324" name="nombre c1f16"/>
          <p:cNvSpPr txBox="1"/>
          <p:nvPr/>
        </p:nvSpPr>
        <p:spPr>
          <a:xfrm>
            <a:off x="4855464" y="338023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287</a:t>
            </a:r>
          </a:p>
        </p:txBody>
      </p:sp>
      <p:sp>
        <p:nvSpPr>
          <p:cNvPr id="325" name="barra c1f16"/>
          <p:cNvSpPr/>
          <p:nvPr/>
        </p:nvSpPr>
        <p:spPr>
          <a:xfrm>
            <a:off x="5532120" y="3408731"/>
            <a:ext cx="99881" cy="7254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26" name="pct c1f16"/>
          <p:cNvSpPr txBox="1"/>
          <p:nvPr/>
        </p:nvSpPr>
        <p:spPr>
          <a:xfrm>
            <a:off x="6665976" y="338023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7,1%</a:t>
            </a:r>
          </a:p>
        </p:txBody>
      </p:sp>
      <p:sp>
        <p:nvSpPr>
          <p:cNvPr id="327" name="kwh c1f16"/>
          <p:cNvSpPr txBox="1"/>
          <p:nvPr/>
        </p:nvSpPr>
        <p:spPr>
          <a:xfrm>
            <a:off x="7068312" y="338023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16</a:t>
            </a:r>
          </a:p>
        </p:txBody>
      </p:sp>
      <p:sp>
        <p:nvSpPr>
          <p:cNvPr id="328" name="yield c1f16"/>
          <p:cNvSpPr txBox="1"/>
          <p:nvPr/>
        </p:nvSpPr>
        <p:spPr>
          <a:xfrm>
            <a:off x="7360920" y="338023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1.113 → 1.198</a:t>
            </a:r>
          </a:p>
        </p:txBody>
      </p:sp>
      <p:sp>
        <p:nvSpPr>
          <p:cNvPr id="329" name="conjunto c1f16"/>
          <p:cNvSpPr txBox="1"/>
          <p:nvPr/>
        </p:nvSpPr>
        <p:spPr>
          <a:xfrm>
            <a:off x="8202168" y="338023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Terra Kaia</a:t>
            </a:r>
          </a:p>
        </p:txBody>
      </p:sp>
      <p:sp>
        <p:nvSpPr>
          <p:cNvPr id="330" name="num c1f17"/>
          <p:cNvSpPr txBox="1"/>
          <p:nvPr/>
        </p:nvSpPr>
        <p:spPr>
          <a:xfrm>
            <a:off x="4636008" y="350977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42</a:t>
            </a:r>
          </a:p>
        </p:txBody>
      </p:sp>
      <p:sp>
        <p:nvSpPr>
          <p:cNvPr id="331" name="nombre c1f17"/>
          <p:cNvSpPr txBox="1"/>
          <p:nvPr/>
        </p:nvSpPr>
        <p:spPr>
          <a:xfrm>
            <a:off x="4855464" y="350977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102p</a:t>
            </a:r>
          </a:p>
        </p:txBody>
      </p:sp>
      <p:sp>
        <p:nvSpPr>
          <p:cNvPr id="332" name="barra c1f17"/>
          <p:cNvSpPr/>
          <p:nvPr/>
        </p:nvSpPr>
        <p:spPr>
          <a:xfrm>
            <a:off x="5532120" y="3538271"/>
            <a:ext cx="78779" cy="7254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33" name="pct c1f17"/>
          <p:cNvSpPr txBox="1"/>
          <p:nvPr/>
        </p:nvSpPr>
        <p:spPr>
          <a:xfrm>
            <a:off x="6665976" y="350977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5,6%</a:t>
            </a:r>
          </a:p>
        </p:txBody>
      </p:sp>
      <p:sp>
        <p:nvSpPr>
          <p:cNvPr id="334" name="kwh c1f17"/>
          <p:cNvSpPr txBox="1"/>
          <p:nvPr/>
        </p:nvSpPr>
        <p:spPr>
          <a:xfrm>
            <a:off x="7068312" y="350977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12</a:t>
            </a:r>
          </a:p>
        </p:txBody>
      </p:sp>
      <p:sp>
        <p:nvSpPr>
          <p:cNvPr id="335" name="yield c1f17"/>
          <p:cNvSpPr txBox="1"/>
          <p:nvPr/>
        </p:nvSpPr>
        <p:spPr>
          <a:xfrm>
            <a:off x="7360920" y="350977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1.109 → 1.175</a:t>
            </a:r>
          </a:p>
        </p:txBody>
      </p:sp>
      <p:sp>
        <p:nvSpPr>
          <p:cNvPr id="336" name="conjunto c1f17"/>
          <p:cNvSpPr txBox="1"/>
          <p:nvPr/>
        </p:nvSpPr>
        <p:spPr>
          <a:xfrm>
            <a:off x="8202168" y="350977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Prado V.</a:t>
            </a:r>
          </a:p>
        </p:txBody>
      </p:sp>
      <p:sp>
        <p:nvSpPr>
          <p:cNvPr id="337" name="banda c1f18"/>
          <p:cNvSpPr/>
          <p:nvPr/>
        </p:nvSpPr>
        <p:spPr>
          <a:xfrm>
            <a:off x="4636008" y="3639312"/>
            <a:ext cx="4114800" cy="129540"/>
          </a:xfrm>
          <a:prstGeom prst="rect">
            <a:avLst/>
          </a:prstGeom>
          <a:solidFill>
            <a:srgbClr val="FFFFFF"/>
          </a:solidFill>
          <a:ln>
            <a:noFill/>
          </a:ln>
        </p:spPr>
        <p:txBody>
          <a:bodyPr rtlCol="0" anchor="ctr"/>
          <a:lstStyle/>
          <a:p>
            <a:pPr algn="ctr"/>
            <a:endParaRPr lang="es-CO" noProof="0" dirty="0"/>
          </a:p>
        </p:txBody>
      </p:sp>
      <p:sp>
        <p:nvSpPr>
          <p:cNvPr id="338" name="num c1f18"/>
          <p:cNvSpPr txBox="1"/>
          <p:nvPr/>
        </p:nvSpPr>
        <p:spPr>
          <a:xfrm>
            <a:off x="4636008" y="363931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43</a:t>
            </a:r>
          </a:p>
        </p:txBody>
      </p:sp>
      <p:sp>
        <p:nvSpPr>
          <p:cNvPr id="339" name="nombre c1f18"/>
          <p:cNvSpPr txBox="1"/>
          <p:nvPr/>
        </p:nvSpPr>
        <p:spPr>
          <a:xfrm>
            <a:off x="4855464" y="363931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78T</a:t>
            </a:r>
          </a:p>
        </p:txBody>
      </p:sp>
      <p:sp>
        <p:nvSpPr>
          <p:cNvPr id="340" name="barra c1f18"/>
          <p:cNvSpPr/>
          <p:nvPr/>
        </p:nvSpPr>
        <p:spPr>
          <a:xfrm>
            <a:off x="5532120" y="3667811"/>
            <a:ext cx="60491" cy="7254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41" name="pct c1f18"/>
          <p:cNvSpPr txBox="1"/>
          <p:nvPr/>
        </p:nvSpPr>
        <p:spPr>
          <a:xfrm>
            <a:off x="6665976" y="363931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4,3%</a:t>
            </a:r>
          </a:p>
        </p:txBody>
      </p:sp>
      <p:sp>
        <p:nvSpPr>
          <p:cNvPr id="342" name="kwh c1f18"/>
          <p:cNvSpPr txBox="1"/>
          <p:nvPr/>
        </p:nvSpPr>
        <p:spPr>
          <a:xfrm>
            <a:off x="7068312" y="363931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32</a:t>
            </a:r>
          </a:p>
        </p:txBody>
      </p:sp>
      <p:sp>
        <p:nvSpPr>
          <p:cNvPr id="343" name="yield c1f18"/>
          <p:cNvSpPr txBox="1"/>
          <p:nvPr/>
        </p:nvSpPr>
        <p:spPr>
          <a:xfrm>
            <a:off x="7360920" y="363931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1.321 → 1.381</a:t>
            </a:r>
          </a:p>
        </p:txBody>
      </p:sp>
      <p:sp>
        <p:nvSpPr>
          <p:cNvPr id="344" name="conjunto c1f18"/>
          <p:cNvSpPr txBox="1"/>
          <p:nvPr/>
        </p:nvSpPr>
        <p:spPr>
          <a:xfrm>
            <a:off x="8202168" y="363931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Terranova</a:t>
            </a:r>
          </a:p>
        </p:txBody>
      </p:sp>
      <p:sp>
        <p:nvSpPr>
          <p:cNvPr id="345" name="num c1f19"/>
          <p:cNvSpPr txBox="1"/>
          <p:nvPr/>
        </p:nvSpPr>
        <p:spPr>
          <a:xfrm>
            <a:off x="4636008" y="376885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44</a:t>
            </a:r>
          </a:p>
        </p:txBody>
      </p:sp>
      <p:sp>
        <p:nvSpPr>
          <p:cNvPr id="346" name="nombre c1f19"/>
          <p:cNvSpPr txBox="1"/>
          <p:nvPr/>
        </p:nvSpPr>
        <p:spPr>
          <a:xfrm>
            <a:off x="4855464" y="376885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23p</a:t>
            </a:r>
          </a:p>
        </p:txBody>
      </p:sp>
      <p:sp>
        <p:nvSpPr>
          <p:cNvPr id="347" name="barra c1f19"/>
          <p:cNvSpPr/>
          <p:nvPr/>
        </p:nvSpPr>
        <p:spPr>
          <a:xfrm>
            <a:off x="5532120" y="3797351"/>
            <a:ext cx="43610" cy="7254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48" name="pct c1f19"/>
          <p:cNvSpPr txBox="1"/>
          <p:nvPr/>
        </p:nvSpPr>
        <p:spPr>
          <a:xfrm>
            <a:off x="6665976" y="376885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3,1%</a:t>
            </a:r>
          </a:p>
        </p:txBody>
      </p:sp>
      <p:sp>
        <p:nvSpPr>
          <p:cNvPr id="349" name="kwh c1f19"/>
          <p:cNvSpPr txBox="1"/>
          <p:nvPr/>
        </p:nvSpPr>
        <p:spPr>
          <a:xfrm>
            <a:off x="7068312" y="376885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7</a:t>
            </a:r>
          </a:p>
        </p:txBody>
      </p:sp>
      <p:sp>
        <p:nvSpPr>
          <p:cNvPr id="350" name="yield c1f19"/>
          <p:cNvSpPr txBox="1"/>
          <p:nvPr/>
        </p:nvSpPr>
        <p:spPr>
          <a:xfrm>
            <a:off x="7360920" y="376885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1.188 → 1.227</a:t>
            </a:r>
          </a:p>
        </p:txBody>
      </p:sp>
      <p:sp>
        <p:nvSpPr>
          <p:cNvPr id="351" name="conjunto c1f19"/>
          <p:cNvSpPr txBox="1"/>
          <p:nvPr/>
        </p:nvSpPr>
        <p:spPr>
          <a:xfrm>
            <a:off x="8202168" y="376885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Prado V.</a:t>
            </a:r>
          </a:p>
        </p:txBody>
      </p:sp>
      <p:sp>
        <p:nvSpPr>
          <p:cNvPr id="352" name="banda c1f20"/>
          <p:cNvSpPr/>
          <p:nvPr/>
        </p:nvSpPr>
        <p:spPr>
          <a:xfrm>
            <a:off x="4636008" y="3898392"/>
            <a:ext cx="4114800" cy="129540"/>
          </a:xfrm>
          <a:prstGeom prst="rect">
            <a:avLst/>
          </a:prstGeom>
          <a:solidFill>
            <a:srgbClr val="FFFFFF"/>
          </a:solidFill>
          <a:ln>
            <a:noFill/>
          </a:ln>
        </p:spPr>
        <p:txBody>
          <a:bodyPr rtlCol="0" anchor="ctr"/>
          <a:lstStyle/>
          <a:p>
            <a:pPr algn="ctr"/>
            <a:endParaRPr lang="es-CO" noProof="0" dirty="0"/>
          </a:p>
        </p:txBody>
      </p:sp>
      <p:sp>
        <p:nvSpPr>
          <p:cNvPr id="353" name="num c1f20"/>
          <p:cNvSpPr txBox="1"/>
          <p:nvPr/>
        </p:nvSpPr>
        <p:spPr>
          <a:xfrm>
            <a:off x="4636008" y="389839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45</a:t>
            </a:r>
          </a:p>
        </p:txBody>
      </p:sp>
      <p:sp>
        <p:nvSpPr>
          <p:cNvPr id="354" name="nombre c1f20"/>
          <p:cNvSpPr txBox="1"/>
          <p:nvPr/>
        </p:nvSpPr>
        <p:spPr>
          <a:xfrm>
            <a:off x="4855464" y="389839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93p</a:t>
            </a:r>
          </a:p>
        </p:txBody>
      </p:sp>
      <p:sp>
        <p:nvSpPr>
          <p:cNvPr id="355" name="barra c1f20"/>
          <p:cNvSpPr/>
          <p:nvPr/>
        </p:nvSpPr>
        <p:spPr>
          <a:xfrm>
            <a:off x="5532120" y="3926891"/>
            <a:ext cx="39390" cy="7254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56" name="pct c1f20"/>
          <p:cNvSpPr txBox="1"/>
          <p:nvPr/>
        </p:nvSpPr>
        <p:spPr>
          <a:xfrm>
            <a:off x="6665976" y="389839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2,8%</a:t>
            </a:r>
          </a:p>
        </p:txBody>
      </p:sp>
      <p:sp>
        <p:nvSpPr>
          <p:cNvPr id="357" name="kwh c1f20"/>
          <p:cNvSpPr txBox="1"/>
          <p:nvPr/>
        </p:nvSpPr>
        <p:spPr>
          <a:xfrm>
            <a:off x="7068312" y="389839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10</a:t>
            </a:r>
          </a:p>
        </p:txBody>
      </p:sp>
      <p:sp>
        <p:nvSpPr>
          <p:cNvPr id="358" name="yield c1f20"/>
          <p:cNvSpPr txBox="1"/>
          <p:nvPr/>
        </p:nvSpPr>
        <p:spPr>
          <a:xfrm>
            <a:off x="7360920" y="389839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1.200 → 1.234</a:t>
            </a:r>
          </a:p>
        </p:txBody>
      </p:sp>
      <p:sp>
        <p:nvSpPr>
          <p:cNvPr id="359" name="conjunto c1f20"/>
          <p:cNvSpPr txBox="1"/>
          <p:nvPr/>
        </p:nvSpPr>
        <p:spPr>
          <a:xfrm>
            <a:off x="8202168" y="389839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Prado V.</a:t>
            </a:r>
          </a:p>
        </p:txBody>
      </p:sp>
      <p:sp>
        <p:nvSpPr>
          <p:cNvPr id="360" name="num c1f21"/>
          <p:cNvSpPr txBox="1"/>
          <p:nvPr/>
        </p:nvSpPr>
        <p:spPr>
          <a:xfrm>
            <a:off x="4636008" y="402793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46</a:t>
            </a:r>
          </a:p>
        </p:txBody>
      </p:sp>
      <p:sp>
        <p:nvSpPr>
          <p:cNvPr id="361" name="nombre c1f21"/>
          <p:cNvSpPr txBox="1"/>
          <p:nvPr/>
        </p:nvSpPr>
        <p:spPr>
          <a:xfrm>
            <a:off x="4855464" y="402793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18Ap</a:t>
            </a:r>
          </a:p>
        </p:txBody>
      </p:sp>
      <p:sp>
        <p:nvSpPr>
          <p:cNvPr id="362" name="barra c1f21"/>
          <p:cNvSpPr/>
          <p:nvPr/>
        </p:nvSpPr>
        <p:spPr>
          <a:xfrm>
            <a:off x="5532120" y="4056431"/>
            <a:ext cx="33762" cy="7254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63" name="pct c1f21"/>
          <p:cNvSpPr txBox="1"/>
          <p:nvPr/>
        </p:nvSpPr>
        <p:spPr>
          <a:xfrm>
            <a:off x="6665976" y="402793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2,4%</a:t>
            </a:r>
          </a:p>
        </p:txBody>
      </p:sp>
      <p:sp>
        <p:nvSpPr>
          <p:cNvPr id="364" name="kwh c1f21"/>
          <p:cNvSpPr txBox="1"/>
          <p:nvPr/>
        </p:nvSpPr>
        <p:spPr>
          <a:xfrm>
            <a:off x="7068312" y="402793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5</a:t>
            </a:r>
          </a:p>
        </p:txBody>
      </p:sp>
      <p:sp>
        <p:nvSpPr>
          <p:cNvPr id="365" name="yield c1f21"/>
          <p:cNvSpPr txBox="1"/>
          <p:nvPr/>
        </p:nvSpPr>
        <p:spPr>
          <a:xfrm>
            <a:off x="7360920" y="402793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1.105 → 1.132</a:t>
            </a:r>
          </a:p>
        </p:txBody>
      </p:sp>
      <p:sp>
        <p:nvSpPr>
          <p:cNvPr id="366" name="conjunto c1f21"/>
          <p:cNvSpPr txBox="1"/>
          <p:nvPr/>
        </p:nvSpPr>
        <p:spPr>
          <a:xfrm>
            <a:off x="8202168" y="402793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Prado V.</a:t>
            </a:r>
          </a:p>
        </p:txBody>
      </p:sp>
      <p:sp>
        <p:nvSpPr>
          <p:cNvPr id="367" name="banda c1f22"/>
          <p:cNvSpPr/>
          <p:nvPr/>
        </p:nvSpPr>
        <p:spPr>
          <a:xfrm>
            <a:off x="4636008" y="4157472"/>
            <a:ext cx="4114800" cy="129540"/>
          </a:xfrm>
          <a:prstGeom prst="rect">
            <a:avLst/>
          </a:prstGeom>
          <a:solidFill>
            <a:srgbClr val="FFFFFF"/>
          </a:solidFill>
          <a:ln>
            <a:noFill/>
          </a:ln>
        </p:spPr>
        <p:txBody>
          <a:bodyPr rtlCol="0" anchor="ctr"/>
          <a:lstStyle/>
          <a:p>
            <a:pPr algn="ctr"/>
            <a:endParaRPr lang="es-CO" noProof="0" dirty="0"/>
          </a:p>
        </p:txBody>
      </p:sp>
      <p:sp>
        <p:nvSpPr>
          <p:cNvPr id="368" name="num c1f22"/>
          <p:cNvSpPr txBox="1"/>
          <p:nvPr/>
        </p:nvSpPr>
        <p:spPr>
          <a:xfrm>
            <a:off x="4636008" y="415747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47</a:t>
            </a:r>
          </a:p>
        </p:txBody>
      </p:sp>
      <p:sp>
        <p:nvSpPr>
          <p:cNvPr id="369" name="nombre c1f22"/>
          <p:cNvSpPr txBox="1"/>
          <p:nvPr/>
        </p:nvSpPr>
        <p:spPr>
          <a:xfrm>
            <a:off x="4855464" y="415747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15p</a:t>
            </a:r>
          </a:p>
        </p:txBody>
      </p:sp>
      <p:sp>
        <p:nvSpPr>
          <p:cNvPr id="370" name="barra c1f22"/>
          <p:cNvSpPr/>
          <p:nvPr/>
        </p:nvSpPr>
        <p:spPr>
          <a:xfrm>
            <a:off x="5532120" y="4185971"/>
            <a:ext cx="18288" cy="7254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71" name="pct c1f22"/>
          <p:cNvSpPr txBox="1"/>
          <p:nvPr/>
        </p:nvSpPr>
        <p:spPr>
          <a:xfrm>
            <a:off x="6665976" y="415747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1,0%</a:t>
            </a:r>
          </a:p>
        </p:txBody>
      </p:sp>
      <p:sp>
        <p:nvSpPr>
          <p:cNvPr id="372" name="kwh c1f22"/>
          <p:cNvSpPr txBox="1"/>
          <p:nvPr/>
        </p:nvSpPr>
        <p:spPr>
          <a:xfrm>
            <a:off x="7068312" y="415747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a:t>
            </a:r>
          </a:p>
        </p:txBody>
      </p:sp>
      <p:sp>
        <p:nvSpPr>
          <p:cNvPr id="373" name="yield c1f22"/>
          <p:cNvSpPr txBox="1"/>
          <p:nvPr/>
        </p:nvSpPr>
        <p:spPr>
          <a:xfrm>
            <a:off x="7360920" y="415747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1.160 → 1.171</a:t>
            </a:r>
          </a:p>
        </p:txBody>
      </p:sp>
      <p:sp>
        <p:nvSpPr>
          <p:cNvPr id="374" name="conjunto c1f22"/>
          <p:cNvSpPr txBox="1"/>
          <p:nvPr/>
        </p:nvSpPr>
        <p:spPr>
          <a:xfrm>
            <a:off x="8202168" y="415747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Prado V.</a:t>
            </a:r>
          </a:p>
        </p:txBody>
      </p:sp>
      <p:sp>
        <p:nvSpPr>
          <p:cNvPr id="375" name="num c1f23"/>
          <p:cNvSpPr txBox="1"/>
          <p:nvPr/>
        </p:nvSpPr>
        <p:spPr>
          <a:xfrm>
            <a:off x="4636008" y="428701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48</a:t>
            </a:r>
          </a:p>
        </p:txBody>
      </p:sp>
      <p:sp>
        <p:nvSpPr>
          <p:cNvPr id="376" name="nombre c1f23"/>
          <p:cNvSpPr txBox="1"/>
          <p:nvPr/>
        </p:nvSpPr>
        <p:spPr>
          <a:xfrm>
            <a:off x="4855464" y="428701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24</a:t>
            </a:r>
          </a:p>
        </p:txBody>
      </p:sp>
      <p:sp>
        <p:nvSpPr>
          <p:cNvPr id="377" name="barra c1f23"/>
          <p:cNvSpPr/>
          <p:nvPr/>
        </p:nvSpPr>
        <p:spPr>
          <a:xfrm>
            <a:off x="5532120" y="4315511"/>
            <a:ext cx="18288" cy="7254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78" name="pct c1f23"/>
          <p:cNvSpPr txBox="1"/>
          <p:nvPr/>
        </p:nvSpPr>
        <p:spPr>
          <a:xfrm>
            <a:off x="6665976" y="428701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0,7%</a:t>
            </a:r>
          </a:p>
        </p:txBody>
      </p:sp>
      <p:sp>
        <p:nvSpPr>
          <p:cNvPr id="379" name="kwh c1f23"/>
          <p:cNvSpPr txBox="1"/>
          <p:nvPr/>
        </p:nvSpPr>
        <p:spPr>
          <a:xfrm>
            <a:off x="7068312" y="428701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5</a:t>
            </a:r>
          </a:p>
        </p:txBody>
      </p:sp>
      <p:sp>
        <p:nvSpPr>
          <p:cNvPr id="380" name="yield c1f23"/>
          <p:cNvSpPr txBox="1"/>
          <p:nvPr/>
        </p:nvSpPr>
        <p:spPr>
          <a:xfrm>
            <a:off x="7360920" y="428701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1.319 → 1.329</a:t>
            </a:r>
          </a:p>
        </p:txBody>
      </p:sp>
      <p:sp>
        <p:nvSpPr>
          <p:cNvPr id="381" name="conjunto c1f23"/>
          <p:cNvSpPr txBox="1"/>
          <p:nvPr/>
        </p:nvSpPr>
        <p:spPr>
          <a:xfrm>
            <a:off x="8202168" y="428701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Terra Kaia</a:t>
            </a:r>
          </a:p>
        </p:txBody>
      </p:sp>
      <p:sp>
        <p:nvSpPr>
          <p:cNvPr id="382" name="nota ranking recorte"/>
          <p:cNvSpPr txBox="1"/>
          <p:nvPr/>
        </p:nvSpPr>
        <p:spPr>
          <a:xfrm>
            <a:off x="411480" y="4526280"/>
            <a:ext cx="8321040" cy="329184"/>
          </a:xfrm>
          <a:prstGeom prst="rect">
            <a:avLst/>
          </a:prstGeom>
          <a:noFill/>
        </p:spPr>
        <p:txBody>
          <a:bodyPr wrap="square" lIns="0" tIns="0" rIns="0" bIns="0" anchor="ctr">
            <a:spAutoFit/>
          </a:bodyPr>
          <a:lstStyle/>
          <a:p>
            <a:pPr algn="l">
              <a:spcAft>
                <a:spcPts val="0"/>
              </a:spcAft>
            </a:pPr>
            <a:r>
              <a:rPr lang="es-CO" sz="750" b="0" i="1" noProof="0" dirty="0">
                <a:solidFill>
                  <a:srgbClr val="55636E"/>
                </a:solidFill>
                <a:latin typeface="Calibri"/>
              </a:rPr>
              <a:t>Rojo ≥ 40% del potencial · naranja 20 - 40% · azul 10 - 20% · verde &lt; 10%. Yield en kWh/</a:t>
            </a:r>
            <a:r>
              <a:rPr lang="es-CO" sz="750" b="0" i="1" noProof="0" dirty="0" err="1">
                <a:solidFill>
                  <a:srgbClr val="55636E"/>
                </a:solidFill>
                <a:latin typeface="Calibri"/>
              </a:rPr>
              <a:t>kWp·año</a:t>
            </a:r>
            <a:r>
              <a:rPr lang="es-CO" sz="750" b="0" i="1" noProof="0" dirty="0">
                <a:solidFill>
                  <a:srgbClr val="55636E"/>
                </a:solidFill>
                <a:latin typeface="Calibri"/>
              </a:rPr>
              <a:t>: real = el de la diapositiva 9; sin recorte = el real más la energía recortada del sistema. Estimación validada en 232 sistema-días sin limitación (sesgo 0,1%) y alineada con los días limitados de la diapositiva 9 (r = 0,94). * Casas 447p (7 días con datos) y 382p (9): solo cuentan los días con datos del inversor. † ver diapositiva 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GENERACIÓN SOLAR · CONSUMO</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1800" b="1" i="0" noProof="0" dirty="0">
                <a:solidFill>
                  <a:srgbClr val="1B3A6B"/>
                </a:solidFill>
                <a:latin typeface="Calibri"/>
              </a:rPr>
              <a:t>El consumo real está en línea con el diseño (−0,2%): 25 de 48 casas por encima, 9 con más de +30%</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12</a:t>
            </a:r>
          </a:p>
        </p:txBody>
      </p:sp>
      <p:sp>
        <p:nvSpPr>
          <p:cNvPr id="8" name="Rectangle 7"/>
          <p:cNvSpPr/>
          <p:nvPr/>
        </p:nvSpPr>
        <p:spPr>
          <a:xfrm>
            <a:off x="411480" y="1143000"/>
            <a:ext cx="2697480" cy="658368"/>
          </a:xfrm>
          <a:prstGeom prst="rect">
            <a:avLst/>
          </a:prstGeom>
          <a:solidFill>
            <a:srgbClr val="FFFFFF"/>
          </a:solidFill>
          <a:ln w="10160">
            <a:solidFill>
              <a:srgbClr val="E3E7EA"/>
            </a:solidFill>
          </a:ln>
        </p:spPr>
        <p:txBody>
          <a:bodyPr rtlCol="0" anchor="ctr"/>
          <a:lstStyle/>
          <a:p>
            <a:pPr algn="ctr"/>
            <a:endParaRPr lang="es-CO" noProof="0" dirty="0"/>
          </a:p>
        </p:txBody>
      </p:sp>
      <p:sp>
        <p:nvSpPr>
          <p:cNvPr id="9" name="Rectangle 8"/>
          <p:cNvSpPr/>
          <p:nvPr/>
        </p:nvSpPr>
        <p:spPr>
          <a:xfrm>
            <a:off x="411480" y="1143000"/>
            <a:ext cx="54864" cy="658368"/>
          </a:xfrm>
          <a:prstGeom prst="rect">
            <a:avLst/>
          </a:prstGeom>
          <a:solidFill>
            <a:srgbClr val="1E8449"/>
          </a:solidFill>
          <a:ln w="12700">
            <a:solidFill>
              <a:srgbClr val="1E8449"/>
            </a:solidFill>
          </a:ln>
        </p:spPr>
        <p:txBody>
          <a:bodyPr rtlCol="0" anchor="ctr"/>
          <a:lstStyle/>
          <a:p>
            <a:pPr algn="ctr"/>
            <a:endParaRPr lang="es-CO" noProof="0" dirty="0"/>
          </a:p>
        </p:txBody>
      </p:sp>
      <p:sp>
        <p:nvSpPr>
          <p:cNvPr id="10" name="TextBox 9"/>
          <p:cNvSpPr txBox="1"/>
          <p:nvPr/>
        </p:nvSpPr>
        <p:spPr>
          <a:xfrm>
            <a:off x="557784" y="1179576"/>
            <a:ext cx="2496312" cy="342351"/>
          </a:xfrm>
          <a:prstGeom prst="rect">
            <a:avLst/>
          </a:prstGeom>
          <a:noFill/>
        </p:spPr>
        <p:txBody>
          <a:bodyPr wrap="square" lIns="0" tIns="0" rIns="0" bIns="0" anchor="ctr">
            <a:spAutoFit/>
          </a:bodyPr>
          <a:lstStyle/>
          <a:p>
            <a:pPr algn="l">
              <a:spcAft>
                <a:spcPts val="0"/>
              </a:spcAft>
            </a:pPr>
            <a:r>
              <a:rPr lang="es-CO" sz="1700" b="1" i="0" noProof="0" dirty="0">
                <a:solidFill>
                  <a:srgbClr val="1E8449"/>
                </a:solidFill>
                <a:latin typeface="Calibri"/>
              </a:rPr>
              <a:t>−0,2%</a:t>
            </a:r>
          </a:p>
        </p:txBody>
      </p:sp>
      <p:sp>
        <p:nvSpPr>
          <p:cNvPr id="11" name="TextBox 10"/>
          <p:cNvSpPr txBox="1"/>
          <p:nvPr/>
        </p:nvSpPr>
        <p:spPr>
          <a:xfrm>
            <a:off x="557784" y="1498518"/>
            <a:ext cx="2496312" cy="144840"/>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consumo real vs diseño (1 al 20 de octubre)</a:t>
            </a:r>
          </a:p>
        </p:txBody>
      </p:sp>
      <p:sp>
        <p:nvSpPr>
          <p:cNvPr id="12" name="TextBox 11"/>
          <p:cNvSpPr txBox="1"/>
          <p:nvPr/>
        </p:nvSpPr>
        <p:spPr>
          <a:xfrm>
            <a:off x="557784" y="1630192"/>
            <a:ext cx="2496312" cy="158008"/>
          </a:xfrm>
          <a:prstGeom prst="rect">
            <a:avLst/>
          </a:prstGeom>
          <a:noFill/>
        </p:spPr>
        <p:txBody>
          <a:bodyPr wrap="square" lIns="0" tIns="0" rIns="0" bIns="0" anchor="t">
            <a:spAutoFit/>
          </a:bodyPr>
          <a:lstStyle/>
          <a:p>
            <a:pPr algn="l">
              <a:spcAft>
                <a:spcPts val="0"/>
              </a:spcAft>
            </a:pPr>
            <a:r>
              <a:rPr lang="es-CO" sz="720" b="0" i="0" noProof="0" dirty="0">
                <a:solidFill>
                  <a:srgbClr val="55636E"/>
                </a:solidFill>
                <a:latin typeface="Calibri"/>
              </a:rPr>
              <a:t>19.465 kWh medidos frente a 19.507 kWh de diseño de esos días</a:t>
            </a:r>
          </a:p>
        </p:txBody>
      </p:sp>
      <p:sp>
        <p:nvSpPr>
          <p:cNvPr id="13" name="Rectangle 12"/>
          <p:cNvSpPr/>
          <p:nvPr/>
        </p:nvSpPr>
        <p:spPr>
          <a:xfrm>
            <a:off x="3218688" y="1143000"/>
            <a:ext cx="2697480" cy="658368"/>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4" name="Rectangle 13"/>
          <p:cNvSpPr/>
          <p:nvPr/>
        </p:nvSpPr>
        <p:spPr>
          <a:xfrm>
            <a:off x="3218688" y="1143000"/>
            <a:ext cx="54864" cy="658368"/>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5" name="TextBox 14"/>
          <p:cNvSpPr txBox="1"/>
          <p:nvPr/>
        </p:nvSpPr>
        <p:spPr>
          <a:xfrm>
            <a:off x="3364992" y="1179576"/>
            <a:ext cx="2496312" cy="342351"/>
          </a:xfrm>
          <a:prstGeom prst="rect">
            <a:avLst/>
          </a:prstGeom>
          <a:noFill/>
        </p:spPr>
        <p:txBody>
          <a:bodyPr wrap="square" lIns="0" tIns="0" rIns="0" bIns="0" anchor="ctr">
            <a:spAutoFit/>
          </a:bodyPr>
          <a:lstStyle/>
          <a:p>
            <a:pPr algn="l">
              <a:spcAft>
                <a:spcPts val="0"/>
              </a:spcAft>
            </a:pPr>
            <a:r>
              <a:rPr lang="es-CO" sz="1700" b="1" i="0" noProof="0" dirty="0">
                <a:solidFill>
                  <a:srgbClr val="CA6F1E"/>
                </a:solidFill>
                <a:latin typeface="Calibri"/>
              </a:rPr>
              <a:t>25 de 48</a:t>
            </a:r>
          </a:p>
        </p:txBody>
      </p:sp>
      <p:sp>
        <p:nvSpPr>
          <p:cNvPr id="16" name="TextBox 15"/>
          <p:cNvSpPr txBox="1"/>
          <p:nvPr/>
        </p:nvSpPr>
        <p:spPr>
          <a:xfrm>
            <a:off x="3364992" y="1498518"/>
            <a:ext cx="2496312" cy="144840"/>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casas con consumo mayor al de diseño</a:t>
            </a:r>
          </a:p>
        </p:txBody>
      </p:sp>
      <p:sp>
        <p:nvSpPr>
          <p:cNvPr id="17" name="TextBox 16"/>
          <p:cNvSpPr txBox="1"/>
          <p:nvPr/>
        </p:nvSpPr>
        <p:spPr>
          <a:xfrm>
            <a:off x="3364992" y="1630192"/>
            <a:ext cx="2496312" cy="158008"/>
          </a:xfrm>
          <a:prstGeom prst="rect">
            <a:avLst/>
          </a:prstGeom>
          <a:noFill/>
        </p:spPr>
        <p:txBody>
          <a:bodyPr wrap="square" lIns="0" tIns="0" rIns="0" bIns="0" anchor="t">
            <a:spAutoFit/>
          </a:bodyPr>
          <a:lstStyle/>
          <a:p>
            <a:pPr algn="l">
              <a:spcAft>
                <a:spcPts val="0"/>
              </a:spcAft>
            </a:pPr>
            <a:r>
              <a:rPr lang="es-CO" sz="720" b="0" i="0" noProof="0" dirty="0">
                <a:solidFill>
                  <a:srgbClr val="55636E"/>
                </a:solidFill>
                <a:latin typeface="Calibri"/>
              </a:rPr>
              <a:t>9 de ellas más de 30% por encima</a:t>
            </a:r>
          </a:p>
        </p:txBody>
      </p:sp>
      <p:sp>
        <p:nvSpPr>
          <p:cNvPr id="18" name="Rectangle 17"/>
          <p:cNvSpPr/>
          <p:nvPr/>
        </p:nvSpPr>
        <p:spPr>
          <a:xfrm>
            <a:off x="6025896" y="1143000"/>
            <a:ext cx="2697480" cy="658368"/>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9" name="Rectangle 18"/>
          <p:cNvSpPr/>
          <p:nvPr/>
        </p:nvSpPr>
        <p:spPr>
          <a:xfrm>
            <a:off x="6025896" y="1143000"/>
            <a:ext cx="54864" cy="65836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20" name="TextBox 19"/>
          <p:cNvSpPr txBox="1"/>
          <p:nvPr/>
        </p:nvSpPr>
        <p:spPr>
          <a:xfrm>
            <a:off x="6172200" y="1179576"/>
            <a:ext cx="2496312" cy="342351"/>
          </a:xfrm>
          <a:prstGeom prst="rect">
            <a:avLst/>
          </a:prstGeom>
          <a:noFill/>
        </p:spPr>
        <p:txBody>
          <a:bodyPr wrap="square" lIns="0" tIns="0" rIns="0" bIns="0" anchor="ctr">
            <a:spAutoFit/>
          </a:bodyPr>
          <a:lstStyle/>
          <a:p>
            <a:pPr algn="l">
              <a:spcAft>
                <a:spcPts val="0"/>
              </a:spcAft>
            </a:pPr>
            <a:r>
              <a:rPr lang="es-CO" sz="1700" b="1" i="0" noProof="0" dirty="0">
                <a:solidFill>
                  <a:srgbClr val="1F6F78"/>
                </a:solidFill>
                <a:latin typeface="Calibri"/>
              </a:rPr>
              <a:t>r = -0,71</a:t>
            </a:r>
          </a:p>
        </p:txBody>
      </p:sp>
      <p:sp>
        <p:nvSpPr>
          <p:cNvPr id="21" name="TextBox 20"/>
          <p:cNvSpPr txBox="1"/>
          <p:nvPr/>
        </p:nvSpPr>
        <p:spPr>
          <a:xfrm>
            <a:off x="6172200" y="1498518"/>
            <a:ext cx="2496312" cy="144840"/>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desvío de consumo vs cobertura solar</a:t>
            </a:r>
          </a:p>
        </p:txBody>
      </p:sp>
      <p:sp>
        <p:nvSpPr>
          <p:cNvPr id="22" name="TextBox 21"/>
          <p:cNvSpPr txBox="1"/>
          <p:nvPr/>
        </p:nvSpPr>
        <p:spPr>
          <a:xfrm>
            <a:off x="6172200" y="1630192"/>
            <a:ext cx="2496312" cy="158008"/>
          </a:xfrm>
          <a:prstGeom prst="rect">
            <a:avLst/>
          </a:prstGeom>
          <a:noFill/>
        </p:spPr>
        <p:txBody>
          <a:bodyPr wrap="square" lIns="0" tIns="0" rIns="0" bIns="0" anchor="t">
            <a:spAutoFit/>
          </a:bodyPr>
          <a:lstStyle/>
          <a:p>
            <a:pPr algn="l">
              <a:spcAft>
                <a:spcPts val="0"/>
              </a:spcAft>
            </a:pPr>
            <a:r>
              <a:rPr lang="es-CO" sz="720" b="0" i="0" noProof="0" dirty="0">
                <a:solidFill>
                  <a:srgbClr val="55636E"/>
                </a:solidFill>
                <a:latin typeface="Calibri"/>
              </a:rPr>
              <a:t>A mayor consumo sobre el diseño, menor cobertura</a:t>
            </a:r>
          </a:p>
        </p:txBody>
      </p:sp>
      <p:sp>
        <p:nvSpPr>
          <p:cNvPr id="23" name="TextBox 22"/>
          <p:cNvSpPr txBox="1"/>
          <p:nvPr/>
        </p:nvSpPr>
        <p:spPr>
          <a:xfrm>
            <a:off x="411480" y="1920240"/>
            <a:ext cx="640080" cy="182880"/>
          </a:xfrm>
          <a:prstGeom prst="rect">
            <a:avLst/>
          </a:prstGeom>
          <a:noFill/>
        </p:spPr>
        <p:txBody>
          <a:bodyPr wrap="square" lIns="0" tIns="0" rIns="0" bIns="0" anchor="ctr">
            <a:spAutoFit/>
          </a:bodyPr>
          <a:lstStyle/>
          <a:p>
            <a:pPr algn="l">
              <a:spcAft>
                <a:spcPts val="0"/>
              </a:spcAft>
            </a:pPr>
            <a:r>
              <a:rPr lang="es-CO" sz="680" b="1" i="0" noProof="0" dirty="0">
                <a:solidFill>
                  <a:srgbClr val="7F8C8D"/>
                </a:solidFill>
                <a:latin typeface="Calibri"/>
              </a:rPr>
              <a:t>Casa</a:t>
            </a:r>
          </a:p>
        </p:txBody>
      </p:sp>
      <p:sp>
        <p:nvSpPr>
          <p:cNvPr id="24" name="TextBox 23"/>
          <p:cNvSpPr txBox="1"/>
          <p:nvPr/>
        </p:nvSpPr>
        <p:spPr>
          <a:xfrm>
            <a:off x="1051560" y="1920240"/>
            <a:ext cx="2011680" cy="182880"/>
          </a:xfrm>
          <a:prstGeom prst="rect">
            <a:avLst/>
          </a:prstGeom>
          <a:noFill/>
        </p:spPr>
        <p:txBody>
          <a:bodyPr wrap="square" lIns="0" tIns="0" rIns="0" bIns="0" anchor="ctr">
            <a:spAutoFit/>
          </a:bodyPr>
          <a:lstStyle/>
          <a:p>
            <a:pPr algn="l">
              <a:spcAft>
                <a:spcPts val="0"/>
              </a:spcAft>
            </a:pPr>
            <a:r>
              <a:rPr lang="es-CO" sz="680" b="1" i="0" noProof="0" dirty="0">
                <a:solidFill>
                  <a:srgbClr val="7F8C8D"/>
                </a:solidFill>
                <a:latin typeface="Calibri"/>
              </a:rPr>
              <a:t>Desvío vs diseño del periodo</a:t>
            </a:r>
          </a:p>
        </p:txBody>
      </p:sp>
      <p:sp>
        <p:nvSpPr>
          <p:cNvPr id="25" name="TextBox 24"/>
          <p:cNvSpPr txBox="1"/>
          <p:nvPr/>
        </p:nvSpPr>
        <p:spPr>
          <a:xfrm>
            <a:off x="2953512" y="1920240"/>
            <a:ext cx="100584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Diseño → real kWh</a:t>
            </a:r>
          </a:p>
        </p:txBody>
      </p:sp>
      <p:sp>
        <p:nvSpPr>
          <p:cNvPr id="26" name="TextBox 25"/>
          <p:cNvSpPr txBox="1"/>
          <p:nvPr/>
        </p:nvSpPr>
        <p:spPr>
          <a:xfrm>
            <a:off x="3977639" y="1920240"/>
            <a:ext cx="54864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Cobertura</a:t>
            </a:r>
          </a:p>
        </p:txBody>
      </p:sp>
      <p:sp>
        <p:nvSpPr>
          <p:cNvPr id="133" name="TextBox 132"/>
          <p:cNvSpPr txBox="1"/>
          <p:nvPr/>
        </p:nvSpPr>
        <p:spPr>
          <a:xfrm>
            <a:off x="4636008" y="1920240"/>
            <a:ext cx="640080" cy="182880"/>
          </a:xfrm>
          <a:prstGeom prst="rect">
            <a:avLst/>
          </a:prstGeom>
          <a:noFill/>
        </p:spPr>
        <p:txBody>
          <a:bodyPr wrap="square" lIns="0" tIns="0" rIns="0" bIns="0" anchor="ctr">
            <a:spAutoFit/>
          </a:bodyPr>
          <a:lstStyle/>
          <a:p>
            <a:pPr algn="l">
              <a:spcAft>
                <a:spcPts val="0"/>
              </a:spcAft>
            </a:pPr>
            <a:r>
              <a:rPr lang="es-CO" sz="680" b="1" i="0" noProof="0" dirty="0">
                <a:solidFill>
                  <a:srgbClr val="7F8C8D"/>
                </a:solidFill>
                <a:latin typeface="Calibri"/>
              </a:rPr>
              <a:t>Casa</a:t>
            </a:r>
          </a:p>
        </p:txBody>
      </p:sp>
      <p:sp>
        <p:nvSpPr>
          <p:cNvPr id="134" name="TextBox 133"/>
          <p:cNvSpPr txBox="1"/>
          <p:nvPr/>
        </p:nvSpPr>
        <p:spPr>
          <a:xfrm>
            <a:off x="5276088" y="1920240"/>
            <a:ext cx="2011680" cy="182880"/>
          </a:xfrm>
          <a:prstGeom prst="rect">
            <a:avLst/>
          </a:prstGeom>
          <a:noFill/>
        </p:spPr>
        <p:txBody>
          <a:bodyPr wrap="square" lIns="0" tIns="0" rIns="0" bIns="0" anchor="ctr">
            <a:spAutoFit/>
          </a:bodyPr>
          <a:lstStyle/>
          <a:p>
            <a:pPr algn="l">
              <a:spcAft>
                <a:spcPts val="0"/>
              </a:spcAft>
            </a:pPr>
            <a:r>
              <a:rPr lang="es-CO" sz="680" b="1" i="0" noProof="0" dirty="0">
                <a:solidFill>
                  <a:srgbClr val="7F8C8D"/>
                </a:solidFill>
                <a:latin typeface="Calibri"/>
              </a:rPr>
              <a:t>Desvío vs diseño del periodo</a:t>
            </a:r>
          </a:p>
        </p:txBody>
      </p:sp>
      <p:sp>
        <p:nvSpPr>
          <p:cNvPr id="135" name="TextBox 134"/>
          <p:cNvSpPr txBox="1"/>
          <p:nvPr/>
        </p:nvSpPr>
        <p:spPr>
          <a:xfrm>
            <a:off x="7178040" y="1920240"/>
            <a:ext cx="100584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Diseño → real kWh</a:t>
            </a:r>
          </a:p>
        </p:txBody>
      </p:sp>
      <p:sp>
        <p:nvSpPr>
          <p:cNvPr id="136" name="TextBox 135"/>
          <p:cNvSpPr txBox="1"/>
          <p:nvPr/>
        </p:nvSpPr>
        <p:spPr>
          <a:xfrm>
            <a:off x="8202168" y="1920240"/>
            <a:ext cx="54864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Cobertura</a:t>
            </a:r>
          </a:p>
        </p:txBody>
      </p:sp>
      <p:sp>
        <p:nvSpPr>
          <p:cNvPr id="244" name="banda c0f0"/>
          <p:cNvSpPr/>
          <p:nvPr/>
        </p:nvSpPr>
        <p:spPr>
          <a:xfrm>
            <a:off x="411480" y="2167128"/>
            <a:ext cx="4114800" cy="102870"/>
          </a:xfrm>
          <a:prstGeom prst="rect">
            <a:avLst/>
          </a:prstGeom>
          <a:solidFill>
            <a:srgbClr val="FFFFFF"/>
          </a:solidFill>
          <a:ln>
            <a:noFill/>
          </a:ln>
        </p:spPr>
        <p:txBody>
          <a:bodyPr rtlCol="0" anchor="ctr"/>
          <a:lstStyle/>
          <a:p>
            <a:pPr algn="ctr"/>
            <a:endParaRPr lang="es-CO" noProof="0" dirty="0"/>
          </a:p>
        </p:txBody>
      </p:sp>
      <p:sp>
        <p:nvSpPr>
          <p:cNvPr id="245" name="nombre c0f0"/>
          <p:cNvSpPr txBox="1"/>
          <p:nvPr/>
        </p:nvSpPr>
        <p:spPr>
          <a:xfrm>
            <a:off x="438912" y="216712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382p</a:t>
            </a:r>
          </a:p>
        </p:txBody>
      </p:sp>
      <p:sp>
        <p:nvSpPr>
          <p:cNvPr id="246" name="barra c0f0"/>
          <p:cNvSpPr/>
          <p:nvPr/>
        </p:nvSpPr>
        <p:spPr>
          <a:xfrm>
            <a:off x="1572768" y="2187702"/>
            <a:ext cx="834781" cy="6172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247" name="pct c0f0"/>
          <p:cNvSpPr txBox="1"/>
          <p:nvPr/>
        </p:nvSpPr>
        <p:spPr>
          <a:xfrm>
            <a:off x="2434981" y="216712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C0392B"/>
                </a:solidFill>
                <a:latin typeface="Calibri"/>
              </a:rPr>
              <a:t>+73%</a:t>
            </a:r>
          </a:p>
        </p:txBody>
      </p:sp>
      <p:sp>
        <p:nvSpPr>
          <p:cNvPr id="248" name="dis c0f0"/>
          <p:cNvSpPr txBox="1"/>
          <p:nvPr/>
        </p:nvSpPr>
        <p:spPr>
          <a:xfrm>
            <a:off x="2953512" y="216712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240 → 415</a:t>
            </a:r>
          </a:p>
        </p:txBody>
      </p:sp>
      <p:sp>
        <p:nvSpPr>
          <p:cNvPr id="249" name="cob c0f0"/>
          <p:cNvSpPr txBox="1"/>
          <p:nvPr/>
        </p:nvSpPr>
        <p:spPr>
          <a:xfrm>
            <a:off x="3977640" y="216712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65%</a:t>
            </a:r>
          </a:p>
        </p:txBody>
      </p:sp>
      <p:sp>
        <p:nvSpPr>
          <p:cNvPr id="250" name="nombre c0f1"/>
          <p:cNvSpPr txBox="1"/>
          <p:nvPr/>
        </p:nvSpPr>
        <p:spPr>
          <a:xfrm>
            <a:off x="438912" y="226999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23</a:t>
            </a:r>
          </a:p>
        </p:txBody>
      </p:sp>
      <p:sp>
        <p:nvSpPr>
          <p:cNvPr id="251" name="barra c0f1"/>
          <p:cNvSpPr/>
          <p:nvPr/>
        </p:nvSpPr>
        <p:spPr>
          <a:xfrm>
            <a:off x="1572768" y="2290572"/>
            <a:ext cx="635718" cy="6172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252" name="pct c0f1"/>
          <p:cNvSpPr txBox="1"/>
          <p:nvPr/>
        </p:nvSpPr>
        <p:spPr>
          <a:xfrm>
            <a:off x="2235918" y="226999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C0392B"/>
                </a:solidFill>
                <a:latin typeface="Calibri"/>
              </a:rPr>
              <a:t>+56%</a:t>
            </a:r>
          </a:p>
        </p:txBody>
      </p:sp>
      <p:sp>
        <p:nvSpPr>
          <p:cNvPr id="253" name="dis c0f1"/>
          <p:cNvSpPr txBox="1"/>
          <p:nvPr/>
        </p:nvSpPr>
        <p:spPr>
          <a:xfrm>
            <a:off x="2953512" y="226999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424 → 660</a:t>
            </a:r>
          </a:p>
        </p:txBody>
      </p:sp>
      <p:sp>
        <p:nvSpPr>
          <p:cNvPr id="254" name="cob c0f1"/>
          <p:cNvSpPr txBox="1"/>
          <p:nvPr/>
        </p:nvSpPr>
        <p:spPr>
          <a:xfrm>
            <a:off x="3977640" y="226999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C0392B"/>
                </a:solidFill>
                <a:latin typeface="Calibri"/>
              </a:rPr>
              <a:t>54%</a:t>
            </a:r>
          </a:p>
        </p:txBody>
      </p:sp>
      <p:sp>
        <p:nvSpPr>
          <p:cNvPr id="255" name="banda c0f2"/>
          <p:cNvSpPr/>
          <p:nvPr/>
        </p:nvSpPr>
        <p:spPr>
          <a:xfrm>
            <a:off x="411480" y="2372868"/>
            <a:ext cx="4114800" cy="102870"/>
          </a:xfrm>
          <a:prstGeom prst="rect">
            <a:avLst/>
          </a:prstGeom>
          <a:solidFill>
            <a:srgbClr val="FFFFFF"/>
          </a:solidFill>
          <a:ln>
            <a:noFill/>
          </a:ln>
        </p:spPr>
        <p:txBody>
          <a:bodyPr rtlCol="0" anchor="ctr"/>
          <a:lstStyle/>
          <a:p>
            <a:pPr algn="ctr"/>
            <a:endParaRPr lang="es-CO" noProof="0" dirty="0"/>
          </a:p>
        </p:txBody>
      </p:sp>
      <p:sp>
        <p:nvSpPr>
          <p:cNvPr id="256" name="nombre c0f2"/>
          <p:cNvSpPr txBox="1"/>
          <p:nvPr/>
        </p:nvSpPr>
        <p:spPr>
          <a:xfrm>
            <a:off x="438912" y="237286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18Ap</a:t>
            </a:r>
          </a:p>
        </p:txBody>
      </p:sp>
      <p:sp>
        <p:nvSpPr>
          <p:cNvPr id="257" name="barra c0f2"/>
          <p:cNvSpPr/>
          <p:nvPr/>
        </p:nvSpPr>
        <p:spPr>
          <a:xfrm>
            <a:off x="1572768" y="2393442"/>
            <a:ext cx="439143" cy="6172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258" name="pct c0f2"/>
          <p:cNvSpPr txBox="1"/>
          <p:nvPr/>
        </p:nvSpPr>
        <p:spPr>
          <a:xfrm>
            <a:off x="2039343" y="237286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C0392B"/>
                </a:solidFill>
                <a:latin typeface="Calibri"/>
              </a:rPr>
              <a:t>+38%</a:t>
            </a:r>
          </a:p>
        </p:txBody>
      </p:sp>
      <p:sp>
        <p:nvSpPr>
          <p:cNvPr id="259" name="dis c0f2"/>
          <p:cNvSpPr txBox="1"/>
          <p:nvPr/>
        </p:nvSpPr>
        <p:spPr>
          <a:xfrm>
            <a:off x="2953512" y="237286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323 → 447</a:t>
            </a:r>
          </a:p>
        </p:txBody>
      </p:sp>
      <p:sp>
        <p:nvSpPr>
          <p:cNvPr id="260" name="cob c0f2"/>
          <p:cNvSpPr txBox="1"/>
          <p:nvPr/>
        </p:nvSpPr>
        <p:spPr>
          <a:xfrm>
            <a:off x="3977640" y="237286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C0392B"/>
                </a:solidFill>
                <a:latin typeface="Calibri"/>
              </a:rPr>
              <a:t>48%</a:t>
            </a:r>
          </a:p>
        </p:txBody>
      </p:sp>
      <p:sp>
        <p:nvSpPr>
          <p:cNvPr id="261" name="nombre c0f3"/>
          <p:cNvSpPr txBox="1"/>
          <p:nvPr/>
        </p:nvSpPr>
        <p:spPr>
          <a:xfrm>
            <a:off x="438912" y="247573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121 CR</a:t>
            </a:r>
          </a:p>
        </p:txBody>
      </p:sp>
      <p:sp>
        <p:nvSpPr>
          <p:cNvPr id="262" name="barra c0f3"/>
          <p:cNvSpPr/>
          <p:nvPr/>
        </p:nvSpPr>
        <p:spPr>
          <a:xfrm>
            <a:off x="1572768" y="2496312"/>
            <a:ext cx="390855" cy="6172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263" name="pct c0f3"/>
          <p:cNvSpPr txBox="1"/>
          <p:nvPr/>
        </p:nvSpPr>
        <p:spPr>
          <a:xfrm>
            <a:off x="1991055" y="247573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C0392B"/>
                </a:solidFill>
                <a:latin typeface="Calibri"/>
              </a:rPr>
              <a:t>+34%</a:t>
            </a:r>
          </a:p>
        </p:txBody>
      </p:sp>
      <p:sp>
        <p:nvSpPr>
          <p:cNvPr id="264" name="dis c0f3"/>
          <p:cNvSpPr txBox="1"/>
          <p:nvPr/>
        </p:nvSpPr>
        <p:spPr>
          <a:xfrm>
            <a:off x="2953512" y="247573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946 → 1.270</a:t>
            </a:r>
          </a:p>
        </p:txBody>
      </p:sp>
      <p:sp>
        <p:nvSpPr>
          <p:cNvPr id="265" name="cob c0f3"/>
          <p:cNvSpPr txBox="1"/>
          <p:nvPr/>
        </p:nvSpPr>
        <p:spPr>
          <a:xfrm>
            <a:off x="3977640" y="247573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C0392B"/>
                </a:solidFill>
                <a:latin typeface="Calibri"/>
              </a:rPr>
              <a:t>53%</a:t>
            </a:r>
          </a:p>
        </p:txBody>
      </p:sp>
      <p:sp>
        <p:nvSpPr>
          <p:cNvPr id="266" name="banda c0f4"/>
          <p:cNvSpPr/>
          <p:nvPr/>
        </p:nvSpPr>
        <p:spPr>
          <a:xfrm>
            <a:off x="411480" y="2578608"/>
            <a:ext cx="4114800" cy="102870"/>
          </a:xfrm>
          <a:prstGeom prst="rect">
            <a:avLst/>
          </a:prstGeom>
          <a:solidFill>
            <a:srgbClr val="FFFFFF"/>
          </a:solidFill>
          <a:ln>
            <a:noFill/>
          </a:ln>
        </p:spPr>
        <p:txBody>
          <a:bodyPr rtlCol="0" anchor="ctr"/>
          <a:lstStyle/>
          <a:p>
            <a:pPr algn="ctr"/>
            <a:endParaRPr lang="es-CO" noProof="0" dirty="0"/>
          </a:p>
        </p:txBody>
      </p:sp>
      <p:sp>
        <p:nvSpPr>
          <p:cNvPr id="267" name="nombre c0f4"/>
          <p:cNvSpPr txBox="1"/>
          <p:nvPr/>
        </p:nvSpPr>
        <p:spPr>
          <a:xfrm>
            <a:off x="438912" y="257860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56</a:t>
            </a:r>
          </a:p>
        </p:txBody>
      </p:sp>
      <p:sp>
        <p:nvSpPr>
          <p:cNvPr id="268" name="barra c0f4"/>
          <p:cNvSpPr/>
          <p:nvPr/>
        </p:nvSpPr>
        <p:spPr>
          <a:xfrm>
            <a:off x="1572768" y="2599182"/>
            <a:ext cx="383170" cy="6172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269" name="pct c0f4"/>
          <p:cNvSpPr txBox="1"/>
          <p:nvPr/>
        </p:nvSpPr>
        <p:spPr>
          <a:xfrm>
            <a:off x="1983370" y="257860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C0392B"/>
                </a:solidFill>
                <a:latin typeface="Calibri"/>
              </a:rPr>
              <a:t>+34%</a:t>
            </a:r>
          </a:p>
        </p:txBody>
      </p:sp>
      <p:sp>
        <p:nvSpPr>
          <p:cNvPr id="270" name="dis c0f4"/>
          <p:cNvSpPr txBox="1"/>
          <p:nvPr/>
        </p:nvSpPr>
        <p:spPr>
          <a:xfrm>
            <a:off x="2953512" y="257860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298 → 398</a:t>
            </a:r>
          </a:p>
        </p:txBody>
      </p:sp>
      <p:sp>
        <p:nvSpPr>
          <p:cNvPr id="271" name="cob c0f4"/>
          <p:cNvSpPr txBox="1"/>
          <p:nvPr/>
        </p:nvSpPr>
        <p:spPr>
          <a:xfrm>
            <a:off x="3977640" y="257860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61%</a:t>
            </a:r>
          </a:p>
        </p:txBody>
      </p:sp>
      <p:sp>
        <p:nvSpPr>
          <p:cNvPr id="272" name="nombre c0f5"/>
          <p:cNvSpPr txBox="1"/>
          <p:nvPr/>
        </p:nvSpPr>
        <p:spPr>
          <a:xfrm>
            <a:off x="438912" y="268147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24</a:t>
            </a:r>
          </a:p>
        </p:txBody>
      </p:sp>
      <p:sp>
        <p:nvSpPr>
          <p:cNvPr id="273" name="barra c0f5"/>
          <p:cNvSpPr/>
          <p:nvPr/>
        </p:nvSpPr>
        <p:spPr>
          <a:xfrm>
            <a:off x="1572768" y="2702052"/>
            <a:ext cx="380074" cy="6172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274" name="pct c0f5"/>
          <p:cNvSpPr txBox="1"/>
          <p:nvPr/>
        </p:nvSpPr>
        <p:spPr>
          <a:xfrm>
            <a:off x="1980274" y="268147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C0392B"/>
                </a:solidFill>
                <a:latin typeface="Calibri"/>
              </a:rPr>
              <a:t>+33%</a:t>
            </a:r>
          </a:p>
        </p:txBody>
      </p:sp>
      <p:sp>
        <p:nvSpPr>
          <p:cNvPr id="275" name="dis c0f5"/>
          <p:cNvSpPr txBox="1"/>
          <p:nvPr/>
        </p:nvSpPr>
        <p:spPr>
          <a:xfrm>
            <a:off x="2953512" y="268147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780 → 1.039</a:t>
            </a:r>
          </a:p>
        </p:txBody>
      </p:sp>
      <p:sp>
        <p:nvSpPr>
          <p:cNvPr id="276" name="cob c0f5"/>
          <p:cNvSpPr txBox="1"/>
          <p:nvPr/>
        </p:nvSpPr>
        <p:spPr>
          <a:xfrm>
            <a:off x="3977640" y="268147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66%</a:t>
            </a:r>
          </a:p>
        </p:txBody>
      </p:sp>
      <p:sp>
        <p:nvSpPr>
          <p:cNvPr id="277" name="banda c0f6"/>
          <p:cNvSpPr/>
          <p:nvPr/>
        </p:nvSpPr>
        <p:spPr>
          <a:xfrm>
            <a:off x="411480" y="2784348"/>
            <a:ext cx="4114800" cy="102870"/>
          </a:xfrm>
          <a:prstGeom prst="rect">
            <a:avLst/>
          </a:prstGeom>
          <a:solidFill>
            <a:srgbClr val="FFFFFF"/>
          </a:solidFill>
          <a:ln>
            <a:noFill/>
          </a:ln>
        </p:spPr>
        <p:txBody>
          <a:bodyPr rtlCol="0" anchor="ctr"/>
          <a:lstStyle/>
          <a:p>
            <a:pPr algn="ctr"/>
            <a:endParaRPr lang="es-CO" noProof="0" dirty="0"/>
          </a:p>
        </p:txBody>
      </p:sp>
      <p:sp>
        <p:nvSpPr>
          <p:cNvPr id="278" name="nombre c0f6"/>
          <p:cNvSpPr txBox="1"/>
          <p:nvPr/>
        </p:nvSpPr>
        <p:spPr>
          <a:xfrm>
            <a:off x="438912" y="278434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93p</a:t>
            </a:r>
          </a:p>
        </p:txBody>
      </p:sp>
      <p:sp>
        <p:nvSpPr>
          <p:cNvPr id="279" name="barra c0f6"/>
          <p:cNvSpPr/>
          <p:nvPr/>
        </p:nvSpPr>
        <p:spPr>
          <a:xfrm>
            <a:off x="1572768" y="2804922"/>
            <a:ext cx="371091" cy="6172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280" name="pct c0f6"/>
          <p:cNvSpPr txBox="1"/>
          <p:nvPr/>
        </p:nvSpPr>
        <p:spPr>
          <a:xfrm>
            <a:off x="1971291" y="278434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C0392B"/>
                </a:solidFill>
                <a:latin typeface="Calibri"/>
              </a:rPr>
              <a:t>+32%</a:t>
            </a:r>
          </a:p>
        </p:txBody>
      </p:sp>
      <p:sp>
        <p:nvSpPr>
          <p:cNvPr id="281" name="dis c0f6"/>
          <p:cNvSpPr txBox="1"/>
          <p:nvPr/>
        </p:nvSpPr>
        <p:spPr>
          <a:xfrm>
            <a:off x="2953512" y="278434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390 → 517</a:t>
            </a:r>
          </a:p>
        </p:txBody>
      </p:sp>
      <p:sp>
        <p:nvSpPr>
          <p:cNvPr id="282" name="cob c0f6"/>
          <p:cNvSpPr txBox="1"/>
          <p:nvPr/>
        </p:nvSpPr>
        <p:spPr>
          <a:xfrm>
            <a:off x="3977640" y="278434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61%</a:t>
            </a:r>
          </a:p>
        </p:txBody>
      </p:sp>
      <p:sp>
        <p:nvSpPr>
          <p:cNvPr id="283" name="nombre c0f7"/>
          <p:cNvSpPr txBox="1"/>
          <p:nvPr/>
        </p:nvSpPr>
        <p:spPr>
          <a:xfrm>
            <a:off x="438912" y="288721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18PR</a:t>
            </a:r>
          </a:p>
        </p:txBody>
      </p:sp>
      <p:sp>
        <p:nvSpPr>
          <p:cNvPr id="284" name="barra c0f7"/>
          <p:cNvSpPr/>
          <p:nvPr/>
        </p:nvSpPr>
        <p:spPr>
          <a:xfrm>
            <a:off x="1572768" y="2907792"/>
            <a:ext cx="346459" cy="6172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285" name="pct c0f7"/>
          <p:cNvSpPr txBox="1"/>
          <p:nvPr/>
        </p:nvSpPr>
        <p:spPr>
          <a:xfrm>
            <a:off x="1946659" y="288721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C0392B"/>
                </a:solidFill>
                <a:latin typeface="Calibri"/>
              </a:rPr>
              <a:t>+30,3%</a:t>
            </a:r>
          </a:p>
        </p:txBody>
      </p:sp>
      <p:sp>
        <p:nvSpPr>
          <p:cNvPr id="286" name="dis c0f7"/>
          <p:cNvSpPr txBox="1"/>
          <p:nvPr/>
        </p:nvSpPr>
        <p:spPr>
          <a:xfrm>
            <a:off x="2953512" y="288721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278 → 362</a:t>
            </a:r>
          </a:p>
        </p:txBody>
      </p:sp>
      <p:sp>
        <p:nvSpPr>
          <p:cNvPr id="287" name="cob c0f7"/>
          <p:cNvSpPr txBox="1"/>
          <p:nvPr/>
        </p:nvSpPr>
        <p:spPr>
          <a:xfrm>
            <a:off x="3977640" y="288721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56%</a:t>
            </a:r>
          </a:p>
        </p:txBody>
      </p:sp>
      <p:sp>
        <p:nvSpPr>
          <p:cNvPr id="288" name="banda c0f8"/>
          <p:cNvSpPr/>
          <p:nvPr/>
        </p:nvSpPr>
        <p:spPr>
          <a:xfrm>
            <a:off x="411480" y="2990088"/>
            <a:ext cx="4114800" cy="102870"/>
          </a:xfrm>
          <a:prstGeom prst="rect">
            <a:avLst/>
          </a:prstGeom>
          <a:solidFill>
            <a:srgbClr val="FFFFFF"/>
          </a:solidFill>
          <a:ln>
            <a:noFill/>
          </a:ln>
        </p:spPr>
        <p:txBody>
          <a:bodyPr rtlCol="0" anchor="ctr"/>
          <a:lstStyle/>
          <a:p>
            <a:pPr algn="ctr"/>
            <a:endParaRPr lang="es-CO" noProof="0" dirty="0"/>
          </a:p>
        </p:txBody>
      </p:sp>
      <p:sp>
        <p:nvSpPr>
          <p:cNvPr id="289" name="nombre c0f8"/>
          <p:cNvSpPr txBox="1"/>
          <p:nvPr/>
        </p:nvSpPr>
        <p:spPr>
          <a:xfrm>
            <a:off x="438912" y="299008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415p</a:t>
            </a:r>
          </a:p>
        </p:txBody>
      </p:sp>
      <p:sp>
        <p:nvSpPr>
          <p:cNvPr id="290" name="barra c0f8"/>
          <p:cNvSpPr/>
          <p:nvPr/>
        </p:nvSpPr>
        <p:spPr>
          <a:xfrm>
            <a:off x="1572768" y="3010662"/>
            <a:ext cx="345434" cy="6172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291" name="pct c0f8"/>
          <p:cNvSpPr txBox="1"/>
          <p:nvPr/>
        </p:nvSpPr>
        <p:spPr>
          <a:xfrm>
            <a:off x="1945634" y="299008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C0392B"/>
                </a:solidFill>
                <a:latin typeface="Calibri"/>
              </a:rPr>
              <a:t>+30,2%</a:t>
            </a:r>
          </a:p>
        </p:txBody>
      </p:sp>
      <p:sp>
        <p:nvSpPr>
          <p:cNvPr id="292" name="dis c0f8"/>
          <p:cNvSpPr txBox="1"/>
          <p:nvPr/>
        </p:nvSpPr>
        <p:spPr>
          <a:xfrm>
            <a:off x="2953512" y="299008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238 → 310</a:t>
            </a:r>
          </a:p>
        </p:txBody>
      </p:sp>
      <p:sp>
        <p:nvSpPr>
          <p:cNvPr id="293" name="cob c0f8"/>
          <p:cNvSpPr txBox="1"/>
          <p:nvPr/>
        </p:nvSpPr>
        <p:spPr>
          <a:xfrm>
            <a:off x="3977640" y="299008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58%</a:t>
            </a:r>
          </a:p>
        </p:txBody>
      </p:sp>
      <p:sp>
        <p:nvSpPr>
          <p:cNvPr id="294" name="nombre c0f9"/>
          <p:cNvSpPr txBox="1"/>
          <p:nvPr/>
        </p:nvSpPr>
        <p:spPr>
          <a:xfrm>
            <a:off x="438912" y="309295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78T</a:t>
            </a:r>
          </a:p>
        </p:txBody>
      </p:sp>
      <p:sp>
        <p:nvSpPr>
          <p:cNvPr id="295" name="barra c0f9"/>
          <p:cNvSpPr/>
          <p:nvPr/>
        </p:nvSpPr>
        <p:spPr>
          <a:xfrm>
            <a:off x="1572768" y="3113532"/>
            <a:ext cx="333703" cy="6172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296" name="pct c0f9"/>
          <p:cNvSpPr txBox="1"/>
          <p:nvPr/>
        </p:nvSpPr>
        <p:spPr>
          <a:xfrm>
            <a:off x="1933903" y="309295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+29%</a:t>
            </a:r>
          </a:p>
        </p:txBody>
      </p:sp>
      <p:sp>
        <p:nvSpPr>
          <p:cNvPr id="297" name="dis c0f9"/>
          <p:cNvSpPr txBox="1"/>
          <p:nvPr/>
        </p:nvSpPr>
        <p:spPr>
          <a:xfrm>
            <a:off x="2953512" y="309295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817 → 1.056</a:t>
            </a:r>
          </a:p>
        </p:txBody>
      </p:sp>
      <p:sp>
        <p:nvSpPr>
          <p:cNvPr id="298" name="cob c0f9"/>
          <p:cNvSpPr txBox="1"/>
          <p:nvPr/>
        </p:nvSpPr>
        <p:spPr>
          <a:xfrm>
            <a:off x="3977640" y="309295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61%</a:t>
            </a:r>
          </a:p>
        </p:txBody>
      </p:sp>
      <p:sp>
        <p:nvSpPr>
          <p:cNvPr id="299" name="banda c0f10"/>
          <p:cNvSpPr/>
          <p:nvPr/>
        </p:nvSpPr>
        <p:spPr>
          <a:xfrm>
            <a:off x="411480" y="3195828"/>
            <a:ext cx="4114800" cy="102870"/>
          </a:xfrm>
          <a:prstGeom prst="rect">
            <a:avLst/>
          </a:prstGeom>
          <a:solidFill>
            <a:srgbClr val="FFFFFF"/>
          </a:solidFill>
          <a:ln>
            <a:noFill/>
          </a:ln>
        </p:spPr>
        <p:txBody>
          <a:bodyPr rtlCol="0" anchor="ctr"/>
          <a:lstStyle/>
          <a:p>
            <a:pPr algn="ctr"/>
            <a:endParaRPr lang="es-CO" noProof="0" dirty="0"/>
          </a:p>
        </p:txBody>
      </p:sp>
      <p:sp>
        <p:nvSpPr>
          <p:cNvPr id="300" name="nombre c0f10"/>
          <p:cNvSpPr txBox="1"/>
          <p:nvPr/>
        </p:nvSpPr>
        <p:spPr>
          <a:xfrm>
            <a:off x="438912" y="319582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425p</a:t>
            </a:r>
          </a:p>
        </p:txBody>
      </p:sp>
      <p:sp>
        <p:nvSpPr>
          <p:cNvPr id="301" name="barra c0f10"/>
          <p:cNvSpPr/>
          <p:nvPr/>
        </p:nvSpPr>
        <p:spPr>
          <a:xfrm>
            <a:off x="1572768" y="3216402"/>
            <a:ext cx="268665" cy="6172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302" name="pct c0f10"/>
          <p:cNvSpPr txBox="1"/>
          <p:nvPr/>
        </p:nvSpPr>
        <p:spPr>
          <a:xfrm>
            <a:off x="1868865" y="319582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+24%</a:t>
            </a:r>
          </a:p>
        </p:txBody>
      </p:sp>
      <p:sp>
        <p:nvSpPr>
          <p:cNvPr id="303" name="dis c0f10"/>
          <p:cNvSpPr txBox="1"/>
          <p:nvPr/>
        </p:nvSpPr>
        <p:spPr>
          <a:xfrm>
            <a:off x="2953512" y="319582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403 → 498</a:t>
            </a:r>
          </a:p>
        </p:txBody>
      </p:sp>
      <p:sp>
        <p:nvSpPr>
          <p:cNvPr id="304" name="cob c0f10"/>
          <p:cNvSpPr txBox="1"/>
          <p:nvPr/>
        </p:nvSpPr>
        <p:spPr>
          <a:xfrm>
            <a:off x="3977640" y="319582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74%</a:t>
            </a:r>
          </a:p>
        </p:txBody>
      </p:sp>
      <p:sp>
        <p:nvSpPr>
          <p:cNvPr id="305" name="nombre c0f11"/>
          <p:cNvSpPr txBox="1"/>
          <p:nvPr/>
        </p:nvSpPr>
        <p:spPr>
          <a:xfrm>
            <a:off x="438912" y="329869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102p</a:t>
            </a:r>
          </a:p>
        </p:txBody>
      </p:sp>
      <p:sp>
        <p:nvSpPr>
          <p:cNvPr id="306" name="barra c0f11"/>
          <p:cNvSpPr/>
          <p:nvPr/>
        </p:nvSpPr>
        <p:spPr>
          <a:xfrm>
            <a:off x="1572768" y="3319272"/>
            <a:ext cx="266826" cy="6172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307" name="pct c0f11"/>
          <p:cNvSpPr txBox="1"/>
          <p:nvPr/>
        </p:nvSpPr>
        <p:spPr>
          <a:xfrm>
            <a:off x="1867026" y="329869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+23%</a:t>
            </a:r>
          </a:p>
        </p:txBody>
      </p:sp>
      <p:sp>
        <p:nvSpPr>
          <p:cNvPr id="308" name="dis c0f11"/>
          <p:cNvSpPr txBox="1"/>
          <p:nvPr/>
        </p:nvSpPr>
        <p:spPr>
          <a:xfrm>
            <a:off x="2953512" y="329869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241 → 298</a:t>
            </a:r>
          </a:p>
        </p:txBody>
      </p:sp>
      <p:sp>
        <p:nvSpPr>
          <p:cNvPr id="309" name="cob c0f11"/>
          <p:cNvSpPr txBox="1"/>
          <p:nvPr/>
        </p:nvSpPr>
        <p:spPr>
          <a:xfrm>
            <a:off x="3977640" y="329869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61%</a:t>
            </a:r>
          </a:p>
        </p:txBody>
      </p:sp>
      <p:sp>
        <p:nvSpPr>
          <p:cNvPr id="310" name="banda c0f12"/>
          <p:cNvSpPr/>
          <p:nvPr/>
        </p:nvSpPr>
        <p:spPr>
          <a:xfrm>
            <a:off x="411480" y="3401568"/>
            <a:ext cx="4114800" cy="102870"/>
          </a:xfrm>
          <a:prstGeom prst="rect">
            <a:avLst/>
          </a:prstGeom>
          <a:solidFill>
            <a:srgbClr val="FFFFFF"/>
          </a:solidFill>
          <a:ln>
            <a:noFill/>
          </a:ln>
        </p:spPr>
        <p:txBody>
          <a:bodyPr rtlCol="0" anchor="ctr"/>
          <a:lstStyle/>
          <a:p>
            <a:pPr algn="ctr"/>
            <a:endParaRPr lang="es-CO" noProof="0" dirty="0"/>
          </a:p>
        </p:txBody>
      </p:sp>
      <p:sp>
        <p:nvSpPr>
          <p:cNvPr id="311" name="nombre c0f12"/>
          <p:cNvSpPr txBox="1"/>
          <p:nvPr/>
        </p:nvSpPr>
        <p:spPr>
          <a:xfrm>
            <a:off x="438912" y="340156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77</a:t>
            </a:r>
          </a:p>
        </p:txBody>
      </p:sp>
      <p:sp>
        <p:nvSpPr>
          <p:cNvPr id="312" name="barra c0f12"/>
          <p:cNvSpPr/>
          <p:nvPr/>
        </p:nvSpPr>
        <p:spPr>
          <a:xfrm>
            <a:off x="1572768" y="3422142"/>
            <a:ext cx="241818" cy="6172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313" name="pct c0f12"/>
          <p:cNvSpPr txBox="1"/>
          <p:nvPr/>
        </p:nvSpPr>
        <p:spPr>
          <a:xfrm>
            <a:off x="1842018" y="340156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+21%</a:t>
            </a:r>
          </a:p>
        </p:txBody>
      </p:sp>
      <p:sp>
        <p:nvSpPr>
          <p:cNvPr id="314" name="dis c0f12"/>
          <p:cNvSpPr txBox="1"/>
          <p:nvPr/>
        </p:nvSpPr>
        <p:spPr>
          <a:xfrm>
            <a:off x="2953512" y="340156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271 → 328</a:t>
            </a:r>
          </a:p>
        </p:txBody>
      </p:sp>
      <p:sp>
        <p:nvSpPr>
          <p:cNvPr id="315" name="cob c0f12"/>
          <p:cNvSpPr txBox="1"/>
          <p:nvPr/>
        </p:nvSpPr>
        <p:spPr>
          <a:xfrm>
            <a:off x="3977640" y="340156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75%</a:t>
            </a:r>
          </a:p>
        </p:txBody>
      </p:sp>
      <p:sp>
        <p:nvSpPr>
          <p:cNvPr id="316" name="nombre c0f13"/>
          <p:cNvSpPr txBox="1"/>
          <p:nvPr/>
        </p:nvSpPr>
        <p:spPr>
          <a:xfrm>
            <a:off x="438912" y="350443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23p</a:t>
            </a:r>
          </a:p>
        </p:txBody>
      </p:sp>
      <p:sp>
        <p:nvSpPr>
          <p:cNvPr id="317" name="barra c0f13"/>
          <p:cNvSpPr/>
          <p:nvPr/>
        </p:nvSpPr>
        <p:spPr>
          <a:xfrm>
            <a:off x="1572768" y="3525012"/>
            <a:ext cx="183693" cy="6172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318" name="pct c0f13"/>
          <p:cNvSpPr txBox="1"/>
          <p:nvPr/>
        </p:nvSpPr>
        <p:spPr>
          <a:xfrm>
            <a:off x="1783893" y="350443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+16%</a:t>
            </a:r>
          </a:p>
        </p:txBody>
      </p:sp>
      <p:sp>
        <p:nvSpPr>
          <p:cNvPr id="319" name="dis c0f13"/>
          <p:cNvSpPr txBox="1"/>
          <p:nvPr/>
        </p:nvSpPr>
        <p:spPr>
          <a:xfrm>
            <a:off x="2953512" y="350443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239 → 278</a:t>
            </a:r>
          </a:p>
        </p:txBody>
      </p:sp>
      <p:sp>
        <p:nvSpPr>
          <p:cNvPr id="320" name="cob c0f13"/>
          <p:cNvSpPr txBox="1"/>
          <p:nvPr/>
        </p:nvSpPr>
        <p:spPr>
          <a:xfrm>
            <a:off x="3977640" y="350443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70%</a:t>
            </a:r>
          </a:p>
        </p:txBody>
      </p:sp>
      <p:sp>
        <p:nvSpPr>
          <p:cNvPr id="321" name="banda c0f14"/>
          <p:cNvSpPr/>
          <p:nvPr/>
        </p:nvSpPr>
        <p:spPr>
          <a:xfrm>
            <a:off x="411480" y="3607308"/>
            <a:ext cx="4114800" cy="102870"/>
          </a:xfrm>
          <a:prstGeom prst="rect">
            <a:avLst/>
          </a:prstGeom>
          <a:solidFill>
            <a:srgbClr val="FFFFFF"/>
          </a:solidFill>
          <a:ln>
            <a:noFill/>
          </a:ln>
        </p:spPr>
        <p:txBody>
          <a:bodyPr rtlCol="0" anchor="ctr"/>
          <a:lstStyle/>
          <a:p>
            <a:pPr algn="ctr"/>
            <a:endParaRPr lang="es-CO" noProof="0" dirty="0"/>
          </a:p>
        </p:txBody>
      </p:sp>
      <p:sp>
        <p:nvSpPr>
          <p:cNvPr id="322" name="nombre c0f14"/>
          <p:cNvSpPr txBox="1"/>
          <p:nvPr/>
        </p:nvSpPr>
        <p:spPr>
          <a:xfrm>
            <a:off x="438912" y="360730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74</a:t>
            </a:r>
          </a:p>
        </p:txBody>
      </p:sp>
      <p:sp>
        <p:nvSpPr>
          <p:cNvPr id="323" name="barra c0f14"/>
          <p:cNvSpPr/>
          <p:nvPr/>
        </p:nvSpPr>
        <p:spPr>
          <a:xfrm>
            <a:off x="1572768" y="3627882"/>
            <a:ext cx="182375" cy="6172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324" name="pct c0f14"/>
          <p:cNvSpPr txBox="1"/>
          <p:nvPr/>
        </p:nvSpPr>
        <p:spPr>
          <a:xfrm>
            <a:off x="1782575" y="360730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+16%</a:t>
            </a:r>
          </a:p>
        </p:txBody>
      </p:sp>
      <p:sp>
        <p:nvSpPr>
          <p:cNvPr id="325" name="dis c0f14"/>
          <p:cNvSpPr txBox="1"/>
          <p:nvPr/>
        </p:nvSpPr>
        <p:spPr>
          <a:xfrm>
            <a:off x="2953512" y="360730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380 → 441</a:t>
            </a:r>
          </a:p>
        </p:txBody>
      </p:sp>
      <p:sp>
        <p:nvSpPr>
          <p:cNvPr id="326" name="cob c0f14"/>
          <p:cNvSpPr txBox="1"/>
          <p:nvPr/>
        </p:nvSpPr>
        <p:spPr>
          <a:xfrm>
            <a:off x="3977640" y="360730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C0392B"/>
                </a:solidFill>
                <a:latin typeface="Calibri"/>
              </a:rPr>
              <a:t>44%</a:t>
            </a:r>
          </a:p>
        </p:txBody>
      </p:sp>
      <p:sp>
        <p:nvSpPr>
          <p:cNvPr id="327" name="nombre c0f15"/>
          <p:cNvSpPr txBox="1"/>
          <p:nvPr/>
        </p:nvSpPr>
        <p:spPr>
          <a:xfrm>
            <a:off x="438912" y="371017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35</a:t>
            </a:r>
          </a:p>
        </p:txBody>
      </p:sp>
      <p:sp>
        <p:nvSpPr>
          <p:cNvPr id="328" name="barra c0f15"/>
          <p:cNvSpPr/>
          <p:nvPr/>
        </p:nvSpPr>
        <p:spPr>
          <a:xfrm>
            <a:off x="1572768" y="3730752"/>
            <a:ext cx="170197" cy="6172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29" name="pct c0f15"/>
          <p:cNvSpPr txBox="1"/>
          <p:nvPr/>
        </p:nvSpPr>
        <p:spPr>
          <a:xfrm>
            <a:off x="1770397" y="371017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1E8449"/>
                </a:solidFill>
                <a:latin typeface="Calibri"/>
              </a:rPr>
              <a:t>+14,9%</a:t>
            </a:r>
          </a:p>
        </p:txBody>
      </p:sp>
      <p:sp>
        <p:nvSpPr>
          <p:cNvPr id="330" name="dis c0f15"/>
          <p:cNvSpPr txBox="1"/>
          <p:nvPr/>
        </p:nvSpPr>
        <p:spPr>
          <a:xfrm>
            <a:off x="2953512" y="371017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280 → 322</a:t>
            </a:r>
          </a:p>
        </p:txBody>
      </p:sp>
      <p:sp>
        <p:nvSpPr>
          <p:cNvPr id="331" name="cob c0f15"/>
          <p:cNvSpPr txBox="1"/>
          <p:nvPr/>
        </p:nvSpPr>
        <p:spPr>
          <a:xfrm>
            <a:off x="3977640" y="371017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C0392B"/>
                </a:solidFill>
                <a:latin typeface="Calibri"/>
              </a:rPr>
              <a:t>43%</a:t>
            </a:r>
          </a:p>
        </p:txBody>
      </p:sp>
      <p:sp>
        <p:nvSpPr>
          <p:cNvPr id="332" name="banda c0f16"/>
          <p:cNvSpPr/>
          <p:nvPr/>
        </p:nvSpPr>
        <p:spPr>
          <a:xfrm>
            <a:off x="411480" y="3813048"/>
            <a:ext cx="4114800" cy="102870"/>
          </a:xfrm>
          <a:prstGeom prst="rect">
            <a:avLst/>
          </a:prstGeom>
          <a:solidFill>
            <a:srgbClr val="FFFFFF"/>
          </a:solidFill>
          <a:ln>
            <a:noFill/>
          </a:ln>
        </p:spPr>
        <p:txBody>
          <a:bodyPr rtlCol="0" anchor="ctr"/>
          <a:lstStyle/>
          <a:p>
            <a:pPr algn="ctr"/>
            <a:endParaRPr lang="es-CO" noProof="0" dirty="0"/>
          </a:p>
        </p:txBody>
      </p:sp>
      <p:sp>
        <p:nvSpPr>
          <p:cNvPr id="333" name="nombre c0f16"/>
          <p:cNvSpPr txBox="1"/>
          <p:nvPr/>
        </p:nvSpPr>
        <p:spPr>
          <a:xfrm>
            <a:off x="438912" y="381304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9G</a:t>
            </a:r>
          </a:p>
        </p:txBody>
      </p:sp>
      <p:sp>
        <p:nvSpPr>
          <p:cNvPr id="334" name="barra c0f16"/>
          <p:cNvSpPr/>
          <p:nvPr/>
        </p:nvSpPr>
        <p:spPr>
          <a:xfrm>
            <a:off x="1572768" y="3833622"/>
            <a:ext cx="165016" cy="6172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35" name="pct c0f16"/>
          <p:cNvSpPr txBox="1"/>
          <p:nvPr/>
        </p:nvSpPr>
        <p:spPr>
          <a:xfrm>
            <a:off x="1765216" y="381304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1E8449"/>
                </a:solidFill>
                <a:latin typeface="Calibri"/>
              </a:rPr>
              <a:t>+14%</a:t>
            </a:r>
          </a:p>
        </p:txBody>
      </p:sp>
      <p:sp>
        <p:nvSpPr>
          <p:cNvPr id="336" name="dis c0f16"/>
          <p:cNvSpPr txBox="1"/>
          <p:nvPr/>
        </p:nvSpPr>
        <p:spPr>
          <a:xfrm>
            <a:off x="2953512" y="381304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938 → 1.074</a:t>
            </a:r>
          </a:p>
        </p:txBody>
      </p:sp>
      <p:sp>
        <p:nvSpPr>
          <p:cNvPr id="337" name="cob c0f16"/>
          <p:cNvSpPr txBox="1"/>
          <p:nvPr/>
        </p:nvSpPr>
        <p:spPr>
          <a:xfrm>
            <a:off x="3977640" y="381304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68%</a:t>
            </a:r>
          </a:p>
        </p:txBody>
      </p:sp>
      <p:sp>
        <p:nvSpPr>
          <p:cNvPr id="338" name="nombre c0f17"/>
          <p:cNvSpPr txBox="1"/>
          <p:nvPr/>
        </p:nvSpPr>
        <p:spPr>
          <a:xfrm>
            <a:off x="438912" y="391591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42</a:t>
            </a:r>
          </a:p>
        </p:txBody>
      </p:sp>
      <p:sp>
        <p:nvSpPr>
          <p:cNvPr id="339" name="barra c0f17"/>
          <p:cNvSpPr/>
          <p:nvPr/>
        </p:nvSpPr>
        <p:spPr>
          <a:xfrm>
            <a:off x="1572768" y="3936492"/>
            <a:ext cx="152296" cy="6172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40" name="pct c0f17"/>
          <p:cNvSpPr txBox="1"/>
          <p:nvPr/>
        </p:nvSpPr>
        <p:spPr>
          <a:xfrm>
            <a:off x="1752496" y="391591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1E8449"/>
                </a:solidFill>
                <a:latin typeface="Calibri"/>
              </a:rPr>
              <a:t>+13%</a:t>
            </a:r>
          </a:p>
        </p:txBody>
      </p:sp>
      <p:sp>
        <p:nvSpPr>
          <p:cNvPr id="341" name="dis c0f17"/>
          <p:cNvSpPr txBox="1"/>
          <p:nvPr/>
        </p:nvSpPr>
        <p:spPr>
          <a:xfrm>
            <a:off x="2953512" y="391591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259 → 293</a:t>
            </a:r>
          </a:p>
        </p:txBody>
      </p:sp>
      <p:sp>
        <p:nvSpPr>
          <p:cNvPr id="342" name="cob c0f17"/>
          <p:cNvSpPr txBox="1"/>
          <p:nvPr/>
        </p:nvSpPr>
        <p:spPr>
          <a:xfrm>
            <a:off x="3977640" y="391591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75%</a:t>
            </a:r>
          </a:p>
        </p:txBody>
      </p:sp>
      <p:sp>
        <p:nvSpPr>
          <p:cNvPr id="343" name="banda c0f18"/>
          <p:cNvSpPr/>
          <p:nvPr/>
        </p:nvSpPr>
        <p:spPr>
          <a:xfrm>
            <a:off x="411480" y="4018788"/>
            <a:ext cx="4114800" cy="102870"/>
          </a:xfrm>
          <a:prstGeom prst="rect">
            <a:avLst/>
          </a:prstGeom>
          <a:solidFill>
            <a:srgbClr val="FFFFFF"/>
          </a:solidFill>
          <a:ln>
            <a:noFill/>
          </a:ln>
        </p:spPr>
        <p:txBody>
          <a:bodyPr rtlCol="0" anchor="ctr"/>
          <a:lstStyle/>
          <a:p>
            <a:pPr algn="ctr"/>
            <a:endParaRPr lang="es-CO" noProof="0" dirty="0"/>
          </a:p>
        </p:txBody>
      </p:sp>
      <p:sp>
        <p:nvSpPr>
          <p:cNvPr id="344" name="nombre c0f18"/>
          <p:cNvSpPr txBox="1"/>
          <p:nvPr/>
        </p:nvSpPr>
        <p:spPr>
          <a:xfrm>
            <a:off x="438912" y="401878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15p</a:t>
            </a:r>
          </a:p>
        </p:txBody>
      </p:sp>
      <p:sp>
        <p:nvSpPr>
          <p:cNvPr id="345" name="barra c0f18"/>
          <p:cNvSpPr/>
          <p:nvPr/>
        </p:nvSpPr>
        <p:spPr>
          <a:xfrm>
            <a:off x="1572768" y="4039362"/>
            <a:ext cx="148056" cy="6172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46" name="pct c0f18"/>
          <p:cNvSpPr txBox="1"/>
          <p:nvPr/>
        </p:nvSpPr>
        <p:spPr>
          <a:xfrm>
            <a:off x="1748256" y="401878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1E8449"/>
                </a:solidFill>
                <a:latin typeface="Calibri"/>
              </a:rPr>
              <a:t>+13%</a:t>
            </a:r>
          </a:p>
        </p:txBody>
      </p:sp>
      <p:sp>
        <p:nvSpPr>
          <p:cNvPr id="347" name="dis c0f18"/>
          <p:cNvSpPr txBox="1"/>
          <p:nvPr/>
        </p:nvSpPr>
        <p:spPr>
          <a:xfrm>
            <a:off x="2953512" y="401878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213 → 240</a:t>
            </a:r>
          </a:p>
        </p:txBody>
      </p:sp>
      <p:sp>
        <p:nvSpPr>
          <p:cNvPr id="348" name="cob c0f18"/>
          <p:cNvSpPr txBox="1"/>
          <p:nvPr/>
        </p:nvSpPr>
        <p:spPr>
          <a:xfrm>
            <a:off x="3977640" y="401878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79%</a:t>
            </a:r>
          </a:p>
        </p:txBody>
      </p:sp>
      <p:sp>
        <p:nvSpPr>
          <p:cNvPr id="349" name="nombre c0f19"/>
          <p:cNvSpPr txBox="1"/>
          <p:nvPr/>
        </p:nvSpPr>
        <p:spPr>
          <a:xfrm>
            <a:off x="438912" y="412165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2</a:t>
            </a:r>
          </a:p>
        </p:txBody>
      </p:sp>
      <p:sp>
        <p:nvSpPr>
          <p:cNvPr id="350" name="barra c0f19"/>
          <p:cNvSpPr/>
          <p:nvPr/>
        </p:nvSpPr>
        <p:spPr>
          <a:xfrm>
            <a:off x="1572768" y="4142232"/>
            <a:ext cx="79289" cy="6172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51" name="pct c0f19"/>
          <p:cNvSpPr txBox="1"/>
          <p:nvPr/>
        </p:nvSpPr>
        <p:spPr>
          <a:xfrm>
            <a:off x="1679489" y="412165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1E8449"/>
                </a:solidFill>
                <a:latin typeface="Calibri"/>
              </a:rPr>
              <a:t>+7%</a:t>
            </a:r>
          </a:p>
        </p:txBody>
      </p:sp>
      <p:sp>
        <p:nvSpPr>
          <p:cNvPr id="352" name="dis c0f19"/>
          <p:cNvSpPr txBox="1"/>
          <p:nvPr/>
        </p:nvSpPr>
        <p:spPr>
          <a:xfrm>
            <a:off x="2953512" y="412165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467 → 499</a:t>
            </a:r>
          </a:p>
        </p:txBody>
      </p:sp>
      <p:sp>
        <p:nvSpPr>
          <p:cNvPr id="353" name="cob c0f19"/>
          <p:cNvSpPr txBox="1"/>
          <p:nvPr/>
        </p:nvSpPr>
        <p:spPr>
          <a:xfrm>
            <a:off x="3977640" y="412165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82%</a:t>
            </a:r>
          </a:p>
        </p:txBody>
      </p:sp>
      <p:sp>
        <p:nvSpPr>
          <p:cNvPr id="354" name="banda c0f20"/>
          <p:cNvSpPr/>
          <p:nvPr/>
        </p:nvSpPr>
        <p:spPr>
          <a:xfrm>
            <a:off x="411480" y="4224528"/>
            <a:ext cx="4114800" cy="102870"/>
          </a:xfrm>
          <a:prstGeom prst="rect">
            <a:avLst/>
          </a:prstGeom>
          <a:solidFill>
            <a:srgbClr val="FFFFFF"/>
          </a:solidFill>
          <a:ln>
            <a:noFill/>
          </a:ln>
        </p:spPr>
        <p:txBody>
          <a:bodyPr rtlCol="0" anchor="ctr"/>
          <a:lstStyle/>
          <a:p>
            <a:pPr algn="ctr"/>
            <a:endParaRPr lang="es-CO" noProof="0" dirty="0"/>
          </a:p>
        </p:txBody>
      </p:sp>
      <p:sp>
        <p:nvSpPr>
          <p:cNvPr id="355" name="nombre c0f20"/>
          <p:cNvSpPr txBox="1"/>
          <p:nvPr/>
        </p:nvSpPr>
        <p:spPr>
          <a:xfrm>
            <a:off x="438912" y="422452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48PC</a:t>
            </a:r>
          </a:p>
        </p:txBody>
      </p:sp>
      <p:sp>
        <p:nvSpPr>
          <p:cNvPr id="356" name="barra c0f20"/>
          <p:cNvSpPr/>
          <p:nvPr/>
        </p:nvSpPr>
        <p:spPr>
          <a:xfrm>
            <a:off x="1572768" y="4245102"/>
            <a:ext cx="65749" cy="6172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57" name="pct c0f20"/>
          <p:cNvSpPr txBox="1"/>
          <p:nvPr/>
        </p:nvSpPr>
        <p:spPr>
          <a:xfrm>
            <a:off x="1665949" y="422452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1E8449"/>
                </a:solidFill>
                <a:latin typeface="Calibri"/>
              </a:rPr>
              <a:t>+6%</a:t>
            </a:r>
          </a:p>
        </p:txBody>
      </p:sp>
      <p:sp>
        <p:nvSpPr>
          <p:cNvPr id="358" name="dis c0f20"/>
          <p:cNvSpPr txBox="1"/>
          <p:nvPr/>
        </p:nvSpPr>
        <p:spPr>
          <a:xfrm>
            <a:off x="2953512" y="422452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833 → 881</a:t>
            </a:r>
          </a:p>
        </p:txBody>
      </p:sp>
      <p:sp>
        <p:nvSpPr>
          <p:cNvPr id="359" name="cob c0f20"/>
          <p:cNvSpPr txBox="1"/>
          <p:nvPr/>
        </p:nvSpPr>
        <p:spPr>
          <a:xfrm>
            <a:off x="3977640" y="422452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76%</a:t>
            </a:r>
          </a:p>
        </p:txBody>
      </p:sp>
      <p:sp>
        <p:nvSpPr>
          <p:cNvPr id="360" name="nombre c0f21"/>
          <p:cNvSpPr txBox="1"/>
          <p:nvPr/>
        </p:nvSpPr>
        <p:spPr>
          <a:xfrm>
            <a:off x="438912" y="432739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287</a:t>
            </a:r>
          </a:p>
        </p:txBody>
      </p:sp>
      <p:sp>
        <p:nvSpPr>
          <p:cNvPr id="361" name="barra c0f21"/>
          <p:cNvSpPr/>
          <p:nvPr/>
        </p:nvSpPr>
        <p:spPr>
          <a:xfrm>
            <a:off x="1572768" y="4347972"/>
            <a:ext cx="24140" cy="6172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62" name="pct c0f21"/>
          <p:cNvSpPr txBox="1"/>
          <p:nvPr/>
        </p:nvSpPr>
        <p:spPr>
          <a:xfrm>
            <a:off x="1624340" y="432739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1E8449"/>
                </a:solidFill>
                <a:latin typeface="Calibri"/>
              </a:rPr>
              <a:t>+2%</a:t>
            </a:r>
          </a:p>
        </p:txBody>
      </p:sp>
      <p:sp>
        <p:nvSpPr>
          <p:cNvPr id="363" name="dis c0f21"/>
          <p:cNvSpPr txBox="1"/>
          <p:nvPr/>
        </p:nvSpPr>
        <p:spPr>
          <a:xfrm>
            <a:off x="2953512" y="432739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235 → 240</a:t>
            </a:r>
          </a:p>
        </p:txBody>
      </p:sp>
      <p:sp>
        <p:nvSpPr>
          <p:cNvPr id="364" name="cob c0f21"/>
          <p:cNvSpPr txBox="1"/>
          <p:nvPr/>
        </p:nvSpPr>
        <p:spPr>
          <a:xfrm>
            <a:off x="3977640" y="432739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76%</a:t>
            </a:r>
          </a:p>
        </p:txBody>
      </p:sp>
      <p:sp>
        <p:nvSpPr>
          <p:cNvPr id="365" name="banda c0f22"/>
          <p:cNvSpPr/>
          <p:nvPr/>
        </p:nvSpPr>
        <p:spPr>
          <a:xfrm>
            <a:off x="411480" y="4430268"/>
            <a:ext cx="4114800" cy="102870"/>
          </a:xfrm>
          <a:prstGeom prst="rect">
            <a:avLst/>
          </a:prstGeom>
          <a:solidFill>
            <a:srgbClr val="FFFFFF"/>
          </a:solidFill>
          <a:ln>
            <a:noFill/>
          </a:ln>
        </p:spPr>
        <p:txBody>
          <a:bodyPr rtlCol="0" anchor="ctr"/>
          <a:lstStyle/>
          <a:p>
            <a:pPr algn="ctr"/>
            <a:endParaRPr lang="es-CO" noProof="0" dirty="0"/>
          </a:p>
        </p:txBody>
      </p:sp>
      <p:sp>
        <p:nvSpPr>
          <p:cNvPr id="366" name="nombre c0f22"/>
          <p:cNvSpPr txBox="1"/>
          <p:nvPr/>
        </p:nvSpPr>
        <p:spPr>
          <a:xfrm>
            <a:off x="438912" y="443026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70</a:t>
            </a:r>
          </a:p>
        </p:txBody>
      </p:sp>
      <p:sp>
        <p:nvSpPr>
          <p:cNvPr id="367" name="barra c0f22"/>
          <p:cNvSpPr/>
          <p:nvPr/>
        </p:nvSpPr>
        <p:spPr>
          <a:xfrm>
            <a:off x="1572768" y="4450842"/>
            <a:ext cx="20905" cy="6172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68" name="pct c0f22"/>
          <p:cNvSpPr txBox="1"/>
          <p:nvPr/>
        </p:nvSpPr>
        <p:spPr>
          <a:xfrm>
            <a:off x="1621105" y="443026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1E8449"/>
                </a:solidFill>
                <a:latin typeface="Calibri"/>
              </a:rPr>
              <a:t>+2%</a:t>
            </a:r>
          </a:p>
        </p:txBody>
      </p:sp>
      <p:sp>
        <p:nvSpPr>
          <p:cNvPr id="369" name="dis c0f22"/>
          <p:cNvSpPr txBox="1"/>
          <p:nvPr/>
        </p:nvSpPr>
        <p:spPr>
          <a:xfrm>
            <a:off x="2953512" y="443026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357 → 363</a:t>
            </a:r>
          </a:p>
        </p:txBody>
      </p:sp>
      <p:sp>
        <p:nvSpPr>
          <p:cNvPr id="370" name="cob c0f22"/>
          <p:cNvSpPr txBox="1"/>
          <p:nvPr/>
        </p:nvSpPr>
        <p:spPr>
          <a:xfrm>
            <a:off x="3977640" y="443026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74%</a:t>
            </a:r>
          </a:p>
        </p:txBody>
      </p:sp>
      <p:sp>
        <p:nvSpPr>
          <p:cNvPr id="371" name="nombre c0f23"/>
          <p:cNvSpPr txBox="1"/>
          <p:nvPr/>
        </p:nvSpPr>
        <p:spPr>
          <a:xfrm>
            <a:off x="438912" y="453313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446p</a:t>
            </a:r>
          </a:p>
        </p:txBody>
      </p:sp>
      <p:sp>
        <p:nvSpPr>
          <p:cNvPr id="372" name="barra c0f23"/>
          <p:cNvSpPr/>
          <p:nvPr/>
        </p:nvSpPr>
        <p:spPr>
          <a:xfrm>
            <a:off x="1572768" y="4553712"/>
            <a:ext cx="16709" cy="6172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73" name="pct c0f23"/>
          <p:cNvSpPr txBox="1"/>
          <p:nvPr/>
        </p:nvSpPr>
        <p:spPr>
          <a:xfrm>
            <a:off x="1616909" y="453313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1E8449"/>
                </a:solidFill>
                <a:latin typeface="Calibri"/>
              </a:rPr>
              <a:t>+1%</a:t>
            </a:r>
          </a:p>
        </p:txBody>
      </p:sp>
      <p:sp>
        <p:nvSpPr>
          <p:cNvPr id="374" name="dis c0f23"/>
          <p:cNvSpPr txBox="1"/>
          <p:nvPr/>
        </p:nvSpPr>
        <p:spPr>
          <a:xfrm>
            <a:off x="2953512" y="453313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327 → 331</a:t>
            </a:r>
          </a:p>
        </p:txBody>
      </p:sp>
      <p:sp>
        <p:nvSpPr>
          <p:cNvPr id="375" name="cob c0f23"/>
          <p:cNvSpPr txBox="1"/>
          <p:nvPr/>
        </p:nvSpPr>
        <p:spPr>
          <a:xfrm>
            <a:off x="3977640" y="453313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67%</a:t>
            </a:r>
          </a:p>
        </p:txBody>
      </p:sp>
      <p:sp>
        <p:nvSpPr>
          <p:cNvPr id="376" name="banda c1f0"/>
          <p:cNvSpPr/>
          <p:nvPr/>
        </p:nvSpPr>
        <p:spPr>
          <a:xfrm>
            <a:off x="4636008" y="2167128"/>
            <a:ext cx="4114800" cy="102870"/>
          </a:xfrm>
          <a:prstGeom prst="rect">
            <a:avLst/>
          </a:prstGeom>
          <a:solidFill>
            <a:srgbClr val="FFFFFF"/>
          </a:solidFill>
          <a:ln>
            <a:noFill/>
          </a:ln>
        </p:spPr>
        <p:txBody>
          <a:bodyPr rtlCol="0" anchor="ctr"/>
          <a:lstStyle/>
          <a:p>
            <a:pPr algn="ctr"/>
            <a:endParaRPr lang="es-CO" noProof="0" dirty="0"/>
          </a:p>
        </p:txBody>
      </p:sp>
      <p:sp>
        <p:nvSpPr>
          <p:cNvPr id="377" name="nombre c1f0"/>
          <p:cNvSpPr txBox="1"/>
          <p:nvPr/>
        </p:nvSpPr>
        <p:spPr>
          <a:xfrm>
            <a:off x="4663440" y="216712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447p</a:t>
            </a:r>
          </a:p>
        </p:txBody>
      </p:sp>
      <p:sp>
        <p:nvSpPr>
          <p:cNvPr id="378" name="barra c1f0"/>
          <p:cNvSpPr/>
          <p:nvPr/>
        </p:nvSpPr>
        <p:spPr>
          <a:xfrm>
            <a:off x="6355080" y="2187702"/>
            <a:ext cx="13716" cy="6172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79" name="pct c1f0"/>
          <p:cNvSpPr txBox="1"/>
          <p:nvPr/>
        </p:nvSpPr>
        <p:spPr>
          <a:xfrm>
            <a:off x="6396228" y="216712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1E8449"/>
                </a:solidFill>
                <a:latin typeface="Calibri"/>
              </a:rPr>
              <a:t>+0%</a:t>
            </a:r>
          </a:p>
        </p:txBody>
      </p:sp>
      <p:sp>
        <p:nvSpPr>
          <p:cNvPr id="380" name="dis c1f0"/>
          <p:cNvSpPr txBox="1"/>
          <p:nvPr/>
        </p:nvSpPr>
        <p:spPr>
          <a:xfrm>
            <a:off x="7178040" y="216712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127 → 128</a:t>
            </a:r>
          </a:p>
        </p:txBody>
      </p:sp>
      <p:sp>
        <p:nvSpPr>
          <p:cNvPr id="381" name="cob c1f0"/>
          <p:cNvSpPr txBox="1"/>
          <p:nvPr/>
        </p:nvSpPr>
        <p:spPr>
          <a:xfrm>
            <a:off x="8202168" y="216712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C0392B"/>
                </a:solidFill>
                <a:latin typeface="Calibri"/>
              </a:rPr>
              <a:t>46%</a:t>
            </a:r>
          </a:p>
        </p:txBody>
      </p:sp>
      <p:sp>
        <p:nvSpPr>
          <p:cNvPr id="382" name="nombre c1f1"/>
          <p:cNvSpPr txBox="1"/>
          <p:nvPr/>
        </p:nvSpPr>
        <p:spPr>
          <a:xfrm>
            <a:off x="4663440" y="226999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60p</a:t>
            </a:r>
          </a:p>
        </p:txBody>
      </p:sp>
      <p:sp>
        <p:nvSpPr>
          <p:cNvPr id="383" name="barra c1f1"/>
          <p:cNvSpPr/>
          <p:nvPr/>
        </p:nvSpPr>
        <p:spPr>
          <a:xfrm>
            <a:off x="6329543" y="2290572"/>
            <a:ext cx="25537"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384" name="pct c1f1"/>
          <p:cNvSpPr txBox="1"/>
          <p:nvPr/>
        </p:nvSpPr>
        <p:spPr>
          <a:xfrm>
            <a:off x="6391656" y="226999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−2%</a:t>
            </a:r>
          </a:p>
        </p:txBody>
      </p:sp>
      <p:sp>
        <p:nvSpPr>
          <p:cNvPr id="385" name="dis c1f1"/>
          <p:cNvSpPr txBox="1"/>
          <p:nvPr/>
        </p:nvSpPr>
        <p:spPr>
          <a:xfrm>
            <a:off x="7178040" y="226999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225 → 220</a:t>
            </a:r>
          </a:p>
        </p:txBody>
      </p:sp>
      <p:sp>
        <p:nvSpPr>
          <p:cNvPr id="386" name="cob c1f1"/>
          <p:cNvSpPr txBox="1"/>
          <p:nvPr/>
        </p:nvSpPr>
        <p:spPr>
          <a:xfrm>
            <a:off x="8202168" y="226999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80%</a:t>
            </a:r>
          </a:p>
        </p:txBody>
      </p:sp>
      <p:sp>
        <p:nvSpPr>
          <p:cNvPr id="387" name="banda c1f2"/>
          <p:cNvSpPr/>
          <p:nvPr/>
        </p:nvSpPr>
        <p:spPr>
          <a:xfrm>
            <a:off x="4636008" y="2372868"/>
            <a:ext cx="4114800" cy="102870"/>
          </a:xfrm>
          <a:prstGeom prst="rect">
            <a:avLst/>
          </a:prstGeom>
          <a:solidFill>
            <a:srgbClr val="FFFFFF"/>
          </a:solidFill>
          <a:ln>
            <a:noFill/>
          </a:ln>
        </p:spPr>
        <p:txBody>
          <a:bodyPr rtlCol="0" anchor="ctr"/>
          <a:lstStyle/>
          <a:p>
            <a:pPr algn="ctr"/>
            <a:endParaRPr lang="es-CO" noProof="0" dirty="0"/>
          </a:p>
        </p:txBody>
      </p:sp>
      <p:sp>
        <p:nvSpPr>
          <p:cNvPr id="388" name="nombre c1f2"/>
          <p:cNvSpPr txBox="1"/>
          <p:nvPr/>
        </p:nvSpPr>
        <p:spPr>
          <a:xfrm>
            <a:off x="4663440" y="237286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10p</a:t>
            </a:r>
          </a:p>
        </p:txBody>
      </p:sp>
      <p:sp>
        <p:nvSpPr>
          <p:cNvPr id="389" name="barra c1f2"/>
          <p:cNvSpPr/>
          <p:nvPr/>
        </p:nvSpPr>
        <p:spPr>
          <a:xfrm>
            <a:off x="6290792" y="2393442"/>
            <a:ext cx="64288"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390" name="pct c1f2"/>
          <p:cNvSpPr txBox="1"/>
          <p:nvPr/>
        </p:nvSpPr>
        <p:spPr>
          <a:xfrm>
            <a:off x="6391656" y="237286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−6%</a:t>
            </a:r>
          </a:p>
        </p:txBody>
      </p:sp>
      <p:sp>
        <p:nvSpPr>
          <p:cNvPr id="391" name="dis c1f2"/>
          <p:cNvSpPr txBox="1"/>
          <p:nvPr/>
        </p:nvSpPr>
        <p:spPr>
          <a:xfrm>
            <a:off x="7178040" y="237286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267 → 252</a:t>
            </a:r>
          </a:p>
        </p:txBody>
      </p:sp>
      <p:sp>
        <p:nvSpPr>
          <p:cNvPr id="392" name="cob c1f2"/>
          <p:cNvSpPr txBox="1"/>
          <p:nvPr/>
        </p:nvSpPr>
        <p:spPr>
          <a:xfrm>
            <a:off x="8202168" y="237286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78%</a:t>
            </a:r>
          </a:p>
        </p:txBody>
      </p:sp>
      <p:sp>
        <p:nvSpPr>
          <p:cNvPr id="393" name="nombre c1f3"/>
          <p:cNvSpPr txBox="1"/>
          <p:nvPr/>
        </p:nvSpPr>
        <p:spPr>
          <a:xfrm>
            <a:off x="4663440" y="247573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63</a:t>
            </a:r>
          </a:p>
        </p:txBody>
      </p:sp>
      <p:sp>
        <p:nvSpPr>
          <p:cNvPr id="394" name="barra c1f3"/>
          <p:cNvSpPr/>
          <p:nvPr/>
        </p:nvSpPr>
        <p:spPr>
          <a:xfrm>
            <a:off x="6279732" y="2496312"/>
            <a:ext cx="75348"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395" name="pct c1f3"/>
          <p:cNvSpPr txBox="1"/>
          <p:nvPr/>
        </p:nvSpPr>
        <p:spPr>
          <a:xfrm>
            <a:off x="6391656" y="247573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−7%</a:t>
            </a:r>
          </a:p>
        </p:txBody>
      </p:sp>
      <p:sp>
        <p:nvSpPr>
          <p:cNvPr id="396" name="dis c1f3"/>
          <p:cNvSpPr txBox="1"/>
          <p:nvPr/>
        </p:nvSpPr>
        <p:spPr>
          <a:xfrm>
            <a:off x="7178040" y="247573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253 → 237</a:t>
            </a:r>
          </a:p>
        </p:txBody>
      </p:sp>
      <p:sp>
        <p:nvSpPr>
          <p:cNvPr id="397" name="cob c1f3"/>
          <p:cNvSpPr txBox="1"/>
          <p:nvPr/>
        </p:nvSpPr>
        <p:spPr>
          <a:xfrm>
            <a:off x="8202168" y="247573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66%</a:t>
            </a:r>
          </a:p>
        </p:txBody>
      </p:sp>
      <p:sp>
        <p:nvSpPr>
          <p:cNvPr id="398" name="banda c1f4"/>
          <p:cNvSpPr/>
          <p:nvPr/>
        </p:nvSpPr>
        <p:spPr>
          <a:xfrm>
            <a:off x="4636008" y="2578608"/>
            <a:ext cx="4114800" cy="102870"/>
          </a:xfrm>
          <a:prstGeom prst="rect">
            <a:avLst/>
          </a:prstGeom>
          <a:solidFill>
            <a:srgbClr val="FFFFFF"/>
          </a:solidFill>
          <a:ln>
            <a:noFill/>
          </a:ln>
        </p:spPr>
        <p:txBody>
          <a:bodyPr rtlCol="0" anchor="ctr"/>
          <a:lstStyle/>
          <a:p>
            <a:pPr algn="ctr"/>
            <a:endParaRPr lang="es-CO" noProof="0" dirty="0"/>
          </a:p>
        </p:txBody>
      </p:sp>
      <p:sp>
        <p:nvSpPr>
          <p:cNvPr id="399" name="nombre c1f4"/>
          <p:cNvSpPr txBox="1"/>
          <p:nvPr/>
        </p:nvSpPr>
        <p:spPr>
          <a:xfrm>
            <a:off x="4663440" y="257860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73</a:t>
            </a:r>
          </a:p>
        </p:txBody>
      </p:sp>
      <p:sp>
        <p:nvSpPr>
          <p:cNvPr id="400" name="barra c1f4"/>
          <p:cNvSpPr/>
          <p:nvPr/>
        </p:nvSpPr>
        <p:spPr>
          <a:xfrm>
            <a:off x="6278902" y="2599182"/>
            <a:ext cx="76178"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401" name="pct c1f4"/>
          <p:cNvSpPr txBox="1"/>
          <p:nvPr/>
        </p:nvSpPr>
        <p:spPr>
          <a:xfrm>
            <a:off x="6391656" y="257860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−7%</a:t>
            </a:r>
          </a:p>
        </p:txBody>
      </p:sp>
      <p:sp>
        <p:nvSpPr>
          <p:cNvPr id="402" name="dis c1f4"/>
          <p:cNvSpPr txBox="1"/>
          <p:nvPr/>
        </p:nvSpPr>
        <p:spPr>
          <a:xfrm>
            <a:off x="7178040" y="257860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256 → 239</a:t>
            </a:r>
          </a:p>
        </p:txBody>
      </p:sp>
      <p:sp>
        <p:nvSpPr>
          <p:cNvPr id="403" name="cob c1f4"/>
          <p:cNvSpPr txBox="1"/>
          <p:nvPr/>
        </p:nvSpPr>
        <p:spPr>
          <a:xfrm>
            <a:off x="8202168" y="257860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76%</a:t>
            </a:r>
          </a:p>
        </p:txBody>
      </p:sp>
      <p:sp>
        <p:nvSpPr>
          <p:cNvPr id="404" name="nombre c1f5"/>
          <p:cNvSpPr txBox="1"/>
          <p:nvPr/>
        </p:nvSpPr>
        <p:spPr>
          <a:xfrm>
            <a:off x="4663440" y="268147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30</a:t>
            </a:r>
          </a:p>
        </p:txBody>
      </p:sp>
      <p:sp>
        <p:nvSpPr>
          <p:cNvPr id="405" name="barra c1f5"/>
          <p:cNvSpPr/>
          <p:nvPr/>
        </p:nvSpPr>
        <p:spPr>
          <a:xfrm>
            <a:off x="6258980" y="2702052"/>
            <a:ext cx="96100"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406" name="pct c1f5"/>
          <p:cNvSpPr txBox="1"/>
          <p:nvPr/>
        </p:nvSpPr>
        <p:spPr>
          <a:xfrm>
            <a:off x="6391656" y="268147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−8%</a:t>
            </a:r>
          </a:p>
        </p:txBody>
      </p:sp>
      <p:sp>
        <p:nvSpPr>
          <p:cNvPr id="407" name="dis c1f5"/>
          <p:cNvSpPr txBox="1"/>
          <p:nvPr/>
        </p:nvSpPr>
        <p:spPr>
          <a:xfrm>
            <a:off x="7178040" y="268147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281 → 257</a:t>
            </a:r>
          </a:p>
        </p:txBody>
      </p:sp>
      <p:sp>
        <p:nvSpPr>
          <p:cNvPr id="408" name="cob c1f5"/>
          <p:cNvSpPr txBox="1"/>
          <p:nvPr/>
        </p:nvSpPr>
        <p:spPr>
          <a:xfrm>
            <a:off x="8202168" y="268147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85%</a:t>
            </a:r>
          </a:p>
        </p:txBody>
      </p:sp>
      <p:sp>
        <p:nvSpPr>
          <p:cNvPr id="409" name="banda c1f6"/>
          <p:cNvSpPr/>
          <p:nvPr/>
        </p:nvSpPr>
        <p:spPr>
          <a:xfrm>
            <a:off x="4636008" y="2784348"/>
            <a:ext cx="4114800" cy="102870"/>
          </a:xfrm>
          <a:prstGeom prst="rect">
            <a:avLst/>
          </a:prstGeom>
          <a:solidFill>
            <a:srgbClr val="FFFFFF"/>
          </a:solidFill>
          <a:ln>
            <a:noFill/>
          </a:ln>
        </p:spPr>
        <p:txBody>
          <a:bodyPr rtlCol="0" anchor="ctr"/>
          <a:lstStyle/>
          <a:p>
            <a:pPr algn="ctr"/>
            <a:endParaRPr lang="es-CO" noProof="0" dirty="0"/>
          </a:p>
        </p:txBody>
      </p:sp>
      <p:sp>
        <p:nvSpPr>
          <p:cNvPr id="410" name="nombre c1f6"/>
          <p:cNvSpPr txBox="1"/>
          <p:nvPr/>
        </p:nvSpPr>
        <p:spPr>
          <a:xfrm>
            <a:off x="4663440" y="278434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412p</a:t>
            </a:r>
          </a:p>
        </p:txBody>
      </p:sp>
      <p:sp>
        <p:nvSpPr>
          <p:cNvPr id="411" name="barra c1f6"/>
          <p:cNvSpPr/>
          <p:nvPr/>
        </p:nvSpPr>
        <p:spPr>
          <a:xfrm>
            <a:off x="6258290" y="2804922"/>
            <a:ext cx="96790"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412" name="pct c1f6"/>
          <p:cNvSpPr txBox="1"/>
          <p:nvPr/>
        </p:nvSpPr>
        <p:spPr>
          <a:xfrm>
            <a:off x="6391656" y="278434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−8%</a:t>
            </a:r>
          </a:p>
        </p:txBody>
      </p:sp>
      <p:sp>
        <p:nvSpPr>
          <p:cNvPr id="413" name="dis c1f6"/>
          <p:cNvSpPr txBox="1"/>
          <p:nvPr/>
        </p:nvSpPr>
        <p:spPr>
          <a:xfrm>
            <a:off x="7178040" y="278434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413 → 378</a:t>
            </a:r>
          </a:p>
        </p:txBody>
      </p:sp>
      <p:sp>
        <p:nvSpPr>
          <p:cNvPr id="414" name="cob c1f6"/>
          <p:cNvSpPr txBox="1"/>
          <p:nvPr/>
        </p:nvSpPr>
        <p:spPr>
          <a:xfrm>
            <a:off x="8202168" y="278434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71%</a:t>
            </a:r>
          </a:p>
        </p:txBody>
      </p:sp>
      <p:sp>
        <p:nvSpPr>
          <p:cNvPr id="415" name="nombre c1f7"/>
          <p:cNvSpPr txBox="1"/>
          <p:nvPr/>
        </p:nvSpPr>
        <p:spPr>
          <a:xfrm>
            <a:off x="4663440" y="288721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18</a:t>
            </a:r>
          </a:p>
        </p:txBody>
      </p:sp>
      <p:sp>
        <p:nvSpPr>
          <p:cNvPr id="416" name="barra c1f7"/>
          <p:cNvSpPr/>
          <p:nvPr/>
        </p:nvSpPr>
        <p:spPr>
          <a:xfrm>
            <a:off x="6244059" y="2907792"/>
            <a:ext cx="111021"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417" name="pct c1f7"/>
          <p:cNvSpPr txBox="1"/>
          <p:nvPr/>
        </p:nvSpPr>
        <p:spPr>
          <a:xfrm>
            <a:off x="6391656" y="288721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−10%</a:t>
            </a:r>
          </a:p>
        </p:txBody>
      </p:sp>
      <p:sp>
        <p:nvSpPr>
          <p:cNvPr id="418" name="dis c1f7"/>
          <p:cNvSpPr txBox="1"/>
          <p:nvPr/>
        </p:nvSpPr>
        <p:spPr>
          <a:xfrm>
            <a:off x="7178040" y="288721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297 → 268</a:t>
            </a:r>
          </a:p>
        </p:txBody>
      </p:sp>
      <p:sp>
        <p:nvSpPr>
          <p:cNvPr id="419" name="cob c1f7"/>
          <p:cNvSpPr txBox="1"/>
          <p:nvPr/>
        </p:nvSpPr>
        <p:spPr>
          <a:xfrm>
            <a:off x="8202168" y="288721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76%</a:t>
            </a:r>
          </a:p>
        </p:txBody>
      </p:sp>
      <p:sp>
        <p:nvSpPr>
          <p:cNvPr id="420" name="banda c1f8"/>
          <p:cNvSpPr/>
          <p:nvPr/>
        </p:nvSpPr>
        <p:spPr>
          <a:xfrm>
            <a:off x="4636008" y="2990088"/>
            <a:ext cx="4114800" cy="102870"/>
          </a:xfrm>
          <a:prstGeom prst="rect">
            <a:avLst/>
          </a:prstGeom>
          <a:solidFill>
            <a:srgbClr val="FFFFFF"/>
          </a:solidFill>
          <a:ln>
            <a:noFill/>
          </a:ln>
        </p:spPr>
        <p:txBody>
          <a:bodyPr rtlCol="0" anchor="ctr"/>
          <a:lstStyle/>
          <a:p>
            <a:pPr algn="ctr"/>
            <a:endParaRPr lang="es-CO" noProof="0" dirty="0"/>
          </a:p>
        </p:txBody>
      </p:sp>
      <p:sp>
        <p:nvSpPr>
          <p:cNvPr id="421" name="nombre c1f8"/>
          <p:cNvSpPr txBox="1"/>
          <p:nvPr/>
        </p:nvSpPr>
        <p:spPr>
          <a:xfrm>
            <a:off x="4663440" y="299008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86p</a:t>
            </a:r>
          </a:p>
        </p:txBody>
      </p:sp>
      <p:sp>
        <p:nvSpPr>
          <p:cNvPr id="422" name="barra c1f8"/>
          <p:cNvSpPr/>
          <p:nvPr/>
        </p:nvSpPr>
        <p:spPr>
          <a:xfrm>
            <a:off x="6216973" y="3010662"/>
            <a:ext cx="138107"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423" name="pct c1f8"/>
          <p:cNvSpPr txBox="1"/>
          <p:nvPr/>
        </p:nvSpPr>
        <p:spPr>
          <a:xfrm>
            <a:off x="6391656" y="299008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−12%</a:t>
            </a:r>
          </a:p>
        </p:txBody>
      </p:sp>
      <p:sp>
        <p:nvSpPr>
          <p:cNvPr id="424" name="dis c1f8"/>
          <p:cNvSpPr txBox="1"/>
          <p:nvPr/>
        </p:nvSpPr>
        <p:spPr>
          <a:xfrm>
            <a:off x="7178040" y="299008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302 → 265</a:t>
            </a:r>
          </a:p>
        </p:txBody>
      </p:sp>
      <p:sp>
        <p:nvSpPr>
          <p:cNvPr id="425" name="cob c1f8"/>
          <p:cNvSpPr txBox="1"/>
          <p:nvPr/>
        </p:nvSpPr>
        <p:spPr>
          <a:xfrm>
            <a:off x="8202168" y="299008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88%</a:t>
            </a:r>
          </a:p>
        </p:txBody>
      </p:sp>
      <p:sp>
        <p:nvSpPr>
          <p:cNvPr id="426" name="nombre c1f9"/>
          <p:cNvSpPr txBox="1"/>
          <p:nvPr/>
        </p:nvSpPr>
        <p:spPr>
          <a:xfrm>
            <a:off x="4663440" y="309295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435p</a:t>
            </a:r>
          </a:p>
        </p:txBody>
      </p:sp>
      <p:sp>
        <p:nvSpPr>
          <p:cNvPr id="427" name="barra c1f9"/>
          <p:cNvSpPr/>
          <p:nvPr/>
        </p:nvSpPr>
        <p:spPr>
          <a:xfrm>
            <a:off x="6209992" y="3113532"/>
            <a:ext cx="145088"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428" name="pct c1f9"/>
          <p:cNvSpPr txBox="1"/>
          <p:nvPr/>
        </p:nvSpPr>
        <p:spPr>
          <a:xfrm>
            <a:off x="6391656" y="309295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−13%</a:t>
            </a:r>
          </a:p>
        </p:txBody>
      </p:sp>
      <p:sp>
        <p:nvSpPr>
          <p:cNvPr id="429" name="dis c1f9"/>
          <p:cNvSpPr txBox="1"/>
          <p:nvPr/>
        </p:nvSpPr>
        <p:spPr>
          <a:xfrm>
            <a:off x="7178040" y="309295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280 → 244</a:t>
            </a:r>
          </a:p>
        </p:txBody>
      </p:sp>
      <p:sp>
        <p:nvSpPr>
          <p:cNvPr id="430" name="cob c1f9"/>
          <p:cNvSpPr txBox="1"/>
          <p:nvPr/>
        </p:nvSpPr>
        <p:spPr>
          <a:xfrm>
            <a:off x="8202168" y="309295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77%</a:t>
            </a:r>
          </a:p>
        </p:txBody>
      </p:sp>
      <p:sp>
        <p:nvSpPr>
          <p:cNvPr id="431" name="banda c1f10"/>
          <p:cNvSpPr/>
          <p:nvPr/>
        </p:nvSpPr>
        <p:spPr>
          <a:xfrm>
            <a:off x="4636008" y="3195828"/>
            <a:ext cx="4114800" cy="102870"/>
          </a:xfrm>
          <a:prstGeom prst="rect">
            <a:avLst/>
          </a:prstGeom>
          <a:solidFill>
            <a:srgbClr val="FFFFFF"/>
          </a:solidFill>
          <a:ln>
            <a:noFill/>
          </a:ln>
        </p:spPr>
        <p:txBody>
          <a:bodyPr rtlCol="0" anchor="ctr"/>
          <a:lstStyle/>
          <a:p>
            <a:pPr algn="ctr"/>
            <a:endParaRPr lang="es-CO" noProof="0" dirty="0"/>
          </a:p>
        </p:txBody>
      </p:sp>
      <p:sp>
        <p:nvSpPr>
          <p:cNvPr id="432" name="nombre c1f10"/>
          <p:cNvSpPr txBox="1"/>
          <p:nvPr/>
        </p:nvSpPr>
        <p:spPr>
          <a:xfrm>
            <a:off x="4663440" y="319582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155</a:t>
            </a:r>
          </a:p>
        </p:txBody>
      </p:sp>
      <p:sp>
        <p:nvSpPr>
          <p:cNvPr id="433" name="barra c1f10"/>
          <p:cNvSpPr/>
          <p:nvPr/>
        </p:nvSpPr>
        <p:spPr>
          <a:xfrm>
            <a:off x="6188318" y="3216402"/>
            <a:ext cx="166762"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434" name="pct c1f10"/>
          <p:cNvSpPr txBox="1"/>
          <p:nvPr/>
        </p:nvSpPr>
        <p:spPr>
          <a:xfrm>
            <a:off x="6391656" y="319582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−15%</a:t>
            </a:r>
          </a:p>
        </p:txBody>
      </p:sp>
      <p:sp>
        <p:nvSpPr>
          <p:cNvPr id="435" name="dis c1f10"/>
          <p:cNvSpPr txBox="1"/>
          <p:nvPr/>
        </p:nvSpPr>
        <p:spPr>
          <a:xfrm>
            <a:off x="7178040" y="319582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560 → 478</a:t>
            </a:r>
          </a:p>
        </p:txBody>
      </p:sp>
      <p:sp>
        <p:nvSpPr>
          <p:cNvPr id="436" name="cob c1f10"/>
          <p:cNvSpPr txBox="1"/>
          <p:nvPr/>
        </p:nvSpPr>
        <p:spPr>
          <a:xfrm>
            <a:off x="8202168" y="319582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80%</a:t>
            </a:r>
          </a:p>
        </p:txBody>
      </p:sp>
      <p:sp>
        <p:nvSpPr>
          <p:cNvPr id="437" name="nombre c1f11"/>
          <p:cNvSpPr txBox="1"/>
          <p:nvPr/>
        </p:nvSpPr>
        <p:spPr>
          <a:xfrm>
            <a:off x="4663440" y="329869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76</a:t>
            </a:r>
          </a:p>
        </p:txBody>
      </p:sp>
      <p:sp>
        <p:nvSpPr>
          <p:cNvPr id="438" name="barra c1f11"/>
          <p:cNvSpPr/>
          <p:nvPr/>
        </p:nvSpPr>
        <p:spPr>
          <a:xfrm>
            <a:off x="6142009" y="3319272"/>
            <a:ext cx="213071"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439" name="pct c1f11"/>
          <p:cNvSpPr txBox="1"/>
          <p:nvPr/>
        </p:nvSpPr>
        <p:spPr>
          <a:xfrm>
            <a:off x="6391656" y="329869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−19%</a:t>
            </a:r>
          </a:p>
        </p:txBody>
      </p:sp>
      <p:sp>
        <p:nvSpPr>
          <p:cNvPr id="440" name="dis c1f11"/>
          <p:cNvSpPr txBox="1"/>
          <p:nvPr/>
        </p:nvSpPr>
        <p:spPr>
          <a:xfrm>
            <a:off x="7178040" y="329869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510 → 415</a:t>
            </a:r>
          </a:p>
        </p:txBody>
      </p:sp>
      <p:sp>
        <p:nvSpPr>
          <p:cNvPr id="441" name="cob c1f11"/>
          <p:cNvSpPr txBox="1"/>
          <p:nvPr/>
        </p:nvSpPr>
        <p:spPr>
          <a:xfrm>
            <a:off x="8202168" y="329869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91%</a:t>
            </a:r>
          </a:p>
        </p:txBody>
      </p:sp>
      <p:sp>
        <p:nvSpPr>
          <p:cNvPr id="442" name="banda c1f12"/>
          <p:cNvSpPr/>
          <p:nvPr/>
        </p:nvSpPr>
        <p:spPr>
          <a:xfrm>
            <a:off x="4636008" y="3401568"/>
            <a:ext cx="4114800" cy="102870"/>
          </a:xfrm>
          <a:prstGeom prst="rect">
            <a:avLst/>
          </a:prstGeom>
          <a:solidFill>
            <a:srgbClr val="FFFFFF"/>
          </a:solidFill>
          <a:ln>
            <a:noFill/>
          </a:ln>
        </p:spPr>
        <p:txBody>
          <a:bodyPr rtlCol="0" anchor="ctr"/>
          <a:lstStyle/>
          <a:p>
            <a:pPr algn="ctr"/>
            <a:endParaRPr lang="es-CO" noProof="0" dirty="0"/>
          </a:p>
        </p:txBody>
      </p:sp>
      <p:sp>
        <p:nvSpPr>
          <p:cNvPr id="443" name="nombre c1f12"/>
          <p:cNvSpPr txBox="1"/>
          <p:nvPr/>
        </p:nvSpPr>
        <p:spPr>
          <a:xfrm>
            <a:off x="4663440" y="340156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48</a:t>
            </a:r>
          </a:p>
        </p:txBody>
      </p:sp>
      <p:sp>
        <p:nvSpPr>
          <p:cNvPr id="444" name="barra c1f12"/>
          <p:cNvSpPr/>
          <p:nvPr/>
        </p:nvSpPr>
        <p:spPr>
          <a:xfrm>
            <a:off x="6128475" y="3422142"/>
            <a:ext cx="226605"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445" name="pct c1f12"/>
          <p:cNvSpPr txBox="1"/>
          <p:nvPr/>
        </p:nvSpPr>
        <p:spPr>
          <a:xfrm>
            <a:off x="6391656" y="340156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−20%</a:t>
            </a:r>
          </a:p>
        </p:txBody>
      </p:sp>
      <p:sp>
        <p:nvSpPr>
          <p:cNvPr id="446" name="dis c1f12"/>
          <p:cNvSpPr txBox="1"/>
          <p:nvPr/>
        </p:nvSpPr>
        <p:spPr>
          <a:xfrm>
            <a:off x="7178040" y="340156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227 → 182</a:t>
            </a:r>
          </a:p>
        </p:txBody>
      </p:sp>
      <p:sp>
        <p:nvSpPr>
          <p:cNvPr id="447" name="cob c1f12"/>
          <p:cNvSpPr txBox="1"/>
          <p:nvPr/>
        </p:nvSpPr>
        <p:spPr>
          <a:xfrm>
            <a:off x="8202168" y="340156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71%</a:t>
            </a:r>
          </a:p>
        </p:txBody>
      </p:sp>
      <p:sp>
        <p:nvSpPr>
          <p:cNvPr id="448" name="nombre c1f13"/>
          <p:cNvSpPr txBox="1"/>
          <p:nvPr/>
        </p:nvSpPr>
        <p:spPr>
          <a:xfrm>
            <a:off x="4663440" y="350443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99</a:t>
            </a:r>
          </a:p>
        </p:txBody>
      </p:sp>
      <p:sp>
        <p:nvSpPr>
          <p:cNvPr id="449" name="barra c1f13"/>
          <p:cNvSpPr/>
          <p:nvPr/>
        </p:nvSpPr>
        <p:spPr>
          <a:xfrm>
            <a:off x="6108380" y="3525012"/>
            <a:ext cx="246700"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450" name="pct c1f13"/>
          <p:cNvSpPr txBox="1"/>
          <p:nvPr/>
        </p:nvSpPr>
        <p:spPr>
          <a:xfrm>
            <a:off x="6391656" y="350443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−22%</a:t>
            </a:r>
          </a:p>
        </p:txBody>
      </p:sp>
      <p:sp>
        <p:nvSpPr>
          <p:cNvPr id="451" name="dis c1f13"/>
          <p:cNvSpPr txBox="1"/>
          <p:nvPr/>
        </p:nvSpPr>
        <p:spPr>
          <a:xfrm>
            <a:off x="7178040" y="350443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369 → 290</a:t>
            </a:r>
          </a:p>
        </p:txBody>
      </p:sp>
      <p:sp>
        <p:nvSpPr>
          <p:cNvPr id="452" name="cob c1f13"/>
          <p:cNvSpPr txBox="1"/>
          <p:nvPr/>
        </p:nvSpPr>
        <p:spPr>
          <a:xfrm>
            <a:off x="8202168" y="350443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84%</a:t>
            </a:r>
          </a:p>
        </p:txBody>
      </p:sp>
      <p:sp>
        <p:nvSpPr>
          <p:cNvPr id="453" name="banda c1f14"/>
          <p:cNvSpPr/>
          <p:nvPr/>
        </p:nvSpPr>
        <p:spPr>
          <a:xfrm>
            <a:off x="4636008" y="3607308"/>
            <a:ext cx="4114800" cy="102870"/>
          </a:xfrm>
          <a:prstGeom prst="rect">
            <a:avLst/>
          </a:prstGeom>
          <a:solidFill>
            <a:srgbClr val="FFFFFF"/>
          </a:solidFill>
          <a:ln>
            <a:noFill/>
          </a:ln>
        </p:spPr>
        <p:txBody>
          <a:bodyPr rtlCol="0" anchor="ctr"/>
          <a:lstStyle/>
          <a:p>
            <a:pPr algn="ctr"/>
            <a:endParaRPr lang="es-CO" noProof="0" dirty="0"/>
          </a:p>
        </p:txBody>
      </p:sp>
      <p:sp>
        <p:nvSpPr>
          <p:cNvPr id="454" name="nombre c1f14"/>
          <p:cNvSpPr txBox="1"/>
          <p:nvPr/>
        </p:nvSpPr>
        <p:spPr>
          <a:xfrm>
            <a:off x="4663440" y="360730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10</a:t>
            </a:r>
          </a:p>
        </p:txBody>
      </p:sp>
      <p:sp>
        <p:nvSpPr>
          <p:cNvPr id="455" name="barra c1f14"/>
          <p:cNvSpPr/>
          <p:nvPr/>
        </p:nvSpPr>
        <p:spPr>
          <a:xfrm>
            <a:off x="6102253" y="3627882"/>
            <a:ext cx="252827"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456" name="pct c1f14"/>
          <p:cNvSpPr txBox="1"/>
          <p:nvPr/>
        </p:nvSpPr>
        <p:spPr>
          <a:xfrm>
            <a:off x="6391656" y="360730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−22%</a:t>
            </a:r>
          </a:p>
        </p:txBody>
      </p:sp>
      <p:sp>
        <p:nvSpPr>
          <p:cNvPr id="457" name="dis c1f14"/>
          <p:cNvSpPr txBox="1"/>
          <p:nvPr/>
        </p:nvSpPr>
        <p:spPr>
          <a:xfrm>
            <a:off x="7178040" y="360730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480 → 374</a:t>
            </a:r>
          </a:p>
        </p:txBody>
      </p:sp>
      <p:sp>
        <p:nvSpPr>
          <p:cNvPr id="458" name="cob c1f14"/>
          <p:cNvSpPr txBox="1"/>
          <p:nvPr/>
        </p:nvSpPr>
        <p:spPr>
          <a:xfrm>
            <a:off x="8202168" y="360730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72%</a:t>
            </a:r>
          </a:p>
        </p:txBody>
      </p:sp>
      <p:sp>
        <p:nvSpPr>
          <p:cNvPr id="459" name="nombre c1f15"/>
          <p:cNvSpPr txBox="1"/>
          <p:nvPr/>
        </p:nvSpPr>
        <p:spPr>
          <a:xfrm>
            <a:off x="4663440" y="371017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108</a:t>
            </a:r>
          </a:p>
        </p:txBody>
      </p:sp>
      <p:sp>
        <p:nvSpPr>
          <p:cNvPr id="460" name="barra c1f15"/>
          <p:cNvSpPr/>
          <p:nvPr/>
        </p:nvSpPr>
        <p:spPr>
          <a:xfrm>
            <a:off x="6066669" y="3730752"/>
            <a:ext cx="288411"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461" name="pct c1f15"/>
          <p:cNvSpPr txBox="1"/>
          <p:nvPr/>
        </p:nvSpPr>
        <p:spPr>
          <a:xfrm>
            <a:off x="6391656" y="371017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−25%</a:t>
            </a:r>
          </a:p>
        </p:txBody>
      </p:sp>
      <p:sp>
        <p:nvSpPr>
          <p:cNvPr id="462" name="dis c1f15"/>
          <p:cNvSpPr txBox="1"/>
          <p:nvPr/>
        </p:nvSpPr>
        <p:spPr>
          <a:xfrm>
            <a:off x="7178040" y="371017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268 → 200</a:t>
            </a:r>
          </a:p>
        </p:txBody>
      </p:sp>
      <p:sp>
        <p:nvSpPr>
          <p:cNvPr id="463" name="cob c1f15"/>
          <p:cNvSpPr txBox="1"/>
          <p:nvPr/>
        </p:nvSpPr>
        <p:spPr>
          <a:xfrm>
            <a:off x="8202168" y="371017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89%</a:t>
            </a:r>
          </a:p>
        </p:txBody>
      </p:sp>
      <p:sp>
        <p:nvSpPr>
          <p:cNvPr id="464" name="banda c1f16"/>
          <p:cNvSpPr/>
          <p:nvPr/>
        </p:nvSpPr>
        <p:spPr>
          <a:xfrm>
            <a:off x="4636008" y="3813048"/>
            <a:ext cx="4114800" cy="102870"/>
          </a:xfrm>
          <a:prstGeom prst="rect">
            <a:avLst/>
          </a:prstGeom>
          <a:solidFill>
            <a:srgbClr val="FFFFFF"/>
          </a:solidFill>
          <a:ln>
            <a:noFill/>
          </a:ln>
        </p:spPr>
        <p:txBody>
          <a:bodyPr rtlCol="0" anchor="ctr"/>
          <a:lstStyle/>
          <a:p>
            <a:pPr algn="ctr"/>
            <a:endParaRPr lang="es-CO" noProof="0" dirty="0"/>
          </a:p>
        </p:txBody>
      </p:sp>
      <p:sp>
        <p:nvSpPr>
          <p:cNvPr id="465" name="nombre c1f16"/>
          <p:cNvSpPr txBox="1"/>
          <p:nvPr/>
        </p:nvSpPr>
        <p:spPr>
          <a:xfrm>
            <a:off x="4663440" y="381304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11</a:t>
            </a:r>
          </a:p>
        </p:txBody>
      </p:sp>
      <p:sp>
        <p:nvSpPr>
          <p:cNvPr id="466" name="barra c1f16"/>
          <p:cNvSpPr/>
          <p:nvPr/>
        </p:nvSpPr>
        <p:spPr>
          <a:xfrm>
            <a:off x="6015333" y="3833622"/>
            <a:ext cx="339747"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467" name="pct c1f16"/>
          <p:cNvSpPr txBox="1"/>
          <p:nvPr/>
        </p:nvSpPr>
        <p:spPr>
          <a:xfrm>
            <a:off x="6391656" y="381304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−30%</a:t>
            </a:r>
          </a:p>
        </p:txBody>
      </p:sp>
      <p:sp>
        <p:nvSpPr>
          <p:cNvPr id="468" name="dis c1f16"/>
          <p:cNvSpPr txBox="1"/>
          <p:nvPr/>
        </p:nvSpPr>
        <p:spPr>
          <a:xfrm>
            <a:off x="7178040" y="381304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295 → 207</a:t>
            </a:r>
          </a:p>
        </p:txBody>
      </p:sp>
      <p:sp>
        <p:nvSpPr>
          <p:cNvPr id="469" name="cob c1f16"/>
          <p:cNvSpPr txBox="1"/>
          <p:nvPr/>
        </p:nvSpPr>
        <p:spPr>
          <a:xfrm>
            <a:off x="8202168" y="381304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86%</a:t>
            </a:r>
          </a:p>
        </p:txBody>
      </p:sp>
      <p:sp>
        <p:nvSpPr>
          <p:cNvPr id="470" name="nombre c1f17"/>
          <p:cNvSpPr txBox="1"/>
          <p:nvPr/>
        </p:nvSpPr>
        <p:spPr>
          <a:xfrm>
            <a:off x="4663440" y="391591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111</a:t>
            </a:r>
          </a:p>
        </p:txBody>
      </p:sp>
      <p:sp>
        <p:nvSpPr>
          <p:cNvPr id="471" name="barra c1f17"/>
          <p:cNvSpPr/>
          <p:nvPr/>
        </p:nvSpPr>
        <p:spPr>
          <a:xfrm>
            <a:off x="6008944" y="3936492"/>
            <a:ext cx="346136"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472" name="pct c1f17"/>
          <p:cNvSpPr txBox="1"/>
          <p:nvPr/>
        </p:nvSpPr>
        <p:spPr>
          <a:xfrm>
            <a:off x="6391656" y="391591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−30%</a:t>
            </a:r>
          </a:p>
        </p:txBody>
      </p:sp>
      <p:sp>
        <p:nvSpPr>
          <p:cNvPr id="473" name="dis c1f17"/>
          <p:cNvSpPr txBox="1"/>
          <p:nvPr/>
        </p:nvSpPr>
        <p:spPr>
          <a:xfrm>
            <a:off x="7178040" y="391591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647 → 451</a:t>
            </a:r>
          </a:p>
        </p:txBody>
      </p:sp>
      <p:sp>
        <p:nvSpPr>
          <p:cNvPr id="474" name="cob c1f17"/>
          <p:cNvSpPr txBox="1"/>
          <p:nvPr/>
        </p:nvSpPr>
        <p:spPr>
          <a:xfrm>
            <a:off x="8202168" y="391591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83%</a:t>
            </a:r>
          </a:p>
        </p:txBody>
      </p:sp>
      <p:sp>
        <p:nvSpPr>
          <p:cNvPr id="475" name="banda c1f18"/>
          <p:cNvSpPr/>
          <p:nvPr/>
        </p:nvSpPr>
        <p:spPr>
          <a:xfrm>
            <a:off x="4636008" y="4018788"/>
            <a:ext cx="4114800" cy="102870"/>
          </a:xfrm>
          <a:prstGeom prst="rect">
            <a:avLst/>
          </a:prstGeom>
          <a:solidFill>
            <a:srgbClr val="FFFFFF"/>
          </a:solidFill>
          <a:ln>
            <a:noFill/>
          </a:ln>
        </p:spPr>
        <p:txBody>
          <a:bodyPr rtlCol="0" anchor="ctr"/>
          <a:lstStyle/>
          <a:p>
            <a:pPr algn="ctr"/>
            <a:endParaRPr lang="es-CO" noProof="0" dirty="0"/>
          </a:p>
        </p:txBody>
      </p:sp>
      <p:sp>
        <p:nvSpPr>
          <p:cNvPr id="476" name="nombre c1f18"/>
          <p:cNvSpPr txBox="1"/>
          <p:nvPr/>
        </p:nvSpPr>
        <p:spPr>
          <a:xfrm>
            <a:off x="4663440" y="401878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29</a:t>
            </a:r>
          </a:p>
        </p:txBody>
      </p:sp>
      <p:sp>
        <p:nvSpPr>
          <p:cNvPr id="477" name="barra c1f18"/>
          <p:cNvSpPr/>
          <p:nvPr/>
        </p:nvSpPr>
        <p:spPr>
          <a:xfrm>
            <a:off x="5992025" y="4039362"/>
            <a:ext cx="363055"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478" name="pct c1f18"/>
          <p:cNvSpPr txBox="1"/>
          <p:nvPr/>
        </p:nvSpPr>
        <p:spPr>
          <a:xfrm>
            <a:off x="6391656" y="401878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−32%</a:t>
            </a:r>
          </a:p>
        </p:txBody>
      </p:sp>
      <p:sp>
        <p:nvSpPr>
          <p:cNvPr id="479" name="dis c1f18"/>
          <p:cNvSpPr txBox="1"/>
          <p:nvPr/>
        </p:nvSpPr>
        <p:spPr>
          <a:xfrm>
            <a:off x="7178040" y="401878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397 → 271</a:t>
            </a:r>
          </a:p>
        </p:txBody>
      </p:sp>
      <p:sp>
        <p:nvSpPr>
          <p:cNvPr id="480" name="cob c1f18"/>
          <p:cNvSpPr txBox="1"/>
          <p:nvPr/>
        </p:nvSpPr>
        <p:spPr>
          <a:xfrm>
            <a:off x="8202168" y="401878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91%</a:t>
            </a:r>
          </a:p>
        </p:txBody>
      </p:sp>
      <p:sp>
        <p:nvSpPr>
          <p:cNvPr id="481" name="nombre c1f19"/>
          <p:cNvSpPr txBox="1"/>
          <p:nvPr/>
        </p:nvSpPr>
        <p:spPr>
          <a:xfrm>
            <a:off x="4663440" y="412165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55p</a:t>
            </a:r>
          </a:p>
        </p:txBody>
      </p:sp>
      <p:sp>
        <p:nvSpPr>
          <p:cNvPr id="482" name="barra c1f19"/>
          <p:cNvSpPr/>
          <p:nvPr/>
        </p:nvSpPr>
        <p:spPr>
          <a:xfrm>
            <a:off x="5962353" y="4142232"/>
            <a:ext cx="392727"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483" name="pct c1f19"/>
          <p:cNvSpPr txBox="1"/>
          <p:nvPr/>
        </p:nvSpPr>
        <p:spPr>
          <a:xfrm>
            <a:off x="6391656" y="412165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−34%</a:t>
            </a:r>
          </a:p>
        </p:txBody>
      </p:sp>
      <p:sp>
        <p:nvSpPr>
          <p:cNvPr id="484" name="dis c1f19"/>
          <p:cNvSpPr txBox="1"/>
          <p:nvPr/>
        </p:nvSpPr>
        <p:spPr>
          <a:xfrm>
            <a:off x="7178040" y="412165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376 → 247</a:t>
            </a:r>
          </a:p>
        </p:txBody>
      </p:sp>
      <p:sp>
        <p:nvSpPr>
          <p:cNvPr id="485" name="cob c1f19"/>
          <p:cNvSpPr txBox="1"/>
          <p:nvPr/>
        </p:nvSpPr>
        <p:spPr>
          <a:xfrm>
            <a:off x="8202168" y="412165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91%</a:t>
            </a:r>
          </a:p>
        </p:txBody>
      </p:sp>
      <p:sp>
        <p:nvSpPr>
          <p:cNvPr id="486" name="banda c1f20"/>
          <p:cNvSpPr/>
          <p:nvPr/>
        </p:nvSpPr>
        <p:spPr>
          <a:xfrm>
            <a:off x="4636008" y="4224528"/>
            <a:ext cx="4114800" cy="102870"/>
          </a:xfrm>
          <a:prstGeom prst="rect">
            <a:avLst/>
          </a:prstGeom>
          <a:solidFill>
            <a:srgbClr val="FFFFFF"/>
          </a:solidFill>
          <a:ln>
            <a:noFill/>
          </a:ln>
        </p:spPr>
        <p:txBody>
          <a:bodyPr rtlCol="0" anchor="ctr"/>
          <a:lstStyle/>
          <a:p>
            <a:pPr algn="ctr"/>
            <a:endParaRPr lang="es-CO" noProof="0" dirty="0"/>
          </a:p>
        </p:txBody>
      </p:sp>
      <p:sp>
        <p:nvSpPr>
          <p:cNvPr id="487" name="nombre c1f20"/>
          <p:cNvSpPr txBox="1"/>
          <p:nvPr/>
        </p:nvSpPr>
        <p:spPr>
          <a:xfrm>
            <a:off x="4663440" y="422452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12</a:t>
            </a:r>
          </a:p>
        </p:txBody>
      </p:sp>
      <p:sp>
        <p:nvSpPr>
          <p:cNvPr id="488" name="barra c1f20"/>
          <p:cNvSpPr/>
          <p:nvPr/>
        </p:nvSpPr>
        <p:spPr>
          <a:xfrm>
            <a:off x="5886839" y="4245102"/>
            <a:ext cx="468241"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489" name="pct c1f20"/>
          <p:cNvSpPr txBox="1"/>
          <p:nvPr/>
        </p:nvSpPr>
        <p:spPr>
          <a:xfrm>
            <a:off x="6391656" y="422452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−41%</a:t>
            </a:r>
          </a:p>
        </p:txBody>
      </p:sp>
      <p:sp>
        <p:nvSpPr>
          <p:cNvPr id="490" name="dis c1f20"/>
          <p:cNvSpPr txBox="1"/>
          <p:nvPr/>
        </p:nvSpPr>
        <p:spPr>
          <a:xfrm>
            <a:off x="7178040" y="422452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1.178 → 695</a:t>
            </a:r>
          </a:p>
        </p:txBody>
      </p:sp>
      <p:sp>
        <p:nvSpPr>
          <p:cNvPr id="491" name="cob c1f20"/>
          <p:cNvSpPr txBox="1"/>
          <p:nvPr/>
        </p:nvSpPr>
        <p:spPr>
          <a:xfrm>
            <a:off x="8202168" y="422452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89%</a:t>
            </a:r>
          </a:p>
        </p:txBody>
      </p:sp>
      <p:sp>
        <p:nvSpPr>
          <p:cNvPr id="492" name="nombre c1f21"/>
          <p:cNvSpPr txBox="1"/>
          <p:nvPr/>
        </p:nvSpPr>
        <p:spPr>
          <a:xfrm>
            <a:off x="4663440" y="432739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57</a:t>
            </a:r>
          </a:p>
        </p:txBody>
      </p:sp>
      <p:sp>
        <p:nvSpPr>
          <p:cNvPr id="493" name="barra c1f21"/>
          <p:cNvSpPr/>
          <p:nvPr/>
        </p:nvSpPr>
        <p:spPr>
          <a:xfrm>
            <a:off x="5876706" y="4347972"/>
            <a:ext cx="478374"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494" name="pct c1f21"/>
          <p:cNvSpPr txBox="1"/>
          <p:nvPr/>
        </p:nvSpPr>
        <p:spPr>
          <a:xfrm>
            <a:off x="6391656" y="432739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−42%</a:t>
            </a:r>
          </a:p>
        </p:txBody>
      </p:sp>
      <p:sp>
        <p:nvSpPr>
          <p:cNvPr id="495" name="dis c1f21"/>
          <p:cNvSpPr txBox="1"/>
          <p:nvPr/>
        </p:nvSpPr>
        <p:spPr>
          <a:xfrm>
            <a:off x="7178040" y="432739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280 → 163</a:t>
            </a:r>
          </a:p>
        </p:txBody>
      </p:sp>
      <p:sp>
        <p:nvSpPr>
          <p:cNvPr id="496" name="cob c1f21"/>
          <p:cNvSpPr txBox="1"/>
          <p:nvPr/>
        </p:nvSpPr>
        <p:spPr>
          <a:xfrm>
            <a:off x="8202168" y="432739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79%</a:t>
            </a:r>
          </a:p>
        </p:txBody>
      </p:sp>
      <p:sp>
        <p:nvSpPr>
          <p:cNvPr id="497" name="banda c1f22"/>
          <p:cNvSpPr/>
          <p:nvPr/>
        </p:nvSpPr>
        <p:spPr>
          <a:xfrm>
            <a:off x="4636008" y="4430268"/>
            <a:ext cx="4114800" cy="102870"/>
          </a:xfrm>
          <a:prstGeom prst="rect">
            <a:avLst/>
          </a:prstGeom>
          <a:solidFill>
            <a:srgbClr val="FFFFFF"/>
          </a:solidFill>
          <a:ln>
            <a:noFill/>
          </a:ln>
        </p:spPr>
        <p:txBody>
          <a:bodyPr rtlCol="0" anchor="ctr"/>
          <a:lstStyle/>
          <a:p>
            <a:pPr algn="ctr"/>
            <a:endParaRPr lang="es-CO" noProof="0" dirty="0"/>
          </a:p>
        </p:txBody>
      </p:sp>
      <p:sp>
        <p:nvSpPr>
          <p:cNvPr id="498" name="nombre c1f22"/>
          <p:cNvSpPr txBox="1"/>
          <p:nvPr/>
        </p:nvSpPr>
        <p:spPr>
          <a:xfrm>
            <a:off x="4663440" y="443026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15</a:t>
            </a:r>
          </a:p>
        </p:txBody>
      </p:sp>
      <p:sp>
        <p:nvSpPr>
          <p:cNvPr id="499" name="barra c1f22"/>
          <p:cNvSpPr/>
          <p:nvPr/>
        </p:nvSpPr>
        <p:spPr>
          <a:xfrm>
            <a:off x="5795410" y="4450842"/>
            <a:ext cx="559670"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500" name="pct c1f22"/>
          <p:cNvSpPr txBox="1"/>
          <p:nvPr/>
        </p:nvSpPr>
        <p:spPr>
          <a:xfrm>
            <a:off x="6391656" y="443026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−49%</a:t>
            </a:r>
          </a:p>
        </p:txBody>
      </p:sp>
      <p:sp>
        <p:nvSpPr>
          <p:cNvPr id="501" name="dis c1f22"/>
          <p:cNvSpPr txBox="1"/>
          <p:nvPr/>
        </p:nvSpPr>
        <p:spPr>
          <a:xfrm>
            <a:off x="7178040" y="443026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749 → 382</a:t>
            </a:r>
          </a:p>
        </p:txBody>
      </p:sp>
      <p:sp>
        <p:nvSpPr>
          <p:cNvPr id="502" name="cob c1f22"/>
          <p:cNvSpPr txBox="1"/>
          <p:nvPr/>
        </p:nvSpPr>
        <p:spPr>
          <a:xfrm>
            <a:off x="8202168" y="443026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91%</a:t>
            </a:r>
          </a:p>
        </p:txBody>
      </p:sp>
      <p:sp>
        <p:nvSpPr>
          <p:cNvPr id="503" name="nombre c1f23"/>
          <p:cNvSpPr txBox="1"/>
          <p:nvPr/>
        </p:nvSpPr>
        <p:spPr>
          <a:xfrm>
            <a:off x="4663440" y="453313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 Casa 104</a:t>
            </a:r>
          </a:p>
        </p:txBody>
      </p:sp>
      <p:sp>
        <p:nvSpPr>
          <p:cNvPr id="504" name="barra c1f23"/>
          <p:cNvSpPr/>
          <p:nvPr/>
        </p:nvSpPr>
        <p:spPr>
          <a:xfrm>
            <a:off x="5451930" y="4553712"/>
            <a:ext cx="903150"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505" name="pct c1f23"/>
          <p:cNvSpPr txBox="1"/>
          <p:nvPr/>
        </p:nvSpPr>
        <p:spPr>
          <a:xfrm>
            <a:off x="6391656" y="453313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−79%</a:t>
            </a:r>
          </a:p>
        </p:txBody>
      </p:sp>
      <p:sp>
        <p:nvSpPr>
          <p:cNvPr id="506" name="dis c1f23"/>
          <p:cNvSpPr txBox="1"/>
          <p:nvPr/>
        </p:nvSpPr>
        <p:spPr>
          <a:xfrm>
            <a:off x="7178040" y="453313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292 → 61</a:t>
            </a:r>
          </a:p>
        </p:txBody>
      </p:sp>
      <p:sp>
        <p:nvSpPr>
          <p:cNvPr id="507" name="cob c1f23"/>
          <p:cNvSpPr txBox="1"/>
          <p:nvPr/>
        </p:nvSpPr>
        <p:spPr>
          <a:xfrm>
            <a:off x="8202168" y="453313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86%</a:t>
            </a:r>
          </a:p>
        </p:txBody>
      </p:sp>
      <p:sp>
        <p:nvSpPr>
          <p:cNvPr id="132" name="Rectangle 131"/>
          <p:cNvSpPr/>
          <p:nvPr/>
        </p:nvSpPr>
        <p:spPr>
          <a:xfrm>
            <a:off x="1572768" y="2167128"/>
            <a:ext cx="10972" cy="2468880"/>
          </a:xfrm>
          <a:prstGeom prst="rect">
            <a:avLst/>
          </a:prstGeom>
          <a:solidFill>
            <a:srgbClr val="A0A8B3"/>
          </a:solidFill>
          <a:ln w="12700">
            <a:solidFill>
              <a:srgbClr val="A0A8B3"/>
            </a:solidFill>
          </a:ln>
        </p:spPr>
        <p:txBody>
          <a:bodyPr rtlCol="0" anchor="ctr"/>
          <a:lstStyle/>
          <a:p>
            <a:pPr algn="ctr"/>
            <a:endParaRPr lang="es-CO" noProof="0" dirty="0"/>
          </a:p>
        </p:txBody>
      </p:sp>
      <p:sp>
        <p:nvSpPr>
          <p:cNvPr id="242" name="Rectangle 241"/>
          <p:cNvSpPr/>
          <p:nvPr/>
        </p:nvSpPr>
        <p:spPr>
          <a:xfrm>
            <a:off x="6355080" y="2167128"/>
            <a:ext cx="10972" cy="2468880"/>
          </a:xfrm>
          <a:prstGeom prst="rect">
            <a:avLst/>
          </a:prstGeom>
          <a:solidFill>
            <a:srgbClr val="A0A8B3"/>
          </a:solidFill>
          <a:ln w="12700">
            <a:solidFill>
              <a:srgbClr val="A0A8B3"/>
            </a:solidFill>
          </a:ln>
        </p:spPr>
        <p:txBody>
          <a:bodyPr rtlCol="0" anchor="ctr"/>
          <a:lstStyle/>
          <a:p>
            <a:pPr algn="ctr"/>
            <a:endParaRPr lang="es-CO" noProof="0" dirty="0"/>
          </a:p>
        </p:txBody>
      </p:sp>
      <p:sp>
        <p:nvSpPr>
          <p:cNvPr id="243" name="TextBox 242"/>
          <p:cNvSpPr txBox="1"/>
          <p:nvPr/>
        </p:nvSpPr>
        <p:spPr>
          <a:xfrm>
            <a:off x="411480" y="4658868"/>
            <a:ext cx="8321040" cy="237744"/>
          </a:xfrm>
          <a:prstGeom prst="rect">
            <a:avLst/>
          </a:prstGeom>
          <a:noFill/>
        </p:spPr>
        <p:txBody>
          <a:bodyPr wrap="square" lIns="0" tIns="0" rIns="0" bIns="0" anchor="ctr">
            <a:spAutoFit/>
          </a:bodyPr>
          <a:lstStyle/>
          <a:p>
            <a:pPr algn="l">
              <a:spcAft>
                <a:spcPts val="0"/>
              </a:spcAft>
            </a:pPr>
            <a:r>
              <a:rPr lang="es-CO" sz="750" b="0" i="1" noProof="0" dirty="0">
                <a:solidFill>
                  <a:srgbClr val="55636E"/>
                </a:solidFill>
                <a:latin typeface="Calibri"/>
              </a:rPr>
              <a:t>Real = demanda del medidor solar del 1 al 20/10; diseño = línea base mensual de Casas V3 × días con dato / 30 (Casa 447p: 9 días). Verde ≤ 15% · naranja 15 - 30% · rojo &gt; 30% · azul bajo el diseño. 🧳 posible ausencia. † medidor solar e inversor difieren más de 20% en la carga del periodo: medición por validar.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BATERÍA · RANKING DE USO</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1800" b="1" i="0" noProof="0" dirty="0">
                <a:solidFill>
                  <a:srgbClr val="1B3A6B"/>
                </a:solidFill>
                <a:latin typeface="Calibri"/>
              </a:rPr>
              <a:t>19 de 48 casas llevan la batería al piso en 8 de cada 10 noches; 13 la usan poco</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13</a:t>
            </a:r>
          </a:p>
        </p:txBody>
      </p:sp>
      <p:sp>
        <p:nvSpPr>
          <p:cNvPr id="8" name="Rectangle 7"/>
          <p:cNvSpPr/>
          <p:nvPr/>
        </p:nvSpPr>
        <p:spPr>
          <a:xfrm>
            <a:off x="411480" y="1143000"/>
            <a:ext cx="2011680" cy="658368"/>
          </a:xfrm>
          <a:prstGeom prst="rect">
            <a:avLst/>
          </a:prstGeom>
          <a:solidFill>
            <a:srgbClr val="FFFFFF"/>
          </a:solidFill>
          <a:ln w="10160">
            <a:solidFill>
              <a:srgbClr val="E3E7EA"/>
            </a:solidFill>
          </a:ln>
        </p:spPr>
        <p:txBody>
          <a:bodyPr rtlCol="0" anchor="ctr"/>
          <a:lstStyle/>
          <a:p>
            <a:pPr algn="ctr"/>
            <a:endParaRPr lang="es-CO" noProof="0" dirty="0"/>
          </a:p>
        </p:txBody>
      </p:sp>
      <p:sp>
        <p:nvSpPr>
          <p:cNvPr id="9" name="Rectangle 8"/>
          <p:cNvSpPr/>
          <p:nvPr/>
        </p:nvSpPr>
        <p:spPr>
          <a:xfrm>
            <a:off x="411480" y="1143000"/>
            <a:ext cx="54864" cy="658368"/>
          </a:xfrm>
          <a:prstGeom prst="rect">
            <a:avLst/>
          </a:prstGeom>
          <a:solidFill>
            <a:srgbClr val="1B3A6B"/>
          </a:solidFill>
          <a:ln w="12700">
            <a:solidFill>
              <a:srgbClr val="1B3A6B"/>
            </a:solidFill>
          </a:ln>
        </p:spPr>
        <p:txBody>
          <a:bodyPr rtlCol="0" anchor="ctr"/>
          <a:lstStyle/>
          <a:p>
            <a:pPr algn="ctr"/>
            <a:endParaRPr lang="es-CO" noProof="0" dirty="0"/>
          </a:p>
        </p:txBody>
      </p:sp>
      <p:sp>
        <p:nvSpPr>
          <p:cNvPr id="10" name="TextBox 9"/>
          <p:cNvSpPr txBox="1"/>
          <p:nvPr/>
        </p:nvSpPr>
        <p:spPr>
          <a:xfrm>
            <a:off x="557784" y="1179576"/>
            <a:ext cx="1810512" cy="342351"/>
          </a:xfrm>
          <a:prstGeom prst="rect">
            <a:avLst/>
          </a:prstGeom>
          <a:noFill/>
        </p:spPr>
        <p:txBody>
          <a:bodyPr wrap="square" lIns="0" tIns="0" rIns="0" bIns="0" anchor="ctr">
            <a:spAutoFit/>
          </a:bodyPr>
          <a:lstStyle/>
          <a:p>
            <a:pPr algn="l">
              <a:spcAft>
                <a:spcPts val="0"/>
              </a:spcAft>
            </a:pPr>
            <a:r>
              <a:rPr lang="es-CO" sz="1700" b="1" i="0" noProof="0" dirty="0">
                <a:solidFill>
                  <a:srgbClr val="1B3A6B"/>
                </a:solidFill>
                <a:latin typeface="Calibri"/>
              </a:rPr>
              <a:t>57,0%</a:t>
            </a:r>
          </a:p>
        </p:txBody>
      </p:sp>
      <p:sp>
        <p:nvSpPr>
          <p:cNvPr id="11" name="TextBox 10"/>
          <p:cNvSpPr txBox="1"/>
          <p:nvPr/>
        </p:nvSpPr>
        <p:spPr>
          <a:xfrm>
            <a:off x="557784" y="1498518"/>
            <a:ext cx="1810512" cy="144840"/>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SOC promedio general</a:t>
            </a:r>
          </a:p>
        </p:txBody>
      </p:sp>
      <p:sp>
        <p:nvSpPr>
          <p:cNvPr id="12" name="Rectangle 11"/>
          <p:cNvSpPr/>
          <p:nvPr/>
        </p:nvSpPr>
        <p:spPr>
          <a:xfrm>
            <a:off x="2532888" y="1143000"/>
            <a:ext cx="2011680" cy="658368"/>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3" name="Rectangle 12"/>
          <p:cNvSpPr/>
          <p:nvPr/>
        </p:nvSpPr>
        <p:spPr>
          <a:xfrm>
            <a:off x="2532888" y="1143000"/>
            <a:ext cx="54864" cy="658368"/>
          </a:xfrm>
          <a:prstGeom prst="rect">
            <a:avLst/>
          </a:prstGeom>
          <a:solidFill>
            <a:srgbClr val="E63946"/>
          </a:solidFill>
          <a:ln w="12700">
            <a:solidFill>
              <a:srgbClr val="E63946"/>
            </a:solidFill>
          </a:ln>
        </p:spPr>
        <p:txBody>
          <a:bodyPr rtlCol="0" anchor="ctr"/>
          <a:lstStyle/>
          <a:p>
            <a:pPr algn="ctr"/>
            <a:endParaRPr lang="es-CO" noProof="0" dirty="0"/>
          </a:p>
        </p:txBody>
      </p:sp>
      <p:sp>
        <p:nvSpPr>
          <p:cNvPr id="14" name="TextBox 13"/>
          <p:cNvSpPr txBox="1"/>
          <p:nvPr/>
        </p:nvSpPr>
        <p:spPr>
          <a:xfrm>
            <a:off x="2679192" y="1179576"/>
            <a:ext cx="1810512" cy="342351"/>
          </a:xfrm>
          <a:prstGeom prst="rect">
            <a:avLst/>
          </a:prstGeom>
          <a:noFill/>
        </p:spPr>
        <p:txBody>
          <a:bodyPr wrap="square" lIns="0" tIns="0" rIns="0" bIns="0" anchor="ctr">
            <a:spAutoFit/>
          </a:bodyPr>
          <a:lstStyle/>
          <a:p>
            <a:pPr algn="l">
              <a:spcAft>
                <a:spcPts val="0"/>
              </a:spcAft>
            </a:pPr>
            <a:r>
              <a:rPr lang="es-CO" sz="1700" b="1" i="0" noProof="0" dirty="0">
                <a:solidFill>
                  <a:srgbClr val="E63946"/>
                </a:solidFill>
                <a:latin typeface="Calibri"/>
              </a:rPr>
              <a:t>59%</a:t>
            </a:r>
          </a:p>
        </p:txBody>
      </p:sp>
      <p:sp>
        <p:nvSpPr>
          <p:cNvPr id="15" name="TextBox 14"/>
          <p:cNvSpPr txBox="1"/>
          <p:nvPr/>
        </p:nvSpPr>
        <p:spPr>
          <a:xfrm>
            <a:off x="2679192" y="1498518"/>
            <a:ext cx="1810512" cy="144840"/>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noches con batería en el piso</a:t>
            </a:r>
          </a:p>
        </p:txBody>
      </p:sp>
      <p:sp>
        <p:nvSpPr>
          <p:cNvPr id="16" name="TextBox 15"/>
          <p:cNvSpPr txBox="1"/>
          <p:nvPr/>
        </p:nvSpPr>
        <p:spPr>
          <a:xfrm>
            <a:off x="2679192" y="1630192"/>
            <a:ext cx="1810512" cy="158008"/>
          </a:xfrm>
          <a:prstGeom prst="rect">
            <a:avLst/>
          </a:prstGeom>
          <a:noFill/>
        </p:spPr>
        <p:txBody>
          <a:bodyPr wrap="square" lIns="0" tIns="0" rIns="0" bIns="0" anchor="t">
            <a:spAutoFit/>
          </a:bodyPr>
          <a:lstStyle/>
          <a:p>
            <a:pPr algn="l">
              <a:spcAft>
                <a:spcPts val="0"/>
              </a:spcAft>
            </a:pPr>
            <a:r>
              <a:rPr lang="es-CO" sz="720" b="0" i="0" noProof="0" dirty="0">
                <a:solidFill>
                  <a:srgbClr val="55636E"/>
                </a:solidFill>
                <a:latin typeface="Calibri"/>
              </a:rPr>
              <a:t>555 de 946 noches-casa</a:t>
            </a:r>
          </a:p>
        </p:txBody>
      </p:sp>
      <p:sp>
        <p:nvSpPr>
          <p:cNvPr id="17" name="Rectangle 16"/>
          <p:cNvSpPr/>
          <p:nvPr/>
        </p:nvSpPr>
        <p:spPr>
          <a:xfrm>
            <a:off x="4654296" y="1143000"/>
            <a:ext cx="2011680" cy="658368"/>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8" name="Rectangle 17"/>
          <p:cNvSpPr/>
          <p:nvPr/>
        </p:nvSpPr>
        <p:spPr>
          <a:xfrm>
            <a:off x="4654296" y="1143000"/>
            <a:ext cx="54864" cy="658368"/>
          </a:xfrm>
          <a:prstGeom prst="rect">
            <a:avLst/>
          </a:prstGeom>
          <a:solidFill>
            <a:srgbClr val="1E8449"/>
          </a:solidFill>
          <a:ln w="12700">
            <a:solidFill>
              <a:srgbClr val="1E8449"/>
            </a:solidFill>
          </a:ln>
        </p:spPr>
        <p:txBody>
          <a:bodyPr rtlCol="0" anchor="ctr"/>
          <a:lstStyle/>
          <a:p>
            <a:pPr algn="ctr"/>
            <a:endParaRPr lang="es-CO" noProof="0" dirty="0"/>
          </a:p>
        </p:txBody>
      </p:sp>
      <p:sp>
        <p:nvSpPr>
          <p:cNvPr id="19" name="TextBox 18"/>
          <p:cNvSpPr txBox="1"/>
          <p:nvPr/>
        </p:nvSpPr>
        <p:spPr>
          <a:xfrm>
            <a:off x="4800600" y="1179576"/>
            <a:ext cx="1810512" cy="342351"/>
          </a:xfrm>
          <a:prstGeom prst="rect">
            <a:avLst/>
          </a:prstGeom>
          <a:noFill/>
        </p:spPr>
        <p:txBody>
          <a:bodyPr wrap="square" lIns="0" tIns="0" rIns="0" bIns="0" anchor="ctr">
            <a:spAutoFit/>
          </a:bodyPr>
          <a:lstStyle/>
          <a:p>
            <a:pPr algn="l">
              <a:spcAft>
                <a:spcPts val="0"/>
              </a:spcAft>
            </a:pPr>
            <a:r>
              <a:rPr lang="es-CO" sz="1700" b="1" i="0" noProof="0" dirty="0">
                <a:solidFill>
                  <a:srgbClr val="1E8449"/>
                </a:solidFill>
                <a:latin typeface="Calibri"/>
              </a:rPr>
              <a:t>35 de 48</a:t>
            </a:r>
          </a:p>
        </p:txBody>
      </p:sp>
      <p:sp>
        <p:nvSpPr>
          <p:cNvPr id="20" name="TextBox 19"/>
          <p:cNvSpPr txBox="1"/>
          <p:nvPr/>
        </p:nvSpPr>
        <p:spPr>
          <a:xfrm>
            <a:off x="4800600" y="1498518"/>
            <a:ext cx="1810512" cy="144840"/>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recargan al 100% 10+ días</a:t>
            </a:r>
          </a:p>
        </p:txBody>
      </p:sp>
      <p:sp>
        <p:nvSpPr>
          <p:cNvPr id="21" name="TextBox 20"/>
          <p:cNvSpPr txBox="1"/>
          <p:nvPr/>
        </p:nvSpPr>
        <p:spPr>
          <a:xfrm>
            <a:off x="4800600" y="1630192"/>
            <a:ext cx="1810512" cy="158008"/>
          </a:xfrm>
          <a:prstGeom prst="rect">
            <a:avLst/>
          </a:prstGeom>
          <a:noFill/>
        </p:spPr>
        <p:txBody>
          <a:bodyPr wrap="square" lIns="0" tIns="0" rIns="0" bIns="0" anchor="t">
            <a:spAutoFit/>
          </a:bodyPr>
          <a:lstStyle/>
          <a:p>
            <a:pPr algn="l">
              <a:spcAft>
                <a:spcPts val="0"/>
              </a:spcAft>
            </a:pPr>
            <a:r>
              <a:rPr lang="es-CO" sz="720" b="0" i="0" noProof="0" dirty="0">
                <a:solidFill>
                  <a:srgbClr val="55636E"/>
                </a:solidFill>
                <a:latin typeface="Calibri"/>
              </a:rPr>
              <a:t>Llegan al 100% hacia las 12:46 en promedio</a:t>
            </a:r>
          </a:p>
        </p:txBody>
      </p:sp>
      <p:pic>
        <p:nvPicPr>
          <p:cNvPr id="22" name="Picture 21" descr="bskills.gif"/>
          <p:cNvPicPr>
            <a:picLocks noChangeAspect="1"/>
          </p:cNvPicPr>
          <p:nvPr/>
        </p:nvPicPr>
        <p:blipFill>
          <a:blip r:embed="rId3"/>
          <a:srcRect t="22000" b="13000"/>
          <a:stretch>
            <a:fillRect/>
          </a:stretch>
        </p:blipFill>
        <p:spPr>
          <a:xfrm>
            <a:off x="6812280" y="1143000"/>
            <a:ext cx="1920240" cy="658368"/>
          </a:xfrm>
          <a:prstGeom prst="rect">
            <a:avLst/>
          </a:prstGeom>
        </p:spPr>
      </p:pic>
      <p:sp>
        <p:nvSpPr>
          <p:cNvPr id="23" name="TextBox 22"/>
          <p:cNvSpPr txBox="1"/>
          <p:nvPr/>
        </p:nvSpPr>
        <p:spPr>
          <a:xfrm>
            <a:off x="411480" y="1920240"/>
            <a:ext cx="777240" cy="182880"/>
          </a:xfrm>
          <a:prstGeom prst="rect">
            <a:avLst/>
          </a:prstGeom>
          <a:noFill/>
        </p:spPr>
        <p:txBody>
          <a:bodyPr wrap="square" lIns="0" tIns="0" rIns="0" bIns="0" anchor="ctr">
            <a:spAutoFit/>
          </a:bodyPr>
          <a:lstStyle/>
          <a:p>
            <a:pPr algn="l">
              <a:spcAft>
                <a:spcPts val="0"/>
              </a:spcAft>
            </a:pPr>
            <a:r>
              <a:rPr lang="es-CO" sz="680" b="1" i="0" noProof="0" dirty="0">
                <a:solidFill>
                  <a:srgbClr val="7F8C8D"/>
                </a:solidFill>
                <a:latin typeface="Calibri"/>
              </a:rPr>
              <a:t>Casa</a:t>
            </a:r>
          </a:p>
        </p:txBody>
      </p:sp>
      <p:sp>
        <p:nvSpPr>
          <p:cNvPr id="24" name="TextBox 23"/>
          <p:cNvSpPr txBox="1"/>
          <p:nvPr/>
        </p:nvSpPr>
        <p:spPr>
          <a:xfrm>
            <a:off x="1188720" y="1920240"/>
            <a:ext cx="1188720" cy="182880"/>
          </a:xfrm>
          <a:prstGeom prst="rect">
            <a:avLst/>
          </a:prstGeom>
          <a:noFill/>
        </p:spPr>
        <p:txBody>
          <a:bodyPr wrap="square" lIns="0" tIns="0" rIns="0" bIns="0" anchor="ctr">
            <a:spAutoFit/>
          </a:bodyPr>
          <a:lstStyle/>
          <a:p>
            <a:pPr algn="l">
              <a:spcAft>
                <a:spcPts val="0"/>
              </a:spcAft>
            </a:pPr>
            <a:r>
              <a:rPr lang="es-CO" sz="680" b="1" i="0" noProof="0" dirty="0">
                <a:solidFill>
                  <a:srgbClr val="7F8C8D"/>
                </a:solidFill>
                <a:latin typeface="Calibri"/>
              </a:rPr>
              <a:t>Noches en el piso (de 20)</a:t>
            </a:r>
          </a:p>
        </p:txBody>
      </p:sp>
      <p:sp>
        <p:nvSpPr>
          <p:cNvPr id="25" name="TextBox 24"/>
          <p:cNvSpPr txBox="1"/>
          <p:nvPr/>
        </p:nvSpPr>
        <p:spPr>
          <a:xfrm>
            <a:off x="3520440" y="1920240"/>
            <a:ext cx="50292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Amanecer</a:t>
            </a:r>
          </a:p>
        </p:txBody>
      </p:sp>
      <p:sp>
        <p:nvSpPr>
          <p:cNvPr id="26" name="TextBox 25"/>
          <p:cNvSpPr txBox="1"/>
          <p:nvPr/>
        </p:nvSpPr>
        <p:spPr>
          <a:xfrm>
            <a:off x="4023360" y="1920240"/>
            <a:ext cx="50292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Días 100%</a:t>
            </a:r>
          </a:p>
        </p:txBody>
      </p:sp>
      <p:sp>
        <p:nvSpPr>
          <p:cNvPr id="27" name="TextBox 26"/>
          <p:cNvSpPr txBox="1"/>
          <p:nvPr/>
        </p:nvSpPr>
        <p:spPr>
          <a:xfrm>
            <a:off x="2377440" y="1920240"/>
            <a:ext cx="1188720" cy="182880"/>
          </a:xfrm>
          <a:prstGeom prst="rect">
            <a:avLst/>
          </a:prstGeom>
          <a:noFill/>
        </p:spPr>
        <p:txBody>
          <a:bodyPr wrap="square" lIns="0" tIns="0" rIns="0" bIns="0" anchor="ctr">
            <a:spAutoFit/>
          </a:bodyPr>
          <a:lstStyle/>
          <a:p>
            <a:pPr algn="ctr">
              <a:spcAft>
                <a:spcPts val="0"/>
              </a:spcAft>
            </a:pPr>
            <a:r>
              <a:rPr lang="es-CO" sz="680" b="1" i="0" noProof="0" dirty="0">
                <a:solidFill>
                  <a:srgbClr val="7F8C8D"/>
                </a:solidFill>
                <a:latin typeface="Calibri"/>
              </a:rPr>
              <a:t>Hora al llegar al 100%</a:t>
            </a:r>
          </a:p>
        </p:txBody>
      </p:sp>
      <p:sp>
        <p:nvSpPr>
          <p:cNvPr id="28" name="TextBox 27"/>
          <p:cNvSpPr txBox="1"/>
          <p:nvPr/>
        </p:nvSpPr>
        <p:spPr>
          <a:xfrm>
            <a:off x="2286000" y="2084831"/>
            <a:ext cx="274320" cy="91440"/>
          </a:xfrm>
          <a:prstGeom prst="rect">
            <a:avLst/>
          </a:prstGeom>
          <a:noFill/>
        </p:spPr>
        <p:txBody>
          <a:bodyPr wrap="square" lIns="0" tIns="0" rIns="0" bIns="0" anchor="ctr">
            <a:spAutoFit/>
          </a:bodyPr>
          <a:lstStyle/>
          <a:p>
            <a:pPr algn="ctr">
              <a:spcAft>
                <a:spcPts val="0"/>
              </a:spcAft>
            </a:pPr>
            <a:r>
              <a:rPr lang="es-CO" sz="550" b="0" i="0" noProof="0" dirty="0">
                <a:solidFill>
                  <a:srgbClr val="A0A8B3"/>
                </a:solidFill>
                <a:latin typeface="Calibri"/>
              </a:rPr>
              <a:t>10h</a:t>
            </a:r>
          </a:p>
        </p:txBody>
      </p:sp>
      <p:sp>
        <p:nvSpPr>
          <p:cNvPr id="29" name="TextBox 28"/>
          <p:cNvSpPr txBox="1"/>
          <p:nvPr/>
        </p:nvSpPr>
        <p:spPr>
          <a:xfrm>
            <a:off x="2684206" y="2084831"/>
            <a:ext cx="274320" cy="91440"/>
          </a:xfrm>
          <a:prstGeom prst="rect">
            <a:avLst/>
          </a:prstGeom>
          <a:noFill/>
        </p:spPr>
        <p:txBody>
          <a:bodyPr wrap="square" lIns="0" tIns="0" rIns="0" bIns="0" anchor="ctr">
            <a:spAutoFit/>
          </a:bodyPr>
          <a:lstStyle/>
          <a:p>
            <a:pPr algn="ctr">
              <a:spcAft>
                <a:spcPts val="0"/>
              </a:spcAft>
            </a:pPr>
            <a:r>
              <a:rPr lang="es-CO" sz="550" b="0" i="0" noProof="0" dirty="0">
                <a:solidFill>
                  <a:srgbClr val="A0A8B3"/>
                </a:solidFill>
                <a:latin typeface="Calibri"/>
              </a:rPr>
              <a:t>12h</a:t>
            </a:r>
          </a:p>
        </p:txBody>
      </p:sp>
      <p:sp>
        <p:nvSpPr>
          <p:cNvPr id="30" name="TextBox 29"/>
          <p:cNvSpPr txBox="1"/>
          <p:nvPr/>
        </p:nvSpPr>
        <p:spPr>
          <a:xfrm>
            <a:off x="3082412" y="2084831"/>
            <a:ext cx="274320" cy="91440"/>
          </a:xfrm>
          <a:prstGeom prst="rect">
            <a:avLst/>
          </a:prstGeom>
          <a:noFill/>
        </p:spPr>
        <p:txBody>
          <a:bodyPr wrap="square" lIns="0" tIns="0" rIns="0" bIns="0" anchor="ctr">
            <a:spAutoFit/>
          </a:bodyPr>
          <a:lstStyle/>
          <a:p>
            <a:pPr algn="ctr">
              <a:spcAft>
                <a:spcPts val="0"/>
              </a:spcAft>
            </a:pPr>
            <a:r>
              <a:rPr lang="es-CO" sz="550" b="0" i="0" noProof="0" dirty="0">
                <a:solidFill>
                  <a:srgbClr val="A0A8B3"/>
                </a:solidFill>
                <a:latin typeface="Calibri"/>
              </a:rPr>
              <a:t>14h</a:t>
            </a:r>
          </a:p>
        </p:txBody>
      </p:sp>
      <p:sp>
        <p:nvSpPr>
          <p:cNvPr id="31" name="TextBox 30"/>
          <p:cNvSpPr txBox="1"/>
          <p:nvPr/>
        </p:nvSpPr>
        <p:spPr>
          <a:xfrm>
            <a:off x="3480619" y="2084831"/>
            <a:ext cx="274320" cy="91440"/>
          </a:xfrm>
          <a:prstGeom prst="rect">
            <a:avLst/>
          </a:prstGeom>
          <a:noFill/>
        </p:spPr>
        <p:txBody>
          <a:bodyPr wrap="square" lIns="0" tIns="0" rIns="0" bIns="0" anchor="ctr">
            <a:spAutoFit/>
          </a:bodyPr>
          <a:lstStyle/>
          <a:p>
            <a:pPr algn="ctr">
              <a:spcAft>
                <a:spcPts val="0"/>
              </a:spcAft>
            </a:pPr>
            <a:r>
              <a:rPr lang="es-CO" sz="550" b="0" i="0" noProof="0" dirty="0">
                <a:solidFill>
                  <a:srgbClr val="A0A8B3"/>
                </a:solidFill>
                <a:latin typeface="Calibri"/>
              </a:rPr>
              <a:t>16h</a:t>
            </a:r>
          </a:p>
        </p:txBody>
      </p:sp>
      <p:sp>
        <p:nvSpPr>
          <p:cNvPr id="193" name="TextBox 192"/>
          <p:cNvSpPr txBox="1"/>
          <p:nvPr/>
        </p:nvSpPr>
        <p:spPr>
          <a:xfrm>
            <a:off x="4636008" y="1920240"/>
            <a:ext cx="777240" cy="182880"/>
          </a:xfrm>
          <a:prstGeom prst="rect">
            <a:avLst/>
          </a:prstGeom>
          <a:noFill/>
        </p:spPr>
        <p:txBody>
          <a:bodyPr wrap="square" lIns="0" tIns="0" rIns="0" bIns="0" anchor="ctr">
            <a:spAutoFit/>
          </a:bodyPr>
          <a:lstStyle/>
          <a:p>
            <a:pPr algn="l">
              <a:spcAft>
                <a:spcPts val="0"/>
              </a:spcAft>
            </a:pPr>
            <a:r>
              <a:rPr lang="es-CO" sz="680" b="1" i="0" noProof="0" dirty="0">
                <a:solidFill>
                  <a:srgbClr val="7F8C8D"/>
                </a:solidFill>
                <a:latin typeface="Calibri"/>
              </a:rPr>
              <a:t>Casa</a:t>
            </a:r>
          </a:p>
        </p:txBody>
      </p:sp>
      <p:sp>
        <p:nvSpPr>
          <p:cNvPr id="194" name="TextBox 193"/>
          <p:cNvSpPr txBox="1"/>
          <p:nvPr/>
        </p:nvSpPr>
        <p:spPr>
          <a:xfrm>
            <a:off x="5413248" y="1920240"/>
            <a:ext cx="1188720" cy="182880"/>
          </a:xfrm>
          <a:prstGeom prst="rect">
            <a:avLst/>
          </a:prstGeom>
          <a:noFill/>
        </p:spPr>
        <p:txBody>
          <a:bodyPr wrap="square" lIns="0" tIns="0" rIns="0" bIns="0" anchor="ctr">
            <a:spAutoFit/>
          </a:bodyPr>
          <a:lstStyle/>
          <a:p>
            <a:pPr algn="l">
              <a:spcAft>
                <a:spcPts val="0"/>
              </a:spcAft>
            </a:pPr>
            <a:r>
              <a:rPr lang="es-CO" sz="680" b="1" i="0" noProof="0" dirty="0">
                <a:solidFill>
                  <a:srgbClr val="7F8C8D"/>
                </a:solidFill>
                <a:latin typeface="Calibri"/>
              </a:rPr>
              <a:t>Noches en el piso (de 20)</a:t>
            </a:r>
          </a:p>
        </p:txBody>
      </p:sp>
      <p:sp>
        <p:nvSpPr>
          <p:cNvPr id="195" name="TextBox 194"/>
          <p:cNvSpPr txBox="1"/>
          <p:nvPr/>
        </p:nvSpPr>
        <p:spPr>
          <a:xfrm>
            <a:off x="7744968" y="1920240"/>
            <a:ext cx="50292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Amanecer</a:t>
            </a:r>
          </a:p>
        </p:txBody>
      </p:sp>
      <p:sp>
        <p:nvSpPr>
          <p:cNvPr id="196" name="TextBox 195"/>
          <p:cNvSpPr txBox="1"/>
          <p:nvPr/>
        </p:nvSpPr>
        <p:spPr>
          <a:xfrm>
            <a:off x="8247888" y="1920240"/>
            <a:ext cx="50292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Días 100%</a:t>
            </a:r>
          </a:p>
        </p:txBody>
      </p:sp>
      <p:sp>
        <p:nvSpPr>
          <p:cNvPr id="197" name="TextBox 196"/>
          <p:cNvSpPr txBox="1"/>
          <p:nvPr/>
        </p:nvSpPr>
        <p:spPr>
          <a:xfrm>
            <a:off x="6601968" y="1920240"/>
            <a:ext cx="1188720" cy="182880"/>
          </a:xfrm>
          <a:prstGeom prst="rect">
            <a:avLst/>
          </a:prstGeom>
          <a:noFill/>
        </p:spPr>
        <p:txBody>
          <a:bodyPr wrap="square" lIns="0" tIns="0" rIns="0" bIns="0" anchor="ctr">
            <a:spAutoFit/>
          </a:bodyPr>
          <a:lstStyle/>
          <a:p>
            <a:pPr algn="ctr">
              <a:spcAft>
                <a:spcPts val="0"/>
              </a:spcAft>
            </a:pPr>
            <a:r>
              <a:rPr lang="es-CO" sz="680" b="1" i="0" noProof="0" dirty="0">
                <a:solidFill>
                  <a:srgbClr val="7F8C8D"/>
                </a:solidFill>
                <a:latin typeface="Calibri"/>
              </a:rPr>
              <a:t>Hora al llegar al 100%</a:t>
            </a:r>
          </a:p>
        </p:txBody>
      </p:sp>
      <p:sp>
        <p:nvSpPr>
          <p:cNvPr id="198" name="TextBox 197"/>
          <p:cNvSpPr txBox="1"/>
          <p:nvPr/>
        </p:nvSpPr>
        <p:spPr>
          <a:xfrm>
            <a:off x="6510528" y="2084831"/>
            <a:ext cx="274320" cy="91440"/>
          </a:xfrm>
          <a:prstGeom prst="rect">
            <a:avLst/>
          </a:prstGeom>
          <a:noFill/>
        </p:spPr>
        <p:txBody>
          <a:bodyPr wrap="square" lIns="0" tIns="0" rIns="0" bIns="0" anchor="ctr">
            <a:spAutoFit/>
          </a:bodyPr>
          <a:lstStyle/>
          <a:p>
            <a:pPr algn="ctr">
              <a:spcAft>
                <a:spcPts val="0"/>
              </a:spcAft>
            </a:pPr>
            <a:r>
              <a:rPr lang="es-CO" sz="550" b="0" i="0" noProof="0" dirty="0">
                <a:solidFill>
                  <a:srgbClr val="A0A8B3"/>
                </a:solidFill>
                <a:latin typeface="Calibri"/>
              </a:rPr>
              <a:t>10h</a:t>
            </a:r>
          </a:p>
        </p:txBody>
      </p:sp>
      <p:sp>
        <p:nvSpPr>
          <p:cNvPr id="199" name="TextBox 198"/>
          <p:cNvSpPr txBox="1"/>
          <p:nvPr/>
        </p:nvSpPr>
        <p:spPr>
          <a:xfrm>
            <a:off x="6908734" y="2084831"/>
            <a:ext cx="274320" cy="91440"/>
          </a:xfrm>
          <a:prstGeom prst="rect">
            <a:avLst/>
          </a:prstGeom>
          <a:noFill/>
        </p:spPr>
        <p:txBody>
          <a:bodyPr wrap="square" lIns="0" tIns="0" rIns="0" bIns="0" anchor="ctr">
            <a:spAutoFit/>
          </a:bodyPr>
          <a:lstStyle/>
          <a:p>
            <a:pPr algn="ctr">
              <a:spcAft>
                <a:spcPts val="0"/>
              </a:spcAft>
            </a:pPr>
            <a:r>
              <a:rPr lang="es-CO" sz="550" b="0" i="0" noProof="0" dirty="0">
                <a:solidFill>
                  <a:srgbClr val="A0A8B3"/>
                </a:solidFill>
                <a:latin typeface="Calibri"/>
              </a:rPr>
              <a:t>12h</a:t>
            </a:r>
          </a:p>
        </p:txBody>
      </p:sp>
      <p:sp>
        <p:nvSpPr>
          <p:cNvPr id="200" name="TextBox 199"/>
          <p:cNvSpPr txBox="1"/>
          <p:nvPr/>
        </p:nvSpPr>
        <p:spPr>
          <a:xfrm>
            <a:off x="7306940" y="2084831"/>
            <a:ext cx="274320" cy="91440"/>
          </a:xfrm>
          <a:prstGeom prst="rect">
            <a:avLst/>
          </a:prstGeom>
          <a:noFill/>
        </p:spPr>
        <p:txBody>
          <a:bodyPr wrap="square" lIns="0" tIns="0" rIns="0" bIns="0" anchor="ctr">
            <a:spAutoFit/>
          </a:bodyPr>
          <a:lstStyle/>
          <a:p>
            <a:pPr algn="ctr">
              <a:spcAft>
                <a:spcPts val="0"/>
              </a:spcAft>
            </a:pPr>
            <a:r>
              <a:rPr lang="es-CO" sz="550" b="0" i="0" noProof="0" dirty="0">
                <a:solidFill>
                  <a:srgbClr val="A0A8B3"/>
                </a:solidFill>
                <a:latin typeface="Calibri"/>
              </a:rPr>
              <a:t>14h</a:t>
            </a:r>
          </a:p>
        </p:txBody>
      </p:sp>
      <p:sp>
        <p:nvSpPr>
          <p:cNvPr id="201" name="TextBox 200"/>
          <p:cNvSpPr txBox="1"/>
          <p:nvPr/>
        </p:nvSpPr>
        <p:spPr>
          <a:xfrm>
            <a:off x="7705147" y="2084831"/>
            <a:ext cx="274320" cy="91440"/>
          </a:xfrm>
          <a:prstGeom prst="rect">
            <a:avLst/>
          </a:prstGeom>
          <a:noFill/>
        </p:spPr>
        <p:txBody>
          <a:bodyPr wrap="square" lIns="0" tIns="0" rIns="0" bIns="0" anchor="ctr">
            <a:spAutoFit/>
          </a:bodyPr>
          <a:lstStyle/>
          <a:p>
            <a:pPr algn="ctr">
              <a:spcAft>
                <a:spcPts val="0"/>
              </a:spcAft>
            </a:pPr>
            <a:r>
              <a:rPr lang="es-CO" sz="550" b="0" i="0" noProof="0" dirty="0">
                <a:solidFill>
                  <a:srgbClr val="A0A8B3"/>
                </a:solidFill>
                <a:latin typeface="Calibri"/>
              </a:rPr>
              <a:t>16h</a:t>
            </a:r>
          </a:p>
        </p:txBody>
      </p:sp>
      <p:sp>
        <p:nvSpPr>
          <p:cNvPr id="364" name="TextBox 363"/>
          <p:cNvSpPr txBox="1"/>
          <p:nvPr/>
        </p:nvSpPr>
        <p:spPr>
          <a:xfrm>
            <a:off x="411480" y="4690872"/>
            <a:ext cx="8321040" cy="237744"/>
          </a:xfrm>
          <a:prstGeom prst="rect">
            <a:avLst/>
          </a:prstGeom>
          <a:noFill/>
        </p:spPr>
        <p:txBody>
          <a:bodyPr wrap="square" lIns="0" tIns="0" rIns="0" bIns="0" anchor="ctr">
            <a:spAutoFit/>
          </a:bodyPr>
          <a:lstStyle/>
          <a:p>
            <a:pPr algn="l">
              <a:spcAft>
                <a:spcPts val="0"/>
              </a:spcAft>
            </a:pPr>
            <a:r>
              <a:rPr lang="es-CO" sz="750" b="0" i="1" noProof="0" dirty="0">
                <a:solidFill>
                  <a:srgbClr val="55636E"/>
                </a:solidFill>
                <a:latin typeface="Calibri"/>
              </a:rPr>
              <a:t>Piso: SOC ≤ 21% de noche · Hora: promedio de la 1.ª hora del día con 100% · Días 100%: días del periodo que lo logra · Amanecer en rojo ≤ 20% · 🧳 posible ausencia · Noches con datos: 382p 10, 447p 19.</a:t>
            </a:r>
          </a:p>
        </p:txBody>
      </p:sp>
      <p:sp>
        <p:nvSpPr>
          <p:cNvPr id="365" name="banda c0f0"/>
          <p:cNvSpPr/>
          <p:nvPr/>
        </p:nvSpPr>
        <p:spPr>
          <a:xfrm>
            <a:off x="411480" y="2157984"/>
            <a:ext cx="4114800" cy="106680"/>
          </a:xfrm>
          <a:prstGeom prst="rect">
            <a:avLst/>
          </a:prstGeom>
          <a:solidFill>
            <a:srgbClr val="FFFFFF"/>
          </a:solidFill>
          <a:ln>
            <a:noFill/>
          </a:ln>
        </p:spPr>
        <p:txBody>
          <a:bodyPr rtlCol="0" anchor="ctr"/>
          <a:lstStyle/>
          <a:p>
            <a:pPr algn="ctr"/>
            <a:endParaRPr lang="es-CO" noProof="0" dirty="0"/>
          </a:p>
        </p:txBody>
      </p:sp>
      <p:sp>
        <p:nvSpPr>
          <p:cNvPr id="366" name="nombre c0f0"/>
          <p:cNvSpPr txBox="1"/>
          <p:nvPr/>
        </p:nvSpPr>
        <p:spPr>
          <a:xfrm>
            <a:off x="438912" y="215798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24</a:t>
            </a:r>
          </a:p>
        </p:txBody>
      </p:sp>
      <p:sp>
        <p:nvSpPr>
          <p:cNvPr id="367" name="barra c0f0"/>
          <p:cNvSpPr/>
          <p:nvPr/>
        </p:nvSpPr>
        <p:spPr>
          <a:xfrm>
            <a:off x="1188720" y="2179320"/>
            <a:ext cx="868680" cy="6400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368" name="cuenta c0f0"/>
          <p:cNvSpPr txBox="1"/>
          <p:nvPr/>
        </p:nvSpPr>
        <p:spPr>
          <a:xfrm>
            <a:off x="2084832" y="215798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1F6F78"/>
                </a:solidFill>
                <a:latin typeface="Calibri"/>
              </a:rPr>
              <a:t>20</a:t>
            </a:r>
          </a:p>
        </p:txBody>
      </p:sp>
      <p:sp>
        <p:nvSpPr>
          <p:cNvPr id="369" name="pista c0f0"/>
          <p:cNvSpPr/>
          <p:nvPr/>
        </p:nvSpPr>
        <p:spPr>
          <a:xfrm>
            <a:off x="2423160" y="220675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370" name="punto c0f0"/>
          <p:cNvSpPr/>
          <p:nvPr/>
        </p:nvSpPr>
        <p:spPr>
          <a:xfrm>
            <a:off x="3380994" y="217474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371" name="hora c0f0"/>
          <p:cNvSpPr txBox="1"/>
          <p:nvPr/>
        </p:nvSpPr>
        <p:spPr>
          <a:xfrm>
            <a:off x="3472434" y="215798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14:50</a:t>
            </a:r>
          </a:p>
        </p:txBody>
      </p:sp>
      <p:sp>
        <p:nvSpPr>
          <p:cNvPr id="372" name="amanecer c0f0"/>
          <p:cNvSpPr txBox="1"/>
          <p:nvPr/>
        </p:nvSpPr>
        <p:spPr>
          <a:xfrm>
            <a:off x="3520440" y="215798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E63946"/>
                </a:solidFill>
                <a:latin typeface="Calibri"/>
              </a:rPr>
              <a:t>15%</a:t>
            </a:r>
          </a:p>
        </p:txBody>
      </p:sp>
      <p:sp>
        <p:nvSpPr>
          <p:cNvPr id="373" name="dias c0f0"/>
          <p:cNvSpPr txBox="1"/>
          <p:nvPr/>
        </p:nvSpPr>
        <p:spPr>
          <a:xfrm>
            <a:off x="4023360" y="215798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3</a:t>
            </a:r>
          </a:p>
        </p:txBody>
      </p:sp>
      <p:sp>
        <p:nvSpPr>
          <p:cNvPr id="374" name="nombre c0f1"/>
          <p:cNvSpPr txBox="1"/>
          <p:nvPr/>
        </p:nvSpPr>
        <p:spPr>
          <a:xfrm>
            <a:off x="438912" y="226466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93p</a:t>
            </a:r>
          </a:p>
        </p:txBody>
      </p:sp>
      <p:sp>
        <p:nvSpPr>
          <p:cNvPr id="375" name="barra c0f1"/>
          <p:cNvSpPr/>
          <p:nvPr/>
        </p:nvSpPr>
        <p:spPr>
          <a:xfrm>
            <a:off x="1188720" y="2286000"/>
            <a:ext cx="868680" cy="6400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376" name="cuenta c0f1"/>
          <p:cNvSpPr txBox="1"/>
          <p:nvPr/>
        </p:nvSpPr>
        <p:spPr>
          <a:xfrm>
            <a:off x="2084832" y="226466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1F6F78"/>
                </a:solidFill>
                <a:latin typeface="Calibri"/>
              </a:rPr>
              <a:t>20</a:t>
            </a:r>
          </a:p>
        </p:txBody>
      </p:sp>
      <p:sp>
        <p:nvSpPr>
          <p:cNvPr id="377" name="pista c0f1"/>
          <p:cNvSpPr/>
          <p:nvPr/>
        </p:nvSpPr>
        <p:spPr>
          <a:xfrm>
            <a:off x="2423160" y="231343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378" name="punto c0f1"/>
          <p:cNvSpPr/>
          <p:nvPr/>
        </p:nvSpPr>
        <p:spPr>
          <a:xfrm>
            <a:off x="3235262" y="228142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379" name="hora c0f1"/>
          <p:cNvSpPr txBox="1"/>
          <p:nvPr/>
        </p:nvSpPr>
        <p:spPr>
          <a:xfrm>
            <a:off x="3326702" y="226466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14:08</a:t>
            </a:r>
          </a:p>
        </p:txBody>
      </p:sp>
      <p:sp>
        <p:nvSpPr>
          <p:cNvPr id="380" name="amanecer c0f1"/>
          <p:cNvSpPr txBox="1"/>
          <p:nvPr/>
        </p:nvSpPr>
        <p:spPr>
          <a:xfrm>
            <a:off x="3520440" y="226466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E63946"/>
                </a:solidFill>
                <a:latin typeface="Calibri"/>
              </a:rPr>
              <a:t>18%</a:t>
            </a:r>
          </a:p>
        </p:txBody>
      </p:sp>
      <p:sp>
        <p:nvSpPr>
          <p:cNvPr id="381" name="dias c0f1"/>
          <p:cNvSpPr txBox="1"/>
          <p:nvPr/>
        </p:nvSpPr>
        <p:spPr>
          <a:xfrm>
            <a:off x="4023360" y="226466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6</a:t>
            </a:r>
          </a:p>
        </p:txBody>
      </p:sp>
      <p:sp>
        <p:nvSpPr>
          <p:cNvPr id="382" name="banda c0f2"/>
          <p:cNvSpPr/>
          <p:nvPr/>
        </p:nvSpPr>
        <p:spPr>
          <a:xfrm>
            <a:off x="411480" y="2371344"/>
            <a:ext cx="4114800" cy="106680"/>
          </a:xfrm>
          <a:prstGeom prst="rect">
            <a:avLst/>
          </a:prstGeom>
          <a:solidFill>
            <a:srgbClr val="FFFFFF"/>
          </a:solidFill>
          <a:ln>
            <a:noFill/>
          </a:ln>
        </p:spPr>
        <p:txBody>
          <a:bodyPr rtlCol="0" anchor="ctr"/>
          <a:lstStyle/>
          <a:p>
            <a:pPr algn="ctr"/>
            <a:endParaRPr lang="es-CO" noProof="0" dirty="0"/>
          </a:p>
        </p:txBody>
      </p:sp>
      <p:sp>
        <p:nvSpPr>
          <p:cNvPr id="383" name="nombre c0f2"/>
          <p:cNvSpPr txBox="1"/>
          <p:nvPr/>
        </p:nvSpPr>
        <p:spPr>
          <a:xfrm>
            <a:off x="438912" y="237134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56</a:t>
            </a:r>
          </a:p>
        </p:txBody>
      </p:sp>
      <p:sp>
        <p:nvSpPr>
          <p:cNvPr id="384" name="barra c0f2"/>
          <p:cNvSpPr/>
          <p:nvPr/>
        </p:nvSpPr>
        <p:spPr>
          <a:xfrm>
            <a:off x="1188720" y="2392680"/>
            <a:ext cx="868680" cy="6400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385" name="cuenta c0f2"/>
          <p:cNvSpPr txBox="1"/>
          <p:nvPr/>
        </p:nvSpPr>
        <p:spPr>
          <a:xfrm>
            <a:off x="2084832" y="237134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1F6F78"/>
                </a:solidFill>
                <a:latin typeface="Calibri"/>
              </a:rPr>
              <a:t>20</a:t>
            </a:r>
          </a:p>
        </p:txBody>
      </p:sp>
      <p:sp>
        <p:nvSpPr>
          <p:cNvPr id="386" name="pista c0f2"/>
          <p:cNvSpPr/>
          <p:nvPr/>
        </p:nvSpPr>
        <p:spPr>
          <a:xfrm>
            <a:off x="2423160" y="242011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387" name="punto c0f2"/>
          <p:cNvSpPr/>
          <p:nvPr/>
        </p:nvSpPr>
        <p:spPr>
          <a:xfrm>
            <a:off x="3269551" y="238810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388" name="hora c0f2"/>
          <p:cNvSpPr txBox="1"/>
          <p:nvPr/>
        </p:nvSpPr>
        <p:spPr>
          <a:xfrm>
            <a:off x="3360991" y="237134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14:17</a:t>
            </a:r>
          </a:p>
        </p:txBody>
      </p:sp>
      <p:sp>
        <p:nvSpPr>
          <p:cNvPr id="389" name="amanecer c0f2"/>
          <p:cNvSpPr txBox="1"/>
          <p:nvPr/>
        </p:nvSpPr>
        <p:spPr>
          <a:xfrm>
            <a:off x="3520440" y="237134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E63946"/>
                </a:solidFill>
                <a:latin typeface="Calibri"/>
              </a:rPr>
              <a:t>20%</a:t>
            </a:r>
          </a:p>
        </p:txBody>
      </p:sp>
      <p:sp>
        <p:nvSpPr>
          <p:cNvPr id="390" name="dias c0f2"/>
          <p:cNvSpPr txBox="1"/>
          <p:nvPr/>
        </p:nvSpPr>
        <p:spPr>
          <a:xfrm>
            <a:off x="4023360" y="237134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12</a:t>
            </a:r>
          </a:p>
        </p:txBody>
      </p:sp>
      <p:sp>
        <p:nvSpPr>
          <p:cNvPr id="391" name="nombre c0f3"/>
          <p:cNvSpPr txBox="1"/>
          <p:nvPr/>
        </p:nvSpPr>
        <p:spPr>
          <a:xfrm>
            <a:off x="438912" y="247802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23p</a:t>
            </a:r>
          </a:p>
        </p:txBody>
      </p:sp>
      <p:sp>
        <p:nvSpPr>
          <p:cNvPr id="392" name="barra c0f3"/>
          <p:cNvSpPr/>
          <p:nvPr/>
        </p:nvSpPr>
        <p:spPr>
          <a:xfrm>
            <a:off x="1188720" y="2499360"/>
            <a:ext cx="825246" cy="6400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393" name="cuenta c0f3"/>
          <p:cNvSpPr txBox="1"/>
          <p:nvPr/>
        </p:nvSpPr>
        <p:spPr>
          <a:xfrm>
            <a:off x="2041398" y="247802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1F6F78"/>
                </a:solidFill>
                <a:latin typeface="Calibri"/>
              </a:rPr>
              <a:t>19</a:t>
            </a:r>
          </a:p>
        </p:txBody>
      </p:sp>
      <p:sp>
        <p:nvSpPr>
          <p:cNvPr id="394" name="pista c0f3"/>
          <p:cNvSpPr/>
          <p:nvPr/>
        </p:nvSpPr>
        <p:spPr>
          <a:xfrm>
            <a:off x="2423160" y="252679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395" name="punto c0f3"/>
          <p:cNvSpPr/>
          <p:nvPr/>
        </p:nvSpPr>
        <p:spPr>
          <a:xfrm>
            <a:off x="3363849" y="249478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396" name="hora c0f3"/>
          <p:cNvSpPr txBox="1"/>
          <p:nvPr/>
        </p:nvSpPr>
        <p:spPr>
          <a:xfrm>
            <a:off x="3455289" y="247802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14:45</a:t>
            </a:r>
          </a:p>
        </p:txBody>
      </p:sp>
      <p:sp>
        <p:nvSpPr>
          <p:cNvPr id="397" name="amanecer c0f3"/>
          <p:cNvSpPr txBox="1"/>
          <p:nvPr/>
        </p:nvSpPr>
        <p:spPr>
          <a:xfrm>
            <a:off x="3520440" y="247802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E63946"/>
                </a:solidFill>
                <a:latin typeface="Calibri"/>
              </a:rPr>
              <a:t>15%</a:t>
            </a:r>
          </a:p>
        </p:txBody>
      </p:sp>
      <p:sp>
        <p:nvSpPr>
          <p:cNvPr id="398" name="dias c0f3"/>
          <p:cNvSpPr txBox="1"/>
          <p:nvPr/>
        </p:nvSpPr>
        <p:spPr>
          <a:xfrm>
            <a:off x="4023360" y="247802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6</a:t>
            </a:r>
          </a:p>
        </p:txBody>
      </p:sp>
      <p:sp>
        <p:nvSpPr>
          <p:cNvPr id="399" name="banda c0f4"/>
          <p:cNvSpPr/>
          <p:nvPr/>
        </p:nvSpPr>
        <p:spPr>
          <a:xfrm>
            <a:off x="411480" y="2584704"/>
            <a:ext cx="4114800" cy="106680"/>
          </a:xfrm>
          <a:prstGeom prst="rect">
            <a:avLst/>
          </a:prstGeom>
          <a:solidFill>
            <a:srgbClr val="FFFFFF"/>
          </a:solidFill>
          <a:ln>
            <a:noFill/>
          </a:ln>
        </p:spPr>
        <p:txBody>
          <a:bodyPr rtlCol="0" anchor="ctr"/>
          <a:lstStyle/>
          <a:p>
            <a:pPr algn="ctr"/>
            <a:endParaRPr lang="es-CO" noProof="0" dirty="0"/>
          </a:p>
        </p:txBody>
      </p:sp>
      <p:sp>
        <p:nvSpPr>
          <p:cNvPr id="400" name="nombre c0f4"/>
          <p:cNvSpPr txBox="1"/>
          <p:nvPr/>
        </p:nvSpPr>
        <p:spPr>
          <a:xfrm>
            <a:off x="438912" y="258470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18Ap</a:t>
            </a:r>
          </a:p>
        </p:txBody>
      </p:sp>
      <p:sp>
        <p:nvSpPr>
          <p:cNvPr id="401" name="barra c0f4"/>
          <p:cNvSpPr/>
          <p:nvPr/>
        </p:nvSpPr>
        <p:spPr>
          <a:xfrm>
            <a:off x="1188720" y="2606040"/>
            <a:ext cx="825246" cy="6400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402" name="cuenta c0f4"/>
          <p:cNvSpPr txBox="1"/>
          <p:nvPr/>
        </p:nvSpPr>
        <p:spPr>
          <a:xfrm>
            <a:off x="2041398" y="258470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1F6F78"/>
                </a:solidFill>
                <a:latin typeface="Calibri"/>
              </a:rPr>
              <a:t>19</a:t>
            </a:r>
          </a:p>
        </p:txBody>
      </p:sp>
      <p:sp>
        <p:nvSpPr>
          <p:cNvPr id="403" name="pista c0f4"/>
          <p:cNvSpPr/>
          <p:nvPr/>
        </p:nvSpPr>
        <p:spPr>
          <a:xfrm>
            <a:off x="2423160" y="263347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404" name="punto c0f4"/>
          <p:cNvSpPr/>
          <p:nvPr/>
        </p:nvSpPr>
        <p:spPr>
          <a:xfrm>
            <a:off x="3235262" y="260146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405" name="hora c0f4"/>
          <p:cNvSpPr txBox="1"/>
          <p:nvPr/>
        </p:nvSpPr>
        <p:spPr>
          <a:xfrm>
            <a:off x="3326702" y="258470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14:08</a:t>
            </a:r>
          </a:p>
        </p:txBody>
      </p:sp>
      <p:sp>
        <p:nvSpPr>
          <p:cNvPr id="406" name="amanecer c0f4"/>
          <p:cNvSpPr txBox="1"/>
          <p:nvPr/>
        </p:nvSpPr>
        <p:spPr>
          <a:xfrm>
            <a:off x="3520440" y="258470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E63946"/>
                </a:solidFill>
                <a:latin typeface="Calibri"/>
              </a:rPr>
              <a:t>15%</a:t>
            </a:r>
          </a:p>
        </p:txBody>
      </p:sp>
      <p:sp>
        <p:nvSpPr>
          <p:cNvPr id="407" name="dias c0f4"/>
          <p:cNvSpPr txBox="1"/>
          <p:nvPr/>
        </p:nvSpPr>
        <p:spPr>
          <a:xfrm>
            <a:off x="4023360" y="258470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a:t>
            </a:r>
          </a:p>
        </p:txBody>
      </p:sp>
      <p:sp>
        <p:nvSpPr>
          <p:cNvPr id="408" name="nombre c0f5"/>
          <p:cNvSpPr txBox="1"/>
          <p:nvPr/>
        </p:nvSpPr>
        <p:spPr>
          <a:xfrm>
            <a:off x="438912" y="269138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9G</a:t>
            </a:r>
          </a:p>
        </p:txBody>
      </p:sp>
      <p:sp>
        <p:nvSpPr>
          <p:cNvPr id="409" name="barra c0f5"/>
          <p:cNvSpPr/>
          <p:nvPr/>
        </p:nvSpPr>
        <p:spPr>
          <a:xfrm>
            <a:off x="1188720" y="2712720"/>
            <a:ext cx="825246" cy="6400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410" name="cuenta c0f5"/>
          <p:cNvSpPr txBox="1"/>
          <p:nvPr/>
        </p:nvSpPr>
        <p:spPr>
          <a:xfrm>
            <a:off x="2041398" y="269138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1F6F78"/>
                </a:solidFill>
                <a:latin typeface="Calibri"/>
              </a:rPr>
              <a:t>19</a:t>
            </a:r>
          </a:p>
        </p:txBody>
      </p:sp>
      <p:sp>
        <p:nvSpPr>
          <p:cNvPr id="411" name="pista c0f5"/>
          <p:cNvSpPr/>
          <p:nvPr/>
        </p:nvSpPr>
        <p:spPr>
          <a:xfrm>
            <a:off x="2423160" y="274015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412" name="punto c0f5"/>
          <p:cNvSpPr/>
          <p:nvPr/>
        </p:nvSpPr>
        <p:spPr>
          <a:xfrm>
            <a:off x="2875216" y="270814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413" name="hora c0f5"/>
          <p:cNvSpPr txBox="1"/>
          <p:nvPr/>
        </p:nvSpPr>
        <p:spPr>
          <a:xfrm>
            <a:off x="2966656" y="269138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12:22</a:t>
            </a:r>
          </a:p>
        </p:txBody>
      </p:sp>
      <p:sp>
        <p:nvSpPr>
          <p:cNvPr id="414" name="amanecer c0f5"/>
          <p:cNvSpPr txBox="1"/>
          <p:nvPr/>
        </p:nvSpPr>
        <p:spPr>
          <a:xfrm>
            <a:off x="3520440" y="269138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E63946"/>
                </a:solidFill>
                <a:latin typeface="Calibri"/>
              </a:rPr>
              <a:t>20%</a:t>
            </a:r>
          </a:p>
        </p:txBody>
      </p:sp>
      <p:sp>
        <p:nvSpPr>
          <p:cNvPr id="415" name="dias c0f5"/>
          <p:cNvSpPr txBox="1"/>
          <p:nvPr/>
        </p:nvSpPr>
        <p:spPr>
          <a:xfrm>
            <a:off x="4023360" y="269138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16</a:t>
            </a:r>
          </a:p>
        </p:txBody>
      </p:sp>
      <p:sp>
        <p:nvSpPr>
          <p:cNvPr id="416" name="banda c0f6"/>
          <p:cNvSpPr/>
          <p:nvPr/>
        </p:nvSpPr>
        <p:spPr>
          <a:xfrm>
            <a:off x="411480" y="2798064"/>
            <a:ext cx="4114800" cy="106680"/>
          </a:xfrm>
          <a:prstGeom prst="rect">
            <a:avLst/>
          </a:prstGeom>
          <a:solidFill>
            <a:srgbClr val="FFFFFF"/>
          </a:solidFill>
          <a:ln>
            <a:noFill/>
          </a:ln>
        </p:spPr>
        <p:txBody>
          <a:bodyPr rtlCol="0" anchor="ctr"/>
          <a:lstStyle/>
          <a:p>
            <a:pPr algn="ctr"/>
            <a:endParaRPr lang="es-CO" noProof="0" dirty="0"/>
          </a:p>
        </p:txBody>
      </p:sp>
      <p:sp>
        <p:nvSpPr>
          <p:cNvPr id="417" name="nombre c0f6"/>
          <p:cNvSpPr txBox="1"/>
          <p:nvPr/>
        </p:nvSpPr>
        <p:spPr>
          <a:xfrm>
            <a:off x="438912" y="279806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415p</a:t>
            </a:r>
          </a:p>
        </p:txBody>
      </p:sp>
      <p:sp>
        <p:nvSpPr>
          <p:cNvPr id="418" name="barra c0f6"/>
          <p:cNvSpPr/>
          <p:nvPr/>
        </p:nvSpPr>
        <p:spPr>
          <a:xfrm>
            <a:off x="1188720" y="2819400"/>
            <a:ext cx="825246" cy="6400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419" name="cuenta c0f6"/>
          <p:cNvSpPr txBox="1"/>
          <p:nvPr/>
        </p:nvSpPr>
        <p:spPr>
          <a:xfrm>
            <a:off x="2041398" y="279806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1F6F78"/>
                </a:solidFill>
                <a:latin typeface="Calibri"/>
              </a:rPr>
              <a:t>19</a:t>
            </a:r>
          </a:p>
        </p:txBody>
      </p:sp>
      <p:sp>
        <p:nvSpPr>
          <p:cNvPr id="420" name="pista c0f6"/>
          <p:cNvSpPr/>
          <p:nvPr/>
        </p:nvSpPr>
        <p:spPr>
          <a:xfrm>
            <a:off x="2423160" y="284683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421" name="punto c0f6"/>
          <p:cNvSpPr/>
          <p:nvPr/>
        </p:nvSpPr>
        <p:spPr>
          <a:xfrm>
            <a:off x="3140964" y="281482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422" name="hora c0f6"/>
          <p:cNvSpPr txBox="1"/>
          <p:nvPr/>
        </p:nvSpPr>
        <p:spPr>
          <a:xfrm>
            <a:off x="3232404" y="279806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13:40</a:t>
            </a:r>
          </a:p>
        </p:txBody>
      </p:sp>
      <p:sp>
        <p:nvSpPr>
          <p:cNvPr id="423" name="amanecer c0f6"/>
          <p:cNvSpPr txBox="1"/>
          <p:nvPr/>
        </p:nvSpPr>
        <p:spPr>
          <a:xfrm>
            <a:off x="3520440" y="279806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23%</a:t>
            </a:r>
          </a:p>
        </p:txBody>
      </p:sp>
      <p:sp>
        <p:nvSpPr>
          <p:cNvPr id="424" name="dias c0f6"/>
          <p:cNvSpPr txBox="1"/>
          <p:nvPr/>
        </p:nvSpPr>
        <p:spPr>
          <a:xfrm>
            <a:off x="4023360" y="279806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3</a:t>
            </a:r>
          </a:p>
        </p:txBody>
      </p:sp>
      <p:sp>
        <p:nvSpPr>
          <p:cNvPr id="425" name="nombre c0f7"/>
          <p:cNvSpPr txBox="1"/>
          <p:nvPr/>
        </p:nvSpPr>
        <p:spPr>
          <a:xfrm>
            <a:off x="438912" y="290474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425p</a:t>
            </a:r>
          </a:p>
        </p:txBody>
      </p:sp>
      <p:sp>
        <p:nvSpPr>
          <p:cNvPr id="426" name="barra c0f7"/>
          <p:cNvSpPr/>
          <p:nvPr/>
        </p:nvSpPr>
        <p:spPr>
          <a:xfrm>
            <a:off x="1188720" y="2926080"/>
            <a:ext cx="781812" cy="6400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427" name="cuenta c0f7"/>
          <p:cNvSpPr txBox="1"/>
          <p:nvPr/>
        </p:nvSpPr>
        <p:spPr>
          <a:xfrm>
            <a:off x="1997964" y="290474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1F6F78"/>
                </a:solidFill>
                <a:latin typeface="Calibri"/>
              </a:rPr>
              <a:t>18</a:t>
            </a:r>
          </a:p>
        </p:txBody>
      </p:sp>
      <p:sp>
        <p:nvSpPr>
          <p:cNvPr id="428" name="pista c0f7"/>
          <p:cNvSpPr/>
          <p:nvPr/>
        </p:nvSpPr>
        <p:spPr>
          <a:xfrm>
            <a:off x="2423160" y="295351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429" name="punto c0f7"/>
          <p:cNvSpPr/>
          <p:nvPr/>
        </p:nvSpPr>
        <p:spPr>
          <a:xfrm>
            <a:off x="2952369" y="292150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430" name="hora c0f7"/>
          <p:cNvSpPr txBox="1"/>
          <p:nvPr/>
        </p:nvSpPr>
        <p:spPr>
          <a:xfrm>
            <a:off x="3043809" y="290474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12:45</a:t>
            </a:r>
          </a:p>
        </p:txBody>
      </p:sp>
      <p:sp>
        <p:nvSpPr>
          <p:cNvPr id="431" name="amanecer c0f7"/>
          <p:cNvSpPr txBox="1"/>
          <p:nvPr/>
        </p:nvSpPr>
        <p:spPr>
          <a:xfrm>
            <a:off x="3520440" y="290474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E63946"/>
                </a:solidFill>
                <a:latin typeface="Calibri"/>
              </a:rPr>
              <a:t>20%</a:t>
            </a:r>
          </a:p>
        </p:txBody>
      </p:sp>
      <p:sp>
        <p:nvSpPr>
          <p:cNvPr id="432" name="dias c0f7"/>
          <p:cNvSpPr txBox="1"/>
          <p:nvPr/>
        </p:nvSpPr>
        <p:spPr>
          <a:xfrm>
            <a:off x="4023360" y="290474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11</a:t>
            </a:r>
          </a:p>
        </p:txBody>
      </p:sp>
      <p:sp>
        <p:nvSpPr>
          <p:cNvPr id="433" name="banda c0f8"/>
          <p:cNvSpPr/>
          <p:nvPr/>
        </p:nvSpPr>
        <p:spPr>
          <a:xfrm>
            <a:off x="411480" y="3011424"/>
            <a:ext cx="4114800" cy="106680"/>
          </a:xfrm>
          <a:prstGeom prst="rect">
            <a:avLst/>
          </a:prstGeom>
          <a:solidFill>
            <a:srgbClr val="FFFFFF"/>
          </a:solidFill>
          <a:ln>
            <a:noFill/>
          </a:ln>
        </p:spPr>
        <p:txBody>
          <a:bodyPr rtlCol="0" anchor="ctr"/>
          <a:lstStyle/>
          <a:p>
            <a:pPr algn="ctr"/>
            <a:endParaRPr lang="es-CO" noProof="0" dirty="0"/>
          </a:p>
        </p:txBody>
      </p:sp>
      <p:sp>
        <p:nvSpPr>
          <p:cNvPr id="434" name="nombre c0f8"/>
          <p:cNvSpPr txBox="1"/>
          <p:nvPr/>
        </p:nvSpPr>
        <p:spPr>
          <a:xfrm>
            <a:off x="438912" y="301142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78T</a:t>
            </a:r>
          </a:p>
        </p:txBody>
      </p:sp>
      <p:sp>
        <p:nvSpPr>
          <p:cNvPr id="435" name="barra c0f8"/>
          <p:cNvSpPr/>
          <p:nvPr/>
        </p:nvSpPr>
        <p:spPr>
          <a:xfrm>
            <a:off x="1188720" y="3032760"/>
            <a:ext cx="781812" cy="6400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436" name="cuenta c0f8"/>
          <p:cNvSpPr txBox="1"/>
          <p:nvPr/>
        </p:nvSpPr>
        <p:spPr>
          <a:xfrm>
            <a:off x="1997964" y="301142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1F6F78"/>
                </a:solidFill>
                <a:latin typeface="Calibri"/>
              </a:rPr>
              <a:t>18</a:t>
            </a:r>
          </a:p>
        </p:txBody>
      </p:sp>
      <p:sp>
        <p:nvSpPr>
          <p:cNvPr id="437" name="pista c0f8"/>
          <p:cNvSpPr/>
          <p:nvPr/>
        </p:nvSpPr>
        <p:spPr>
          <a:xfrm>
            <a:off x="2423160" y="306019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438" name="punto c0f8"/>
          <p:cNvSpPr/>
          <p:nvPr/>
        </p:nvSpPr>
        <p:spPr>
          <a:xfrm>
            <a:off x="3055239" y="302818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439" name="hora c0f8"/>
          <p:cNvSpPr txBox="1"/>
          <p:nvPr/>
        </p:nvSpPr>
        <p:spPr>
          <a:xfrm>
            <a:off x="3146679" y="301142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13:15</a:t>
            </a:r>
          </a:p>
        </p:txBody>
      </p:sp>
      <p:sp>
        <p:nvSpPr>
          <p:cNvPr id="440" name="amanecer c0f8"/>
          <p:cNvSpPr txBox="1"/>
          <p:nvPr/>
        </p:nvSpPr>
        <p:spPr>
          <a:xfrm>
            <a:off x="3520440" y="301142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22%</a:t>
            </a:r>
          </a:p>
        </p:txBody>
      </p:sp>
      <p:sp>
        <p:nvSpPr>
          <p:cNvPr id="441" name="dias c0f8"/>
          <p:cNvSpPr txBox="1"/>
          <p:nvPr/>
        </p:nvSpPr>
        <p:spPr>
          <a:xfrm>
            <a:off x="4023360" y="301142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3</a:t>
            </a:r>
          </a:p>
        </p:txBody>
      </p:sp>
      <p:sp>
        <p:nvSpPr>
          <p:cNvPr id="442" name="nombre c0f9"/>
          <p:cNvSpPr txBox="1"/>
          <p:nvPr/>
        </p:nvSpPr>
        <p:spPr>
          <a:xfrm>
            <a:off x="438912" y="311810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23</a:t>
            </a:r>
          </a:p>
        </p:txBody>
      </p:sp>
      <p:sp>
        <p:nvSpPr>
          <p:cNvPr id="443" name="barra c0f9"/>
          <p:cNvSpPr/>
          <p:nvPr/>
        </p:nvSpPr>
        <p:spPr>
          <a:xfrm>
            <a:off x="1188720" y="3139440"/>
            <a:ext cx="781812" cy="6400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444" name="cuenta c0f9"/>
          <p:cNvSpPr txBox="1"/>
          <p:nvPr/>
        </p:nvSpPr>
        <p:spPr>
          <a:xfrm>
            <a:off x="1997964" y="311810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1F6F78"/>
                </a:solidFill>
                <a:latin typeface="Calibri"/>
              </a:rPr>
              <a:t>18</a:t>
            </a:r>
          </a:p>
        </p:txBody>
      </p:sp>
      <p:sp>
        <p:nvSpPr>
          <p:cNvPr id="445" name="pista c0f9"/>
          <p:cNvSpPr/>
          <p:nvPr/>
        </p:nvSpPr>
        <p:spPr>
          <a:xfrm>
            <a:off x="2423160" y="316687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446" name="punto c0f9"/>
          <p:cNvSpPr/>
          <p:nvPr/>
        </p:nvSpPr>
        <p:spPr>
          <a:xfrm>
            <a:off x="3042380" y="313486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447" name="hora c0f9"/>
          <p:cNvSpPr txBox="1"/>
          <p:nvPr/>
        </p:nvSpPr>
        <p:spPr>
          <a:xfrm>
            <a:off x="3133820" y="311810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13:11</a:t>
            </a:r>
          </a:p>
        </p:txBody>
      </p:sp>
      <p:sp>
        <p:nvSpPr>
          <p:cNvPr id="448" name="amanecer c0f9"/>
          <p:cNvSpPr txBox="1"/>
          <p:nvPr/>
        </p:nvSpPr>
        <p:spPr>
          <a:xfrm>
            <a:off x="3520440" y="311810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25%</a:t>
            </a:r>
          </a:p>
        </p:txBody>
      </p:sp>
      <p:sp>
        <p:nvSpPr>
          <p:cNvPr id="449" name="dias c0f9"/>
          <p:cNvSpPr txBox="1"/>
          <p:nvPr/>
        </p:nvSpPr>
        <p:spPr>
          <a:xfrm>
            <a:off x="4023360" y="311810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12</a:t>
            </a:r>
          </a:p>
        </p:txBody>
      </p:sp>
      <p:sp>
        <p:nvSpPr>
          <p:cNvPr id="450" name="banda c0f10"/>
          <p:cNvSpPr/>
          <p:nvPr/>
        </p:nvSpPr>
        <p:spPr>
          <a:xfrm>
            <a:off x="411480" y="3224784"/>
            <a:ext cx="4114800" cy="106680"/>
          </a:xfrm>
          <a:prstGeom prst="rect">
            <a:avLst/>
          </a:prstGeom>
          <a:solidFill>
            <a:srgbClr val="FFFFFF"/>
          </a:solidFill>
          <a:ln>
            <a:noFill/>
          </a:ln>
        </p:spPr>
        <p:txBody>
          <a:bodyPr rtlCol="0" anchor="ctr"/>
          <a:lstStyle/>
          <a:p>
            <a:pPr algn="ctr"/>
            <a:endParaRPr lang="es-CO" noProof="0" dirty="0"/>
          </a:p>
        </p:txBody>
      </p:sp>
      <p:sp>
        <p:nvSpPr>
          <p:cNvPr id="451" name="nombre c0f10"/>
          <p:cNvSpPr txBox="1"/>
          <p:nvPr/>
        </p:nvSpPr>
        <p:spPr>
          <a:xfrm>
            <a:off x="438912" y="322478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102p</a:t>
            </a:r>
          </a:p>
        </p:txBody>
      </p:sp>
      <p:sp>
        <p:nvSpPr>
          <p:cNvPr id="452" name="barra c0f10"/>
          <p:cNvSpPr/>
          <p:nvPr/>
        </p:nvSpPr>
        <p:spPr>
          <a:xfrm>
            <a:off x="1188720" y="3246120"/>
            <a:ext cx="738378" cy="6400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453" name="cuenta c0f10"/>
          <p:cNvSpPr txBox="1"/>
          <p:nvPr/>
        </p:nvSpPr>
        <p:spPr>
          <a:xfrm>
            <a:off x="1954530" y="322478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1F6F78"/>
                </a:solidFill>
                <a:latin typeface="Calibri"/>
              </a:rPr>
              <a:t>17</a:t>
            </a:r>
          </a:p>
        </p:txBody>
      </p:sp>
      <p:sp>
        <p:nvSpPr>
          <p:cNvPr id="454" name="pista c0f10"/>
          <p:cNvSpPr/>
          <p:nvPr/>
        </p:nvSpPr>
        <p:spPr>
          <a:xfrm>
            <a:off x="2423160" y="327355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455" name="punto c0f10"/>
          <p:cNvSpPr/>
          <p:nvPr/>
        </p:nvSpPr>
        <p:spPr>
          <a:xfrm>
            <a:off x="3303842" y="324154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456" name="hora c0f10"/>
          <p:cNvSpPr txBox="1"/>
          <p:nvPr/>
        </p:nvSpPr>
        <p:spPr>
          <a:xfrm>
            <a:off x="3395282" y="322478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14:28</a:t>
            </a:r>
          </a:p>
        </p:txBody>
      </p:sp>
      <p:sp>
        <p:nvSpPr>
          <p:cNvPr id="457" name="amanecer c0f10"/>
          <p:cNvSpPr txBox="1"/>
          <p:nvPr/>
        </p:nvSpPr>
        <p:spPr>
          <a:xfrm>
            <a:off x="3520440" y="322478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E63946"/>
                </a:solidFill>
                <a:latin typeface="Calibri"/>
              </a:rPr>
              <a:t>19%</a:t>
            </a:r>
          </a:p>
        </p:txBody>
      </p:sp>
      <p:sp>
        <p:nvSpPr>
          <p:cNvPr id="458" name="dias c0f10"/>
          <p:cNvSpPr txBox="1"/>
          <p:nvPr/>
        </p:nvSpPr>
        <p:spPr>
          <a:xfrm>
            <a:off x="4023360" y="322478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6</a:t>
            </a:r>
          </a:p>
        </p:txBody>
      </p:sp>
      <p:sp>
        <p:nvSpPr>
          <p:cNvPr id="459" name="nombre c0f11"/>
          <p:cNvSpPr txBox="1"/>
          <p:nvPr/>
        </p:nvSpPr>
        <p:spPr>
          <a:xfrm>
            <a:off x="438912" y="333146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77</a:t>
            </a:r>
          </a:p>
        </p:txBody>
      </p:sp>
      <p:sp>
        <p:nvSpPr>
          <p:cNvPr id="460" name="barra c0f11"/>
          <p:cNvSpPr/>
          <p:nvPr/>
        </p:nvSpPr>
        <p:spPr>
          <a:xfrm>
            <a:off x="1188720" y="3352800"/>
            <a:ext cx="738378" cy="6400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461" name="cuenta c0f11"/>
          <p:cNvSpPr txBox="1"/>
          <p:nvPr/>
        </p:nvSpPr>
        <p:spPr>
          <a:xfrm>
            <a:off x="1954530" y="333146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1F6F78"/>
                </a:solidFill>
                <a:latin typeface="Calibri"/>
              </a:rPr>
              <a:t>17</a:t>
            </a:r>
          </a:p>
        </p:txBody>
      </p:sp>
      <p:sp>
        <p:nvSpPr>
          <p:cNvPr id="462" name="pista c0f11"/>
          <p:cNvSpPr/>
          <p:nvPr/>
        </p:nvSpPr>
        <p:spPr>
          <a:xfrm>
            <a:off x="2423160" y="338023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463" name="punto c0f11"/>
          <p:cNvSpPr/>
          <p:nvPr/>
        </p:nvSpPr>
        <p:spPr>
          <a:xfrm>
            <a:off x="2935224" y="334822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464" name="hora c0f11"/>
          <p:cNvSpPr txBox="1"/>
          <p:nvPr/>
        </p:nvSpPr>
        <p:spPr>
          <a:xfrm>
            <a:off x="3026664" y="333146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12:40</a:t>
            </a:r>
          </a:p>
        </p:txBody>
      </p:sp>
      <p:sp>
        <p:nvSpPr>
          <p:cNvPr id="465" name="amanecer c0f11"/>
          <p:cNvSpPr txBox="1"/>
          <p:nvPr/>
        </p:nvSpPr>
        <p:spPr>
          <a:xfrm>
            <a:off x="3520440" y="333146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22%</a:t>
            </a:r>
          </a:p>
        </p:txBody>
      </p:sp>
      <p:sp>
        <p:nvSpPr>
          <p:cNvPr id="466" name="dias c0f11"/>
          <p:cNvSpPr txBox="1"/>
          <p:nvPr/>
        </p:nvSpPr>
        <p:spPr>
          <a:xfrm>
            <a:off x="4023360" y="333146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12</a:t>
            </a:r>
          </a:p>
        </p:txBody>
      </p:sp>
      <p:sp>
        <p:nvSpPr>
          <p:cNvPr id="467" name="banda c0f12"/>
          <p:cNvSpPr/>
          <p:nvPr/>
        </p:nvSpPr>
        <p:spPr>
          <a:xfrm>
            <a:off x="411480" y="3438144"/>
            <a:ext cx="4114800" cy="106680"/>
          </a:xfrm>
          <a:prstGeom prst="rect">
            <a:avLst/>
          </a:prstGeom>
          <a:solidFill>
            <a:srgbClr val="FFFFFF"/>
          </a:solidFill>
          <a:ln>
            <a:noFill/>
          </a:ln>
        </p:spPr>
        <p:txBody>
          <a:bodyPr rtlCol="0" anchor="ctr"/>
          <a:lstStyle/>
          <a:p>
            <a:pPr algn="ctr"/>
            <a:endParaRPr lang="es-CO" noProof="0" dirty="0"/>
          </a:p>
        </p:txBody>
      </p:sp>
      <p:sp>
        <p:nvSpPr>
          <p:cNvPr id="468" name="nombre c0f12"/>
          <p:cNvSpPr txBox="1"/>
          <p:nvPr/>
        </p:nvSpPr>
        <p:spPr>
          <a:xfrm>
            <a:off x="438912" y="343814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48PC</a:t>
            </a:r>
          </a:p>
        </p:txBody>
      </p:sp>
      <p:sp>
        <p:nvSpPr>
          <p:cNvPr id="469" name="barra c0f12"/>
          <p:cNvSpPr/>
          <p:nvPr/>
        </p:nvSpPr>
        <p:spPr>
          <a:xfrm>
            <a:off x="1188720" y="3459480"/>
            <a:ext cx="738378" cy="6400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470" name="cuenta c0f12"/>
          <p:cNvSpPr txBox="1"/>
          <p:nvPr/>
        </p:nvSpPr>
        <p:spPr>
          <a:xfrm>
            <a:off x="1954530" y="343814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1F6F78"/>
                </a:solidFill>
                <a:latin typeface="Calibri"/>
              </a:rPr>
              <a:t>17</a:t>
            </a:r>
          </a:p>
        </p:txBody>
      </p:sp>
      <p:sp>
        <p:nvSpPr>
          <p:cNvPr id="471" name="pista c0f12"/>
          <p:cNvSpPr/>
          <p:nvPr/>
        </p:nvSpPr>
        <p:spPr>
          <a:xfrm>
            <a:off x="2423160" y="348691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472" name="punto c0f12"/>
          <p:cNvSpPr/>
          <p:nvPr/>
        </p:nvSpPr>
        <p:spPr>
          <a:xfrm>
            <a:off x="2936938" y="345490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473" name="hora c0f12"/>
          <p:cNvSpPr txBox="1"/>
          <p:nvPr/>
        </p:nvSpPr>
        <p:spPr>
          <a:xfrm>
            <a:off x="3028378" y="343814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12:41</a:t>
            </a:r>
          </a:p>
        </p:txBody>
      </p:sp>
      <p:sp>
        <p:nvSpPr>
          <p:cNvPr id="474" name="amanecer c0f12"/>
          <p:cNvSpPr txBox="1"/>
          <p:nvPr/>
        </p:nvSpPr>
        <p:spPr>
          <a:xfrm>
            <a:off x="3520440" y="343814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22%</a:t>
            </a:r>
          </a:p>
        </p:txBody>
      </p:sp>
      <p:sp>
        <p:nvSpPr>
          <p:cNvPr id="475" name="dias c0f12"/>
          <p:cNvSpPr txBox="1"/>
          <p:nvPr/>
        </p:nvSpPr>
        <p:spPr>
          <a:xfrm>
            <a:off x="4023360" y="343814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16</a:t>
            </a:r>
          </a:p>
        </p:txBody>
      </p:sp>
      <p:sp>
        <p:nvSpPr>
          <p:cNvPr id="476" name="nombre c0f13"/>
          <p:cNvSpPr txBox="1"/>
          <p:nvPr/>
        </p:nvSpPr>
        <p:spPr>
          <a:xfrm>
            <a:off x="438912" y="354482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121 CR</a:t>
            </a:r>
          </a:p>
        </p:txBody>
      </p:sp>
      <p:sp>
        <p:nvSpPr>
          <p:cNvPr id="477" name="barra c0f13"/>
          <p:cNvSpPr/>
          <p:nvPr/>
        </p:nvSpPr>
        <p:spPr>
          <a:xfrm>
            <a:off x="1188720" y="3566160"/>
            <a:ext cx="738378" cy="6400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478" name="cuenta c0f13"/>
          <p:cNvSpPr txBox="1"/>
          <p:nvPr/>
        </p:nvSpPr>
        <p:spPr>
          <a:xfrm>
            <a:off x="1954530" y="354482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1F6F78"/>
                </a:solidFill>
                <a:latin typeface="Calibri"/>
              </a:rPr>
              <a:t>17</a:t>
            </a:r>
          </a:p>
        </p:txBody>
      </p:sp>
      <p:sp>
        <p:nvSpPr>
          <p:cNvPr id="479" name="pista c0f13"/>
          <p:cNvSpPr/>
          <p:nvPr/>
        </p:nvSpPr>
        <p:spPr>
          <a:xfrm>
            <a:off x="2423160" y="359359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480" name="punto c0f13"/>
          <p:cNvSpPr/>
          <p:nvPr/>
        </p:nvSpPr>
        <p:spPr>
          <a:xfrm>
            <a:off x="2731933" y="356158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481" name="hora c0f13"/>
          <p:cNvSpPr txBox="1"/>
          <p:nvPr/>
        </p:nvSpPr>
        <p:spPr>
          <a:xfrm>
            <a:off x="2823373" y="354482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11:41</a:t>
            </a:r>
          </a:p>
        </p:txBody>
      </p:sp>
      <p:sp>
        <p:nvSpPr>
          <p:cNvPr id="482" name="amanecer c0f13"/>
          <p:cNvSpPr txBox="1"/>
          <p:nvPr/>
        </p:nvSpPr>
        <p:spPr>
          <a:xfrm>
            <a:off x="3520440" y="354482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24%</a:t>
            </a:r>
          </a:p>
        </p:txBody>
      </p:sp>
      <p:sp>
        <p:nvSpPr>
          <p:cNvPr id="483" name="dias c0f13"/>
          <p:cNvSpPr txBox="1"/>
          <p:nvPr/>
        </p:nvSpPr>
        <p:spPr>
          <a:xfrm>
            <a:off x="4023360" y="354482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7</a:t>
            </a:r>
          </a:p>
        </p:txBody>
      </p:sp>
      <p:sp>
        <p:nvSpPr>
          <p:cNvPr id="484" name="banda c0f14"/>
          <p:cNvSpPr/>
          <p:nvPr/>
        </p:nvSpPr>
        <p:spPr>
          <a:xfrm>
            <a:off x="411480" y="3651504"/>
            <a:ext cx="4114800" cy="106680"/>
          </a:xfrm>
          <a:prstGeom prst="rect">
            <a:avLst/>
          </a:prstGeom>
          <a:solidFill>
            <a:srgbClr val="FFFFFF"/>
          </a:solidFill>
          <a:ln>
            <a:noFill/>
          </a:ln>
        </p:spPr>
        <p:txBody>
          <a:bodyPr rtlCol="0" anchor="ctr"/>
          <a:lstStyle/>
          <a:p>
            <a:pPr algn="ctr"/>
            <a:endParaRPr lang="es-CO" noProof="0" dirty="0"/>
          </a:p>
        </p:txBody>
      </p:sp>
      <p:sp>
        <p:nvSpPr>
          <p:cNvPr id="485" name="nombre c0f14"/>
          <p:cNvSpPr txBox="1"/>
          <p:nvPr/>
        </p:nvSpPr>
        <p:spPr>
          <a:xfrm>
            <a:off x="438912" y="365150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435p</a:t>
            </a:r>
          </a:p>
        </p:txBody>
      </p:sp>
      <p:sp>
        <p:nvSpPr>
          <p:cNvPr id="486" name="barra c0f14"/>
          <p:cNvSpPr/>
          <p:nvPr/>
        </p:nvSpPr>
        <p:spPr>
          <a:xfrm>
            <a:off x="1188720" y="3672840"/>
            <a:ext cx="694944" cy="6400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487" name="cuenta c0f14"/>
          <p:cNvSpPr txBox="1"/>
          <p:nvPr/>
        </p:nvSpPr>
        <p:spPr>
          <a:xfrm>
            <a:off x="1911096" y="365150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1F6F78"/>
                </a:solidFill>
                <a:latin typeface="Calibri"/>
              </a:rPr>
              <a:t>16</a:t>
            </a:r>
          </a:p>
        </p:txBody>
      </p:sp>
      <p:sp>
        <p:nvSpPr>
          <p:cNvPr id="488" name="pista c0f14"/>
          <p:cNvSpPr/>
          <p:nvPr/>
        </p:nvSpPr>
        <p:spPr>
          <a:xfrm>
            <a:off x="2423160" y="370027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489" name="punto c0f14"/>
          <p:cNvSpPr/>
          <p:nvPr/>
        </p:nvSpPr>
        <p:spPr>
          <a:xfrm>
            <a:off x="3074527" y="366826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490" name="hora c0f14"/>
          <p:cNvSpPr txBox="1"/>
          <p:nvPr/>
        </p:nvSpPr>
        <p:spPr>
          <a:xfrm>
            <a:off x="3165967" y="365150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13:21</a:t>
            </a:r>
          </a:p>
        </p:txBody>
      </p:sp>
      <p:sp>
        <p:nvSpPr>
          <p:cNvPr id="491" name="amanecer c0f14"/>
          <p:cNvSpPr txBox="1"/>
          <p:nvPr/>
        </p:nvSpPr>
        <p:spPr>
          <a:xfrm>
            <a:off x="3520440" y="365150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E63946"/>
                </a:solidFill>
                <a:latin typeface="Calibri"/>
              </a:rPr>
              <a:t>18%</a:t>
            </a:r>
          </a:p>
        </p:txBody>
      </p:sp>
      <p:sp>
        <p:nvSpPr>
          <p:cNvPr id="492" name="dias c0f14"/>
          <p:cNvSpPr txBox="1"/>
          <p:nvPr/>
        </p:nvSpPr>
        <p:spPr>
          <a:xfrm>
            <a:off x="4023360" y="365150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8</a:t>
            </a:r>
          </a:p>
        </p:txBody>
      </p:sp>
      <p:sp>
        <p:nvSpPr>
          <p:cNvPr id="493" name="nombre c0f15"/>
          <p:cNvSpPr txBox="1"/>
          <p:nvPr/>
        </p:nvSpPr>
        <p:spPr>
          <a:xfrm>
            <a:off x="438912" y="375818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42</a:t>
            </a:r>
          </a:p>
        </p:txBody>
      </p:sp>
      <p:sp>
        <p:nvSpPr>
          <p:cNvPr id="494" name="barra c0f15"/>
          <p:cNvSpPr/>
          <p:nvPr/>
        </p:nvSpPr>
        <p:spPr>
          <a:xfrm>
            <a:off x="1188720" y="3779520"/>
            <a:ext cx="694944" cy="6400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495" name="cuenta c0f15"/>
          <p:cNvSpPr txBox="1"/>
          <p:nvPr/>
        </p:nvSpPr>
        <p:spPr>
          <a:xfrm>
            <a:off x="1911096" y="375818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1F6F78"/>
                </a:solidFill>
                <a:latin typeface="Calibri"/>
              </a:rPr>
              <a:t>16</a:t>
            </a:r>
          </a:p>
        </p:txBody>
      </p:sp>
      <p:sp>
        <p:nvSpPr>
          <p:cNvPr id="496" name="pista c0f15"/>
          <p:cNvSpPr/>
          <p:nvPr/>
        </p:nvSpPr>
        <p:spPr>
          <a:xfrm>
            <a:off x="2423160" y="380695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497" name="punto c0f15"/>
          <p:cNvSpPr/>
          <p:nvPr/>
        </p:nvSpPr>
        <p:spPr>
          <a:xfrm>
            <a:off x="3094804" y="377494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498" name="hora c0f15"/>
          <p:cNvSpPr txBox="1"/>
          <p:nvPr/>
        </p:nvSpPr>
        <p:spPr>
          <a:xfrm>
            <a:off x="3186244" y="375818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13:27</a:t>
            </a:r>
          </a:p>
        </p:txBody>
      </p:sp>
      <p:sp>
        <p:nvSpPr>
          <p:cNvPr id="499" name="amanecer c0f15"/>
          <p:cNvSpPr txBox="1"/>
          <p:nvPr/>
        </p:nvSpPr>
        <p:spPr>
          <a:xfrm>
            <a:off x="3520440" y="375818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E63946"/>
                </a:solidFill>
                <a:latin typeface="Calibri"/>
              </a:rPr>
              <a:t>19%</a:t>
            </a:r>
          </a:p>
        </p:txBody>
      </p:sp>
      <p:sp>
        <p:nvSpPr>
          <p:cNvPr id="500" name="dias c0f15"/>
          <p:cNvSpPr txBox="1"/>
          <p:nvPr/>
        </p:nvSpPr>
        <p:spPr>
          <a:xfrm>
            <a:off x="4023360" y="375818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13</a:t>
            </a:r>
          </a:p>
        </p:txBody>
      </p:sp>
      <p:sp>
        <p:nvSpPr>
          <p:cNvPr id="501" name="banda c0f16"/>
          <p:cNvSpPr/>
          <p:nvPr/>
        </p:nvSpPr>
        <p:spPr>
          <a:xfrm>
            <a:off x="411480" y="3864864"/>
            <a:ext cx="4114800" cy="106680"/>
          </a:xfrm>
          <a:prstGeom prst="rect">
            <a:avLst/>
          </a:prstGeom>
          <a:solidFill>
            <a:srgbClr val="FFFFFF"/>
          </a:solidFill>
          <a:ln>
            <a:noFill/>
          </a:ln>
        </p:spPr>
        <p:txBody>
          <a:bodyPr rtlCol="0" anchor="ctr"/>
          <a:lstStyle/>
          <a:p>
            <a:pPr algn="ctr"/>
            <a:endParaRPr lang="es-CO" noProof="0" dirty="0"/>
          </a:p>
        </p:txBody>
      </p:sp>
      <p:sp>
        <p:nvSpPr>
          <p:cNvPr id="502" name="nombre c0f16"/>
          <p:cNvSpPr txBox="1"/>
          <p:nvPr/>
        </p:nvSpPr>
        <p:spPr>
          <a:xfrm>
            <a:off x="438912" y="386486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287</a:t>
            </a:r>
          </a:p>
        </p:txBody>
      </p:sp>
      <p:sp>
        <p:nvSpPr>
          <p:cNvPr id="503" name="barra c0f16"/>
          <p:cNvSpPr/>
          <p:nvPr/>
        </p:nvSpPr>
        <p:spPr>
          <a:xfrm>
            <a:off x="1188720" y="3886200"/>
            <a:ext cx="694944" cy="6400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504" name="cuenta c0f16"/>
          <p:cNvSpPr txBox="1"/>
          <p:nvPr/>
        </p:nvSpPr>
        <p:spPr>
          <a:xfrm>
            <a:off x="1911096" y="386486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1F6F78"/>
                </a:solidFill>
                <a:latin typeface="Calibri"/>
              </a:rPr>
              <a:t>16</a:t>
            </a:r>
          </a:p>
        </p:txBody>
      </p:sp>
      <p:sp>
        <p:nvSpPr>
          <p:cNvPr id="505" name="pista c0f16"/>
          <p:cNvSpPr/>
          <p:nvPr/>
        </p:nvSpPr>
        <p:spPr>
          <a:xfrm>
            <a:off x="2423160" y="391363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506" name="punto c0f16"/>
          <p:cNvSpPr/>
          <p:nvPr/>
        </p:nvSpPr>
        <p:spPr>
          <a:xfrm>
            <a:off x="3118104" y="388162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507" name="hora c0f16"/>
          <p:cNvSpPr txBox="1"/>
          <p:nvPr/>
        </p:nvSpPr>
        <p:spPr>
          <a:xfrm>
            <a:off x="3209544" y="386486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13:33</a:t>
            </a:r>
          </a:p>
        </p:txBody>
      </p:sp>
      <p:sp>
        <p:nvSpPr>
          <p:cNvPr id="508" name="amanecer c0f16"/>
          <p:cNvSpPr txBox="1"/>
          <p:nvPr/>
        </p:nvSpPr>
        <p:spPr>
          <a:xfrm>
            <a:off x="3520440" y="386486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23%</a:t>
            </a:r>
          </a:p>
        </p:txBody>
      </p:sp>
      <p:sp>
        <p:nvSpPr>
          <p:cNvPr id="509" name="dias c0f16"/>
          <p:cNvSpPr txBox="1"/>
          <p:nvPr/>
        </p:nvSpPr>
        <p:spPr>
          <a:xfrm>
            <a:off x="4023360" y="386486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9</a:t>
            </a:r>
          </a:p>
        </p:txBody>
      </p:sp>
      <p:sp>
        <p:nvSpPr>
          <p:cNvPr id="510" name="nombre c0f17"/>
          <p:cNvSpPr txBox="1"/>
          <p:nvPr/>
        </p:nvSpPr>
        <p:spPr>
          <a:xfrm>
            <a:off x="438912" y="397154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70</a:t>
            </a:r>
          </a:p>
        </p:txBody>
      </p:sp>
      <p:sp>
        <p:nvSpPr>
          <p:cNvPr id="511" name="barra c0f17"/>
          <p:cNvSpPr/>
          <p:nvPr/>
        </p:nvSpPr>
        <p:spPr>
          <a:xfrm>
            <a:off x="1188720" y="3992880"/>
            <a:ext cx="694944" cy="6400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512" name="cuenta c0f17"/>
          <p:cNvSpPr txBox="1"/>
          <p:nvPr/>
        </p:nvSpPr>
        <p:spPr>
          <a:xfrm>
            <a:off x="1911096" y="397154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1F6F78"/>
                </a:solidFill>
                <a:latin typeface="Calibri"/>
              </a:rPr>
              <a:t>16</a:t>
            </a:r>
          </a:p>
        </p:txBody>
      </p:sp>
      <p:sp>
        <p:nvSpPr>
          <p:cNvPr id="513" name="pista c0f17"/>
          <p:cNvSpPr/>
          <p:nvPr/>
        </p:nvSpPr>
        <p:spPr>
          <a:xfrm>
            <a:off x="2423160" y="402031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514" name="punto c0f17"/>
          <p:cNvSpPr/>
          <p:nvPr/>
        </p:nvSpPr>
        <p:spPr>
          <a:xfrm>
            <a:off x="2912364" y="398830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515" name="hora c0f17"/>
          <p:cNvSpPr txBox="1"/>
          <p:nvPr/>
        </p:nvSpPr>
        <p:spPr>
          <a:xfrm>
            <a:off x="3003804" y="397154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12:33</a:t>
            </a:r>
          </a:p>
        </p:txBody>
      </p:sp>
      <p:sp>
        <p:nvSpPr>
          <p:cNvPr id="516" name="amanecer c0f17"/>
          <p:cNvSpPr txBox="1"/>
          <p:nvPr/>
        </p:nvSpPr>
        <p:spPr>
          <a:xfrm>
            <a:off x="3520440" y="397154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23%</a:t>
            </a:r>
          </a:p>
        </p:txBody>
      </p:sp>
      <p:sp>
        <p:nvSpPr>
          <p:cNvPr id="517" name="dias c0f17"/>
          <p:cNvSpPr txBox="1"/>
          <p:nvPr/>
        </p:nvSpPr>
        <p:spPr>
          <a:xfrm>
            <a:off x="4023360" y="397154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18</a:t>
            </a:r>
          </a:p>
        </p:txBody>
      </p:sp>
      <p:sp>
        <p:nvSpPr>
          <p:cNvPr id="518" name="banda c0f18"/>
          <p:cNvSpPr/>
          <p:nvPr/>
        </p:nvSpPr>
        <p:spPr>
          <a:xfrm>
            <a:off x="411480" y="4078224"/>
            <a:ext cx="4114800" cy="106680"/>
          </a:xfrm>
          <a:prstGeom prst="rect">
            <a:avLst/>
          </a:prstGeom>
          <a:solidFill>
            <a:srgbClr val="FFFFFF"/>
          </a:solidFill>
          <a:ln>
            <a:noFill/>
          </a:ln>
        </p:spPr>
        <p:txBody>
          <a:bodyPr rtlCol="0" anchor="ctr"/>
          <a:lstStyle/>
          <a:p>
            <a:pPr algn="ctr"/>
            <a:endParaRPr lang="es-CO" noProof="0" dirty="0"/>
          </a:p>
        </p:txBody>
      </p:sp>
      <p:sp>
        <p:nvSpPr>
          <p:cNvPr id="519" name="nombre c0f18"/>
          <p:cNvSpPr txBox="1"/>
          <p:nvPr/>
        </p:nvSpPr>
        <p:spPr>
          <a:xfrm>
            <a:off x="438912" y="407822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15p</a:t>
            </a:r>
          </a:p>
        </p:txBody>
      </p:sp>
      <p:sp>
        <p:nvSpPr>
          <p:cNvPr id="520" name="barra c0f18"/>
          <p:cNvSpPr/>
          <p:nvPr/>
        </p:nvSpPr>
        <p:spPr>
          <a:xfrm>
            <a:off x="1188720" y="4099560"/>
            <a:ext cx="651510"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521" name="cuenta c0f18"/>
          <p:cNvSpPr txBox="1"/>
          <p:nvPr/>
        </p:nvSpPr>
        <p:spPr>
          <a:xfrm>
            <a:off x="1867662" y="407822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15</a:t>
            </a:r>
          </a:p>
        </p:txBody>
      </p:sp>
      <p:sp>
        <p:nvSpPr>
          <p:cNvPr id="522" name="pista c0f18"/>
          <p:cNvSpPr/>
          <p:nvPr/>
        </p:nvSpPr>
        <p:spPr>
          <a:xfrm>
            <a:off x="2423160" y="412699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523" name="punto c0f18"/>
          <p:cNvSpPr/>
          <p:nvPr/>
        </p:nvSpPr>
        <p:spPr>
          <a:xfrm>
            <a:off x="2900934" y="409498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524" name="hora c0f18"/>
          <p:cNvSpPr txBox="1"/>
          <p:nvPr/>
        </p:nvSpPr>
        <p:spPr>
          <a:xfrm>
            <a:off x="2992374" y="407822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12:30</a:t>
            </a:r>
          </a:p>
        </p:txBody>
      </p:sp>
      <p:sp>
        <p:nvSpPr>
          <p:cNvPr id="525" name="amanecer c0f18"/>
          <p:cNvSpPr txBox="1"/>
          <p:nvPr/>
        </p:nvSpPr>
        <p:spPr>
          <a:xfrm>
            <a:off x="3520440" y="407822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21%</a:t>
            </a:r>
          </a:p>
        </p:txBody>
      </p:sp>
      <p:sp>
        <p:nvSpPr>
          <p:cNvPr id="526" name="dias c0f18"/>
          <p:cNvSpPr txBox="1"/>
          <p:nvPr/>
        </p:nvSpPr>
        <p:spPr>
          <a:xfrm>
            <a:off x="4023360" y="407822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a:t>
            </a:r>
          </a:p>
        </p:txBody>
      </p:sp>
      <p:sp>
        <p:nvSpPr>
          <p:cNvPr id="527" name="nombre c0f19"/>
          <p:cNvSpPr txBox="1"/>
          <p:nvPr/>
        </p:nvSpPr>
        <p:spPr>
          <a:xfrm>
            <a:off x="438912" y="418490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412p</a:t>
            </a:r>
          </a:p>
        </p:txBody>
      </p:sp>
      <p:sp>
        <p:nvSpPr>
          <p:cNvPr id="528" name="barra c0f19"/>
          <p:cNvSpPr/>
          <p:nvPr/>
        </p:nvSpPr>
        <p:spPr>
          <a:xfrm>
            <a:off x="1188720" y="4206240"/>
            <a:ext cx="651510"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529" name="cuenta c0f19"/>
          <p:cNvSpPr txBox="1"/>
          <p:nvPr/>
        </p:nvSpPr>
        <p:spPr>
          <a:xfrm>
            <a:off x="1867662" y="418490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15</a:t>
            </a:r>
          </a:p>
        </p:txBody>
      </p:sp>
      <p:sp>
        <p:nvSpPr>
          <p:cNvPr id="530" name="pista c0f19"/>
          <p:cNvSpPr/>
          <p:nvPr/>
        </p:nvSpPr>
        <p:spPr>
          <a:xfrm>
            <a:off x="2423160" y="423367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531" name="punto c0f19"/>
          <p:cNvSpPr/>
          <p:nvPr/>
        </p:nvSpPr>
        <p:spPr>
          <a:xfrm>
            <a:off x="2888075" y="420166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532" name="hora c0f19"/>
          <p:cNvSpPr txBox="1"/>
          <p:nvPr/>
        </p:nvSpPr>
        <p:spPr>
          <a:xfrm>
            <a:off x="2979515" y="418490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12:26</a:t>
            </a:r>
          </a:p>
        </p:txBody>
      </p:sp>
      <p:sp>
        <p:nvSpPr>
          <p:cNvPr id="533" name="amanecer c0f19"/>
          <p:cNvSpPr txBox="1"/>
          <p:nvPr/>
        </p:nvSpPr>
        <p:spPr>
          <a:xfrm>
            <a:off x="3520440" y="418490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28%</a:t>
            </a:r>
          </a:p>
        </p:txBody>
      </p:sp>
      <p:sp>
        <p:nvSpPr>
          <p:cNvPr id="534" name="dias c0f19"/>
          <p:cNvSpPr txBox="1"/>
          <p:nvPr/>
        </p:nvSpPr>
        <p:spPr>
          <a:xfrm>
            <a:off x="4023360" y="418490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16</a:t>
            </a:r>
          </a:p>
        </p:txBody>
      </p:sp>
      <p:sp>
        <p:nvSpPr>
          <p:cNvPr id="535" name="banda c0f20"/>
          <p:cNvSpPr/>
          <p:nvPr/>
        </p:nvSpPr>
        <p:spPr>
          <a:xfrm>
            <a:off x="411480" y="4291584"/>
            <a:ext cx="4114800" cy="106680"/>
          </a:xfrm>
          <a:prstGeom prst="rect">
            <a:avLst/>
          </a:prstGeom>
          <a:solidFill>
            <a:srgbClr val="FFFFFF"/>
          </a:solidFill>
          <a:ln>
            <a:noFill/>
          </a:ln>
        </p:spPr>
        <p:txBody>
          <a:bodyPr rtlCol="0" anchor="ctr"/>
          <a:lstStyle/>
          <a:p>
            <a:pPr algn="ctr"/>
            <a:endParaRPr lang="es-CO" noProof="0" dirty="0"/>
          </a:p>
        </p:txBody>
      </p:sp>
      <p:sp>
        <p:nvSpPr>
          <p:cNvPr id="536" name="nombre c0f20"/>
          <p:cNvSpPr txBox="1"/>
          <p:nvPr/>
        </p:nvSpPr>
        <p:spPr>
          <a:xfrm>
            <a:off x="438912" y="429158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86p</a:t>
            </a:r>
          </a:p>
        </p:txBody>
      </p:sp>
      <p:sp>
        <p:nvSpPr>
          <p:cNvPr id="537" name="barra c0f20"/>
          <p:cNvSpPr/>
          <p:nvPr/>
        </p:nvSpPr>
        <p:spPr>
          <a:xfrm>
            <a:off x="1188720" y="4312920"/>
            <a:ext cx="564642"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538" name="cuenta c0f20"/>
          <p:cNvSpPr txBox="1"/>
          <p:nvPr/>
        </p:nvSpPr>
        <p:spPr>
          <a:xfrm>
            <a:off x="1780794" y="429158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13</a:t>
            </a:r>
          </a:p>
        </p:txBody>
      </p:sp>
      <p:sp>
        <p:nvSpPr>
          <p:cNvPr id="539" name="pista c0f20"/>
          <p:cNvSpPr/>
          <p:nvPr/>
        </p:nvSpPr>
        <p:spPr>
          <a:xfrm>
            <a:off x="2423160" y="434035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540" name="punto c0f20"/>
          <p:cNvSpPr/>
          <p:nvPr/>
        </p:nvSpPr>
        <p:spPr>
          <a:xfrm>
            <a:off x="2993027" y="430834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541" name="hora c0f20"/>
          <p:cNvSpPr txBox="1"/>
          <p:nvPr/>
        </p:nvSpPr>
        <p:spPr>
          <a:xfrm>
            <a:off x="3084467" y="429158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12:57</a:t>
            </a:r>
          </a:p>
        </p:txBody>
      </p:sp>
      <p:sp>
        <p:nvSpPr>
          <p:cNvPr id="542" name="amanecer c0f20"/>
          <p:cNvSpPr txBox="1"/>
          <p:nvPr/>
        </p:nvSpPr>
        <p:spPr>
          <a:xfrm>
            <a:off x="3520440" y="429158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E63946"/>
                </a:solidFill>
                <a:latin typeface="Calibri"/>
              </a:rPr>
              <a:t>20%</a:t>
            </a:r>
          </a:p>
        </p:txBody>
      </p:sp>
      <p:sp>
        <p:nvSpPr>
          <p:cNvPr id="543" name="dias c0f20"/>
          <p:cNvSpPr txBox="1"/>
          <p:nvPr/>
        </p:nvSpPr>
        <p:spPr>
          <a:xfrm>
            <a:off x="4023360" y="429158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14</a:t>
            </a:r>
          </a:p>
        </p:txBody>
      </p:sp>
      <p:sp>
        <p:nvSpPr>
          <p:cNvPr id="544" name="nombre c0f21"/>
          <p:cNvSpPr txBox="1"/>
          <p:nvPr/>
        </p:nvSpPr>
        <p:spPr>
          <a:xfrm>
            <a:off x="438912" y="439826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60p</a:t>
            </a:r>
          </a:p>
        </p:txBody>
      </p:sp>
      <p:sp>
        <p:nvSpPr>
          <p:cNvPr id="545" name="barra c0f21"/>
          <p:cNvSpPr/>
          <p:nvPr/>
        </p:nvSpPr>
        <p:spPr>
          <a:xfrm>
            <a:off x="1188720" y="4419600"/>
            <a:ext cx="564642"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546" name="cuenta c0f21"/>
          <p:cNvSpPr txBox="1"/>
          <p:nvPr/>
        </p:nvSpPr>
        <p:spPr>
          <a:xfrm>
            <a:off x="1780794" y="439826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13</a:t>
            </a:r>
          </a:p>
        </p:txBody>
      </p:sp>
      <p:sp>
        <p:nvSpPr>
          <p:cNvPr id="547" name="pista c0f21"/>
          <p:cNvSpPr/>
          <p:nvPr/>
        </p:nvSpPr>
        <p:spPr>
          <a:xfrm>
            <a:off x="2423160" y="444703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548" name="punto c0f21"/>
          <p:cNvSpPr/>
          <p:nvPr/>
        </p:nvSpPr>
        <p:spPr>
          <a:xfrm>
            <a:off x="3368525" y="441502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549" name="hora c0f21"/>
          <p:cNvSpPr txBox="1"/>
          <p:nvPr/>
        </p:nvSpPr>
        <p:spPr>
          <a:xfrm>
            <a:off x="3459965" y="439826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14:46</a:t>
            </a:r>
          </a:p>
        </p:txBody>
      </p:sp>
      <p:sp>
        <p:nvSpPr>
          <p:cNvPr id="550" name="amanecer c0f21"/>
          <p:cNvSpPr txBox="1"/>
          <p:nvPr/>
        </p:nvSpPr>
        <p:spPr>
          <a:xfrm>
            <a:off x="3520440" y="439826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22%</a:t>
            </a:r>
          </a:p>
        </p:txBody>
      </p:sp>
      <p:sp>
        <p:nvSpPr>
          <p:cNvPr id="551" name="dias c0f21"/>
          <p:cNvSpPr txBox="1"/>
          <p:nvPr/>
        </p:nvSpPr>
        <p:spPr>
          <a:xfrm>
            <a:off x="4023360" y="439826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11</a:t>
            </a:r>
          </a:p>
        </p:txBody>
      </p:sp>
      <p:sp>
        <p:nvSpPr>
          <p:cNvPr id="552" name="banda c0f22"/>
          <p:cNvSpPr/>
          <p:nvPr/>
        </p:nvSpPr>
        <p:spPr>
          <a:xfrm>
            <a:off x="411480" y="4504944"/>
            <a:ext cx="4114800" cy="106680"/>
          </a:xfrm>
          <a:prstGeom prst="rect">
            <a:avLst/>
          </a:prstGeom>
          <a:solidFill>
            <a:srgbClr val="FFFFFF"/>
          </a:solidFill>
          <a:ln>
            <a:noFill/>
          </a:ln>
        </p:spPr>
        <p:txBody>
          <a:bodyPr rtlCol="0" anchor="ctr"/>
          <a:lstStyle/>
          <a:p>
            <a:pPr algn="ctr"/>
            <a:endParaRPr lang="es-CO" noProof="0" dirty="0"/>
          </a:p>
        </p:txBody>
      </p:sp>
      <p:sp>
        <p:nvSpPr>
          <p:cNvPr id="553" name="nombre c0f22"/>
          <p:cNvSpPr txBox="1"/>
          <p:nvPr/>
        </p:nvSpPr>
        <p:spPr>
          <a:xfrm>
            <a:off x="438912" y="450494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73</a:t>
            </a:r>
          </a:p>
        </p:txBody>
      </p:sp>
      <p:sp>
        <p:nvSpPr>
          <p:cNvPr id="554" name="barra c0f22"/>
          <p:cNvSpPr/>
          <p:nvPr/>
        </p:nvSpPr>
        <p:spPr>
          <a:xfrm>
            <a:off x="1188720" y="4526280"/>
            <a:ext cx="564642"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555" name="cuenta c0f22"/>
          <p:cNvSpPr txBox="1"/>
          <p:nvPr/>
        </p:nvSpPr>
        <p:spPr>
          <a:xfrm>
            <a:off x="1780794" y="450494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13</a:t>
            </a:r>
          </a:p>
        </p:txBody>
      </p:sp>
      <p:sp>
        <p:nvSpPr>
          <p:cNvPr id="556" name="pista c0f22"/>
          <p:cNvSpPr/>
          <p:nvPr/>
        </p:nvSpPr>
        <p:spPr>
          <a:xfrm>
            <a:off x="2423160" y="455371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557" name="punto c0f22"/>
          <p:cNvSpPr/>
          <p:nvPr/>
        </p:nvSpPr>
        <p:spPr>
          <a:xfrm>
            <a:off x="2952369" y="452170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558" name="hora c0f22"/>
          <p:cNvSpPr txBox="1"/>
          <p:nvPr/>
        </p:nvSpPr>
        <p:spPr>
          <a:xfrm>
            <a:off x="3043809" y="450494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12:45</a:t>
            </a:r>
          </a:p>
        </p:txBody>
      </p:sp>
      <p:sp>
        <p:nvSpPr>
          <p:cNvPr id="559" name="amanecer c0f22"/>
          <p:cNvSpPr txBox="1"/>
          <p:nvPr/>
        </p:nvSpPr>
        <p:spPr>
          <a:xfrm>
            <a:off x="3520440" y="450494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23%</a:t>
            </a:r>
          </a:p>
        </p:txBody>
      </p:sp>
      <p:sp>
        <p:nvSpPr>
          <p:cNvPr id="560" name="dias c0f22"/>
          <p:cNvSpPr txBox="1"/>
          <p:nvPr/>
        </p:nvSpPr>
        <p:spPr>
          <a:xfrm>
            <a:off x="4023360" y="450494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15</a:t>
            </a:r>
          </a:p>
        </p:txBody>
      </p:sp>
      <p:sp>
        <p:nvSpPr>
          <p:cNvPr id="561" name="nombre c0f23"/>
          <p:cNvSpPr txBox="1"/>
          <p:nvPr/>
        </p:nvSpPr>
        <p:spPr>
          <a:xfrm>
            <a:off x="438912" y="461162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111</a:t>
            </a:r>
          </a:p>
        </p:txBody>
      </p:sp>
      <p:sp>
        <p:nvSpPr>
          <p:cNvPr id="562" name="barra c0f23"/>
          <p:cNvSpPr/>
          <p:nvPr/>
        </p:nvSpPr>
        <p:spPr>
          <a:xfrm>
            <a:off x="1188720" y="4632960"/>
            <a:ext cx="564642"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563" name="cuenta c0f23"/>
          <p:cNvSpPr txBox="1"/>
          <p:nvPr/>
        </p:nvSpPr>
        <p:spPr>
          <a:xfrm>
            <a:off x="1780794" y="461162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13</a:t>
            </a:r>
          </a:p>
        </p:txBody>
      </p:sp>
      <p:sp>
        <p:nvSpPr>
          <p:cNvPr id="564" name="pista c0f23"/>
          <p:cNvSpPr/>
          <p:nvPr/>
        </p:nvSpPr>
        <p:spPr>
          <a:xfrm>
            <a:off x="2423160" y="466039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565" name="punto c0f23"/>
          <p:cNvSpPr/>
          <p:nvPr/>
        </p:nvSpPr>
        <p:spPr>
          <a:xfrm>
            <a:off x="2660002" y="462838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566" name="hora c0f23"/>
          <p:cNvSpPr txBox="1"/>
          <p:nvPr/>
        </p:nvSpPr>
        <p:spPr>
          <a:xfrm>
            <a:off x="2751442" y="461162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11:20</a:t>
            </a:r>
          </a:p>
        </p:txBody>
      </p:sp>
      <p:sp>
        <p:nvSpPr>
          <p:cNvPr id="567" name="amanecer c0f23"/>
          <p:cNvSpPr txBox="1"/>
          <p:nvPr/>
        </p:nvSpPr>
        <p:spPr>
          <a:xfrm>
            <a:off x="3520440" y="461162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25%</a:t>
            </a:r>
          </a:p>
        </p:txBody>
      </p:sp>
      <p:sp>
        <p:nvSpPr>
          <p:cNvPr id="568" name="dias c0f23"/>
          <p:cNvSpPr txBox="1"/>
          <p:nvPr/>
        </p:nvSpPr>
        <p:spPr>
          <a:xfrm>
            <a:off x="4023360" y="461162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19</a:t>
            </a:r>
          </a:p>
        </p:txBody>
      </p:sp>
      <p:sp>
        <p:nvSpPr>
          <p:cNvPr id="569" name="banda c1f0"/>
          <p:cNvSpPr/>
          <p:nvPr/>
        </p:nvSpPr>
        <p:spPr>
          <a:xfrm>
            <a:off x="4636008" y="2157984"/>
            <a:ext cx="4114800" cy="106680"/>
          </a:xfrm>
          <a:prstGeom prst="rect">
            <a:avLst/>
          </a:prstGeom>
          <a:solidFill>
            <a:srgbClr val="FFFFFF"/>
          </a:solidFill>
          <a:ln>
            <a:noFill/>
          </a:ln>
        </p:spPr>
        <p:txBody>
          <a:bodyPr rtlCol="0" anchor="ctr"/>
          <a:lstStyle/>
          <a:p>
            <a:pPr algn="ctr"/>
            <a:endParaRPr lang="es-CO" noProof="0" dirty="0"/>
          </a:p>
        </p:txBody>
      </p:sp>
      <p:sp>
        <p:nvSpPr>
          <p:cNvPr id="570" name="nombre c1f0"/>
          <p:cNvSpPr txBox="1"/>
          <p:nvPr/>
        </p:nvSpPr>
        <p:spPr>
          <a:xfrm>
            <a:off x="4663440" y="215798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63</a:t>
            </a:r>
          </a:p>
        </p:txBody>
      </p:sp>
      <p:sp>
        <p:nvSpPr>
          <p:cNvPr id="571" name="barra c1f0"/>
          <p:cNvSpPr/>
          <p:nvPr/>
        </p:nvSpPr>
        <p:spPr>
          <a:xfrm>
            <a:off x="5413248" y="2179320"/>
            <a:ext cx="564642"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572" name="cuenta c1f0"/>
          <p:cNvSpPr txBox="1"/>
          <p:nvPr/>
        </p:nvSpPr>
        <p:spPr>
          <a:xfrm>
            <a:off x="6005322" y="215798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13</a:t>
            </a:r>
          </a:p>
        </p:txBody>
      </p:sp>
      <p:sp>
        <p:nvSpPr>
          <p:cNvPr id="573" name="pista c1f0"/>
          <p:cNvSpPr/>
          <p:nvPr/>
        </p:nvSpPr>
        <p:spPr>
          <a:xfrm>
            <a:off x="6647688" y="220675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574" name="punto c1f0"/>
          <p:cNvSpPr/>
          <p:nvPr/>
        </p:nvSpPr>
        <p:spPr>
          <a:xfrm>
            <a:off x="7125462" y="217474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575" name="hora c1f0"/>
          <p:cNvSpPr txBox="1"/>
          <p:nvPr/>
        </p:nvSpPr>
        <p:spPr>
          <a:xfrm>
            <a:off x="7216902" y="215798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12:30</a:t>
            </a:r>
          </a:p>
        </p:txBody>
      </p:sp>
      <p:sp>
        <p:nvSpPr>
          <p:cNvPr id="576" name="amanecer c1f0"/>
          <p:cNvSpPr txBox="1"/>
          <p:nvPr/>
        </p:nvSpPr>
        <p:spPr>
          <a:xfrm>
            <a:off x="7744968" y="215798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29%</a:t>
            </a:r>
          </a:p>
        </p:txBody>
      </p:sp>
      <p:sp>
        <p:nvSpPr>
          <p:cNvPr id="577" name="dias c1f0"/>
          <p:cNvSpPr txBox="1"/>
          <p:nvPr/>
        </p:nvSpPr>
        <p:spPr>
          <a:xfrm>
            <a:off x="8247888" y="215798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9</a:t>
            </a:r>
          </a:p>
        </p:txBody>
      </p:sp>
      <p:sp>
        <p:nvSpPr>
          <p:cNvPr id="578" name="nombre c1f1"/>
          <p:cNvSpPr txBox="1"/>
          <p:nvPr/>
        </p:nvSpPr>
        <p:spPr>
          <a:xfrm>
            <a:off x="4663440" y="226466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10</a:t>
            </a:r>
          </a:p>
        </p:txBody>
      </p:sp>
      <p:sp>
        <p:nvSpPr>
          <p:cNvPr id="579" name="barra c1f1"/>
          <p:cNvSpPr/>
          <p:nvPr/>
        </p:nvSpPr>
        <p:spPr>
          <a:xfrm>
            <a:off x="5413248" y="2286000"/>
            <a:ext cx="521208"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580" name="cuenta c1f1"/>
          <p:cNvSpPr txBox="1"/>
          <p:nvPr/>
        </p:nvSpPr>
        <p:spPr>
          <a:xfrm>
            <a:off x="5961888" y="226466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12</a:t>
            </a:r>
          </a:p>
        </p:txBody>
      </p:sp>
      <p:sp>
        <p:nvSpPr>
          <p:cNvPr id="581" name="pista c1f1"/>
          <p:cNvSpPr/>
          <p:nvPr/>
        </p:nvSpPr>
        <p:spPr>
          <a:xfrm>
            <a:off x="6647688" y="231343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582" name="punto c1f1"/>
          <p:cNvSpPr/>
          <p:nvPr/>
        </p:nvSpPr>
        <p:spPr>
          <a:xfrm>
            <a:off x="6792647" y="228142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583" name="hora c1f1"/>
          <p:cNvSpPr txBox="1"/>
          <p:nvPr/>
        </p:nvSpPr>
        <p:spPr>
          <a:xfrm>
            <a:off x="6884087" y="226466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10:53</a:t>
            </a:r>
          </a:p>
        </p:txBody>
      </p:sp>
      <p:sp>
        <p:nvSpPr>
          <p:cNvPr id="584" name="amanecer c1f1"/>
          <p:cNvSpPr txBox="1"/>
          <p:nvPr/>
        </p:nvSpPr>
        <p:spPr>
          <a:xfrm>
            <a:off x="7744968" y="226466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36%</a:t>
            </a:r>
          </a:p>
        </p:txBody>
      </p:sp>
      <p:sp>
        <p:nvSpPr>
          <p:cNvPr id="585" name="dias c1f1"/>
          <p:cNvSpPr txBox="1"/>
          <p:nvPr/>
        </p:nvSpPr>
        <p:spPr>
          <a:xfrm>
            <a:off x="8247888" y="226466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17</a:t>
            </a:r>
          </a:p>
        </p:txBody>
      </p:sp>
      <p:sp>
        <p:nvSpPr>
          <p:cNvPr id="586" name="banda c1f2"/>
          <p:cNvSpPr/>
          <p:nvPr/>
        </p:nvSpPr>
        <p:spPr>
          <a:xfrm>
            <a:off x="4636008" y="2371344"/>
            <a:ext cx="4114800" cy="106680"/>
          </a:xfrm>
          <a:prstGeom prst="rect">
            <a:avLst/>
          </a:prstGeom>
          <a:solidFill>
            <a:srgbClr val="FFFFFF"/>
          </a:solidFill>
          <a:ln>
            <a:noFill/>
          </a:ln>
        </p:spPr>
        <p:txBody>
          <a:bodyPr rtlCol="0" anchor="ctr"/>
          <a:lstStyle/>
          <a:p>
            <a:pPr algn="ctr"/>
            <a:endParaRPr lang="es-CO" noProof="0" dirty="0"/>
          </a:p>
        </p:txBody>
      </p:sp>
      <p:sp>
        <p:nvSpPr>
          <p:cNvPr id="587" name="nombre c1f2"/>
          <p:cNvSpPr txBox="1"/>
          <p:nvPr/>
        </p:nvSpPr>
        <p:spPr>
          <a:xfrm>
            <a:off x="4663440" y="237134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155</a:t>
            </a:r>
          </a:p>
        </p:txBody>
      </p:sp>
      <p:sp>
        <p:nvSpPr>
          <p:cNvPr id="588" name="barra c1f2"/>
          <p:cNvSpPr/>
          <p:nvPr/>
        </p:nvSpPr>
        <p:spPr>
          <a:xfrm>
            <a:off x="5413248" y="2392680"/>
            <a:ext cx="477774"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589" name="cuenta c1f2"/>
          <p:cNvSpPr txBox="1"/>
          <p:nvPr/>
        </p:nvSpPr>
        <p:spPr>
          <a:xfrm>
            <a:off x="5918454" y="237134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11</a:t>
            </a:r>
          </a:p>
        </p:txBody>
      </p:sp>
      <p:sp>
        <p:nvSpPr>
          <p:cNvPr id="590" name="pista c1f2"/>
          <p:cNvSpPr/>
          <p:nvPr/>
        </p:nvSpPr>
        <p:spPr>
          <a:xfrm>
            <a:off x="6647688" y="242011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591" name="punto c1f2"/>
          <p:cNvSpPr/>
          <p:nvPr/>
        </p:nvSpPr>
        <p:spPr>
          <a:xfrm>
            <a:off x="7129136" y="238810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592" name="hora c1f2"/>
          <p:cNvSpPr txBox="1"/>
          <p:nvPr/>
        </p:nvSpPr>
        <p:spPr>
          <a:xfrm>
            <a:off x="7220576" y="237134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12:31</a:t>
            </a:r>
          </a:p>
        </p:txBody>
      </p:sp>
      <p:sp>
        <p:nvSpPr>
          <p:cNvPr id="593" name="amanecer c1f2"/>
          <p:cNvSpPr txBox="1"/>
          <p:nvPr/>
        </p:nvSpPr>
        <p:spPr>
          <a:xfrm>
            <a:off x="7744968" y="237134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22%</a:t>
            </a:r>
          </a:p>
        </p:txBody>
      </p:sp>
      <p:sp>
        <p:nvSpPr>
          <p:cNvPr id="594" name="dias c1f2"/>
          <p:cNvSpPr txBox="1"/>
          <p:nvPr/>
        </p:nvSpPr>
        <p:spPr>
          <a:xfrm>
            <a:off x="8247888" y="237134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14</a:t>
            </a:r>
          </a:p>
        </p:txBody>
      </p:sp>
      <p:sp>
        <p:nvSpPr>
          <p:cNvPr id="595" name="nombre c1f3"/>
          <p:cNvSpPr txBox="1"/>
          <p:nvPr/>
        </p:nvSpPr>
        <p:spPr>
          <a:xfrm>
            <a:off x="4663440" y="247802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446p</a:t>
            </a:r>
          </a:p>
        </p:txBody>
      </p:sp>
      <p:sp>
        <p:nvSpPr>
          <p:cNvPr id="596" name="barra c1f3"/>
          <p:cNvSpPr/>
          <p:nvPr/>
        </p:nvSpPr>
        <p:spPr>
          <a:xfrm>
            <a:off x="5413248" y="2499360"/>
            <a:ext cx="477774"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597" name="cuenta c1f3"/>
          <p:cNvSpPr txBox="1"/>
          <p:nvPr/>
        </p:nvSpPr>
        <p:spPr>
          <a:xfrm>
            <a:off x="5918454" y="247802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11</a:t>
            </a:r>
          </a:p>
        </p:txBody>
      </p:sp>
      <p:sp>
        <p:nvSpPr>
          <p:cNvPr id="598" name="pista c1f3"/>
          <p:cNvSpPr/>
          <p:nvPr/>
        </p:nvSpPr>
        <p:spPr>
          <a:xfrm>
            <a:off x="6647688" y="252679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599" name="punto c1f3"/>
          <p:cNvSpPr/>
          <p:nvPr/>
        </p:nvSpPr>
        <p:spPr>
          <a:xfrm>
            <a:off x="7223656" y="249478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600" name="hora c1f3"/>
          <p:cNvSpPr txBox="1"/>
          <p:nvPr/>
        </p:nvSpPr>
        <p:spPr>
          <a:xfrm>
            <a:off x="7315096" y="247802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12:59</a:t>
            </a:r>
          </a:p>
        </p:txBody>
      </p:sp>
      <p:sp>
        <p:nvSpPr>
          <p:cNvPr id="601" name="amanecer c1f3"/>
          <p:cNvSpPr txBox="1"/>
          <p:nvPr/>
        </p:nvSpPr>
        <p:spPr>
          <a:xfrm>
            <a:off x="7744968" y="247802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24%</a:t>
            </a:r>
          </a:p>
        </p:txBody>
      </p:sp>
      <p:sp>
        <p:nvSpPr>
          <p:cNvPr id="602" name="dias c1f3"/>
          <p:cNvSpPr txBox="1"/>
          <p:nvPr/>
        </p:nvSpPr>
        <p:spPr>
          <a:xfrm>
            <a:off x="8247888" y="247802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11</a:t>
            </a:r>
          </a:p>
        </p:txBody>
      </p:sp>
      <p:sp>
        <p:nvSpPr>
          <p:cNvPr id="603" name="banda c1f4"/>
          <p:cNvSpPr/>
          <p:nvPr/>
        </p:nvSpPr>
        <p:spPr>
          <a:xfrm>
            <a:off x="4636008" y="2584704"/>
            <a:ext cx="4114800" cy="106680"/>
          </a:xfrm>
          <a:prstGeom prst="rect">
            <a:avLst/>
          </a:prstGeom>
          <a:solidFill>
            <a:srgbClr val="FFFFFF"/>
          </a:solidFill>
          <a:ln>
            <a:noFill/>
          </a:ln>
        </p:spPr>
        <p:txBody>
          <a:bodyPr rtlCol="0" anchor="ctr"/>
          <a:lstStyle/>
          <a:p>
            <a:pPr algn="ctr"/>
            <a:endParaRPr lang="es-CO" noProof="0" dirty="0"/>
          </a:p>
        </p:txBody>
      </p:sp>
      <p:sp>
        <p:nvSpPr>
          <p:cNvPr id="604" name="nombre c1f4"/>
          <p:cNvSpPr txBox="1"/>
          <p:nvPr/>
        </p:nvSpPr>
        <p:spPr>
          <a:xfrm>
            <a:off x="4663440" y="258470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10p</a:t>
            </a:r>
          </a:p>
        </p:txBody>
      </p:sp>
      <p:sp>
        <p:nvSpPr>
          <p:cNvPr id="605" name="barra c1f4"/>
          <p:cNvSpPr/>
          <p:nvPr/>
        </p:nvSpPr>
        <p:spPr>
          <a:xfrm>
            <a:off x="5413248" y="2606040"/>
            <a:ext cx="477774"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606" name="cuenta c1f4"/>
          <p:cNvSpPr txBox="1"/>
          <p:nvPr/>
        </p:nvSpPr>
        <p:spPr>
          <a:xfrm>
            <a:off x="5918454" y="258470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11</a:t>
            </a:r>
          </a:p>
        </p:txBody>
      </p:sp>
      <p:sp>
        <p:nvSpPr>
          <p:cNvPr id="607" name="pista c1f4"/>
          <p:cNvSpPr/>
          <p:nvPr/>
        </p:nvSpPr>
        <p:spPr>
          <a:xfrm>
            <a:off x="6647688" y="263347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608" name="punto c1f4"/>
          <p:cNvSpPr/>
          <p:nvPr/>
        </p:nvSpPr>
        <p:spPr>
          <a:xfrm>
            <a:off x="7366811" y="260146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609" name="hora c1f4"/>
          <p:cNvSpPr txBox="1"/>
          <p:nvPr/>
        </p:nvSpPr>
        <p:spPr>
          <a:xfrm>
            <a:off x="7458251" y="258470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13:40</a:t>
            </a:r>
          </a:p>
        </p:txBody>
      </p:sp>
      <p:sp>
        <p:nvSpPr>
          <p:cNvPr id="610" name="amanecer c1f4"/>
          <p:cNvSpPr txBox="1"/>
          <p:nvPr/>
        </p:nvSpPr>
        <p:spPr>
          <a:xfrm>
            <a:off x="7744968" y="258470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25%</a:t>
            </a:r>
          </a:p>
        </p:txBody>
      </p:sp>
      <p:sp>
        <p:nvSpPr>
          <p:cNvPr id="611" name="dias c1f4"/>
          <p:cNvSpPr txBox="1"/>
          <p:nvPr/>
        </p:nvSpPr>
        <p:spPr>
          <a:xfrm>
            <a:off x="8247888" y="258470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13</a:t>
            </a:r>
          </a:p>
        </p:txBody>
      </p:sp>
      <p:sp>
        <p:nvSpPr>
          <p:cNvPr id="612" name="nombre c1f5"/>
          <p:cNvSpPr txBox="1"/>
          <p:nvPr/>
        </p:nvSpPr>
        <p:spPr>
          <a:xfrm>
            <a:off x="4663440" y="269138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382p</a:t>
            </a:r>
          </a:p>
        </p:txBody>
      </p:sp>
      <p:sp>
        <p:nvSpPr>
          <p:cNvPr id="613" name="barra c1f5"/>
          <p:cNvSpPr/>
          <p:nvPr/>
        </p:nvSpPr>
        <p:spPr>
          <a:xfrm>
            <a:off x="5413248" y="2712720"/>
            <a:ext cx="434340" cy="6400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614" name="cuenta c1f5"/>
          <p:cNvSpPr txBox="1"/>
          <p:nvPr/>
        </p:nvSpPr>
        <p:spPr>
          <a:xfrm>
            <a:off x="5875020" y="269138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1F6F78"/>
                </a:solidFill>
                <a:latin typeface="Calibri"/>
              </a:rPr>
              <a:t>10</a:t>
            </a:r>
          </a:p>
        </p:txBody>
      </p:sp>
      <p:sp>
        <p:nvSpPr>
          <p:cNvPr id="615" name="pista c1f5"/>
          <p:cNvSpPr/>
          <p:nvPr/>
        </p:nvSpPr>
        <p:spPr>
          <a:xfrm>
            <a:off x="6647688" y="274015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616" name="punto c1f5"/>
          <p:cNvSpPr/>
          <p:nvPr/>
        </p:nvSpPr>
        <p:spPr>
          <a:xfrm>
            <a:off x="7485507" y="270814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617" name="hora c1f5"/>
          <p:cNvSpPr txBox="1"/>
          <p:nvPr/>
        </p:nvSpPr>
        <p:spPr>
          <a:xfrm>
            <a:off x="7576947" y="269138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14:15</a:t>
            </a:r>
          </a:p>
        </p:txBody>
      </p:sp>
      <p:sp>
        <p:nvSpPr>
          <p:cNvPr id="618" name="amanecer c1f5"/>
          <p:cNvSpPr txBox="1"/>
          <p:nvPr/>
        </p:nvSpPr>
        <p:spPr>
          <a:xfrm>
            <a:off x="7744968" y="269138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E63946"/>
                </a:solidFill>
                <a:latin typeface="Calibri"/>
              </a:rPr>
              <a:t>19%</a:t>
            </a:r>
          </a:p>
        </p:txBody>
      </p:sp>
      <p:sp>
        <p:nvSpPr>
          <p:cNvPr id="619" name="dias c1f5"/>
          <p:cNvSpPr txBox="1"/>
          <p:nvPr/>
        </p:nvSpPr>
        <p:spPr>
          <a:xfrm>
            <a:off x="8247888" y="269138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7</a:t>
            </a:r>
          </a:p>
        </p:txBody>
      </p:sp>
      <p:sp>
        <p:nvSpPr>
          <p:cNvPr id="620" name="banda c1f6"/>
          <p:cNvSpPr/>
          <p:nvPr/>
        </p:nvSpPr>
        <p:spPr>
          <a:xfrm>
            <a:off x="4636008" y="2798064"/>
            <a:ext cx="4114800" cy="106680"/>
          </a:xfrm>
          <a:prstGeom prst="rect">
            <a:avLst/>
          </a:prstGeom>
          <a:solidFill>
            <a:srgbClr val="FFFFFF"/>
          </a:solidFill>
          <a:ln>
            <a:noFill/>
          </a:ln>
        </p:spPr>
        <p:txBody>
          <a:bodyPr rtlCol="0" anchor="ctr"/>
          <a:lstStyle/>
          <a:p>
            <a:pPr algn="ctr"/>
            <a:endParaRPr lang="es-CO" noProof="0" dirty="0"/>
          </a:p>
        </p:txBody>
      </p:sp>
      <p:sp>
        <p:nvSpPr>
          <p:cNvPr id="621" name="nombre c1f6"/>
          <p:cNvSpPr txBox="1"/>
          <p:nvPr/>
        </p:nvSpPr>
        <p:spPr>
          <a:xfrm>
            <a:off x="4663440" y="279806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18</a:t>
            </a:r>
          </a:p>
        </p:txBody>
      </p:sp>
      <p:sp>
        <p:nvSpPr>
          <p:cNvPr id="622" name="barra c1f6"/>
          <p:cNvSpPr/>
          <p:nvPr/>
        </p:nvSpPr>
        <p:spPr>
          <a:xfrm>
            <a:off x="5413248" y="2819400"/>
            <a:ext cx="434340"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623" name="cuenta c1f6"/>
          <p:cNvSpPr txBox="1"/>
          <p:nvPr/>
        </p:nvSpPr>
        <p:spPr>
          <a:xfrm>
            <a:off x="5875020" y="279806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10</a:t>
            </a:r>
          </a:p>
        </p:txBody>
      </p:sp>
      <p:sp>
        <p:nvSpPr>
          <p:cNvPr id="624" name="pista c1f6"/>
          <p:cNvSpPr/>
          <p:nvPr/>
        </p:nvSpPr>
        <p:spPr>
          <a:xfrm>
            <a:off x="6647688" y="284683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625" name="punto c1f6"/>
          <p:cNvSpPr/>
          <p:nvPr/>
        </p:nvSpPr>
        <p:spPr>
          <a:xfrm>
            <a:off x="7163181" y="281482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626" name="hora c1f6"/>
          <p:cNvSpPr txBox="1"/>
          <p:nvPr/>
        </p:nvSpPr>
        <p:spPr>
          <a:xfrm>
            <a:off x="7254621" y="279806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12:41</a:t>
            </a:r>
          </a:p>
        </p:txBody>
      </p:sp>
      <p:sp>
        <p:nvSpPr>
          <p:cNvPr id="627" name="amanecer c1f6"/>
          <p:cNvSpPr txBox="1"/>
          <p:nvPr/>
        </p:nvSpPr>
        <p:spPr>
          <a:xfrm>
            <a:off x="7744968" y="279806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30%</a:t>
            </a:r>
          </a:p>
        </p:txBody>
      </p:sp>
      <p:sp>
        <p:nvSpPr>
          <p:cNvPr id="628" name="dias c1f6"/>
          <p:cNvSpPr txBox="1"/>
          <p:nvPr/>
        </p:nvSpPr>
        <p:spPr>
          <a:xfrm>
            <a:off x="8247888" y="279806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15</a:t>
            </a:r>
          </a:p>
        </p:txBody>
      </p:sp>
      <p:sp>
        <p:nvSpPr>
          <p:cNvPr id="629" name="nombre c1f7"/>
          <p:cNvSpPr txBox="1"/>
          <p:nvPr/>
        </p:nvSpPr>
        <p:spPr>
          <a:xfrm>
            <a:off x="4663440" y="290474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30</a:t>
            </a:r>
          </a:p>
        </p:txBody>
      </p:sp>
      <p:sp>
        <p:nvSpPr>
          <p:cNvPr id="630" name="barra c1f7"/>
          <p:cNvSpPr/>
          <p:nvPr/>
        </p:nvSpPr>
        <p:spPr>
          <a:xfrm>
            <a:off x="5413248" y="2926080"/>
            <a:ext cx="390906"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631" name="cuenta c1f7"/>
          <p:cNvSpPr txBox="1"/>
          <p:nvPr/>
        </p:nvSpPr>
        <p:spPr>
          <a:xfrm>
            <a:off x="5831586" y="290474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9</a:t>
            </a:r>
          </a:p>
        </p:txBody>
      </p:sp>
      <p:sp>
        <p:nvSpPr>
          <p:cNvPr id="632" name="pista c1f7"/>
          <p:cNvSpPr/>
          <p:nvPr/>
        </p:nvSpPr>
        <p:spPr>
          <a:xfrm>
            <a:off x="6647688" y="295351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633" name="punto c1f7"/>
          <p:cNvSpPr/>
          <p:nvPr/>
        </p:nvSpPr>
        <p:spPr>
          <a:xfrm>
            <a:off x="7262622" y="292150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634" name="hora c1f7"/>
          <p:cNvSpPr txBox="1"/>
          <p:nvPr/>
        </p:nvSpPr>
        <p:spPr>
          <a:xfrm>
            <a:off x="7354062" y="290474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13:10</a:t>
            </a:r>
          </a:p>
        </p:txBody>
      </p:sp>
      <p:sp>
        <p:nvSpPr>
          <p:cNvPr id="635" name="amanecer c1f7"/>
          <p:cNvSpPr txBox="1"/>
          <p:nvPr/>
        </p:nvSpPr>
        <p:spPr>
          <a:xfrm>
            <a:off x="7744968" y="290474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29%</a:t>
            </a:r>
          </a:p>
        </p:txBody>
      </p:sp>
      <p:sp>
        <p:nvSpPr>
          <p:cNvPr id="636" name="dias c1f7"/>
          <p:cNvSpPr txBox="1"/>
          <p:nvPr/>
        </p:nvSpPr>
        <p:spPr>
          <a:xfrm>
            <a:off x="8247888" y="290474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12</a:t>
            </a:r>
          </a:p>
        </p:txBody>
      </p:sp>
      <p:sp>
        <p:nvSpPr>
          <p:cNvPr id="637" name="banda c1f8"/>
          <p:cNvSpPr/>
          <p:nvPr/>
        </p:nvSpPr>
        <p:spPr>
          <a:xfrm>
            <a:off x="4636008" y="3011424"/>
            <a:ext cx="4114800" cy="106680"/>
          </a:xfrm>
          <a:prstGeom prst="rect">
            <a:avLst/>
          </a:prstGeom>
          <a:solidFill>
            <a:srgbClr val="FFFFFF"/>
          </a:solidFill>
          <a:ln>
            <a:noFill/>
          </a:ln>
        </p:spPr>
        <p:txBody>
          <a:bodyPr rtlCol="0" anchor="ctr"/>
          <a:lstStyle/>
          <a:p>
            <a:pPr algn="ctr"/>
            <a:endParaRPr lang="es-CO" noProof="0" dirty="0"/>
          </a:p>
        </p:txBody>
      </p:sp>
      <p:sp>
        <p:nvSpPr>
          <p:cNvPr id="638" name="nombre c1f8"/>
          <p:cNvSpPr txBox="1"/>
          <p:nvPr/>
        </p:nvSpPr>
        <p:spPr>
          <a:xfrm>
            <a:off x="4663440" y="301142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447p</a:t>
            </a:r>
          </a:p>
        </p:txBody>
      </p:sp>
      <p:sp>
        <p:nvSpPr>
          <p:cNvPr id="639" name="barra c1f8"/>
          <p:cNvSpPr/>
          <p:nvPr/>
        </p:nvSpPr>
        <p:spPr>
          <a:xfrm>
            <a:off x="5413248" y="3032760"/>
            <a:ext cx="390906"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640" name="cuenta c1f8"/>
          <p:cNvSpPr txBox="1"/>
          <p:nvPr/>
        </p:nvSpPr>
        <p:spPr>
          <a:xfrm>
            <a:off x="5831586" y="301142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9</a:t>
            </a:r>
          </a:p>
        </p:txBody>
      </p:sp>
      <p:sp>
        <p:nvSpPr>
          <p:cNvPr id="641" name="pista c1f8"/>
          <p:cNvSpPr/>
          <p:nvPr/>
        </p:nvSpPr>
        <p:spPr>
          <a:xfrm>
            <a:off x="6647688" y="306019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642" name="punto c1f8"/>
          <p:cNvSpPr/>
          <p:nvPr/>
        </p:nvSpPr>
        <p:spPr>
          <a:xfrm>
            <a:off x="6984383" y="302818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643" name="hora c1f8"/>
          <p:cNvSpPr txBox="1"/>
          <p:nvPr/>
        </p:nvSpPr>
        <p:spPr>
          <a:xfrm>
            <a:off x="7075823" y="301142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11:49</a:t>
            </a:r>
          </a:p>
        </p:txBody>
      </p:sp>
      <p:sp>
        <p:nvSpPr>
          <p:cNvPr id="644" name="amanecer c1f8"/>
          <p:cNvSpPr txBox="1"/>
          <p:nvPr/>
        </p:nvSpPr>
        <p:spPr>
          <a:xfrm>
            <a:off x="7744968" y="301142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39%</a:t>
            </a:r>
          </a:p>
        </p:txBody>
      </p:sp>
      <p:sp>
        <p:nvSpPr>
          <p:cNvPr id="645" name="dias c1f8"/>
          <p:cNvSpPr txBox="1"/>
          <p:nvPr/>
        </p:nvSpPr>
        <p:spPr>
          <a:xfrm>
            <a:off x="8247888" y="301142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14</a:t>
            </a:r>
          </a:p>
        </p:txBody>
      </p:sp>
      <p:sp>
        <p:nvSpPr>
          <p:cNvPr id="646" name="nombre c1f9"/>
          <p:cNvSpPr txBox="1"/>
          <p:nvPr/>
        </p:nvSpPr>
        <p:spPr>
          <a:xfrm>
            <a:off x="4663440" y="311810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2</a:t>
            </a:r>
          </a:p>
        </p:txBody>
      </p:sp>
      <p:sp>
        <p:nvSpPr>
          <p:cNvPr id="647" name="barra c1f9"/>
          <p:cNvSpPr/>
          <p:nvPr/>
        </p:nvSpPr>
        <p:spPr>
          <a:xfrm>
            <a:off x="5413248" y="3139440"/>
            <a:ext cx="347472"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648" name="cuenta c1f9"/>
          <p:cNvSpPr txBox="1"/>
          <p:nvPr/>
        </p:nvSpPr>
        <p:spPr>
          <a:xfrm>
            <a:off x="5788152" y="311810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8</a:t>
            </a:r>
          </a:p>
        </p:txBody>
      </p:sp>
      <p:sp>
        <p:nvSpPr>
          <p:cNvPr id="649" name="pista c1f9"/>
          <p:cNvSpPr/>
          <p:nvPr/>
        </p:nvSpPr>
        <p:spPr>
          <a:xfrm>
            <a:off x="6647688" y="316687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650" name="punto c1f9"/>
          <p:cNvSpPr/>
          <p:nvPr/>
        </p:nvSpPr>
        <p:spPr>
          <a:xfrm>
            <a:off x="7070353" y="313486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651" name="hora c1f9"/>
          <p:cNvSpPr txBox="1"/>
          <p:nvPr/>
        </p:nvSpPr>
        <p:spPr>
          <a:xfrm>
            <a:off x="7161793" y="311810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12:14</a:t>
            </a:r>
          </a:p>
        </p:txBody>
      </p:sp>
      <p:sp>
        <p:nvSpPr>
          <p:cNvPr id="652" name="amanecer c1f9"/>
          <p:cNvSpPr txBox="1"/>
          <p:nvPr/>
        </p:nvSpPr>
        <p:spPr>
          <a:xfrm>
            <a:off x="7744968" y="311810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26%</a:t>
            </a:r>
          </a:p>
        </p:txBody>
      </p:sp>
      <p:sp>
        <p:nvSpPr>
          <p:cNvPr id="653" name="dias c1f9"/>
          <p:cNvSpPr txBox="1"/>
          <p:nvPr/>
        </p:nvSpPr>
        <p:spPr>
          <a:xfrm>
            <a:off x="8247888" y="311810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14</a:t>
            </a:r>
          </a:p>
        </p:txBody>
      </p:sp>
      <p:sp>
        <p:nvSpPr>
          <p:cNvPr id="654" name="banda c1f10"/>
          <p:cNvSpPr/>
          <p:nvPr/>
        </p:nvSpPr>
        <p:spPr>
          <a:xfrm>
            <a:off x="4636008" y="3224784"/>
            <a:ext cx="4114800" cy="106680"/>
          </a:xfrm>
          <a:prstGeom prst="rect">
            <a:avLst/>
          </a:prstGeom>
          <a:solidFill>
            <a:srgbClr val="FFFFFF"/>
          </a:solidFill>
          <a:ln>
            <a:noFill/>
          </a:ln>
        </p:spPr>
        <p:txBody>
          <a:bodyPr rtlCol="0" anchor="ctr"/>
          <a:lstStyle/>
          <a:p>
            <a:pPr algn="ctr"/>
            <a:endParaRPr lang="es-CO" noProof="0" dirty="0"/>
          </a:p>
        </p:txBody>
      </p:sp>
      <p:sp>
        <p:nvSpPr>
          <p:cNvPr id="655" name="nombre c1f10"/>
          <p:cNvSpPr txBox="1"/>
          <p:nvPr/>
        </p:nvSpPr>
        <p:spPr>
          <a:xfrm>
            <a:off x="4663440" y="322478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35</a:t>
            </a:r>
          </a:p>
        </p:txBody>
      </p:sp>
      <p:sp>
        <p:nvSpPr>
          <p:cNvPr id="656" name="barra c1f10"/>
          <p:cNvSpPr/>
          <p:nvPr/>
        </p:nvSpPr>
        <p:spPr>
          <a:xfrm>
            <a:off x="5413248" y="3246120"/>
            <a:ext cx="347472"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657" name="cuenta c1f10"/>
          <p:cNvSpPr txBox="1"/>
          <p:nvPr/>
        </p:nvSpPr>
        <p:spPr>
          <a:xfrm>
            <a:off x="5788152" y="322478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8</a:t>
            </a:r>
          </a:p>
        </p:txBody>
      </p:sp>
      <p:sp>
        <p:nvSpPr>
          <p:cNvPr id="658" name="pista c1f10"/>
          <p:cNvSpPr/>
          <p:nvPr/>
        </p:nvSpPr>
        <p:spPr>
          <a:xfrm>
            <a:off x="6647688" y="327355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659" name="punto c1f10"/>
          <p:cNvSpPr/>
          <p:nvPr/>
        </p:nvSpPr>
        <p:spPr>
          <a:xfrm>
            <a:off x="7004222" y="324154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660" name="hora c1f10"/>
          <p:cNvSpPr txBox="1"/>
          <p:nvPr/>
        </p:nvSpPr>
        <p:spPr>
          <a:xfrm>
            <a:off x="7095662" y="322478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11:55</a:t>
            </a:r>
          </a:p>
        </p:txBody>
      </p:sp>
      <p:sp>
        <p:nvSpPr>
          <p:cNvPr id="661" name="amanecer c1f10"/>
          <p:cNvSpPr txBox="1"/>
          <p:nvPr/>
        </p:nvSpPr>
        <p:spPr>
          <a:xfrm>
            <a:off x="7744968" y="322478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47%</a:t>
            </a:r>
          </a:p>
        </p:txBody>
      </p:sp>
      <p:sp>
        <p:nvSpPr>
          <p:cNvPr id="662" name="dias c1f10"/>
          <p:cNvSpPr txBox="1"/>
          <p:nvPr/>
        </p:nvSpPr>
        <p:spPr>
          <a:xfrm>
            <a:off x="8247888" y="322478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14</a:t>
            </a:r>
          </a:p>
        </p:txBody>
      </p:sp>
      <p:sp>
        <p:nvSpPr>
          <p:cNvPr id="663" name="nombre c1f11"/>
          <p:cNvSpPr txBox="1"/>
          <p:nvPr/>
        </p:nvSpPr>
        <p:spPr>
          <a:xfrm>
            <a:off x="4663440" y="333146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18PR</a:t>
            </a:r>
          </a:p>
        </p:txBody>
      </p:sp>
      <p:sp>
        <p:nvSpPr>
          <p:cNvPr id="664" name="barra c1f11"/>
          <p:cNvSpPr/>
          <p:nvPr/>
        </p:nvSpPr>
        <p:spPr>
          <a:xfrm>
            <a:off x="5413248" y="3352800"/>
            <a:ext cx="260604" cy="64008"/>
          </a:xfrm>
          <a:prstGeom prst="rect">
            <a:avLst/>
          </a:prstGeom>
          <a:solidFill>
            <a:srgbClr val="A9C1E8"/>
          </a:solidFill>
          <a:ln w="12700">
            <a:solidFill>
              <a:srgbClr val="A9C1E8"/>
            </a:solidFill>
          </a:ln>
        </p:spPr>
        <p:txBody>
          <a:bodyPr rtlCol="0" anchor="ctr"/>
          <a:lstStyle/>
          <a:p>
            <a:pPr algn="ctr"/>
            <a:endParaRPr lang="es-CO" noProof="0" dirty="0"/>
          </a:p>
        </p:txBody>
      </p:sp>
      <p:sp>
        <p:nvSpPr>
          <p:cNvPr id="665" name="cuenta c1f11"/>
          <p:cNvSpPr txBox="1"/>
          <p:nvPr/>
        </p:nvSpPr>
        <p:spPr>
          <a:xfrm>
            <a:off x="5701284" y="333146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55636E"/>
                </a:solidFill>
                <a:latin typeface="Calibri"/>
              </a:rPr>
              <a:t>6</a:t>
            </a:r>
          </a:p>
        </p:txBody>
      </p:sp>
      <p:sp>
        <p:nvSpPr>
          <p:cNvPr id="666" name="pista c1f11"/>
          <p:cNvSpPr/>
          <p:nvPr/>
        </p:nvSpPr>
        <p:spPr>
          <a:xfrm>
            <a:off x="6647688" y="338023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667" name="punto c1f11"/>
          <p:cNvSpPr/>
          <p:nvPr/>
        </p:nvSpPr>
        <p:spPr>
          <a:xfrm>
            <a:off x="6957441" y="334822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668" name="hora c1f11"/>
          <p:cNvSpPr txBox="1"/>
          <p:nvPr/>
        </p:nvSpPr>
        <p:spPr>
          <a:xfrm>
            <a:off x="7048881" y="333146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11:41</a:t>
            </a:r>
          </a:p>
        </p:txBody>
      </p:sp>
      <p:sp>
        <p:nvSpPr>
          <p:cNvPr id="669" name="amanecer c1f11"/>
          <p:cNvSpPr txBox="1"/>
          <p:nvPr/>
        </p:nvSpPr>
        <p:spPr>
          <a:xfrm>
            <a:off x="7744968" y="333146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36%</a:t>
            </a:r>
          </a:p>
        </p:txBody>
      </p:sp>
      <p:sp>
        <p:nvSpPr>
          <p:cNvPr id="670" name="dias c1f11"/>
          <p:cNvSpPr txBox="1"/>
          <p:nvPr/>
        </p:nvSpPr>
        <p:spPr>
          <a:xfrm>
            <a:off x="8247888" y="333146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15</a:t>
            </a:r>
          </a:p>
        </p:txBody>
      </p:sp>
      <p:sp>
        <p:nvSpPr>
          <p:cNvPr id="671" name="banda c1f12"/>
          <p:cNvSpPr/>
          <p:nvPr/>
        </p:nvSpPr>
        <p:spPr>
          <a:xfrm>
            <a:off x="4636008" y="3438144"/>
            <a:ext cx="4114800" cy="106680"/>
          </a:xfrm>
          <a:prstGeom prst="rect">
            <a:avLst/>
          </a:prstGeom>
          <a:solidFill>
            <a:srgbClr val="FFFFFF"/>
          </a:solidFill>
          <a:ln>
            <a:noFill/>
          </a:ln>
        </p:spPr>
        <p:txBody>
          <a:bodyPr rtlCol="0" anchor="ctr"/>
          <a:lstStyle/>
          <a:p>
            <a:pPr algn="ctr"/>
            <a:endParaRPr lang="es-CO" noProof="0" dirty="0"/>
          </a:p>
        </p:txBody>
      </p:sp>
      <p:sp>
        <p:nvSpPr>
          <p:cNvPr id="672" name="nombre c1f12"/>
          <p:cNvSpPr txBox="1"/>
          <p:nvPr/>
        </p:nvSpPr>
        <p:spPr>
          <a:xfrm>
            <a:off x="4663440" y="343814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74</a:t>
            </a:r>
          </a:p>
        </p:txBody>
      </p:sp>
      <p:sp>
        <p:nvSpPr>
          <p:cNvPr id="673" name="barra c1f12"/>
          <p:cNvSpPr/>
          <p:nvPr/>
        </p:nvSpPr>
        <p:spPr>
          <a:xfrm>
            <a:off x="5413248" y="3459480"/>
            <a:ext cx="260604" cy="64008"/>
          </a:xfrm>
          <a:prstGeom prst="rect">
            <a:avLst/>
          </a:prstGeom>
          <a:solidFill>
            <a:srgbClr val="A9C1E8"/>
          </a:solidFill>
          <a:ln w="12700">
            <a:solidFill>
              <a:srgbClr val="A9C1E8"/>
            </a:solidFill>
          </a:ln>
        </p:spPr>
        <p:txBody>
          <a:bodyPr rtlCol="0" anchor="ctr"/>
          <a:lstStyle/>
          <a:p>
            <a:pPr algn="ctr"/>
            <a:endParaRPr lang="es-CO" noProof="0" dirty="0"/>
          </a:p>
        </p:txBody>
      </p:sp>
      <p:sp>
        <p:nvSpPr>
          <p:cNvPr id="674" name="cuenta c1f12"/>
          <p:cNvSpPr txBox="1"/>
          <p:nvPr/>
        </p:nvSpPr>
        <p:spPr>
          <a:xfrm>
            <a:off x="5701284" y="343814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55636E"/>
                </a:solidFill>
                <a:latin typeface="Calibri"/>
              </a:rPr>
              <a:t>6</a:t>
            </a:r>
          </a:p>
        </p:txBody>
      </p:sp>
      <p:sp>
        <p:nvSpPr>
          <p:cNvPr id="675" name="pista c1f12"/>
          <p:cNvSpPr/>
          <p:nvPr/>
        </p:nvSpPr>
        <p:spPr>
          <a:xfrm>
            <a:off x="6647688" y="348691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676" name="punto c1f12"/>
          <p:cNvSpPr/>
          <p:nvPr/>
        </p:nvSpPr>
        <p:spPr>
          <a:xfrm>
            <a:off x="6931152" y="345490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677" name="hora c1f12"/>
          <p:cNvSpPr txBox="1"/>
          <p:nvPr/>
        </p:nvSpPr>
        <p:spPr>
          <a:xfrm>
            <a:off x="7022592" y="343814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11:33</a:t>
            </a:r>
          </a:p>
        </p:txBody>
      </p:sp>
      <p:sp>
        <p:nvSpPr>
          <p:cNvPr id="678" name="amanecer c1f12"/>
          <p:cNvSpPr txBox="1"/>
          <p:nvPr/>
        </p:nvSpPr>
        <p:spPr>
          <a:xfrm>
            <a:off x="7744968" y="343814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47%</a:t>
            </a:r>
          </a:p>
        </p:txBody>
      </p:sp>
      <p:sp>
        <p:nvSpPr>
          <p:cNvPr id="679" name="dias c1f12"/>
          <p:cNvSpPr txBox="1"/>
          <p:nvPr/>
        </p:nvSpPr>
        <p:spPr>
          <a:xfrm>
            <a:off x="8247888" y="343814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18</a:t>
            </a:r>
          </a:p>
        </p:txBody>
      </p:sp>
      <p:sp>
        <p:nvSpPr>
          <p:cNvPr id="680" name="nombre c1f13"/>
          <p:cNvSpPr txBox="1"/>
          <p:nvPr/>
        </p:nvSpPr>
        <p:spPr>
          <a:xfrm>
            <a:off x="4663440" y="354482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12</a:t>
            </a:r>
          </a:p>
        </p:txBody>
      </p:sp>
      <p:sp>
        <p:nvSpPr>
          <p:cNvPr id="681" name="barra c1f13"/>
          <p:cNvSpPr/>
          <p:nvPr/>
        </p:nvSpPr>
        <p:spPr>
          <a:xfrm>
            <a:off x="5413248" y="3566160"/>
            <a:ext cx="217170" cy="64008"/>
          </a:xfrm>
          <a:prstGeom prst="rect">
            <a:avLst/>
          </a:prstGeom>
          <a:solidFill>
            <a:srgbClr val="A9C1E8"/>
          </a:solidFill>
          <a:ln w="12700">
            <a:solidFill>
              <a:srgbClr val="A9C1E8"/>
            </a:solidFill>
          </a:ln>
        </p:spPr>
        <p:txBody>
          <a:bodyPr rtlCol="0" anchor="ctr"/>
          <a:lstStyle/>
          <a:p>
            <a:pPr algn="ctr"/>
            <a:endParaRPr lang="es-CO" noProof="0" dirty="0"/>
          </a:p>
        </p:txBody>
      </p:sp>
      <p:sp>
        <p:nvSpPr>
          <p:cNvPr id="682" name="cuenta c1f13"/>
          <p:cNvSpPr txBox="1"/>
          <p:nvPr/>
        </p:nvSpPr>
        <p:spPr>
          <a:xfrm>
            <a:off x="5657850" y="354482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55636E"/>
                </a:solidFill>
                <a:latin typeface="Calibri"/>
              </a:rPr>
              <a:t>5</a:t>
            </a:r>
          </a:p>
        </p:txBody>
      </p:sp>
      <p:sp>
        <p:nvSpPr>
          <p:cNvPr id="683" name="pista c1f13"/>
          <p:cNvSpPr/>
          <p:nvPr/>
        </p:nvSpPr>
        <p:spPr>
          <a:xfrm>
            <a:off x="6647688" y="359359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684" name="punto c1f13"/>
          <p:cNvSpPr/>
          <p:nvPr/>
        </p:nvSpPr>
        <p:spPr>
          <a:xfrm>
            <a:off x="7080078" y="356158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685" name="hora c1f13"/>
          <p:cNvSpPr txBox="1"/>
          <p:nvPr/>
        </p:nvSpPr>
        <p:spPr>
          <a:xfrm>
            <a:off x="7171518" y="354482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12:17</a:t>
            </a:r>
          </a:p>
        </p:txBody>
      </p:sp>
      <p:sp>
        <p:nvSpPr>
          <p:cNvPr id="686" name="amanecer c1f13"/>
          <p:cNvSpPr txBox="1"/>
          <p:nvPr/>
        </p:nvSpPr>
        <p:spPr>
          <a:xfrm>
            <a:off x="7744968" y="354482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34%</a:t>
            </a:r>
          </a:p>
        </p:txBody>
      </p:sp>
      <p:sp>
        <p:nvSpPr>
          <p:cNvPr id="687" name="dias c1f13"/>
          <p:cNvSpPr txBox="1"/>
          <p:nvPr/>
        </p:nvSpPr>
        <p:spPr>
          <a:xfrm>
            <a:off x="8247888" y="354482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17</a:t>
            </a:r>
          </a:p>
        </p:txBody>
      </p:sp>
      <p:sp>
        <p:nvSpPr>
          <p:cNvPr id="688" name="banda c1f14"/>
          <p:cNvSpPr/>
          <p:nvPr/>
        </p:nvSpPr>
        <p:spPr>
          <a:xfrm>
            <a:off x="4636008" y="3651504"/>
            <a:ext cx="4114800" cy="106680"/>
          </a:xfrm>
          <a:prstGeom prst="rect">
            <a:avLst/>
          </a:prstGeom>
          <a:solidFill>
            <a:srgbClr val="FFFFFF"/>
          </a:solidFill>
          <a:ln>
            <a:noFill/>
          </a:ln>
        </p:spPr>
        <p:txBody>
          <a:bodyPr rtlCol="0" anchor="ctr"/>
          <a:lstStyle/>
          <a:p>
            <a:pPr algn="ctr"/>
            <a:endParaRPr lang="es-CO" noProof="0" dirty="0"/>
          </a:p>
        </p:txBody>
      </p:sp>
      <p:sp>
        <p:nvSpPr>
          <p:cNvPr id="689" name="nombre c1f14"/>
          <p:cNvSpPr txBox="1"/>
          <p:nvPr/>
        </p:nvSpPr>
        <p:spPr>
          <a:xfrm>
            <a:off x="4663440" y="365150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76</a:t>
            </a:r>
          </a:p>
        </p:txBody>
      </p:sp>
      <p:sp>
        <p:nvSpPr>
          <p:cNvPr id="690" name="barra c1f14"/>
          <p:cNvSpPr/>
          <p:nvPr/>
        </p:nvSpPr>
        <p:spPr>
          <a:xfrm>
            <a:off x="5413248" y="3672840"/>
            <a:ext cx="217170" cy="64008"/>
          </a:xfrm>
          <a:prstGeom prst="rect">
            <a:avLst/>
          </a:prstGeom>
          <a:solidFill>
            <a:srgbClr val="A9C1E8"/>
          </a:solidFill>
          <a:ln w="12700">
            <a:solidFill>
              <a:srgbClr val="A9C1E8"/>
            </a:solidFill>
          </a:ln>
        </p:spPr>
        <p:txBody>
          <a:bodyPr rtlCol="0" anchor="ctr"/>
          <a:lstStyle/>
          <a:p>
            <a:pPr algn="ctr"/>
            <a:endParaRPr lang="es-CO" noProof="0" dirty="0"/>
          </a:p>
        </p:txBody>
      </p:sp>
      <p:sp>
        <p:nvSpPr>
          <p:cNvPr id="691" name="cuenta c1f14"/>
          <p:cNvSpPr txBox="1"/>
          <p:nvPr/>
        </p:nvSpPr>
        <p:spPr>
          <a:xfrm>
            <a:off x="5657850" y="365150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55636E"/>
                </a:solidFill>
                <a:latin typeface="Calibri"/>
              </a:rPr>
              <a:t>5</a:t>
            </a:r>
          </a:p>
        </p:txBody>
      </p:sp>
      <p:sp>
        <p:nvSpPr>
          <p:cNvPr id="692" name="pista c1f14"/>
          <p:cNvSpPr/>
          <p:nvPr/>
        </p:nvSpPr>
        <p:spPr>
          <a:xfrm>
            <a:off x="6647688" y="370027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693" name="punto c1f14"/>
          <p:cNvSpPr/>
          <p:nvPr/>
        </p:nvSpPr>
        <p:spPr>
          <a:xfrm>
            <a:off x="7187184" y="366826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694" name="hora c1f14"/>
          <p:cNvSpPr txBox="1"/>
          <p:nvPr/>
        </p:nvSpPr>
        <p:spPr>
          <a:xfrm>
            <a:off x="7278624" y="365150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12:48</a:t>
            </a:r>
          </a:p>
        </p:txBody>
      </p:sp>
      <p:sp>
        <p:nvSpPr>
          <p:cNvPr id="695" name="amanecer c1f14"/>
          <p:cNvSpPr txBox="1"/>
          <p:nvPr/>
        </p:nvSpPr>
        <p:spPr>
          <a:xfrm>
            <a:off x="7744968" y="365150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34%</a:t>
            </a:r>
          </a:p>
        </p:txBody>
      </p:sp>
      <p:sp>
        <p:nvSpPr>
          <p:cNvPr id="696" name="dias c1f14"/>
          <p:cNvSpPr txBox="1"/>
          <p:nvPr/>
        </p:nvSpPr>
        <p:spPr>
          <a:xfrm>
            <a:off x="8247888" y="365150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15</a:t>
            </a:r>
          </a:p>
        </p:txBody>
      </p:sp>
      <p:sp>
        <p:nvSpPr>
          <p:cNvPr id="697" name="nombre c1f15"/>
          <p:cNvSpPr txBox="1"/>
          <p:nvPr/>
        </p:nvSpPr>
        <p:spPr>
          <a:xfrm>
            <a:off x="4663440" y="375818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99</a:t>
            </a:r>
          </a:p>
        </p:txBody>
      </p:sp>
      <p:sp>
        <p:nvSpPr>
          <p:cNvPr id="698" name="barra c1f15"/>
          <p:cNvSpPr/>
          <p:nvPr/>
        </p:nvSpPr>
        <p:spPr>
          <a:xfrm>
            <a:off x="5413248" y="3779520"/>
            <a:ext cx="173736" cy="64008"/>
          </a:xfrm>
          <a:prstGeom prst="rect">
            <a:avLst/>
          </a:prstGeom>
          <a:solidFill>
            <a:srgbClr val="A9C1E8"/>
          </a:solidFill>
          <a:ln w="12700">
            <a:solidFill>
              <a:srgbClr val="A9C1E8"/>
            </a:solidFill>
          </a:ln>
        </p:spPr>
        <p:txBody>
          <a:bodyPr rtlCol="0" anchor="ctr"/>
          <a:lstStyle/>
          <a:p>
            <a:pPr algn="ctr"/>
            <a:endParaRPr lang="es-CO" noProof="0" dirty="0"/>
          </a:p>
        </p:txBody>
      </p:sp>
      <p:sp>
        <p:nvSpPr>
          <p:cNvPr id="699" name="cuenta c1f15"/>
          <p:cNvSpPr txBox="1"/>
          <p:nvPr/>
        </p:nvSpPr>
        <p:spPr>
          <a:xfrm>
            <a:off x="5614416" y="375818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55636E"/>
                </a:solidFill>
                <a:latin typeface="Calibri"/>
              </a:rPr>
              <a:t>4</a:t>
            </a:r>
          </a:p>
        </p:txBody>
      </p:sp>
      <p:sp>
        <p:nvSpPr>
          <p:cNvPr id="700" name="pista c1f15"/>
          <p:cNvSpPr/>
          <p:nvPr/>
        </p:nvSpPr>
        <p:spPr>
          <a:xfrm>
            <a:off x="6647688" y="380695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701" name="punto c1f15"/>
          <p:cNvSpPr/>
          <p:nvPr/>
        </p:nvSpPr>
        <p:spPr>
          <a:xfrm>
            <a:off x="7067598" y="377494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702" name="hora c1f15"/>
          <p:cNvSpPr txBox="1"/>
          <p:nvPr/>
        </p:nvSpPr>
        <p:spPr>
          <a:xfrm>
            <a:off x="7159038" y="375818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12:13</a:t>
            </a:r>
          </a:p>
        </p:txBody>
      </p:sp>
      <p:sp>
        <p:nvSpPr>
          <p:cNvPr id="703" name="amanecer c1f15"/>
          <p:cNvSpPr txBox="1"/>
          <p:nvPr/>
        </p:nvSpPr>
        <p:spPr>
          <a:xfrm>
            <a:off x="7744968" y="375818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47%</a:t>
            </a:r>
          </a:p>
        </p:txBody>
      </p:sp>
      <p:sp>
        <p:nvSpPr>
          <p:cNvPr id="704" name="dias c1f15"/>
          <p:cNvSpPr txBox="1"/>
          <p:nvPr/>
        </p:nvSpPr>
        <p:spPr>
          <a:xfrm>
            <a:off x="8247888" y="375818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16</a:t>
            </a:r>
          </a:p>
        </p:txBody>
      </p:sp>
      <p:sp>
        <p:nvSpPr>
          <p:cNvPr id="705" name="banda c1f16"/>
          <p:cNvSpPr/>
          <p:nvPr/>
        </p:nvSpPr>
        <p:spPr>
          <a:xfrm>
            <a:off x="4636008" y="3864864"/>
            <a:ext cx="4114800" cy="106680"/>
          </a:xfrm>
          <a:prstGeom prst="rect">
            <a:avLst/>
          </a:prstGeom>
          <a:solidFill>
            <a:srgbClr val="FFFFFF"/>
          </a:solidFill>
          <a:ln>
            <a:noFill/>
          </a:ln>
        </p:spPr>
        <p:txBody>
          <a:bodyPr rtlCol="0" anchor="ctr"/>
          <a:lstStyle/>
          <a:p>
            <a:pPr algn="ctr"/>
            <a:endParaRPr lang="es-CO" noProof="0" dirty="0"/>
          </a:p>
        </p:txBody>
      </p:sp>
      <p:sp>
        <p:nvSpPr>
          <p:cNvPr id="706" name="nombre c1f16"/>
          <p:cNvSpPr txBox="1"/>
          <p:nvPr/>
        </p:nvSpPr>
        <p:spPr>
          <a:xfrm>
            <a:off x="4663440" y="386486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57</a:t>
            </a:r>
          </a:p>
        </p:txBody>
      </p:sp>
      <p:sp>
        <p:nvSpPr>
          <p:cNvPr id="707" name="barra c1f16"/>
          <p:cNvSpPr/>
          <p:nvPr/>
        </p:nvSpPr>
        <p:spPr>
          <a:xfrm>
            <a:off x="5413248" y="3886200"/>
            <a:ext cx="130302" cy="64008"/>
          </a:xfrm>
          <a:prstGeom prst="rect">
            <a:avLst/>
          </a:prstGeom>
          <a:solidFill>
            <a:srgbClr val="A9C1E8"/>
          </a:solidFill>
          <a:ln w="12700">
            <a:solidFill>
              <a:srgbClr val="A9C1E8"/>
            </a:solidFill>
          </a:ln>
        </p:spPr>
        <p:txBody>
          <a:bodyPr rtlCol="0" anchor="ctr"/>
          <a:lstStyle/>
          <a:p>
            <a:pPr algn="ctr"/>
            <a:endParaRPr lang="es-CO" noProof="0" dirty="0"/>
          </a:p>
        </p:txBody>
      </p:sp>
      <p:sp>
        <p:nvSpPr>
          <p:cNvPr id="708" name="cuenta c1f16"/>
          <p:cNvSpPr txBox="1"/>
          <p:nvPr/>
        </p:nvSpPr>
        <p:spPr>
          <a:xfrm>
            <a:off x="5570982" y="386486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55636E"/>
                </a:solidFill>
                <a:latin typeface="Calibri"/>
              </a:rPr>
              <a:t>3</a:t>
            </a:r>
          </a:p>
        </p:txBody>
      </p:sp>
      <p:sp>
        <p:nvSpPr>
          <p:cNvPr id="709" name="pista c1f16"/>
          <p:cNvSpPr/>
          <p:nvPr/>
        </p:nvSpPr>
        <p:spPr>
          <a:xfrm>
            <a:off x="6647688" y="391363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710" name="punto c1f16"/>
          <p:cNvSpPr/>
          <p:nvPr/>
        </p:nvSpPr>
        <p:spPr>
          <a:xfrm>
            <a:off x="6960329" y="388162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711" name="hora c1f16"/>
          <p:cNvSpPr txBox="1"/>
          <p:nvPr/>
        </p:nvSpPr>
        <p:spPr>
          <a:xfrm>
            <a:off x="7051769" y="386486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11:42</a:t>
            </a:r>
          </a:p>
        </p:txBody>
      </p:sp>
      <p:sp>
        <p:nvSpPr>
          <p:cNvPr id="712" name="amanecer c1f16"/>
          <p:cNvSpPr txBox="1"/>
          <p:nvPr/>
        </p:nvSpPr>
        <p:spPr>
          <a:xfrm>
            <a:off x="7744968" y="386486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54%</a:t>
            </a:r>
          </a:p>
        </p:txBody>
      </p:sp>
      <p:sp>
        <p:nvSpPr>
          <p:cNvPr id="713" name="dias c1f16"/>
          <p:cNvSpPr txBox="1"/>
          <p:nvPr/>
        </p:nvSpPr>
        <p:spPr>
          <a:xfrm>
            <a:off x="8247888" y="386486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19</a:t>
            </a:r>
          </a:p>
        </p:txBody>
      </p:sp>
      <p:sp>
        <p:nvSpPr>
          <p:cNvPr id="714" name="nombre c1f17"/>
          <p:cNvSpPr txBox="1"/>
          <p:nvPr/>
        </p:nvSpPr>
        <p:spPr>
          <a:xfrm>
            <a:off x="4663440" y="397154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29</a:t>
            </a:r>
          </a:p>
        </p:txBody>
      </p:sp>
      <p:sp>
        <p:nvSpPr>
          <p:cNvPr id="715" name="barra c1f17"/>
          <p:cNvSpPr/>
          <p:nvPr/>
        </p:nvSpPr>
        <p:spPr>
          <a:xfrm>
            <a:off x="5413248" y="3992880"/>
            <a:ext cx="86868" cy="64008"/>
          </a:xfrm>
          <a:prstGeom prst="rect">
            <a:avLst/>
          </a:prstGeom>
          <a:solidFill>
            <a:srgbClr val="A9C1E8"/>
          </a:solidFill>
          <a:ln w="12700">
            <a:solidFill>
              <a:srgbClr val="A9C1E8"/>
            </a:solidFill>
          </a:ln>
        </p:spPr>
        <p:txBody>
          <a:bodyPr rtlCol="0" anchor="ctr"/>
          <a:lstStyle/>
          <a:p>
            <a:pPr algn="ctr"/>
            <a:endParaRPr lang="es-CO" noProof="0" dirty="0"/>
          </a:p>
        </p:txBody>
      </p:sp>
      <p:sp>
        <p:nvSpPr>
          <p:cNvPr id="716" name="cuenta c1f17"/>
          <p:cNvSpPr txBox="1"/>
          <p:nvPr/>
        </p:nvSpPr>
        <p:spPr>
          <a:xfrm>
            <a:off x="5527548" y="397154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55636E"/>
                </a:solidFill>
                <a:latin typeface="Calibri"/>
              </a:rPr>
              <a:t>2</a:t>
            </a:r>
          </a:p>
        </p:txBody>
      </p:sp>
      <p:sp>
        <p:nvSpPr>
          <p:cNvPr id="717" name="pista c1f17"/>
          <p:cNvSpPr/>
          <p:nvPr/>
        </p:nvSpPr>
        <p:spPr>
          <a:xfrm>
            <a:off x="6647688" y="402031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718" name="punto c1f17"/>
          <p:cNvSpPr/>
          <p:nvPr/>
        </p:nvSpPr>
        <p:spPr>
          <a:xfrm>
            <a:off x="7205472" y="398830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719" name="hora c1f17"/>
          <p:cNvSpPr txBox="1"/>
          <p:nvPr/>
        </p:nvSpPr>
        <p:spPr>
          <a:xfrm>
            <a:off x="7296912" y="397154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12:53</a:t>
            </a:r>
          </a:p>
        </p:txBody>
      </p:sp>
      <p:sp>
        <p:nvSpPr>
          <p:cNvPr id="720" name="amanecer c1f17"/>
          <p:cNvSpPr txBox="1"/>
          <p:nvPr/>
        </p:nvSpPr>
        <p:spPr>
          <a:xfrm>
            <a:off x="7744968" y="397154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40%</a:t>
            </a:r>
          </a:p>
        </p:txBody>
      </p:sp>
      <p:sp>
        <p:nvSpPr>
          <p:cNvPr id="721" name="dias c1f17"/>
          <p:cNvSpPr txBox="1"/>
          <p:nvPr/>
        </p:nvSpPr>
        <p:spPr>
          <a:xfrm>
            <a:off x="8247888" y="397154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18</a:t>
            </a:r>
          </a:p>
        </p:txBody>
      </p:sp>
      <p:sp>
        <p:nvSpPr>
          <p:cNvPr id="722" name="banda c1f18"/>
          <p:cNvSpPr/>
          <p:nvPr/>
        </p:nvSpPr>
        <p:spPr>
          <a:xfrm>
            <a:off x="4636008" y="4078224"/>
            <a:ext cx="4114800" cy="106680"/>
          </a:xfrm>
          <a:prstGeom prst="rect">
            <a:avLst/>
          </a:prstGeom>
          <a:solidFill>
            <a:srgbClr val="FFFFFF"/>
          </a:solidFill>
          <a:ln>
            <a:noFill/>
          </a:ln>
        </p:spPr>
        <p:txBody>
          <a:bodyPr rtlCol="0" anchor="ctr"/>
          <a:lstStyle/>
          <a:p>
            <a:pPr algn="ctr"/>
            <a:endParaRPr lang="es-CO" noProof="0" dirty="0"/>
          </a:p>
        </p:txBody>
      </p:sp>
      <p:sp>
        <p:nvSpPr>
          <p:cNvPr id="723" name="nombre c1f18"/>
          <p:cNvSpPr txBox="1"/>
          <p:nvPr/>
        </p:nvSpPr>
        <p:spPr>
          <a:xfrm>
            <a:off x="4663440" y="407822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55p</a:t>
            </a:r>
          </a:p>
        </p:txBody>
      </p:sp>
      <p:sp>
        <p:nvSpPr>
          <p:cNvPr id="724" name="barra c1f18"/>
          <p:cNvSpPr/>
          <p:nvPr/>
        </p:nvSpPr>
        <p:spPr>
          <a:xfrm>
            <a:off x="5413248" y="4099560"/>
            <a:ext cx="86868" cy="64008"/>
          </a:xfrm>
          <a:prstGeom prst="rect">
            <a:avLst/>
          </a:prstGeom>
          <a:solidFill>
            <a:srgbClr val="A9C1E8"/>
          </a:solidFill>
          <a:ln w="12700">
            <a:solidFill>
              <a:srgbClr val="A9C1E8"/>
            </a:solidFill>
          </a:ln>
        </p:spPr>
        <p:txBody>
          <a:bodyPr rtlCol="0" anchor="ctr"/>
          <a:lstStyle/>
          <a:p>
            <a:pPr algn="ctr"/>
            <a:endParaRPr lang="es-CO" noProof="0" dirty="0"/>
          </a:p>
        </p:txBody>
      </p:sp>
      <p:sp>
        <p:nvSpPr>
          <p:cNvPr id="725" name="cuenta c1f18"/>
          <p:cNvSpPr txBox="1"/>
          <p:nvPr/>
        </p:nvSpPr>
        <p:spPr>
          <a:xfrm>
            <a:off x="5527548" y="407822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55636E"/>
                </a:solidFill>
                <a:latin typeface="Calibri"/>
              </a:rPr>
              <a:t>2</a:t>
            </a:r>
          </a:p>
        </p:txBody>
      </p:sp>
      <p:sp>
        <p:nvSpPr>
          <p:cNvPr id="726" name="pista c1f18"/>
          <p:cNvSpPr/>
          <p:nvPr/>
        </p:nvSpPr>
        <p:spPr>
          <a:xfrm>
            <a:off x="6647688" y="412699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727" name="punto c1f18"/>
          <p:cNvSpPr/>
          <p:nvPr/>
        </p:nvSpPr>
        <p:spPr>
          <a:xfrm>
            <a:off x="7115818" y="409498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728" name="hora c1f18"/>
          <p:cNvSpPr txBox="1"/>
          <p:nvPr/>
        </p:nvSpPr>
        <p:spPr>
          <a:xfrm>
            <a:off x="7207258" y="407822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12:27</a:t>
            </a:r>
          </a:p>
        </p:txBody>
      </p:sp>
      <p:sp>
        <p:nvSpPr>
          <p:cNvPr id="729" name="amanecer c1f18"/>
          <p:cNvSpPr txBox="1"/>
          <p:nvPr/>
        </p:nvSpPr>
        <p:spPr>
          <a:xfrm>
            <a:off x="7744968" y="407822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42%</a:t>
            </a:r>
          </a:p>
        </p:txBody>
      </p:sp>
      <p:sp>
        <p:nvSpPr>
          <p:cNvPr id="730" name="dias c1f18"/>
          <p:cNvSpPr txBox="1"/>
          <p:nvPr/>
        </p:nvSpPr>
        <p:spPr>
          <a:xfrm>
            <a:off x="8247888" y="407822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16</a:t>
            </a:r>
          </a:p>
        </p:txBody>
      </p:sp>
      <p:sp>
        <p:nvSpPr>
          <p:cNvPr id="731" name="nombre c1f19"/>
          <p:cNvSpPr txBox="1"/>
          <p:nvPr/>
        </p:nvSpPr>
        <p:spPr>
          <a:xfrm>
            <a:off x="4663440" y="418490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108</a:t>
            </a:r>
          </a:p>
        </p:txBody>
      </p:sp>
      <p:sp>
        <p:nvSpPr>
          <p:cNvPr id="732" name="barra c1f19"/>
          <p:cNvSpPr/>
          <p:nvPr/>
        </p:nvSpPr>
        <p:spPr>
          <a:xfrm>
            <a:off x="5413248" y="4206240"/>
            <a:ext cx="86868" cy="64008"/>
          </a:xfrm>
          <a:prstGeom prst="rect">
            <a:avLst/>
          </a:prstGeom>
          <a:solidFill>
            <a:srgbClr val="A9C1E8"/>
          </a:solidFill>
          <a:ln w="12700">
            <a:solidFill>
              <a:srgbClr val="A9C1E8"/>
            </a:solidFill>
          </a:ln>
        </p:spPr>
        <p:txBody>
          <a:bodyPr rtlCol="0" anchor="ctr"/>
          <a:lstStyle/>
          <a:p>
            <a:pPr algn="ctr"/>
            <a:endParaRPr lang="es-CO" noProof="0" dirty="0"/>
          </a:p>
        </p:txBody>
      </p:sp>
      <p:sp>
        <p:nvSpPr>
          <p:cNvPr id="733" name="cuenta c1f19"/>
          <p:cNvSpPr txBox="1"/>
          <p:nvPr/>
        </p:nvSpPr>
        <p:spPr>
          <a:xfrm>
            <a:off x="5527548" y="418490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55636E"/>
                </a:solidFill>
                <a:latin typeface="Calibri"/>
              </a:rPr>
              <a:t>2</a:t>
            </a:r>
          </a:p>
        </p:txBody>
      </p:sp>
      <p:sp>
        <p:nvSpPr>
          <p:cNvPr id="734" name="pista c1f19"/>
          <p:cNvSpPr/>
          <p:nvPr/>
        </p:nvSpPr>
        <p:spPr>
          <a:xfrm>
            <a:off x="6647688" y="423367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735" name="punto c1f19"/>
          <p:cNvSpPr/>
          <p:nvPr/>
        </p:nvSpPr>
        <p:spPr>
          <a:xfrm>
            <a:off x="6960641" y="420166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736" name="hora c1f19"/>
          <p:cNvSpPr txBox="1"/>
          <p:nvPr/>
        </p:nvSpPr>
        <p:spPr>
          <a:xfrm>
            <a:off x="7052081" y="418490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11:42</a:t>
            </a:r>
          </a:p>
        </p:txBody>
      </p:sp>
      <p:sp>
        <p:nvSpPr>
          <p:cNvPr id="737" name="amanecer c1f19"/>
          <p:cNvSpPr txBox="1"/>
          <p:nvPr/>
        </p:nvSpPr>
        <p:spPr>
          <a:xfrm>
            <a:off x="7744968" y="418490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50%</a:t>
            </a:r>
          </a:p>
        </p:txBody>
      </p:sp>
      <p:sp>
        <p:nvSpPr>
          <p:cNvPr id="738" name="dias c1f19"/>
          <p:cNvSpPr txBox="1"/>
          <p:nvPr/>
        </p:nvSpPr>
        <p:spPr>
          <a:xfrm>
            <a:off x="8247888" y="418490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15</a:t>
            </a:r>
          </a:p>
        </p:txBody>
      </p:sp>
      <p:sp>
        <p:nvSpPr>
          <p:cNvPr id="739" name="banda c1f20"/>
          <p:cNvSpPr/>
          <p:nvPr/>
        </p:nvSpPr>
        <p:spPr>
          <a:xfrm>
            <a:off x="4636008" y="4291584"/>
            <a:ext cx="4114800" cy="106680"/>
          </a:xfrm>
          <a:prstGeom prst="rect">
            <a:avLst/>
          </a:prstGeom>
          <a:solidFill>
            <a:srgbClr val="FFFFFF"/>
          </a:solidFill>
          <a:ln>
            <a:noFill/>
          </a:ln>
        </p:spPr>
        <p:txBody>
          <a:bodyPr rtlCol="0" anchor="ctr"/>
          <a:lstStyle/>
          <a:p>
            <a:pPr algn="ctr"/>
            <a:endParaRPr lang="es-CO" noProof="0" dirty="0"/>
          </a:p>
        </p:txBody>
      </p:sp>
      <p:sp>
        <p:nvSpPr>
          <p:cNvPr id="740" name="nombre c1f20"/>
          <p:cNvSpPr txBox="1"/>
          <p:nvPr/>
        </p:nvSpPr>
        <p:spPr>
          <a:xfrm>
            <a:off x="4663440" y="429158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15</a:t>
            </a:r>
          </a:p>
        </p:txBody>
      </p:sp>
      <p:sp>
        <p:nvSpPr>
          <p:cNvPr id="741" name="barra c1f20"/>
          <p:cNvSpPr/>
          <p:nvPr/>
        </p:nvSpPr>
        <p:spPr>
          <a:xfrm>
            <a:off x="5413248" y="4312920"/>
            <a:ext cx="86868" cy="64008"/>
          </a:xfrm>
          <a:prstGeom prst="rect">
            <a:avLst/>
          </a:prstGeom>
          <a:solidFill>
            <a:srgbClr val="A9C1E8"/>
          </a:solidFill>
          <a:ln w="12700">
            <a:solidFill>
              <a:srgbClr val="A9C1E8"/>
            </a:solidFill>
          </a:ln>
        </p:spPr>
        <p:txBody>
          <a:bodyPr rtlCol="0" anchor="ctr"/>
          <a:lstStyle/>
          <a:p>
            <a:pPr algn="ctr"/>
            <a:endParaRPr lang="es-CO" noProof="0" dirty="0"/>
          </a:p>
        </p:txBody>
      </p:sp>
      <p:sp>
        <p:nvSpPr>
          <p:cNvPr id="742" name="cuenta c1f20"/>
          <p:cNvSpPr txBox="1"/>
          <p:nvPr/>
        </p:nvSpPr>
        <p:spPr>
          <a:xfrm>
            <a:off x="5527548" y="429158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55636E"/>
                </a:solidFill>
                <a:latin typeface="Calibri"/>
              </a:rPr>
              <a:t>2</a:t>
            </a:r>
          </a:p>
        </p:txBody>
      </p:sp>
      <p:sp>
        <p:nvSpPr>
          <p:cNvPr id="743" name="pista c1f20"/>
          <p:cNvSpPr/>
          <p:nvPr/>
        </p:nvSpPr>
        <p:spPr>
          <a:xfrm>
            <a:off x="6647688" y="434035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744" name="punto c1f20"/>
          <p:cNvSpPr/>
          <p:nvPr/>
        </p:nvSpPr>
        <p:spPr>
          <a:xfrm>
            <a:off x="6883415" y="430834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745" name="hora c1f20"/>
          <p:cNvSpPr txBox="1"/>
          <p:nvPr/>
        </p:nvSpPr>
        <p:spPr>
          <a:xfrm>
            <a:off x="6974855" y="429158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11:19</a:t>
            </a:r>
          </a:p>
        </p:txBody>
      </p:sp>
      <p:sp>
        <p:nvSpPr>
          <p:cNvPr id="746" name="amanecer c1f20"/>
          <p:cNvSpPr txBox="1"/>
          <p:nvPr/>
        </p:nvSpPr>
        <p:spPr>
          <a:xfrm>
            <a:off x="7744968" y="429158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52%</a:t>
            </a:r>
          </a:p>
        </p:txBody>
      </p:sp>
      <p:sp>
        <p:nvSpPr>
          <p:cNvPr id="747" name="dias c1f20"/>
          <p:cNvSpPr txBox="1"/>
          <p:nvPr/>
        </p:nvSpPr>
        <p:spPr>
          <a:xfrm>
            <a:off x="8247888" y="429158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17</a:t>
            </a:r>
          </a:p>
        </p:txBody>
      </p:sp>
      <p:sp>
        <p:nvSpPr>
          <p:cNvPr id="748" name="nombre c1f21"/>
          <p:cNvSpPr txBox="1"/>
          <p:nvPr/>
        </p:nvSpPr>
        <p:spPr>
          <a:xfrm>
            <a:off x="4663440" y="439826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11</a:t>
            </a:r>
          </a:p>
        </p:txBody>
      </p:sp>
      <p:sp>
        <p:nvSpPr>
          <p:cNvPr id="749" name="barra c1f21"/>
          <p:cNvSpPr/>
          <p:nvPr/>
        </p:nvSpPr>
        <p:spPr>
          <a:xfrm>
            <a:off x="5413248" y="4419600"/>
            <a:ext cx="43434" cy="64008"/>
          </a:xfrm>
          <a:prstGeom prst="rect">
            <a:avLst/>
          </a:prstGeom>
          <a:solidFill>
            <a:srgbClr val="A9C1E8"/>
          </a:solidFill>
          <a:ln w="12700">
            <a:solidFill>
              <a:srgbClr val="A9C1E8"/>
            </a:solidFill>
          </a:ln>
        </p:spPr>
        <p:txBody>
          <a:bodyPr rtlCol="0" anchor="ctr"/>
          <a:lstStyle/>
          <a:p>
            <a:pPr algn="ctr"/>
            <a:endParaRPr lang="es-CO" noProof="0" dirty="0"/>
          </a:p>
        </p:txBody>
      </p:sp>
      <p:sp>
        <p:nvSpPr>
          <p:cNvPr id="750" name="cuenta c1f21"/>
          <p:cNvSpPr txBox="1"/>
          <p:nvPr/>
        </p:nvSpPr>
        <p:spPr>
          <a:xfrm>
            <a:off x="5484114" y="439826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55636E"/>
                </a:solidFill>
                <a:latin typeface="Calibri"/>
              </a:rPr>
              <a:t>1</a:t>
            </a:r>
          </a:p>
        </p:txBody>
      </p:sp>
      <p:sp>
        <p:nvSpPr>
          <p:cNvPr id="751" name="pista c1f21"/>
          <p:cNvSpPr/>
          <p:nvPr/>
        </p:nvSpPr>
        <p:spPr>
          <a:xfrm>
            <a:off x="6647688" y="444703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752" name="punto c1f21"/>
          <p:cNvSpPr/>
          <p:nvPr/>
        </p:nvSpPr>
        <p:spPr>
          <a:xfrm>
            <a:off x="7122755" y="441502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753" name="hora c1f21"/>
          <p:cNvSpPr txBox="1"/>
          <p:nvPr/>
        </p:nvSpPr>
        <p:spPr>
          <a:xfrm>
            <a:off x="7214195" y="439826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12:29</a:t>
            </a:r>
          </a:p>
        </p:txBody>
      </p:sp>
      <p:sp>
        <p:nvSpPr>
          <p:cNvPr id="754" name="amanecer c1f21"/>
          <p:cNvSpPr txBox="1"/>
          <p:nvPr/>
        </p:nvSpPr>
        <p:spPr>
          <a:xfrm>
            <a:off x="7744968" y="439826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36%</a:t>
            </a:r>
          </a:p>
        </p:txBody>
      </p:sp>
      <p:sp>
        <p:nvSpPr>
          <p:cNvPr id="755" name="dias c1f21"/>
          <p:cNvSpPr txBox="1"/>
          <p:nvPr/>
        </p:nvSpPr>
        <p:spPr>
          <a:xfrm>
            <a:off x="8247888" y="439826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19</a:t>
            </a:r>
          </a:p>
        </p:txBody>
      </p:sp>
      <p:sp>
        <p:nvSpPr>
          <p:cNvPr id="756" name="banda c1f22"/>
          <p:cNvSpPr/>
          <p:nvPr/>
        </p:nvSpPr>
        <p:spPr>
          <a:xfrm>
            <a:off x="4636008" y="4504944"/>
            <a:ext cx="4114800" cy="106680"/>
          </a:xfrm>
          <a:prstGeom prst="rect">
            <a:avLst/>
          </a:prstGeom>
          <a:solidFill>
            <a:srgbClr val="FFFFFF"/>
          </a:solidFill>
          <a:ln>
            <a:noFill/>
          </a:ln>
        </p:spPr>
        <p:txBody>
          <a:bodyPr rtlCol="0" anchor="ctr"/>
          <a:lstStyle/>
          <a:p>
            <a:pPr algn="ctr"/>
            <a:endParaRPr lang="es-CO" noProof="0" dirty="0"/>
          </a:p>
        </p:txBody>
      </p:sp>
      <p:sp>
        <p:nvSpPr>
          <p:cNvPr id="757" name="nombre c1f22"/>
          <p:cNvSpPr txBox="1"/>
          <p:nvPr/>
        </p:nvSpPr>
        <p:spPr>
          <a:xfrm>
            <a:off x="4663440" y="450494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48</a:t>
            </a:r>
          </a:p>
        </p:txBody>
      </p:sp>
      <p:sp>
        <p:nvSpPr>
          <p:cNvPr id="758" name="barra c1f22"/>
          <p:cNvSpPr/>
          <p:nvPr/>
        </p:nvSpPr>
        <p:spPr>
          <a:xfrm>
            <a:off x="5413248" y="4526280"/>
            <a:ext cx="43434" cy="64008"/>
          </a:xfrm>
          <a:prstGeom prst="rect">
            <a:avLst/>
          </a:prstGeom>
          <a:solidFill>
            <a:srgbClr val="A9C1E8"/>
          </a:solidFill>
          <a:ln w="12700">
            <a:solidFill>
              <a:srgbClr val="A9C1E8"/>
            </a:solidFill>
          </a:ln>
        </p:spPr>
        <p:txBody>
          <a:bodyPr rtlCol="0" anchor="ctr"/>
          <a:lstStyle/>
          <a:p>
            <a:pPr algn="ctr"/>
            <a:endParaRPr lang="es-CO" noProof="0" dirty="0"/>
          </a:p>
        </p:txBody>
      </p:sp>
      <p:sp>
        <p:nvSpPr>
          <p:cNvPr id="759" name="cuenta c1f22"/>
          <p:cNvSpPr txBox="1"/>
          <p:nvPr/>
        </p:nvSpPr>
        <p:spPr>
          <a:xfrm>
            <a:off x="5484114" y="450494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55636E"/>
                </a:solidFill>
                <a:latin typeface="Calibri"/>
              </a:rPr>
              <a:t>1</a:t>
            </a:r>
          </a:p>
        </p:txBody>
      </p:sp>
      <p:sp>
        <p:nvSpPr>
          <p:cNvPr id="760" name="pista c1f22"/>
          <p:cNvSpPr/>
          <p:nvPr/>
        </p:nvSpPr>
        <p:spPr>
          <a:xfrm>
            <a:off x="6647688" y="455371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761" name="punto c1f22"/>
          <p:cNvSpPr/>
          <p:nvPr/>
        </p:nvSpPr>
        <p:spPr>
          <a:xfrm>
            <a:off x="7076734" y="452170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762" name="hora c1f22"/>
          <p:cNvSpPr txBox="1"/>
          <p:nvPr/>
        </p:nvSpPr>
        <p:spPr>
          <a:xfrm>
            <a:off x="7168174" y="450494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12:16</a:t>
            </a:r>
          </a:p>
        </p:txBody>
      </p:sp>
      <p:sp>
        <p:nvSpPr>
          <p:cNvPr id="763" name="amanecer c1f22"/>
          <p:cNvSpPr txBox="1"/>
          <p:nvPr/>
        </p:nvSpPr>
        <p:spPr>
          <a:xfrm>
            <a:off x="7744968" y="450494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52%</a:t>
            </a:r>
          </a:p>
        </p:txBody>
      </p:sp>
      <p:sp>
        <p:nvSpPr>
          <p:cNvPr id="764" name="dias c1f22"/>
          <p:cNvSpPr txBox="1"/>
          <p:nvPr/>
        </p:nvSpPr>
        <p:spPr>
          <a:xfrm>
            <a:off x="8247888" y="450494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19</a:t>
            </a:r>
          </a:p>
        </p:txBody>
      </p:sp>
      <p:sp>
        <p:nvSpPr>
          <p:cNvPr id="765" name="nombre c1f23"/>
          <p:cNvSpPr txBox="1"/>
          <p:nvPr/>
        </p:nvSpPr>
        <p:spPr>
          <a:xfrm>
            <a:off x="4663440" y="461162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104</a:t>
            </a:r>
          </a:p>
        </p:txBody>
      </p:sp>
      <p:sp>
        <p:nvSpPr>
          <p:cNvPr id="766" name="barra c1f23"/>
          <p:cNvSpPr/>
          <p:nvPr/>
        </p:nvSpPr>
        <p:spPr>
          <a:xfrm>
            <a:off x="5413248" y="4632960"/>
            <a:ext cx="36576" cy="64008"/>
          </a:xfrm>
          <a:prstGeom prst="rect">
            <a:avLst/>
          </a:prstGeom>
          <a:solidFill>
            <a:srgbClr val="A9C1E8"/>
          </a:solidFill>
          <a:ln w="12700">
            <a:solidFill>
              <a:srgbClr val="A9C1E8"/>
            </a:solidFill>
          </a:ln>
        </p:spPr>
        <p:txBody>
          <a:bodyPr rtlCol="0" anchor="ctr"/>
          <a:lstStyle/>
          <a:p>
            <a:pPr algn="ctr"/>
            <a:endParaRPr lang="es-CO" noProof="0" dirty="0"/>
          </a:p>
        </p:txBody>
      </p:sp>
      <p:sp>
        <p:nvSpPr>
          <p:cNvPr id="767" name="cuenta c1f23"/>
          <p:cNvSpPr txBox="1"/>
          <p:nvPr/>
        </p:nvSpPr>
        <p:spPr>
          <a:xfrm>
            <a:off x="5477256" y="461162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55636E"/>
                </a:solidFill>
                <a:latin typeface="Calibri"/>
              </a:rPr>
              <a:t>0</a:t>
            </a:r>
          </a:p>
        </p:txBody>
      </p:sp>
      <p:sp>
        <p:nvSpPr>
          <p:cNvPr id="768" name="pista c1f23"/>
          <p:cNvSpPr/>
          <p:nvPr/>
        </p:nvSpPr>
        <p:spPr>
          <a:xfrm>
            <a:off x="6647688" y="466039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769" name="punto c1f23"/>
          <p:cNvSpPr/>
          <p:nvPr/>
        </p:nvSpPr>
        <p:spPr>
          <a:xfrm>
            <a:off x="6690836" y="462838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770" name="hora c1f23"/>
          <p:cNvSpPr txBox="1"/>
          <p:nvPr/>
        </p:nvSpPr>
        <p:spPr>
          <a:xfrm>
            <a:off x="6782276" y="461162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10:23</a:t>
            </a:r>
          </a:p>
        </p:txBody>
      </p:sp>
      <p:sp>
        <p:nvSpPr>
          <p:cNvPr id="771" name="amanecer c1f23"/>
          <p:cNvSpPr txBox="1"/>
          <p:nvPr/>
        </p:nvSpPr>
        <p:spPr>
          <a:xfrm>
            <a:off x="7744968" y="461162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78%</a:t>
            </a:r>
          </a:p>
        </p:txBody>
      </p:sp>
      <p:sp>
        <p:nvSpPr>
          <p:cNvPr id="772" name="dias c1f23"/>
          <p:cNvSpPr txBox="1"/>
          <p:nvPr/>
        </p:nvSpPr>
        <p:spPr>
          <a:xfrm>
            <a:off x="8247888" y="461162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PLAN DE ACCIÓN</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2100" b="1" i="0" noProof="0" dirty="0">
                <a:solidFill>
                  <a:srgbClr val="1B3A6B"/>
                </a:solidFill>
                <a:latin typeface="Calibri"/>
              </a:rPr>
              <a:t>Cinco acciones para llevar el respaldo de 94,5% hacia 99%</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20</a:t>
            </a:r>
          </a:p>
        </p:txBody>
      </p:sp>
      <p:sp>
        <p:nvSpPr>
          <p:cNvPr id="8" name="Rectangle 7"/>
          <p:cNvSpPr/>
          <p:nvPr/>
        </p:nvSpPr>
        <p:spPr>
          <a:xfrm>
            <a:off x="411480" y="1207008"/>
            <a:ext cx="8321040" cy="530352"/>
          </a:xfrm>
          <a:prstGeom prst="rect">
            <a:avLst/>
          </a:prstGeom>
          <a:solidFill>
            <a:srgbClr val="FFFFFF"/>
          </a:solidFill>
          <a:ln w="10160">
            <a:solidFill>
              <a:srgbClr val="E3E7EA"/>
            </a:solidFill>
          </a:ln>
        </p:spPr>
        <p:txBody>
          <a:bodyPr rtlCol="0" anchor="ctr"/>
          <a:lstStyle/>
          <a:p>
            <a:pPr algn="ctr"/>
            <a:endParaRPr lang="es-CO" noProof="0" dirty="0"/>
          </a:p>
        </p:txBody>
      </p:sp>
      <p:sp>
        <p:nvSpPr>
          <p:cNvPr id="9" name="Rectangle 8"/>
          <p:cNvSpPr/>
          <p:nvPr/>
        </p:nvSpPr>
        <p:spPr>
          <a:xfrm>
            <a:off x="411480" y="1207008"/>
            <a:ext cx="54864" cy="530352"/>
          </a:xfrm>
          <a:prstGeom prst="rect">
            <a:avLst/>
          </a:prstGeom>
          <a:solidFill>
            <a:srgbClr val="E63946"/>
          </a:solidFill>
          <a:ln w="12700">
            <a:solidFill>
              <a:srgbClr val="E63946"/>
            </a:solidFill>
          </a:ln>
        </p:spPr>
        <p:txBody>
          <a:bodyPr rtlCol="0" anchor="ctr"/>
          <a:lstStyle/>
          <a:p>
            <a:pPr algn="ctr"/>
            <a:endParaRPr lang="es-CO" noProof="0" dirty="0"/>
          </a:p>
        </p:txBody>
      </p:sp>
      <p:sp>
        <p:nvSpPr>
          <p:cNvPr id="10" name="Oval 9"/>
          <p:cNvSpPr/>
          <p:nvPr/>
        </p:nvSpPr>
        <p:spPr>
          <a:xfrm>
            <a:off x="594360" y="1316736"/>
            <a:ext cx="310896" cy="310896"/>
          </a:xfrm>
          <a:prstGeom prst="ellipse">
            <a:avLst/>
          </a:prstGeom>
          <a:solidFill>
            <a:srgbClr val="E63946"/>
          </a:solidFill>
          <a:ln w="12700">
            <a:solidFill>
              <a:srgbClr val="E63946"/>
            </a:solidFill>
          </a:ln>
        </p:spPr>
        <p:txBody>
          <a:bodyPr rtlCol="0" anchor="ctr"/>
          <a:lstStyle/>
          <a:p>
            <a:pPr algn="ctr"/>
            <a:endParaRPr lang="es-CO" noProof="0" dirty="0"/>
          </a:p>
        </p:txBody>
      </p:sp>
      <p:sp>
        <p:nvSpPr>
          <p:cNvPr id="11" name="TextBox 10"/>
          <p:cNvSpPr txBox="1"/>
          <p:nvPr/>
        </p:nvSpPr>
        <p:spPr>
          <a:xfrm>
            <a:off x="594360" y="1316736"/>
            <a:ext cx="310896" cy="310896"/>
          </a:xfrm>
          <a:prstGeom prst="rect">
            <a:avLst/>
          </a:prstGeom>
          <a:noFill/>
        </p:spPr>
        <p:txBody>
          <a:bodyPr wrap="square" lIns="0" tIns="0" rIns="0" bIns="0" anchor="ctr">
            <a:spAutoFit/>
          </a:bodyPr>
          <a:lstStyle/>
          <a:p>
            <a:pPr algn="ctr">
              <a:spcAft>
                <a:spcPts val="0"/>
              </a:spcAft>
            </a:pPr>
            <a:r>
              <a:rPr lang="es-CO" sz="1100" b="1" i="0" noProof="0" dirty="0">
                <a:solidFill>
                  <a:srgbClr val="FFFFFF"/>
                </a:solidFill>
                <a:latin typeface="Calibri"/>
              </a:rPr>
              <a:t>1</a:t>
            </a:r>
          </a:p>
        </p:txBody>
      </p:sp>
      <p:sp>
        <p:nvSpPr>
          <p:cNvPr id="12" name="TextBox 11"/>
          <p:cNvSpPr txBox="1"/>
          <p:nvPr/>
        </p:nvSpPr>
        <p:spPr>
          <a:xfrm>
            <a:off x="1051560" y="1234440"/>
            <a:ext cx="3657600" cy="228600"/>
          </a:xfrm>
          <a:prstGeom prst="rect">
            <a:avLst/>
          </a:prstGeom>
          <a:noFill/>
        </p:spPr>
        <p:txBody>
          <a:bodyPr wrap="square" lIns="0" tIns="0" rIns="0" bIns="0" anchor="ctr">
            <a:spAutoFit/>
          </a:bodyPr>
          <a:lstStyle/>
          <a:p>
            <a:pPr algn="l">
              <a:spcAft>
                <a:spcPts val="0"/>
              </a:spcAft>
            </a:pPr>
            <a:r>
              <a:rPr lang="es-CO" sz="1050" b="1" i="0" noProof="0" dirty="0">
                <a:solidFill>
                  <a:srgbClr val="1B3A6B"/>
                </a:solidFill>
                <a:latin typeface="Calibri"/>
              </a:rPr>
              <a:t>Caso formal con Livoltek</a:t>
            </a:r>
          </a:p>
        </p:txBody>
      </p:sp>
      <p:sp>
        <p:nvSpPr>
          <p:cNvPr id="13" name="TextBox 12"/>
          <p:cNvSpPr txBox="1"/>
          <p:nvPr/>
        </p:nvSpPr>
        <p:spPr>
          <a:xfrm>
            <a:off x="1051560" y="1472184"/>
            <a:ext cx="5029200" cy="228600"/>
          </a:xfrm>
          <a:prstGeom prst="rect">
            <a:avLst/>
          </a:prstGeom>
          <a:noFill/>
        </p:spPr>
        <p:txBody>
          <a:bodyPr wrap="square" lIns="0" tIns="0" rIns="0" bIns="0" anchor="ctr">
            <a:spAutoFit/>
          </a:bodyPr>
          <a:lstStyle/>
          <a:p>
            <a:pPr algn="l">
              <a:spcAft>
                <a:spcPts val="0"/>
              </a:spcAft>
            </a:pPr>
            <a:r>
              <a:rPr lang="es-CO" sz="800" b="0" i="0" noProof="0" dirty="0">
                <a:solidFill>
                  <a:srgbClr val="55636E"/>
                </a:solidFill>
                <a:latin typeface="Calibri"/>
              </a:rPr>
              <a:t>Transición a OFF-GRID y caídas durante el corte: 4/10 (14 casas, hasta 34 min), 3/10 (15 casas) y eventos del 2 y 6/10</a:t>
            </a:r>
          </a:p>
        </p:txBody>
      </p:sp>
      <p:sp>
        <p:nvSpPr>
          <p:cNvPr id="14" name="Rounded Rectangle 13"/>
          <p:cNvSpPr/>
          <p:nvPr/>
        </p:nvSpPr>
        <p:spPr>
          <a:xfrm>
            <a:off x="7269480" y="1335024"/>
            <a:ext cx="1325880" cy="274320"/>
          </a:xfrm>
          <a:prstGeom prst="roundRect">
            <a:avLst/>
          </a:prstGeom>
          <a:solidFill>
            <a:srgbClr val="E63946"/>
          </a:solidFill>
          <a:ln w="12700">
            <a:solidFill>
              <a:srgbClr val="E63946"/>
            </a:solidFill>
          </a:ln>
        </p:spPr>
        <p:txBody>
          <a:bodyPr rtlCol="0" anchor="ctr"/>
          <a:lstStyle/>
          <a:p>
            <a:pPr algn="ctr"/>
            <a:endParaRPr lang="es-CO" noProof="0" dirty="0"/>
          </a:p>
        </p:txBody>
      </p:sp>
      <p:sp>
        <p:nvSpPr>
          <p:cNvPr id="15" name="TextBox 14"/>
          <p:cNvSpPr txBox="1"/>
          <p:nvPr/>
        </p:nvSpPr>
        <p:spPr>
          <a:xfrm>
            <a:off x="7269480" y="1335024"/>
            <a:ext cx="1325880" cy="274320"/>
          </a:xfrm>
          <a:prstGeom prst="rect">
            <a:avLst/>
          </a:prstGeom>
          <a:noFill/>
        </p:spPr>
        <p:txBody>
          <a:bodyPr wrap="square" lIns="0" tIns="0" rIns="0" bIns="0" anchor="ctr">
            <a:spAutoFit/>
          </a:bodyPr>
          <a:lstStyle/>
          <a:p>
            <a:pPr algn="ctr">
              <a:spcAft>
                <a:spcPts val="0"/>
              </a:spcAft>
            </a:pPr>
            <a:r>
              <a:rPr lang="es-CO" sz="800" b="1" i="0" noProof="0" dirty="0">
                <a:solidFill>
                  <a:srgbClr val="FFFFFF"/>
                </a:solidFill>
                <a:latin typeface="Calibri"/>
              </a:rPr>
              <a:t>13,8 h</a:t>
            </a:r>
          </a:p>
        </p:txBody>
      </p:sp>
      <p:sp>
        <p:nvSpPr>
          <p:cNvPr id="16" name="Rectangle 15"/>
          <p:cNvSpPr/>
          <p:nvPr/>
        </p:nvSpPr>
        <p:spPr>
          <a:xfrm>
            <a:off x="411480" y="1810512"/>
            <a:ext cx="8321040" cy="530352"/>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7" name="Rectangle 16"/>
          <p:cNvSpPr/>
          <p:nvPr/>
        </p:nvSpPr>
        <p:spPr>
          <a:xfrm>
            <a:off x="411480" y="1810512"/>
            <a:ext cx="54864" cy="530352"/>
          </a:xfrm>
          <a:prstGeom prst="rect">
            <a:avLst/>
          </a:prstGeom>
          <a:solidFill>
            <a:srgbClr val="F5A623"/>
          </a:solidFill>
          <a:ln w="12700">
            <a:solidFill>
              <a:srgbClr val="F5A623"/>
            </a:solidFill>
          </a:ln>
        </p:spPr>
        <p:txBody>
          <a:bodyPr rtlCol="0" anchor="ctr"/>
          <a:lstStyle/>
          <a:p>
            <a:pPr algn="ctr"/>
            <a:endParaRPr lang="es-CO" noProof="0" dirty="0"/>
          </a:p>
        </p:txBody>
      </p:sp>
      <p:sp>
        <p:nvSpPr>
          <p:cNvPr id="18" name="Oval 17"/>
          <p:cNvSpPr/>
          <p:nvPr/>
        </p:nvSpPr>
        <p:spPr>
          <a:xfrm>
            <a:off x="594360" y="1920240"/>
            <a:ext cx="310896" cy="310896"/>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19" name="TextBox 18"/>
          <p:cNvSpPr txBox="1"/>
          <p:nvPr/>
        </p:nvSpPr>
        <p:spPr>
          <a:xfrm>
            <a:off x="594360" y="1920240"/>
            <a:ext cx="310896" cy="310896"/>
          </a:xfrm>
          <a:prstGeom prst="rect">
            <a:avLst/>
          </a:prstGeom>
          <a:noFill/>
        </p:spPr>
        <p:txBody>
          <a:bodyPr wrap="square" lIns="0" tIns="0" rIns="0" bIns="0" anchor="ctr">
            <a:spAutoFit/>
          </a:bodyPr>
          <a:lstStyle/>
          <a:p>
            <a:pPr algn="ctr">
              <a:spcAft>
                <a:spcPts val="0"/>
              </a:spcAft>
            </a:pPr>
            <a:r>
              <a:rPr lang="es-CO" sz="1100" b="1" i="0" noProof="0" dirty="0">
                <a:solidFill>
                  <a:srgbClr val="FFFFFF"/>
                </a:solidFill>
                <a:latin typeface="Calibri"/>
              </a:rPr>
              <a:t>2</a:t>
            </a:r>
          </a:p>
        </p:txBody>
      </p:sp>
      <p:sp>
        <p:nvSpPr>
          <p:cNvPr id="20" name="TextBox 19"/>
          <p:cNvSpPr txBox="1"/>
          <p:nvPr/>
        </p:nvSpPr>
        <p:spPr>
          <a:xfrm>
            <a:off x="1051560" y="1837943"/>
            <a:ext cx="3657600" cy="228600"/>
          </a:xfrm>
          <a:prstGeom prst="rect">
            <a:avLst/>
          </a:prstGeom>
          <a:noFill/>
        </p:spPr>
        <p:txBody>
          <a:bodyPr wrap="square" lIns="0" tIns="0" rIns="0" bIns="0" anchor="ctr">
            <a:spAutoFit/>
          </a:bodyPr>
          <a:lstStyle/>
          <a:p>
            <a:pPr algn="l">
              <a:spcAft>
                <a:spcPts val="0"/>
              </a:spcAft>
            </a:pPr>
            <a:r>
              <a:rPr lang="es-CO" sz="1050" b="1" i="0" noProof="0" dirty="0">
                <a:solidFill>
                  <a:srgbClr val="1B3A6B"/>
                </a:solidFill>
                <a:latin typeface="Calibri"/>
              </a:rPr>
              <a:t>Reserva mínima de SOC nocturna</a:t>
            </a:r>
          </a:p>
        </p:txBody>
      </p:sp>
      <p:sp>
        <p:nvSpPr>
          <p:cNvPr id="21" name="TextBox 20"/>
          <p:cNvSpPr txBox="1"/>
          <p:nvPr/>
        </p:nvSpPr>
        <p:spPr>
          <a:xfrm>
            <a:off x="1051560" y="2075688"/>
            <a:ext cx="5029200" cy="228600"/>
          </a:xfrm>
          <a:prstGeom prst="rect">
            <a:avLst/>
          </a:prstGeom>
          <a:noFill/>
        </p:spPr>
        <p:txBody>
          <a:bodyPr wrap="square" lIns="0" tIns="0" rIns="0" bIns="0" anchor="ctr">
            <a:spAutoFit/>
          </a:bodyPr>
          <a:lstStyle/>
          <a:p>
            <a:pPr algn="l">
              <a:spcAft>
                <a:spcPts val="0"/>
              </a:spcAft>
            </a:pPr>
            <a:r>
              <a:rPr lang="es-CO" sz="800" b="0" i="0" noProof="0" dirty="0">
                <a:solidFill>
                  <a:srgbClr val="55636E"/>
                </a:solidFill>
                <a:latin typeface="Calibri"/>
              </a:rPr>
              <a:t>Casas 121 CR, 12 y 10 (y revisar 447p, 35, 42)</a:t>
            </a:r>
          </a:p>
        </p:txBody>
      </p:sp>
      <p:sp>
        <p:nvSpPr>
          <p:cNvPr id="22" name="Rounded Rectangle 21"/>
          <p:cNvSpPr/>
          <p:nvPr/>
        </p:nvSpPr>
        <p:spPr>
          <a:xfrm>
            <a:off x="7269480" y="1938528"/>
            <a:ext cx="1325880" cy="274320"/>
          </a:xfrm>
          <a:prstGeom prst="roundRect">
            <a:avLst/>
          </a:prstGeom>
          <a:solidFill>
            <a:srgbClr val="F5A623"/>
          </a:solidFill>
          <a:ln w="12700">
            <a:solidFill>
              <a:srgbClr val="F5A623"/>
            </a:solidFill>
          </a:ln>
        </p:spPr>
        <p:txBody>
          <a:bodyPr rtlCol="0" anchor="ctr"/>
          <a:lstStyle/>
          <a:p>
            <a:pPr algn="ctr"/>
            <a:endParaRPr lang="es-CO" noProof="0" dirty="0"/>
          </a:p>
        </p:txBody>
      </p:sp>
      <p:sp>
        <p:nvSpPr>
          <p:cNvPr id="23" name="TextBox 22"/>
          <p:cNvSpPr txBox="1"/>
          <p:nvPr/>
        </p:nvSpPr>
        <p:spPr>
          <a:xfrm>
            <a:off x="7269480" y="1938528"/>
            <a:ext cx="1325880" cy="274320"/>
          </a:xfrm>
          <a:prstGeom prst="rect">
            <a:avLst/>
          </a:prstGeom>
          <a:noFill/>
        </p:spPr>
        <p:txBody>
          <a:bodyPr wrap="square" lIns="0" tIns="0" rIns="0" bIns="0" anchor="ctr">
            <a:spAutoFit/>
          </a:bodyPr>
          <a:lstStyle/>
          <a:p>
            <a:pPr algn="ctr">
              <a:spcAft>
                <a:spcPts val="0"/>
              </a:spcAft>
            </a:pPr>
            <a:r>
              <a:rPr lang="es-CO" sz="800" b="1" i="0" noProof="0" dirty="0">
                <a:solidFill>
                  <a:srgbClr val="FFFFFF"/>
                </a:solidFill>
                <a:latin typeface="Calibri"/>
              </a:rPr>
              <a:t>10,4 h</a:t>
            </a:r>
          </a:p>
        </p:txBody>
      </p:sp>
      <p:sp>
        <p:nvSpPr>
          <p:cNvPr id="24" name="Rectangle 23"/>
          <p:cNvSpPr/>
          <p:nvPr/>
        </p:nvSpPr>
        <p:spPr>
          <a:xfrm>
            <a:off x="411480" y="2414016"/>
            <a:ext cx="8321040" cy="530352"/>
          </a:xfrm>
          <a:prstGeom prst="rect">
            <a:avLst/>
          </a:prstGeom>
          <a:solidFill>
            <a:srgbClr val="FFFFFF"/>
          </a:solidFill>
          <a:ln w="10160">
            <a:solidFill>
              <a:srgbClr val="E3E7EA"/>
            </a:solidFill>
          </a:ln>
        </p:spPr>
        <p:txBody>
          <a:bodyPr rtlCol="0" anchor="ctr"/>
          <a:lstStyle/>
          <a:p>
            <a:pPr algn="ctr"/>
            <a:endParaRPr lang="es-CO" noProof="0" dirty="0"/>
          </a:p>
        </p:txBody>
      </p:sp>
      <p:sp>
        <p:nvSpPr>
          <p:cNvPr id="25" name="Rectangle 24"/>
          <p:cNvSpPr/>
          <p:nvPr/>
        </p:nvSpPr>
        <p:spPr>
          <a:xfrm>
            <a:off x="411480" y="2414016"/>
            <a:ext cx="54864" cy="53035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26" name="Oval 25"/>
          <p:cNvSpPr/>
          <p:nvPr/>
        </p:nvSpPr>
        <p:spPr>
          <a:xfrm>
            <a:off x="594360" y="2523744"/>
            <a:ext cx="310896" cy="310896"/>
          </a:xfrm>
          <a:prstGeom prst="ellipse">
            <a:avLst/>
          </a:prstGeom>
          <a:solidFill>
            <a:srgbClr val="C0392B"/>
          </a:solidFill>
          <a:ln w="12700">
            <a:solidFill>
              <a:srgbClr val="C0392B"/>
            </a:solidFill>
          </a:ln>
        </p:spPr>
        <p:txBody>
          <a:bodyPr rtlCol="0" anchor="ctr"/>
          <a:lstStyle/>
          <a:p>
            <a:pPr algn="ctr"/>
            <a:endParaRPr lang="es-CO" noProof="0" dirty="0"/>
          </a:p>
        </p:txBody>
      </p:sp>
      <p:sp>
        <p:nvSpPr>
          <p:cNvPr id="27" name="TextBox 26"/>
          <p:cNvSpPr txBox="1"/>
          <p:nvPr/>
        </p:nvSpPr>
        <p:spPr>
          <a:xfrm>
            <a:off x="594360" y="2523744"/>
            <a:ext cx="310896" cy="310896"/>
          </a:xfrm>
          <a:prstGeom prst="rect">
            <a:avLst/>
          </a:prstGeom>
          <a:noFill/>
        </p:spPr>
        <p:txBody>
          <a:bodyPr wrap="square" lIns="0" tIns="0" rIns="0" bIns="0" anchor="ctr">
            <a:spAutoFit/>
          </a:bodyPr>
          <a:lstStyle/>
          <a:p>
            <a:pPr algn="ctr">
              <a:spcAft>
                <a:spcPts val="0"/>
              </a:spcAft>
            </a:pPr>
            <a:r>
              <a:rPr lang="es-CO" sz="1100" b="1" i="0" noProof="0" dirty="0">
                <a:solidFill>
                  <a:srgbClr val="FFFFFF"/>
                </a:solidFill>
                <a:latin typeface="Calibri"/>
              </a:rPr>
              <a:t>3</a:t>
            </a:r>
          </a:p>
        </p:txBody>
      </p:sp>
      <p:sp>
        <p:nvSpPr>
          <p:cNvPr id="28" name="TextBox 27"/>
          <p:cNvSpPr txBox="1"/>
          <p:nvPr/>
        </p:nvSpPr>
        <p:spPr>
          <a:xfrm>
            <a:off x="1051560" y="2441448"/>
            <a:ext cx="3657600" cy="228600"/>
          </a:xfrm>
          <a:prstGeom prst="rect">
            <a:avLst/>
          </a:prstGeom>
          <a:noFill/>
        </p:spPr>
        <p:txBody>
          <a:bodyPr wrap="square" lIns="0" tIns="0" rIns="0" bIns="0" anchor="ctr">
            <a:spAutoFit/>
          </a:bodyPr>
          <a:lstStyle/>
          <a:p>
            <a:pPr algn="l">
              <a:spcAft>
                <a:spcPts val="0"/>
              </a:spcAft>
            </a:pPr>
            <a:r>
              <a:rPr lang="es-CO" sz="1050" b="1" i="0" noProof="0" dirty="0">
                <a:solidFill>
                  <a:srgbClr val="1B3A6B"/>
                </a:solidFill>
                <a:latin typeface="Calibri"/>
              </a:rPr>
              <a:t>Código de falla a Livoltek</a:t>
            </a:r>
          </a:p>
        </p:txBody>
      </p:sp>
      <p:sp>
        <p:nvSpPr>
          <p:cNvPr id="29" name="TextBox 28"/>
          <p:cNvSpPr txBox="1"/>
          <p:nvPr/>
        </p:nvSpPr>
        <p:spPr>
          <a:xfrm>
            <a:off x="1051560" y="2679192"/>
            <a:ext cx="5029200" cy="228600"/>
          </a:xfrm>
          <a:prstGeom prst="rect">
            <a:avLst/>
          </a:prstGeom>
          <a:noFill/>
        </p:spPr>
        <p:txBody>
          <a:bodyPr wrap="square" lIns="0" tIns="0" rIns="0" bIns="0" anchor="ctr">
            <a:spAutoFit/>
          </a:bodyPr>
          <a:lstStyle/>
          <a:p>
            <a:pPr algn="l">
              <a:spcAft>
                <a:spcPts val="0"/>
              </a:spcAft>
            </a:pPr>
            <a:r>
              <a:rPr lang="es-CO" sz="800" b="0" i="0" noProof="0" dirty="0">
                <a:solidFill>
                  <a:srgbClr val="55636E"/>
                </a:solidFill>
                <a:latin typeface="Calibri"/>
              </a:rPr>
              <a:t>Casa 435p con alarma larga de inversor (15,5 h); verificar la Casa 86p (Deye, 2,5 h, 13/10)</a:t>
            </a:r>
          </a:p>
        </p:txBody>
      </p:sp>
      <p:sp>
        <p:nvSpPr>
          <p:cNvPr id="30" name="Rounded Rectangle 29"/>
          <p:cNvSpPr/>
          <p:nvPr/>
        </p:nvSpPr>
        <p:spPr>
          <a:xfrm>
            <a:off x="7269480" y="2542032"/>
            <a:ext cx="1325880" cy="274320"/>
          </a:xfrm>
          <a:prstGeom prst="roundRect">
            <a:avLst/>
          </a:prstGeom>
          <a:solidFill>
            <a:srgbClr val="C0392B"/>
          </a:solidFill>
          <a:ln w="12700">
            <a:solidFill>
              <a:srgbClr val="C0392B"/>
            </a:solidFill>
          </a:ln>
        </p:spPr>
        <p:txBody>
          <a:bodyPr rtlCol="0" anchor="ctr"/>
          <a:lstStyle/>
          <a:p>
            <a:pPr algn="ctr"/>
            <a:endParaRPr lang="es-CO" noProof="0" dirty="0"/>
          </a:p>
        </p:txBody>
      </p:sp>
      <p:sp>
        <p:nvSpPr>
          <p:cNvPr id="31" name="TextBox 30"/>
          <p:cNvSpPr txBox="1"/>
          <p:nvPr/>
        </p:nvSpPr>
        <p:spPr>
          <a:xfrm>
            <a:off x="7269480" y="2542032"/>
            <a:ext cx="1325880" cy="274320"/>
          </a:xfrm>
          <a:prstGeom prst="rect">
            <a:avLst/>
          </a:prstGeom>
          <a:noFill/>
        </p:spPr>
        <p:txBody>
          <a:bodyPr wrap="square" lIns="0" tIns="0" rIns="0" bIns="0" anchor="ctr">
            <a:spAutoFit/>
          </a:bodyPr>
          <a:lstStyle/>
          <a:p>
            <a:pPr algn="ctr">
              <a:spcAft>
                <a:spcPts val="0"/>
              </a:spcAft>
            </a:pPr>
            <a:r>
              <a:rPr lang="es-CO" sz="800" b="1" i="0" noProof="0" dirty="0">
                <a:solidFill>
                  <a:srgbClr val="FFFFFF"/>
                </a:solidFill>
                <a:latin typeface="Calibri"/>
              </a:rPr>
              <a:t>Disponibilidad</a:t>
            </a:r>
          </a:p>
        </p:txBody>
      </p:sp>
      <p:sp>
        <p:nvSpPr>
          <p:cNvPr id="32" name="Rectangle 31"/>
          <p:cNvSpPr/>
          <p:nvPr/>
        </p:nvSpPr>
        <p:spPr>
          <a:xfrm>
            <a:off x="411480" y="3017520"/>
            <a:ext cx="8321040" cy="530352"/>
          </a:xfrm>
          <a:prstGeom prst="rect">
            <a:avLst/>
          </a:prstGeom>
          <a:solidFill>
            <a:srgbClr val="FFFFFF"/>
          </a:solidFill>
          <a:ln w="10160">
            <a:solidFill>
              <a:srgbClr val="E3E7EA"/>
            </a:solidFill>
          </a:ln>
        </p:spPr>
        <p:txBody>
          <a:bodyPr rtlCol="0" anchor="ctr"/>
          <a:lstStyle/>
          <a:p>
            <a:pPr algn="ctr"/>
            <a:endParaRPr lang="es-CO" noProof="0" dirty="0"/>
          </a:p>
        </p:txBody>
      </p:sp>
      <p:sp>
        <p:nvSpPr>
          <p:cNvPr id="33" name="Rectangle 32"/>
          <p:cNvSpPr/>
          <p:nvPr/>
        </p:nvSpPr>
        <p:spPr>
          <a:xfrm>
            <a:off x="411480" y="3017520"/>
            <a:ext cx="54864" cy="530352"/>
          </a:xfrm>
          <a:prstGeom prst="rect">
            <a:avLst/>
          </a:prstGeom>
          <a:solidFill>
            <a:srgbClr val="1F6F78"/>
          </a:solidFill>
          <a:ln w="12700">
            <a:solidFill>
              <a:srgbClr val="1F6F78"/>
            </a:solidFill>
          </a:ln>
        </p:spPr>
        <p:txBody>
          <a:bodyPr rtlCol="0" anchor="ctr"/>
          <a:lstStyle/>
          <a:p>
            <a:pPr algn="ctr"/>
            <a:endParaRPr lang="es-CO" noProof="0" dirty="0"/>
          </a:p>
        </p:txBody>
      </p:sp>
      <p:sp>
        <p:nvSpPr>
          <p:cNvPr id="34" name="Oval 33"/>
          <p:cNvSpPr/>
          <p:nvPr/>
        </p:nvSpPr>
        <p:spPr>
          <a:xfrm>
            <a:off x="594360" y="3127248"/>
            <a:ext cx="310896" cy="310896"/>
          </a:xfrm>
          <a:prstGeom prst="ellipse">
            <a:avLst/>
          </a:prstGeom>
          <a:solidFill>
            <a:srgbClr val="1F6F78"/>
          </a:solidFill>
          <a:ln w="12700">
            <a:solidFill>
              <a:srgbClr val="1F6F78"/>
            </a:solidFill>
          </a:ln>
        </p:spPr>
        <p:txBody>
          <a:bodyPr rtlCol="0" anchor="ctr"/>
          <a:lstStyle/>
          <a:p>
            <a:pPr algn="ctr"/>
            <a:endParaRPr lang="es-CO" noProof="0" dirty="0"/>
          </a:p>
        </p:txBody>
      </p:sp>
      <p:sp>
        <p:nvSpPr>
          <p:cNvPr id="35" name="TextBox 34"/>
          <p:cNvSpPr txBox="1"/>
          <p:nvPr/>
        </p:nvSpPr>
        <p:spPr>
          <a:xfrm>
            <a:off x="594360" y="3127248"/>
            <a:ext cx="310896" cy="310896"/>
          </a:xfrm>
          <a:prstGeom prst="rect">
            <a:avLst/>
          </a:prstGeom>
          <a:noFill/>
        </p:spPr>
        <p:txBody>
          <a:bodyPr wrap="square" lIns="0" tIns="0" rIns="0" bIns="0" anchor="ctr">
            <a:spAutoFit/>
          </a:bodyPr>
          <a:lstStyle/>
          <a:p>
            <a:pPr algn="ctr">
              <a:spcAft>
                <a:spcPts val="0"/>
              </a:spcAft>
            </a:pPr>
            <a:r>
              <a:rPr lang="es-CO" sz="1100" b="1" i="0" noProof="0" dirty="0">
                <a:solidFill>
                  <a:srgbClr val="FFFFFF"/>
                </a:solidFill>
                <a:latin typeface="Calibri"/>
              </a:rPr>
              <a:t>4</a:t>
            </a:r>
          </a:p>
        </p:txBody>
      </p:sp>
      <p:sp>
        <p:nvSpPr>
          <p:cNvPr id="36" name="TextBox 35"/>
          <p:cNvSpPr txBox="1"/>
          <p:nvPr/>
        </p:nvSpPr>
        <p:spPr>
          <a:xfrm>
            <a:off x="1051560" y="3044951"/>
            <a:ext cx="3657600" cy="228600"/>
          </a:xfrm>
          <a:prstGeom prst="rect">
            <a:avLst/>
          </a:prstGeom>
          <a:noFill/>
        </p:spPr>
        <p:txBody>
          <a:bodyPr wrap="square" lIns="0" tIns="0" rIns="0" bIns="0" anchor="ctr">
            <a:spAutoFit/>
          </a:bodyPr>
          <a:lstStyle/>
          <a:p>
            <a:pPr algn="l">
              <a:spcAft>
                <a:spcPts val="0"/>
              </a:spcAft>
            </a:pPr>
            <a:r>
              <a:rPr lang="es-CO" sz="1050" b="1" i="0" noProof="0" dirty="0">
                <a:solidFill>
                  <a:srgbClr val="1B3A6B"/>
                </a:solidFill>
                <a:latin typeface="Calibri"/>
              </a:rPr>
              <a:t>Revisar reconexión a la red</a:t>
            </a:r>
          </a:p>
        </p:txBody>
      </p:sp>
      <p:sp>
        <p:nvSpPr>
          <p:cNvPr id="37" name="TextBox 36"/>
          <p:cNvSpPr txBox="1"/>
          <p:nvPr/>
        </p:nvSpPr>
        <p:spPr>
          <a:xfrm>
            <a:off x="1051560" y="3282696"/>
            <a:ext cx="5029200" cy="228600"/>
          </a:xfrm>
          <a:prstGeom prst="rect">
            <a:avLst/>
          </a:prstGeom>
          <a:noFill/>
        </p:spPr>
        <p:txBody>
          <a:bodyPr wrap="square" lIns="0" tIns="0" rIns="0" bIns="0" anchor="ctr">
            <a:spAutoFit/>
          </a:bodyPr>
          <a:lstStyle/>
          <a:p>
            <a:pPr algn="l">
              <a:spcAft>
                <a:spcPts val="0"/>
              </a:spcAft>
            </a:pPr>
            <a:r>
              <a:rPr lang="es-CO" sz="800" b="0" i="0" noProof="0" dirty="0">
                <a:solidFill>
                  <a:srgbClr val="55636E"/>
                </a:solidFill>
                <a:latin typeface="Calibri"/>
              </a:rPr>
              <a:t>Deye (≈ 31 s) y Livoltek (≈ 16 s) al volver la red</a:t>
            </a:r>
          </a:p>
        </p:txBody>
      </p:sp>
      <p:sp>
        <p:nvSpPr>
          <p:cNvPr id="38" name="Rounded Rectangle 37"/>
          <p:cNvSpPr/>
          <p:nvPr/>
        </p:nvSpPr>
        <p:spPr>
          <a:xfrm>
            <a:off x="7269480" y="3145536"/>
            <a:ext cx="1325880" cy="274320"/>
          </a:xfrm>
          <a:prstGeom prst="roundRect">
            <a:avLst/>
          </a:prstGeom>
          <a:solidFill>
            <a:srgbClr val="1F6F78"/>
          </a:solidFill>
          <a:ln w="12700">
            <a:solidFill>
              <a:srgbClr val="1F6F78"/>
            </a:solidFill>
          </a:ln>
        </p:spPr>
        <p:txBody>
          <a:bodyPr rtlCol="0" anchor="ctr"/>
          <a:lstStyle/>
          <a:p>
            <a:pPr algn="ctr"/>
            <a:endParaRPr lang="es-CO" noProof="0" dirty="0"/>
          </a:p>
        </p:txBody>
      </p:sp>
      <p:sp>
        <p:nvSpPr>
          <p:cNvPr id="39" name="TextBox 38"/>
          <p:cNvSpPr txBox="1"/>
          <p:nvPr/>
        </p:nvSpPr>
        <p:spPr>
          <a:xfrm>
            <a:off x="7269480" y="3145536"/>
            <a:ext cx="1325880" cy="274320"/>
          </a:xfrm>
          <a:prstGeom prst="rect">
            <a:avLst/>
          </a:prstGeom>
          <a:noFill/>
        </p:spPr>
        <p:txBody>
          <a:bodyPr wrap="square" lIns="0" tIns="0" rIns="0" bIns="0" anchor="ctr">
            <a:spAutoFit/>
          </a:bodyPr>
          <a:lstStyle/>
          <a:p>
            <a:pPr algn="ctr">
              <a:spcAft>
                <a:spcPts val="0"/>
              </a:spcAft>
            </a:pPr>
            <a:r>
              <a:rPr lang="es-CO" sz="800" b="1" i="0" noProof="0" dirty="0">
                <a:solidFill>
                  <a:srgbClr val="FFFFFF"/>
                </a:solidFill>
                <a:latin typeface="Calibri"/>
              </a:rPr>
              <a:t>0,86 h</a:t>
            </a:r>
          </a:p>
        </p:txBody>
      </p:sp>
      <p:sp>
        <p:nvSpPr>
          <p:cNvPr id="40" name="Rectangle 39"/>
          <p:cNvSpPr/>
          <p:nvPr/>
        </p:nvSpPr>
        <p:spPr>
          <a:xfrm>
            <a:off x="411480" y="3621024"/>
            <a:ext cx="8321040" cy="530352"/>
          </a:xfrm>
          <a:prstGeom prst="rect">
            <a:avLst/>
          </a:prstGeom>
          <a:solidFill>
            <a:srgbClr val="FFFFFF"/>
          </a:solidFill>
          <a:ln w="10160">
            <a:solidFill>
              <a:srgbClr val="E3E7EA"/>
            </a:solidFill>
          </a:ln>
        </p:spPr>
        <p:txBody>
          <a:bodyPr rtlCol="0" anchor="ctr"/>
          <a:lstStyle/>
          <a:p>
            <a:pPr algn="ctr"/>
            <a:endParaRPr lang="es-CO" noProof="0" dirty="0"/>
          </a:p>
        </p:txBody>
      </p:sp>
      <p:sp>
        <p:nvSpPr>
          <p:cNvPr id="41" name="Rectangle 40"/>
          <p:cNvSpPr/>
          <p:nvPr/>
        </p:nvSpPr>
        <p:spPr>
          <a:xfrm>
            <a:off x="411480" y="3621024"/>
            <a:ext cx="54864" cy="53035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42" name="Oval 41"/>
          <p:cNvSpPr/>
          <p:nvPr/>
        </p:nvSpPr>
        <p:spPr>
          <a:xfrm>
            <a:off x="594360" y="3730752"/>
            <a:ext cx="310896" cy="310896"/>
          </a:xfrm>
          <a:prstGeom prst="ellipse">
            <a:avLst/>
          </a:prstGeom>
          <a:solidFill>
            <a:srgbClr val="2B5BA3"/>
          </a:solidFill>
          <a:ln w="12700">
            <a:solidFill>
              <a:srgbClr val="2B5BA3"/>
            </a:solidFill>
          </a:ln>
        </p:spPr>
        <p:txBody>
          <a:bodyPr rtlCol="0" anchor="ctr"/>
          <a:lstStyle/>
          <a:p>
            <a:pPr algn="ctr"/>
            <a:endParaRPr lang="es-CO" noProof="0" dirty="0"/>
          </a:p>
        </p:txBody>
      </p:sp>
      <p:sp>
        <p:nvSpPr>
          <p:cNvPr id="43" name="TextBox 42"/>
          <p:cNvSpPr txBox="1"/>
          <p:nvPr/>
        </p:nvSpPr>
        <p:spPr>
          <a:xfrm>
            <a:off x="594360" y="3730752"/>
            <a:ext cx="310896" cy="310896"/>
          </a:xfrm>
          <a:prstGeom prst="rect">
            <a:avLst/>
          </a:prstGeom>
          <a:noFill/>
        </p:spPr>
        <p:txBody>
          <a:bodyPr wrap="square" lIns="0" tIns="0" rIns="0" bIns="0" anchor="ctr">
            <a:spAutoFit/>
          </a:bodyPr>
          <a:lstStyle/>
          <a:p>
            <a:pPr algn="ctr">
              <a:spcAft>
                <a:spcPts val="0"/>
              </a:spcAft>
            </a:pPr>
            <a:r>
              <a:rPr lang="es-CO" sz="1100" b="1" i="0" noProof="0" dirty="0">
                <a:solidFill>
                  <a:srgbClr val="FFFFFF"/>
                </a:solidFill>
                <a:latin typeface="Calibri"/>
              </a:rPr>
              <a:t>5</a:t>
            </a:r>
          </a:p>
        </p:txBody>
      </p:sp>
      <p:sp>
        <p:nvSpPr>
          <p:cNvPr id="44" name="TextBox 43"/>
          <p:cNvSpPr txBox="1"/>
          <p:nvPr/>
        </p:nvSpPr>
        <p:spPr>
          <a:xfrm>
            <a:off x="1051560" y="3648456"/>
            <a:ext cx="3657600" cy="228600"/>
          </a:xfrm>
          <a:prstGeom prst="rect">
            <a:avLst/>
          </a:prstGeom>
          <a:noFill/>
        </p:spPr>
        <p:txBody>
          <a:bodyPr wrap="square" lIns="0" tIns="0" rIns="0" bIns="0" anchor="ctr">
            <a:spAutoFit/>
          </a:bodyPr>
          <a:lstStyle/>
          <a:p>
            <a:pPr algn="l">
              <a:spcAft>
                <a:spcPts val="0"/>
              </a:spcAft>
            </a:pPr>
            <a:r>
              <a:rPr lang="es-CO" sz="1050" b="1" i="0" noProof="0" dirty="0">
                <a:solidFill>
                  <a:srgbClr val="1B3A6B"/>
                </a:solidFill>
                <a:latin typeface="Calibri"/>
              </a:rPr>
              <a:t>Casas con consumo sobre el diseño</a:t>
            </a:r>
          </a:p>
        </p:txBody>
      </p:sp>
      <p:sp>
        <p:nvSpPr>
          <p:cNvPr id="45" name="TextBox 44"/>
          <p:cNvSpPr txBox="1"/>
          <p:nvPr/>
        </p:nvSpPr>
        <p:spPr>
          <a:xfrm>
            <a:off x="1051560" y="3886200"/>
            <a:ext cx="5029200" cy="228600"/>
          </a:xfrm>
          <a:prstGeom prst="rect">
            <a:avLst/>
          </a:prstGeom>
          <a:noFill/>
        </p:spPr>
        <p:txBody>
          <a:bodyPr wrap="square" lIns="0" tIns="0" rIns="0" bIns="0" anchor="ctr">
            <a:spAutoFit/>
          </a:bodyPr>
          <a:lstStyle/>
          <a:p>
            <a:pPr algn="l">
              <a:spcAft>
                <a:spcPts val="0"/>
              </a:spcAft>
            </a:pPr>
            <a:r>
              <a:rPr lang="es-CO" sz="800" b="0" i="0" noProof="0" dirty="0">
                <a:solidFill>
                  <a:srgbClr val="55636E"/>
                </a:solidFill>
                <a:latin typeface="Calibri"/>
              </a:rPr>
              <a:t>9 casas &gt; 30% sobre la línea base: validar uso con el cliente y ajustar expectativa de cobertura</a:t>
            </a:r>
          </a:p>
        </p:txBody>
      </p:sp>
      <p:sp>
        <p:nvSpPr>
          <p:cNvPr id="46" name="Rounded Rectangle 45"/>
          <p:cNvSpPr/>
          <p:nvPr/>
        </p:nvSpPr>
        <p:spPr>
          <a:xfrm>
            <a:off x="7269480" y="3749039"/>
            <a:ext cx="1325880" cy="274320"/>
          </a:xfrm>
          <a:prstGeom prst="roundRect">
            <a:avLst/>
          </a:prstGeom>
          <a:solidFill>
            <a:srgbClr val="2B5BA3"/>
          </a:solidFill>
          <a:ln w="12700">
            <a:solidFill>
              <a:srgbClr val="2B5BA3"/>
            </a:solidFill>
          </a:ln>
        </p:spPr>
        <p:txBody>
          <a:bodyPr rtlCol="0" anchor="ctr"/>
          <a:lstStyle/>
          <a:p>
            <a:pPr algn="ctr"/>
            <a:endParaRPr lang="es-CO" noProof="0" dirty="0"/>
          </a:p>
        </p:txBody>
      </p:sp>
      <p:sp>
        <p:nvSpPr>
          <p:cNvPr id="47" name="TextBox 46"/>
          <p:cNvSpPr txBox="1"/>
          <p:nvPr/>
        </p:nvSpPr>
        <p:spPr>
          <a:xfrm>
            <a:off x="7269480" y="3749039"/>
            <a:ext cx="1325880" cy="274320"/>
          </a:xfrm>
          <a:prstGeom prst="rect">
            <a:avLst/>
          </a:prstGeom>
          <a:noFill/>
        </p:spPr>
        <p:txBody>
          <a:bodyPr wrap="square" lIns="0" tIns="0" rIns="0" bIns="0" anchor="ctr">
            <a:spAutoFit/>
          </a:bodyPr>
          <a:lstStyle/>
          <a:p>
            <a:pPr algn="ctr">
              <a:spcAft>
                <a:spcPts val="0"/>
              </a:spcAft>
            </a:pPr>
            <a:r>
              <a:rPr lang="es-CO" sz="800" b="1" i="0" noProof="0" dirty="0">
                <a:solidFill>
                  <a:srgbClr val="FFFFFF"/>
                </a:solidFill>
                <a:latin typeface="Calibri"/>
              </a:rPr>
              <a:t>Cobertura</a:t>
            </a:r>
          </a:p>
        </p:txBody>
      </p:sp>
      <p:sp>
        <p:nvSpPr>
          <p:cNvPr id="48" name="Rectangle 47"/>
          <p:cNvSpPr/>
          <p:nvPr/>
        </p:nvSpPr>
        <p:spPr>
          <a:xfrm>
            <a:off x="411480" y="4279392"/>
            <a:ext cx="8321040" cy="4572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49" name="TextBox 48"/>
          <p:cNvSpPr txBox="1"/>
          <p:nvPr/>
        </p:nvSpPr>
        <p:spPr>
          <a:xfrm>
            <a:off x="594360" y="4279392"/>
            <a:ext cx="8046720" cy="457200"/>
          </a:xfrm>
          <a:prstGeom prst="rect">
            <a:avLst/>
          </a:prstGeom>
          <a:noFill/>
        </p:spPr>
        <p:txBody>
          <a:bodyPr wrap="square" lIns="0" tIns="0" rIns="0" bIns="0" anchor="ctr">
            <a:spAutoFit/>
          </a:bodyPr>
          <a:lstStyle/>
          <a:p>
            <a:pPr algn="l">
              <a:spcAft>
                <a:spcPts val="0"/>
              </a:spcAft>
            </a:pPr>
            <a:r>
              <a:rPr lang="es-CO" sz="950" b="1" i="0" noProof="0" dirty="0">
                <a:solidFill>
                  <a:srgbClr val="FFFFFF"/>
                </a:solidFill>
                <a:latin typeface="Calibri"/>
              </a:rPr>
              <a:t>Meta cumplida (94,5% frente a 90%). El margen está en las fallas de equipo (14,7 h) y en la reserva de batería (10,4 h).</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ANEXO</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2100" b="1" i="0" noProof="0" dirty="0">
                <a:solidFill>
                  <a:srgbClr val="1B3A6B"/>
                </a:solidFill>
                <a:latin typeface="Calibri"/>
              </a:rPr>
              <a:t>Metodología y alcance del reporte</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21</a:t>
            </a:r>
          </a:p>
        </p:txBody>
      </p:sp>
      <p:sp>
        <p:nvSpPr>
          <p:cNvPr id="8" name="Rectangle 7"/>
          <p:cNvSpPr/>
          <p:nvPr/>
        </p:nvSpPr>
        <p:spPr>
          <a:xfrm>
            <a:off x="411480" y="1188720"/>
            <a:ext cx="4114800" cy="100584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9" name="Rectangle 8"/>
          <p:cNvSpPr/>
          <p:nvPr/>
        </p:nvSpPr>
        <p:spPr>
          <a:xfrm>
            <a:off x="411480" y="1188720"/>
            <a:ext cx="4114800" cy="4572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10" name="TextBox 9"/>
          <p:cNvSpPr txBox="1"/>
          <p:nvPr/>
        </p:nvSpPr>
        <p:spPr>
          <a:xfrm>
            <a:off x="548640" y="1280160"/>
            <a:ext cx="3840480" cy="201168"/>
          </a:xfrm>
          <a:prstGeom prst="rect">
            <a:avLst/>
          </a:prstGeom>
          <a:noFill/>
        </p:spPr>
        <p:txBody>
          <a:bodyPr wrap="square" lIns="0" tIns="0" rIns="0" bIns="0" anchor="ctr">
            <a:spAutoFit/>
          </a:bodyPr>
          <a:lstStyle/>
          <a:p>
            <a:pPr algn="l">
              <a:spcAft>
                <a:spcPts val="0"/>
              </a:spcAft>
            </a:pPr>
            <a:r>
              <a:rPr lang="es-CO" sz="950" b="1" i="0" noProof="0" dirty="0">
                <a:solidFill>
                  <a:srgbClr val="1B3A6B"/>
                </a:solidFill>
                <a:latin typeface="Calibri"/>
              </a:rPr>
              <a:t>INIC 4</a:t>
            </a:r>
          </a:p>
        </p:txBody>
      </p:sp>
      <p:sp>
        <p:nvSpPr>
          <p:cNvPr id="11" name="TextBox 10"/>
          <p:cNvSpPr txBox="1"/>
          <p:nvPr/>
        </p:nvSpPr>
        <p:spPr>
          <a:xfrm>
            <a:off x="548640" y="1499616"/>
            <a:ext cx="3840480" cy="676656"/>
          </a:xfrm>
          <a:prstGeom prst="rect">
            <a:avLst/>
          </a:prstGeom>
          <a:noFill/>
        </p:spPr>
        <p:txBody>
          <a:bodyPr wrap="square" lIns="0" tIns="0" rIns="0" bIns="0" anchor="t">
            <a:spAutoFit/>
          </a:bodyPr>
          <a:lstStyle/>
          <a:p>
            <a:pPr algn="l">
              <a:spcAft>
                <a:spcPts val="0"/>
              </a:spcAft>
            </a:pPr>
            <a:r>
              <a:rPr lang="es-CO" sz="860" b="0" i="0" noProof="0" dirty="0">
                <a:solidFill>
                  <a:srgbClr val="1A1A2E"/>
                </a:solidFill>
                <a:latin typeface="Calibri"/>
              </a:rPr>
              <a:t>Σ(</a:t>
            </a:r>
            <a:r>
              <a:rPr lang="es-CO" sz="860" b="0" i="0" noProof="0" dirty="0" err="1">
                <a:solidFill>
                  <a:srgbClr val="1A1A2E"/>
                </a:solidFill>
                <a:latin typeface="Calibri"/>
              </a:rPr>
              <a:t>T_red</a:t>
            </a:r>
            <a:r>
              <a:rPr lang="es-CO" sz="860" b="0" i="0" noProof="0" dirty="0">
                <a:solidFill>
                  <a:srgbClr val="1A1A2E"/>
                </a:solidFill>
                <a:latin typeface="Calibri"/>
              </a:rPr>
              <a:t> − </a:t>
            </a:r>
            <a:r>
              <a:rPr lang="es-CO" sz="860" b="0" i="0" noProof="0" dirty="0" err="1">
                <a:solidFill>
                  <a:srgbClr val="1A1A2E"/>
                </a:solidFill>
                <a:latin typeface="Calibri"/>
              </a:rPr>
              <a:t>T_solar</a:t>
            </a:r>
            <a:r>
              <a:rPr lang="es-CO" sz="860" b="0" i="0" noProof="0" dirty="0">
                <a:solidFill>
                  <a:srgbClr val="1A1A2E"/>
                </a:solidFill>
                <a:latin typeface="Calibri"/>
              </a:rPr>
              <a:t>) / Σ </a:t>
            </a:r>
            <a:r>
              <a:rPr lang="es-CO" sz="860" b="0" i="0" noProof="0" dirty="0" err="1">
                <a:solidFill>
                  <a:srgbClr val="1A1A2E"/>
                </a:solidFill>
                <a:latin typeface="Calibri"/>
              </a:rPr>
              <a:t>T_red</a:t>
            </a:r>
            <a:r>
              <a:rPr lang="es-CO" sz="860" b="0" i="0" noProof="0" dirty="0">
                <a:solidFill>
                  <a:srgbClr val="1A1A2E"/>
                </a:solidFill>
                <a:latin typeface="Calibri"/>
              </a:rPr>
              <a:t>. </a:t>
            </a:r>
            <a:r>
              <a:rPr lang="es-CO" sz="860" b="0" i="0" noProof="0" dirty="0" err="1">
                <a:solidFill>
                  <a:srgbClr val="1A1A2E"/>
                </a:solidFill>
                <a:latin typeface="Calibri"/>
              </a:rPr>
              <a:t>T_red</a:t>
            </a:r>
            <a:r>
              <a:rPr lang="es-CO" sz="860" b="0" i="0" noProof="0" dirty="0">
                <a:solidFill>
                  <a:srgbClr val="1A1A2E"/>
                </a:solidFill>
                <a:latin typeface="Calibri"/>
              </a:rPr>
              <a:t>: tiempo sin tensión en el medidor de red; </a:t>
            </a:r>
            <a:r>
              <a:rPr lang="es-CO" sz="860" b="0" i="0" noProof="0" dirty="0" err="1">
                <a:solidFill>
                  <a:srgbClr val="1A1A2E"/>
                </a:solidFill>
                <a:latin typeface="Calibri"/>
              </a:rPr>
              <a:t>T_solar</a:t>
            </a:r>
            <a:r>
              <a:rPr lang="es-CO" sz="860" b="0" i="0" noProof="0" dirty="0">
                <a:solidFill>
                  <a:srgbClr val="1A1A2E"/>
                </a:solidFill>
                <a:latin typeface="Calibri"/>
              </a:rPr>
              <a:t>: sin tensión en el medidor solar. Eventos &gt; 2 min, agrupados si están a menos de 15 min.</a:t>
            </a:r>
          </a:p>
        </p:txBody>
      </p:sp>
      <p:sp>
        <p:nvSpPr>
          <p:cNvPr id="12" name="Rectangle 11"/>
          <p:cNvSpPr/>
          <p:nvPr/>
        </p:nvSpPr>
        <p:spPr>
          <a:xfrm>
            <a:off x="4617720" y="1188720"/>
            <a:ext cx="4114800" cy="100584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3" name="Rectangle 12"/>
          <p:cNvSpPr/>
          <p:nvPr/>
        </p:nvSpPr>
        <p:spPr>
          <a:xfrm>
            <a:off x="4617720" y="1188720"/>
            <a:ext cx="4114800" cy="45720"/>
          </a:xfrm>
          <a:prstGeom prst="rect">
            <a:avLst/>
          </a:prstGeom>
          <a:solidFill>
            <a:srgbClr val="1F6F78"/>
          </a:solidFill>
          <a:ln w="12700">
            <a:solidFill>
              <a:srgbClr val="1F6F78"/>
            </a:solidFill>
          </a:ln>
        </p:spPr>
        <p:txBody>
          <a:bodyPr rtlCol="0" anchor="ctr"/>
          <a:lstStyle/>
          <a:p>
            <a:pPr algn="ctr"/>
            <a:endParaRPr lang="es-CO" noProof="0" dirty="0"/>
          </a:p>
        </p:txBody>
      </p:sp>
      <p:sp>
        <p:nvSpPr>
          <p:cNvPr id="14" name="TextBox 13"/>
          <p:cNvSpPr txBox="1"/>
          <p:nvPr/>
        </p:nvSpPr>
        <p:spPr>
          <a:xfrm>
            <a:off x="4754880" y="1280160"/>
            <a:ext cx="3840480" cy="201168"/>
          </a:xfrm>
          <a:prstGeom prst="rect">
            <a:avLst/>
          </a:prstGeom>
          <a:noFill/>
        </p:spPr>
        <p:txBody>
          <a:bodyPr wrap="square" lIns="0" tIns="0" rIns="0" bIns="0" anchor="ctr">
            <a:spAutoFit/>
          </a:bodyPr>
          <a:lstStyle/>
          <a:p>
            <a:pPr algn="l">
              <a:spcAft>
                <a:spcPts val="0"/>
              </a:spcAft>
            </a:pPr>
            <a:r>
              <a:rPr lang="es-CO" sz="950" b="1" i="0" noProof="0" dirty="0">
                <a:solidFill>
                  <a:srgbClr val="1B3A6B"/>
                </a:solidFill>
                <a:latin typeface="Calibri"/>
              </a:rPr>
              <a:t>Clasificación por SOC</a:t>
            </a:r>
          </a:p>
        </p:txBody>
      </p:sp>
      <p:sp>
        <p:nvSpPr>
          <p:cNvPr id="15" name="TextBox 14"/>
          <p:cNvSpPr txBox="1"/>
          <p:nvPr/>
        </p:nvSpPr>
        <p:spPr>
          <a:xfrm>
            <a:off x="4754880" y="1499616"/>
            <a:ext cx="3840480" cy="676656"/>
          </a:xfrm>
          <a:prstGeom prst="rect">
            <a:avLst/>
          </a:prstGeom>
          <a:noFill/>
        </p:spPr>
        <p:txBody>
          <a:bodyPr wrap="square" lIns="0" tIns="0" rIns="0" bIns="0" anchor="t">
            <a:spAutoFit/>
          </a:bodyPr>
          <a:lstStyle/>
          <a:p>
            <a:pPr algn="l">
              <a:spcAft>
                <a:spcPts val="0"/>
              </a:spcAft>
            </a:pPr>
            <a:r>
              <a:rPr lang="es-CO" sz="860" b="0" i="0" noProof="0" dirty="0">
                <a:solidFill>
                  <a:srgbClr val="1A1A2E"/>
                </a:solidFill>
                <a:latin typeface="Calibri"/>
              </a:rPr>
              <a:t>SOC ≤ 21% al apagarse la casa = batería sin carga. Con SOC suficiente se clasifica por el momento: primeros 180 s (transición), últimos 90 s (retorno) o intermedio (falla durante el corte).</a:t>
            </a:r>
          </a:p>
        </p:txBody>
      </p:sp>
      <p:sp>
        <p:nvSpPr>
          <p:cNvPr id="16" name="Rectangle 15"/>
          <p:cNvSpPr/>
          <p:nvPr/>
        </p:nvSpPr>
        <p:spPr>
          <a:xfrm>
            <a:off x="411480" y="2286000"/>
            <a:ext cx="4114800" cy="100584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7" name="Rectangle 16"/>
          <p:cNvSpPr/>
          <p:nvPr/>
        </p:nvSpPr>
        <p:spPr>
          <a:xfrm>
            <a:off x="411480" y="2286000"/>
            <a:ext cx="4114800" cy="4572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18" name="TextBox 17"/>
          <p:cNvSpPr txBox="1"/>
          <p:nvPr/>
        </p:nvSpPr>
        <p:spPr>
          <a:xfrm>
            <a:off x="548640" y="2377440"/>
            <a:ext cx="3840480" cy="201168"/>
          </a:xfrm>
          <a:prstGeom prst="rect">
            <a:avLst/>
          </a:prstGeom>
          <a:noFill/>
        </p:spPr>
        <p:txBody>
          <a:bodyPr wrap="square" lIns="0" tIns="0" rIns="0" bIns="0" anchor="ctr">
            <a:spAutoFit/>
          </a:bodyPr>
          <a:lstStyle/>
          <a:p>
            <a:pPr algn="l">
              <a:spcAft>
                <a:spcPts val="0"/>
              </a:spcAft>
            </a:pPr>
            <a:r>
              <a:rPr lang="es-CO" sz="950" b="1" i="0" noProof="0" dirty="0">
                <a:solidFill>
                  <a:srgbClr val="1B3A6B"/>
                </a:solidFill>
                <a:latin typeface="Calibri"/>
              </a:rPr>
              <a:t>Generación y cobertura</a:t>
            </a:r>
          </a:p>
        </p:txBody>
      </p:sp>
      <p:sp>
        <p:nvSpPr>
          <p:cNvPr id="19" name="TextBox 18"/>
          <p:cNvSpPr txBox="1"/>
          <p:nvPr/>
        </p:nvSpPr>
        <p:spPr>
          <a:xfrm>
            <a:off x="548640" y="2596896"/>
            <a:ext cx="3840480" cy="676656"/>
          </a:xfrm>
          <a:prstGeom prst="rect">
            <a:avLst/>
          </a:prstGeom>
          <a:noFill/>
        </p:spPr>
        <p:txBody>
          <a:bodyPr wrap="square" lIns="0" tIns="0" rIns="0" bIns="0" anchor="t">
            <a:spAutoFit/>
          </a:bodyPr>
          <a:lstStyle/>
          <a:p>
            <a:pPr algn="l">
              <a:spcAft>
                <a:spcPts val="0"/>
              </a:spcAft>
            </a:pPr>
            <a:r>
              <a:rPr lang="es-CO" sz="860" b="0" i="0" noProof="0" dirty="0">
                <a:solidFill>
                  <a:srgbClr val="1A1A2E"/>
                </a:solidFill>
                <a:latin typeface="Calibri"/>
              </a:rPr>
              <a:t>Generación = demanda − importación + exportación (cierres diarios de los medidores). Cobertura = generación / demanda. Yield = kWh/kWp × 365 / días. Los indicadores medios son el promedio simple de los 10 conjuntos. Recorte = energía FV no producida con la batería llena (diapositivas 10 y 11).</a:t>
            </a:r>
          </a:p>
        </p:txBody>
      </p:sp>
      <p:sp>
        <p:nvSpPr>
          <p:cNvPr id="20" name="Rectangle 19"/>
          <p:cNvSpPr/>
          <p:nvPr/>
        </p:nvSpPr>
        <p:spPr>
          <a:xfrm>
            <a:off x="4617720" y="2286000"/>
            <a:ext cx="4114800" cy="100584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21" name="Rectangle 20"/>
          <p:cNvSpPr/>
          <p:nvPr/>
        </p:nvSpPr>
        <p:spPr>
          <a:xfrm>
            <a:off x="4617720" y="2286000"/>
            <a:ext cx="4114800" cy="45720"/>
          </a:xfrm>
          <a:prstGeom prst="rect">
            <a:avLst/>
          </a:prstGeom>
          <a:solidFill>
            <a:srgbClr val="1F6F78"/>
          </a:solidFill>
          <a:ln w="12700">
            <a:solidFill>
              <a:srgbClr val="1F6F78"/>
            </a:solidFill>
          </a:ln>
        </p:spPr>
        <p:txBody>
          <a:bodyPr rtlCol="0" anchor="ctr"/>
          <a:lstStyle/>
          <a:p>
            <a:pPr algn="ctr"/>
            <a:endParaRPr lang="es-CO" noProof="0" dirty="0"/>
          </a:p>
        </p:txBody>
      </p:sp>
      <p:sp>
        <p:nvSpPr>
          <p:cNvPr id="22" name="TextBox 21"/>
          <p:cNvSpPr txBox="1"/>
          <p:nvPr/>
        </p:nvSpPr>
        <p:spPr>
          <a:xfrm>
            <a:off x="4754880" y="2377440"/>
            <a:ext cx="3840480" cy="201168"/>
          </a:xfrm>
          <a:prstGeom prst="rect">
            <a:avLst/>
          </a:prstGeom>
          <a:noFill/>
        </p:spPr>
        <p:txBody>
          <a:bodyPr wrap="square" lIns="0" tIns="0" rIns="0" bIns="0" anchor="ctr">
            <a:spAutoFit/>
          </a:bodyPr>
          <a:lstStyle/>
          <a:p>
            <a:pPr algn="l">
              <a:spcAft>
                <a:spcPts val="0"/>
              </a:spcAft>
            </a:pPr>
            <a:r>
              <a:rPr lang="es-CO" sz="950" b="1" i="0" noProof="0" dirty="0">
                <a:solidFill>
                  <a:srgbClr val="1B3A6B"/>
                </a:solidFill>
                <a:latin typeface="Calibri"/>
              </a:rPr>
              <a:t>Alcance</a:t>
            </a:r>
          </a:p>
        </p:txBody>
      </p:sp>
      <p:sp>
        <p:nvSpPr>
          <p:cNvPr id="23" name="TextBox 22"/>
          <p:cNvSpPr txBox="1"/>
          <p:nvPr/>
        </p:nvSpPr>
        <p:spPr>
          <a:xfrm>
            <a:off x="4754880" y="2596896"/>
            <a:ext cx="3840480" cy="676656"/>
          </a:xfrm>
          <a:prstGeom prst="rect">
            <a:avLst/>
          </a:prstGeom>
          <a:noFill/>
        </p:spPr>
        <p:txBody>
          <a:bodyPr wrap="square" lIns="0" tIns="0" rIns="0" bIns="0" anchor="t">
            <a:spAutoFit/>
          </a:bodyPr>
          <a:lstStyle/>
          <a:p>
            <a:pPr algn="l">
              <a:spcAft>
                <a:spcPts val="0"/>
              </a:spcAft>
            </a:pPr>
            <a:r>
              <a:rPr lang="es-CO" sz="860" b="0" i="0" noProof="0" dirty="0">
                <a:solidFill>
                  <a:srgbClr val="1A1A2E"/>
                </a:solidFill>
                <a:latin typeface="Calibri"/>
              </a:rPr>
              <a:t>48 de 48 sistemas de Casas V3. Casa 447p: PV en servicio desde el 8/10 y sin comunicación del 20 al 22/10 (faltan sus cierres diarios del 17 al 20/10), así que su energía usa los 9 días del 8 al 16/10; el 20/10 exportó 9,7 kWh que no entran en las cifras de energía (por contadores, el portafolio exportó 29,4 kWh del 1 al 20/10). Periodo del 01 al 20/10 (20 días); el consumo no se proyecta a 30 días.</a:t>
            </a:r>
          </a:p>
        </p:txBody>
      </p:sp>
      <p:sp>
        <p:nvSpPr>
          <p:cNvPr id="24" name="Rectangle 23"/>
          <p:cNvSpPr/>
          <p:nvPr/>
        </p:nvSpPr>
        <p:spPr>
          <a:xfrm>
            <a:off x="411480" y="3383280"/>
            <a:ext cx="4114800" cy="100584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25" name="Rectangle 24"/>
          <p:cNvSpPr/>
          <p:nvPr/>
        </p:nvSpPr>
        <p:spPr>
          <a:xfrm>
            <a:off x="411480" y="3383280"/>
            <a:ext cx="4114800" cy="4572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26" name="TextBox 25"/>
          <p:cNvSpPr txBox="1"/>
          <p:nvPr/>
        </p:nvSpPr>
        <p:spPr>
          <a:xfrm>
            <a:off x="548640" y="3474720"/>
            <a:ext cx="3840480" cy="201168"/>
          </a:xfrm>
          <a:prstGeom prst="rect">
            <a:avLst/>
          </a:prstGeom>
          <a:noFill/>
        </p:spPr>
        <p:txBody>
          <a:bodyPr wrap="square" lIns="0" tIns="0" rIns="0" bIns="0" anchor="ctr">
            <a:spAutoFit/>
          </a:bodyPr>
          <a:lstStyle/>
          <a:p>
            <a:pPr algn="l">
              <a:spcAft>
                <a:spcPts val="0"/>
              </a:spcAft>
            </a:pPr>
            <a:r>
              <a:rPr lang="es-CO" sz="950" b="1" i="0" noProof="0" dirty="0">
                <a:solidFill>
                  <a:srgbClr val="1B3A6B"/>
                </a:solidFill>
                <a:latin typeface="Calibri"/>
              </a:rPr>
              <a:t>Cifras del periodo</a:t>
            </a:r>
          </a:p>
        </p:txBody>
      </p:sp>
      <p:sp>
        <p:nvSpPr>
          <p:cNvPr id="27" name="TextBox 26"/>
          <p:cNvSpPr txBox="1"/>
          <p:nvPr/>
        </p:nvSpPr>
        <p:spPr>
          <a:xfrm>
            <a:off x="548640" y="3694176"/>
            <a:ext cx="3840480" cy="676656"/>
          </a:xfrm>
          <a:prstGeom prst="rect">
            <a:avLst/>
          </a:prstGeom>
          <a:noFill/>
        </p:spPr>
        <p:txBody>
          <a:bodyPr wrap="square" lIns="0" tIns="0" rIns="0" bIns="0" anchor="t">
            <a:spAutoFit/>
          </a:bodyPr>
          <a:lstStyle/>
          <a:p>
            <a:pPr algn="l">
              <a:spcAft>
                <a:spcPts val="0"/>
              </a:spcAft>
            </a:pPr>
            <a:r>
              <a:rPr lang="es-CO" sz="860" b="0" i="0" noProof="0" dirty="0">
                <a:solidFill>
                  <a:srgbClr val="1A1A2E"/>
                </a:solidFill>
                <a:latin typeface="Calibri"/>
              </a:rPr>
              <a:t>Generación 13.631 kWh · Demanda 19.465 kWh · Importación 5.854 kWh · Exportación activa 19,7 kWh · 263,1 kWp.</a:t>
            </a:r>
          </a:p>
          <a:p>
            <a:pPr algn="l">
              <a:spcBef>
                <a:spcPts val="400"/>
              </a:spcBef>
              <a:spcAft>
                <a:spcPts val="0"/>
              </a:spcAft>
            </a:pPr>
            <a:r>
              <a:rPr lang="es-CO" sz="860" b="0" i="0" noProof="0" dirty="0">
                <a:solidFill>
                  <a:srgbClr val="1A1A2E"/>
                </a:solidFill>
                <a:latin typeface="Calibri"/>
              </a:rPr>
              <a:t>Evolución jul–oct (diap. 14 a 19): hoja BD1, 1/07 al 20/10; día válido = generación ≥ 0 y consumo numérico; casas comparables = ≥ 10 días válidos por mes.</a:t>
            </a:r>
          </a:p>
        </p:txBody>
      </p:sp>
      <p:sp>
        <p:nvSpPr>
          <p:cNvPr id="28" name="Rectangle 27"/>
          <p:cNvSpPr/>
          <p:nvPr/>
        </p:nvSpPr>
        <p:spPr>
          <a:xfrm>
            <a:off x="4617720" y="3383280"/>
            <a:ext cx="4114800" cy="100584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29" name="Rectangle 28"/>
          <p:cNvSpPr/>
          <p:nvPr/>
        </p:nvSpPr>
        <p:spPr>
          <a:xfrm>
            <a:off x="4617720" y="3383280"/>
            <a:ext cx="4114800" cy="45720"/>
          </a:xfrm>
          <a:prstGeom prst="rect">
            <a:avLst/>
          </a:prstGeom>
          <a:solidFill>
            <a:srgbClr val="1F6F78"/>
          </a:solidFill>
          <a:ln w="12700">
            <a:solidFill>
              <a:srgbClr val="1F6F78"/>
            </a:solidFill>
          </a:ln>
        </p:spPr>
        <p:txBody>
          <a:bodyPr rtlCol="0" anchor="ctr"/>
          <a:lstStyle/>
          <a:p>
            <a:pPr algn="ctr"/>
            <a:endParaRPr lang="es-CO" noProof="0" dirty="0"/>
          </a:p>
        </p:txBody>
      </p:sp>
      <p:sp>
        <p:nvSpPr>
          <p:cNvPr id="30" name="TextBox 29"/>
          <p:cNvSpPr txBox="1"/>
          <p:nvPr/>
        </p:nvSpPr>
        <p:spPr>
          <a:xfrm>
            <a:off x="4754880" y="3474720"/>
            <a:ext cx="3840480" cy="201168"/>
          </a:xfrm>
          <a:prstGeom prst="rect">
            <a:avLst/>
          </a:prstGeom>
          <a:noFill/>
        </p:spPr>
        <p:txBody>
          <a:bodyPr wrap="square" lIns="0" tIns="0" rIns="0" bIns="0" anchor="ctr">
            <a:spAutoFit/>
          </a:bodyPr>
          <a:lstStyle/>
          <a:p>
            <a:pPr algn="l">
              <a:spcAft>
                <a:spcPts val="0"/>
              </a:spcAft>
            </a:pPr>
            <a:r>
              <a:rPr lang="es-CO" sz="950" b="1" i="0" noProof="0" dirty="0">
                <a:solidFill>
                  <a:srgbClr val="1B3A6B"/>
                </a:solidFill>
                <a:latin typeface="Calibri"/>
              </a:rPr>
              <a:t>Fuente y créditos</a:t>
            </a:r>
          </a:p>
        </p:txBody>
      </p:sp>
      <p:sp>
        <p:nvSpPr>
          <p:cNvPr id="31" name="TextBox 30"/>
          <p:cNvSpPr txBox="1"/>
          <p:nvPr/>
        </p:nvSpPr>
        <p:spPr>
          <a:xfrm>
            <a:off x="4754880" y="3694176"/>
            <a:ext cx="3840480" cy="676656"/>
          </a:xfrm>
          <a:prstGeom prst="rect">
            <a:avLst/>
          </a:prstGeom>
          <a:noFill/>
        </p:spPr>
        <p:txBody>
          <a:bodyPr wrap="square" lIns="0" tIns="0" rIns="0" bIns="0" anchor="t">
            <a:spAutoFit/>
          </a:bodyPr>
          <a:lstStyle/>
          <a:p>
            <a:pPr algn="l">
              <a:spcAft>
                <a:spcPts val="0"/>
              </a:spcAft>
            </a:pPr>
            <a:r>
              <a:rPr lang="es-CO" sz="860" b="0" i="0" noProof="0" dirty="0">
                <a:solidFill>
                  <a:srgbClr val="1A1A2E"/>
                </a:solidFill>
                <a:latin typeface="Calibri"/>
              </a:rPr>
              <a:t>Telemetría de </a:t>
            </a:r>
            <a:r>
              <a:rPr lang="es-CO" sz="860" b="0" i="0" noProof="0" dirty="0" err="1">
                <a:solidFill>
                  <a:srgbClr val="1A1A2E"/>
                </a:solidFill>
                <a:latin typeface="Calibri"/>
              </a:rPr>
              <a:t>Metrum</a:t>
            </a:r>
            <a:r>
              <a:rPr lang="es-CO" sz="860" b="0" i="0" noProof="0" dirty="0">
                <a:solidFill>
                  <a:srgbClr val="1A1A2E"/>
                </a:solidFill>
                <a:latin typeface="Calibri"/>
              </a:rPr>
              <a:t> y alarmas del inversor. Imágenes de terceros, uso interno: portada (</a:t>
            </a:r>
            <a:r>
              <a:rPr lang="es-CO" sz="860" b="0" i="0" noProof="0" dirty="0" err="1">
                <a:solidFill>
                  <a:srgbClr val="1A1A2E"/>
                </a:solidFill>
                <a:latin typeface="Calibri"/>
              </a:rPr>
              <a:t>Higon</a:t>
            </a:r>
            <a:r>
              <a:rPr lang="es-CO" sz="860" b="0" i="0" noProof="0" dirty="0">
                <a:solidFill>
                  <a:srgbClr val="1A1A2E"/>
                </a:solidFill>
                <a:latin typeface="Calibri"/>
              </a:rPr>
              <a:t> Solar, higonsolar.com) y esquema de flujo (</a:t>
            </a:r>
            <a:r>
              <a:rPr lang="es-CO" sz="860" b="0" i="0" noProof="0" dirty="0" err="1">
                <a:solidFill>
                  <a:srgbClr val="1A1A2E"/>
                </a:solidFill>
                <a:latin typeface="Calibri"/>
              </a:rPr>
              <a:t>Soled</a:t>
            </a:r>
            <a:r>
              <a:rPr lang="es-CO" sz="860" b="0" i="0" noProof="0" dirty="0">
                <a:solidFill>
                  <a:srgbClr val="1A1A2E"/>
                </a:solidFill>
                <a:latin typeface="Calibri"/>
              </a:rPr>
              <a:t> Solar, soled-solar.com); imagen de batería (batteryskills.com). Irradiancia del recorte: satélite GOES-19 (NOAA, producto ABI-L2-DSRF) y, de contraste, Open-</a:t>
            </a:r>
            <a:r>
              <a:rPr lang="es-CO" sz="860" b="0" i="0" noProof="0" dirty="0" err="1">
                <a:solidFill>
                  <a:srgbClr val="1A1A2E"/>
                </a:solidFill>
                <a:latin typeface="Calibri"/>
              </a:rPr>
              <a:t>Meteo</a:t>
            </a:r>
            <a:r>
              <a:rPr lang="es-CO" sz="860" b="0" i="0" noProof="0" dirty="0">
                <a:solidFill>
                  <a:srgbClr val="1A1A2E"/>
                </a:solidFill>
                <a:latin typeface="Calibri"/>
              </a:rP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EVOLUCIÓN JUL–OCT · RESUMEN</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1800" b="1" i="0" noProof="0" dirty="0">
                <a:solidFill>
                  <a:srgbClr val="1B3A6B"/>
                </a:solidFill>
                <a:latin typeface="Calibri"/>
              </a:rPr>
              <a:t>En octubre el yield cayó 16% y la demanda 20% frente a septiembre; la cobertura solar subió a 71,8%</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14</a:t>
            </a:r>
          </a:p>
        </p:txBody>
      </p:sp>
      <p:sp>
        <p:nvSpPr>
          <p:cNvPr id="8" name="tarjeta 1"/>
          <p:cNvSpPr/>
          <p:nvPr/>
        </p:nvSpPr>
        <p:spPr>
          <a:xfrm>
            <a:off x="411480" y="1143000"/>
            <a:ext cx="1997964" cy="658368"/>
          </a:xfrm>
          <a:prstGeom prst="rect">
            <a:avLst/>
          </a:prstGeom>
          <a:solidFill>
            <a:srgbClr val="FFFFFF"/>
          </a:solidFill>
          <a:ln w="10160">
            <a:solidFill>
              <a:srgbClr val="E3E7EA"/>
            </a:solidFill>
          </a:ln>
        </p:spPr>
        <p:txBody>
          <a:bodyPr rtlCol="0" anchor="ctr"/>
          <a:lstStyle/>
          <a:p>
            <a:pPr algn="ctr"/>
            <a:endParaRPr lang="es-CO" noProof="0" dirty="0"/>
          </a:p>
        </p:txBody>
      </p:sp>
      <p:sp>
        <p:nvSpPr>
          <p:cNvPr id="9" name="barra tarjeta 1"/>
          <p:cNvSpPr/>
          <p:nvPr/>
        </p:nvSpPr>
        <p:spPr>
          <a:xfrm>
            <a:off x="411480" y="1143000"/>
            <a:ext cx="54864" cy="65836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10" name="cifra tarjeta 1"/>
          <p:cNvSpPr txBox="1"/>
          <p:nvPr/>
        </p:nvSpPr>
        <p:spPr>
          <a:xfrm>
            <a:off x="557784" y="1179576"/>
            <a:ext cx="1796796" cy="342351"/>
          </a:xfrm>
          <a:prstGeom prst="rect">
            <a:avLst/>
          </a:prstGeom>
          <a:noFill/>
        </p:spPr>
        <p:txBody>
          <a:bodyPr wrap="square" lIns="0" tIns="0" rIns="0" bIns="0" anchor="ctr">
            <a:spAutoFit/>
          </a:bodyPr>
          <a:lstStyle/>
          <a:p>
            <a:pPr algn="l">
              <a:spcAft>
                <a:spcPts val="0"/>
              </a:spcAft>
            </a:pPr>
            <a:r>
              <a:rPr lang="es-CO" sz="1700" b="1" i="0" noProof="0" dirty="0">
                <a:solidFill>
                  <a:srgbClr val="2B5BA3"/>
                </a:solidFill>
                <a:latin typeface="Calibri"/>
              </a:rPr>
              <a:t>896</a:t>
            </a:r>
          </a:p>
        </p:txBody>
      </p:sp>
      <p:sp>
        <p:nvSpPr>
          <p:cNvPr id="11" name="etiqueta tarjeta 1"/>
          <p:cNvSpPr txBox="1"/>
          <p:nvPr/>
        </p:nvSpPr>
        <p:spPr>
          <a:xfrm>
            <a:off x="557784" y="1499616"/>
            <a:ext cx="1796796" cy="144840"/>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yield real de octubre, kWh/kWp/año</a:t>
            </a:r>
          </a:p>
        </p:txBody>
      </p:sp>
      <p:sp>
        <p:nvSpPr>
          <p:cNvPr id="12" name="detalle tarjeta 1"/>
          <p:cNvSpPr txBox="1"/>
          <p:nvPr/>
        </p:nvSpPr>
        <p:spPr>
          <a:xfrm>
            <a:off x="557784" y="1627632"/>
            <a:ext cx="1796796" cy="158008"/>
          </a:xfrm>
          <a:prstGeom prst="rect">
            <a:avLst/>
          </a:prstGeom>
          <a:noFill/>
        </p:spPr>
        <p:txBody>
          <a:bodyPr wrap="square" lIns="0" tIns="0" rIns="0" bIns="0" anchor="ctr">
            <a:spAutoFit/>
          </a:bodyPr>
          <a:lstStyle/>
          <a:p>
            <a:pPr algn="l">
              <a:spcAft>
                <a:spcPts val="0"/>
              </a:spcAft>
            </a:pPr>
            <a:r>
              <a:rPr lang="es-CO" sz="720" b="0" i="0" noProof="0" dirty="0">
                <a:solidFill>
                  <a:srgbClr val="55636E"/>
                </a:solidFill>
                <a:latin typeface="Calibri"/>
              </a:rPr>
              <a:t>Sep 1.069 · −16% vs sep</a:t>
            </a:r>
          </a:p>
        </p:txBody>
      </p:sp>
      <p:sp>
        <p:nvSpPr>
          <p:cNvPr id="13" name="tarjeta 2"/>
          <p:cNvSpPr/>
          <p:nvPr/>
        </p:nvSpPr>
        <p:spPr>
          <a:xfrm>
            <a:off x="2519172" y="1143000"/>
            <a:ext cx="1997964" cy="658368"/>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4" name="barra tarjeta 2"/>
          <p:cNvSpPr/>
          <p:nvPr/>
        </p:nvSpPr>
        <p:spPr>
          <a:xfrm>
            <a:off x="2519172" y="1143000"/>
            <a:ext cx="54864" cy="658368"/>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5" name="cifra tarjeta 2"/>
          <p:cNvSpPr txBox="1"/>
          <p:nvPr/>
        </p:nvSpPr>
        <p:spPr>
          <a:xfrm>
            <a:off x="2665476" y="1179576"/>
            <a:ext cx="1796796" cy="342351"/>
          </a:xfrm>
          <a:prstGeom prst="rect">
            <a:avLst/>
          </a:prstGeom>
          <a:noFill/>
        </p:spPr>
        <p:txBody>
          <a:bodyPr wrap="square" lIns="0" tIns="0" rIns="0" bIns="0" anchor="ctr">
            <a:spAutoFit/>
          </a:bodyPr>
          <a:lstStyle/>
          <a:p>
            <a:pPr algn="l">
              <a:spcAft>
                <a:spcPts val="0"/>
              </a:spcAft>
            </a:pPr>
            <a:r>
              <a:rPr lang="es-CO" sz="1700" b="1" i="0" noProof="0" dirty="0">
                <a:solidFill>
                  <a:srgbClr val="CA6F1E"/>
                </a:solidFill>
                <a:latin typeface="Calibri"/>
              </a:rPr>
              <a:t>73,2%</a:t>
            </a:r>
          </a:p>
        </p:txBody>
      </p:sp>
      <p:sp>
        <p:nvSpPr>
          <p:cNvPr id="16" name="etiqueta tarjeta 2"/>
          <p:cNvSpPr txBox="1"/>
          <p:nvPr/>
        </p:nvSpPr>
        <p:spPr>
          <a:xfrm>
            <a:off x="2665476" y="1499616"/>
            <a:ext cx="1796796" cy="144840"/>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rendimiento vs diseño</a:t>
            </a:r>
          </a:p>
        </p:txBody>
      </p:sp>
      <p:sp>
        <p:nvSpPr>
          <p:cNvPr id="17" name="detalle tarjeta 2"/>
          <p:cNvSpPr txBox="1"/>
          <p:nvPr/>
        </p:nvSpPr>
        <p:spPr>
          <a:xfrm>
            <a:off x="2665476" y="1627632"/>
            <a:ext cx="1796796" cy="158008"/>
          </a:xfrm>
          <a:prstGeom prst="rect">
            <a:avLst/>
          </a:prstGeom>
          <a:noFill/>
        </p:spPr>
        <p:txBody>
          <a:bodyPr wrap="square" lIns="0" tIns="0" rIns="0" bIns="0" anchor="ctr">
            <a:spAutoFit/>
          </a:bodyPr>
          <a:lstStyle/>
          <a:p>
            <a:pPr algn="l">
              <a:spcAft>
                <a:spcPts val="0"/>
              </a:spcAft>
            </a:pPr>
            <a:r>
              <a:rPr lang="es-CO" sz="720" b="0" i="0" noProof="0" dirty="0">
                <a:solidFill>
                  <a:srgbClr val="55636E"/>
                </a:solidFill>
                <a:latin typeface="Calibri"/>
              </a:rPr>
              <a:t>Sep 87,2% · −14,0 pts vs sep</a:t>
            </a:r>
          </a:p>
        </p:txBody>
      </p:sp>
      <p:sp>
        <p:nvSpPr>
          <p:cNvPr id="18" name="tarjeta 3"/>
          <p:cNvSpPr/>
          <p:nvPr/>
        </p:nvSpPr>
        <p:spPr>
          <a:xfrm>
            <a:off x="4626864" y="1143000"/>
            <a:ext cx="1997964" cy="658368"/>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9" name="barra tarjeta 3"/>
          <p:cNvSpPr/>
          <p:nvPr/>
        </p:nvSpPr>
        <p:spPr>
          <a:xfrm>
            <a:off x="4626864" y="1143000"/>
            <a:ext cx="54864" cy="658368"/>
          </a:xfrm>
          <a:prstGeom prst="rect">
            <a:avLst/>
          </a:prstGeom>
          <a:solidFill>
            <a:srgbClr val="1E8449"/>
          </a:solidFill>
          <a:ln w="12700">
            <a:solidFill>
              <a:srgbClr val="1E8449"/>
            </a:solidFill>
          </a:ln>
        </p:spPr>
        <p:txBody>
          <a:bodyPr rtlCol="0" anchor="ctr"/>
          <a:lstStyle/>
          <a:p>
            <a:pPr algn="ctr"/>
            <a:endParaRPr lang="es-CO" noProof="0" dirty="0"/>
          </a:p>
        </p:txBody>
      </p:sp>
      <p:sp>
        <p:nvSpPr>
          <p:cNvPr id="20" name="cifra tarjeta 3"/>
          <p:cNvSpPr txBox="1"/>
          <p:nvPr/>
        </p:nvSpPr>
        <p:spPr>
          <a:xfrm>
            <a:off x="4773168" y="1179576"/>
            <a:ext cx="1796796" cy="342351"/>
          </a:xfrm>
          <a:prstGeom prst="rect">
            <a:avLst/>
          </a:prstGeom>
          <a:noFill/>
        </p:spPr>
        <p:txBody>
          <a:bodyPr wrap="square" lIns="0" tIns="0" rIns="0" bIns="0" anchor="ctr">
            <a:spAutoFit/>
          </a:bodyPr>
          <a:lstStyle/>
          <a:p>
            <a:pPr algn="l">
              <a:spcAft>
                <a:spcPts val="0"/>
              </a:spcAft>
            </a:pPr>
            <a:r>
              <a:rPr lang="es-CO" sz="1700" b="1" i="0" noProof="0" dirty="0">
                <a:solidFill>
                  <a:srgbClr val="1E8449"/>
                </a:solidFill>
                <a:latin typeface="Calibri"/>
              </a:rPr>
              <a:t>71,8%</a:t>
            </a:r>
          </a:p>
        </p:txBody>
      </p:sp>
      <p:sp>
        <p:nvSpPr>
          <p:cNvPr id="21" name="etiqueta tarjeta 3"/>
          <p:cNvSpPr txBox="1"/>
          <p:nvPr/>
        </p:nvSpPr>
        <p:spPr>
          <a:xfrm>
            <a:off x="4773168" y="1499616"/>
            <a:ext cx="1796796" cy="144840"/>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cobertura solar</a:t>
            </a:r>
          </a:p>
        </p:txBody>
      </p:sp>
      <p:sp>
        <p:nvSpPr>
          <p:cNvPr id="22" name="detalle tarjeta 3"/>
          <p:cNvSpPr txBox="1"/>
          <p:nvPr/>
        </p:nvSpPr>
        <p:spPr>
          <a:xfrm>
            <a:off x="4773168" y="1627632"/>
            <a:ext cx="1796796" cy="158008"/>
          </a:xfrm>
          <a:prstGeom prst="rect">
            <a:avLst/>
          </a:prstGeom>
          <a:noFill/>
        </p:spPr>
        <p:txBody>
          <a:bodyPr wrap="square" lIns="0" tIns="0" rIns="0" bIns="0" anchor="ctr">
            <a:spAutoFit/>
          </a:bodyPr>
          <a:lstStyle/>
          <a:p>
            <a:pPr algn="l">
              <a:spcAft>
                <a:spcPts val="0"/>
              </a:spcAft>
            </a:pPr>
            <a:r>
              <a:rPr lang="es-CO" sz="720" b="0" i="0" noProof="0" dirty="0">
                <a:solidFill>
                  <a:srgbClr val="55636E"/>
                </a:solidFill>
                <a:latin typeface="Calibri"/>
              </a:rPr>
              <a:t>Sep 67,8% · +4,0 pts vs sep</a:t>
            </a:r>
          </a:p>
        </p:txBody>
      </p:sp>
      <p:sp>
        <p:nvSpPr>
          <p:cNvPr id="23" name="tarjeta 4"/>
          <p:cNvSpPr/>
          <p:nvPr/>
        </p:nvSpPr>
        <p:spPr>
          <a:xfrm>
            <a:off x="6734556" y="1143000"/>
            <a:ext cx="1997964" cy="658368"/>
          </a:xfrm>
          <a:prstGeom prst="rect">
            <a:avLst/>
          </a:prstGeom>
          <a:solidFill>
            <a:srgbClr val="FFFFFF"/>
          </a:solidFill>
          <a:ln w="10160">
            <a:solidFill>
              <a:srgbClr val="E3E7EA"/>
            </a:solidFill>
          </a:ln>
        </p:spPr>
        <p:txBody>
          <a:bodyPr rtlCol="0" anchor="ctr"/>
          <a:lstStyle/>
          <a:p>
            <a:pPr algn="ctr"/>
            <a:endParaRPr lang="es-CO" noProof="0" dirty="0"/>
          </a:p>
        </p:txBody>
      </p:sp>
      <p:sp>
        <p:nvSpPr>
          <p:cNvPr id="24" name="barra tarjeta 4"/>
          <p:cNvSpPr/>
          <p:nvPr/>
        </p:nvSpPr>
        <p:spPr>
          <a:xfrm>
            <a:off x="6734556" y="1143000"/>
            <a:ext cx="54864" cy="65836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25" name="cifra tarjeta 4"/>
          <p:cNvSpPr txBox="1"/>
          <p:nvPr/>
        </p:nvSpPr>
        <p:spPr>
          <a:xfrm>
            <a:off x="6880860" y="1179576"/>
            <a:ext cx="1796796" cy="342351"/>
          </a:xfrm>
          <a:prstGeom prst="rect">
            <a:avLst/>
          </a:prstGeom>
          <a:noFill/>
        </p:spPr>
        <p:txBody>
          <a:bodyPr wrap="square" lIns="0" tIns="0" rIns="0" bIns="0" anchor="ctr">
            <a:spAutoFit/>
          </a:bodyPr>
          <a:lstStyle/>
          <a:p>
            <a:pPr algn="l">
              <a:spcAft>
                <a:spcPts val="0"/>
              </a:spcAft>
            </a:pPr>
            <a:r>
              <a:rPr lang="es-CO" sz="1700" b="1" i="0" noProof="0" dirty="0">
                <a:solidFill>
                  <a:srgbClr val="1F6F78"/>
                </a:solidFill>
                <a:latin typeface="Calibri"/>
              </a:rPr>
              <a:t>18,1 kWh</a:t>
            </a:r>
          </a:p>
        </p:txBody>
      </p:sp>
      <p:sp>
        <p:nvSpPr>
          <p:cNvPr id="26" name="etiqueta tarjeta 4"/>
          <p:cNvSpPr txBox="1"/>
          <p:nvPr/>
        </p:nvSpPr>
        <p:spPr>
          <a:xfrm>
            <a:off x="6880860" y="1499616"/>
            <a:ext cx="1796796" cy="144840"/>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demanda por casa y día</a:t>
            </a:r>
          </a:p>
        </p:txBody>
      </p:sp>
      <p:sp>
        <p:nvSpPr>
          <p:cNvPr id="27" name="detalle tarjeta 4"/>
          <p:cNvSpPr txBox="1"/>
          <p:nvPr/>
        </p:nvSpPr>
        <p:spPr>
          <a:xfrm>
            <a:off x="6880860" y="1627632"/>
            <a:ext cx="1796796" cy="158008"/>
          </a:xfrm>
          <a:prstGeom prst="rect">
            <a:avLst/>
          </a:prstGeom>
          <a:noFill/>
        </p:spPr>
        <p:txBody>
          <a:bodyPr wrap="square" lIns="0" tIns="0" rIns="0" bIns="0" anchor="ctr">
            <a:spAutoFit/>
          </a:bodyPr>
          <a:lstStyle/>
          <a:p>
            <a:pPr algn="l">
              <a:spcAft>
                <a:spcPts val="0"/>
              </a:spcAft>
            </a:pPr>
            <a:r>
              <a:rPr lang="es-CO" sz="720" b="0" i="0" noProof="0" dirty="0">
                <a:solidFill>
                  <a:srgbClr val="55636E"/>
                </a:solidFill>
                <a:latin typeface="Calibri"/>
              </a:rPr>
              <a:t>Sep 22,6 kWh · −20% vs sep</a:t>
            </a:r>
          </a:p>
        </p:txBody>
      </p:sp>
      <p:sp>
        <p:nvSpPr>
          <p:cNvPr id="28" name="panel evolución"/>
          <p:cNvSpPr/>
          <p:nvPr/>
        </p:nvSpPr>
        <p:spPr>
          <a:xfrm>
            <a:off x="411480" y="1920240"/>
            <a:ext cx="4754880" cy="2633472"/>
          </a:xfrm>
          <a:prstGeom prst="rect">
            <a:avLst/>
          </a:prstGeom>
          <a:solidFill>
            <a:srgbClr val="FFFFFF"/>
          </a:solidFill>
          <a:ln w="10160">
            <a:solidFill>
              <a:srgbClr val="E3E7EA"/>
            </a:solidFill>
          </a:ln>
        </p:spPr>
        <p:txBody>
          <a:bodyPr rtlCol="0" anchor="ctr"/>
          <a:lstStyle/>
          <a:p>
            <a:pPr algn="ctr"/>
            <a:endParaRPr lang="es-CO" noProof="0" dirty="0"/>
          </a:p>
        </p:txBody>
      </p:sp>
      <p:sp>
        <p:nvSpPr>
          <p:cNvPr id="29" name="título panel evolución"/>
          <p:cNvSpPr txBox="1"/>
          <p:nvPr/>
        </p:nvSpPr>
        <p:spPr>
          <a:xfrm>
            <a:off x="548640" y="1956816"/>
            <a:ext cx="4480560" cy="21945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Rendimiento vs diseño y cobertura solar por mes (35 casas comparables)</a:t>
            </a:r>
          </a:p>
        </p:txBody>
      </p:sp>
      <p:graphicFrame>
        <p:nvGraphicFramePr>
          <p:cNvPr id="30" name="Gráfico"/>
          <p:cNvGraphicFramePr>
            <a:graphicFrameLocks noGrp="1"/>
          </p:cNvGraphicFramePr>
          <p:nvPr/>
        </p:nvGraphicFramePr>
        <p:xfrm>
          <a:off x="457200" y="2157984"/>
          <a:ext cx="4663440" cy="2359152"/>
        </p:xfrm>
        <a:graphic>
          <a:graphicData uri="http://schemas.openxmlformats.org/drawingml/2006/chart">
            <c:chart xmlns:c="http://schemas.openxmlformats.org/drawingml/2006/chart" r:id="rId2"/>
          </a:graphicData>
        </a:graphic>
      </p:graphicFrame>
      <p:sp>
        <p:nvSpPr>
          <p:cNvPr id="30" name="panel portafolio"/>
          <p:cNvSpPr/>
          <p:nvPr/>
        </p:nvSpPr>
        <p:spPr>
          <a:xfrm>
            <a:off x="5349240" y="1920240"/>
            <a:ext cx="3383280" cy="2633472"/>
          </a:xfrm>
          <a:prstGeom prst="rect">
            <a:avLst/>
          </a:prstGeom>
          <a:solidFill>
            <a:srgbClr val="FFFFFF"/>
          </a:solidFill>
          <a:ln w="10160">
            <a:solidFill>
              <a:srgbClr val="E3E7EA"/>
            </a:solidFill>
          </a:ln>
        </p:spPr>
        <p:txBody>
          <a:bodyPr rtlCol="0" anchor="ctr"/>
          <a:lstStyle/>
          <a:p>
            <a:pPr algn="ctr"/>
            <a:endParaRPr lang="es-CO" noProof="0" dirty="0"/>
          </a:p>
        </p:txBody>
      </p:sp>
      <p:sp>
        <p:nvSpPr>
          <p:cNvPr id="31" name="título panel portafolio"/>
          <p:cNvSpPr txBox="1"/>
          <p:nvPr/>
        </p:nvSpPr>
        <p:spPr>
          <a:xfrm>
            <a:off x="5486400" y="1956816"/>
            <a:ext cx="3108960" cy="21945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Portafolio tal como se reportó cada mes</a:t>
            </a:r>
          </a:p>
        </p:txBody>
      </p:sp>
      <p:graphicFrame>
        <p:nvGraphicFramePr>
          <p:cNvPr id="32" name="Tabla portafolio"/>
          <p:cNvGraphicFramePr>
            <a:graphicFrameLocks noGrp="1"/>
          </p:cNvGraphicFramePr>
          <p:nvPr/>
        </p:nvGraphicFramePr>
        <p:xfrm>
          <a:off x="5486400" y="2249424"/>
          <a:ext cx="3108960" cy="1645920"/>
        </p:xfrm>
        <a:graphic>
          <a:graphicData uri="http://schemas.openxmlformats.org/drawingml/2006/table">
            <a:tbl>
              <a:tblPr>
                <a:tableStyleId>{2D5ABB26-0587-4C30-8999-92F81FD0307C}</a:tableStyleId>
              </a:tblPr>
              <a:tblGrid>
                <a:gridCol w="1188720"/>
                <a:gridCol w="480060"/>
                <a:gridCol w="480060"/>
                <a:gridCol w="480060"/>
                <a:gridCol w="480060"/>
              </a:tblGrid>
              <a:tr h="246888">
                <a:tc>
                  <a:txBody>
                    <a:bodyPr/>
                    <a:lstStyle/>
                    <a:p>
                      <a:pPr algn="l"/>
                      <a:r>
                        <a:rPr lang="es-CO" sz="750" b="1" noProof="0" dirty="0">
                          <a:solidFill>
                            <a:srgbClr val="FFFFFF"/>
                          </a:solidFill>
                          <a:latin typeface="Calibri"/>
                        </a:rPr>
                        <a:t>Portafolio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Jul</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Ago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Sep</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Oct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r>
              <a:tr h="233172">
                <a:tc>
                  <a:txBody>
                    <a:bodyPr/>
                    <a:lstStyle/>
                    <a:p>
                      <a:pPr algn="l"/>
                      <a:r>
                        <a:rPr lang="es-CO" sz="800" b="1" noProof="0" dirty="0">
                          <a:solidFill>
                            <a:srgbClr val="333333"/>
                          </a:solidFill>
                          <a:latin typeface="Calibri"/>
                        </a:rPr>
                        <a:t>Casas con datos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37</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41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48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1B3A6B"/>
                          </a:solidFill>
                          <a:latin typeface="Calibri"/>
                        </a:rPr>
                        <a:t>49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r>
              <a:tr h="233172">
                <a:tc>
                  <a:txBody>
                    <a:bodyPr/>
                    <a:lstStyle/>
                    <a:p>
                      <a:pPr algn="l"/>
                      <a:r>
                        <a:rPr lang="es-CO" sz="800" b="1" noProof="0" dirty="0">
                          <a:solidFill>
                            <a:srgbClr val="333333"/>
                          </a:solidFill>
                          <a:latin typeface="Calibri"/>
                        </a:rPr>
                        <a:t>Generación (kWh)</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15.429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18.268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18.699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1B3A6B"/>
                          </a:solidFill>
                          <a:latin typeface="Calibri"/>
                        </a:rPr>
                        <a:t>13.129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r>
              <a:tr h="233172">
                <a:tc>
                  <a:txBody>
                    <a:bodyPr/>
                    <a:lstStyle/>
                    <a:p>
                      <a:pPr algn="l"/>
                      <a:r>
                        <a:rPr lang="es-CO" sz="800" b="1" noProof="0" dirty="0">
                          <a:solidFill>
                            <a:srgbClr val="333333"/>
                          </a:solidFill>
                          <a:latin typeface="Calibri"/>
                        </a:rPr>
                        <a:t>Demanda (kWh)</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21.971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26.819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28.090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1B3A6B"/>
                          </a:solidFill>
                          <a:latin typeface="Calibri"/>
                        </a:rPr>
                        <a:t>18.638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r>
              <a:tr h="233172">
                <a:tc>
                  <a:txBody>
                    <a:bodyPr/>
                    <a:lstStyle/>
                    <a:p>
                      <a:pPr algn="l"/>
                      <a:r>
                        <a:rPr lang="es-CO" sz="800" b="1" noProof="0" dirty="0">
                          <a:solidFill>
                            <a:srgbClr val="333333"/>
                          </a:solidFill>
                          <a:latin typeface="Calibri"/>
                        </a:rPr>
                        <a:t>Cobertura solar</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70,2%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68,1%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66,6%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1B3A6B"/>
                          </a:solidFill>
                          <a:latin typeface="Calibri"/>
                        </a:rPr>
                        <a:t>70,4%</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r>
              <a:tr h="233172">
                <a:tc>
                  <a:txBody>
                    <a:bodyPr/>
                    <a:lstStyle/>
                    <a:p>
                      <a:pPr algn="l"/>
                      <a:r>
                        <a:rPr lang="es-CO" sz="800" b="1" noProof="0" dirty="0">
                          <a:solidFill>
                            <a:srgbClr val="333333"/>
                          </a:solidFill>
                          <a:latin typeface="Calibri"/>
                        </a:rPr>
                        <a:t>Rendimiento vs diseño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81,8%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86,2%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84,9%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1B3A6B"/>
                          </a:solidFill>
                          <a:latin typeface="Calibri"/>
                        </a:rPr>
                        <a:t>76,3%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r>
              <a:tr h="233172">
                <a:tc>
                  <a:txBody>
                    <a:bodyPr/>
                    <a:lstStyle/>
                    <a:p>
                      <a:pPr algn="l"/>
                      <a:r>
                        <a:rPr lang="es-CO" sz="800" b="1" noProof="0" dirty="0">
                          <a:solidFill>
                            <a:srgbClr val="333333"/>
                          </a:solidFill>
                          <a:latin typeface="Calibri"/>
                        </a:rPr>
                        <a:t>Yield (kWh/kWp·año)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1.002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1.059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1.047</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1B3A6B"/>
                          </a:solidFill>
                          <a:latin typeface="Calibri"/>
                        </a:rPr>
                        <a:t>948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r>
            </a:tbl>
          </a:graphicData>
        </a:graphic>
      </p:graphicFrame>
      <p:sp>
        <p:nvSpPr>
          <p:cNvPr id="32" name="lectura portafolio"/>
          <p:cNvSpPr txBox="1"/>
          <p:nvPr/>
        </p:nvSpPr>
        <p:spPr>
          <a:xfrm>
            <a:off x="5486400" y="3951000"/>
            <a:ext cx="3108960" cy="520000"/>
          </a:xfrm>
          <a:prstGeom prst="rect">
            <a:avLst/>
          </a:prstGeom>
          <a:noFill/>
        </p:spPr>
        <p:txBody>
          <a:bodyPr wrap="square" lIns="0" tIns="0" rIns="0" bIns="0" anchor="t">
            <a:spAutoFit/>
          </a:bodyPr>
          <a:lstStyle/>
          <a:p>
            <a:pPr algn="l">
              <a:spcAft>
                <a:spcPts val="0"/>
              </a:spcAft>
            </a:pPr>
            <a:r>
              <a:rPr lang="es-CO" sz="720" b="0" i="0" noProof="0" dirty="0">
                <a:solidFill>
                  <a:srgbClr val="55636E"/>
                </a:solidFill>
                <a:latin typeface="Calibri"/>
              </a:rPr>
              <a:t>Las 13 casas sin historial completo (80 kWp) rinden 83,4% en octubre frente a 73,2% de las 35 comparables; por eso el portafolio baja menos (−8,6 pts) que las 35 casas (−14,0 pts).</a:t>
            </a:r>
          </a:p>
        </p:txBody>
      </p:sp>
      <p:sp>
        <p:nvSpPr>
          <p:cNvPr id="33" name="TextBox 32"/>
          <p:cNvSpPr txBox="1"/>
          <p:nvPr/>
        </p:nvSpPr>
        <p:spPr>
          <a:xfrm>
            <a:off x="411480" y="4612032"/>
            <a:ext cx="8321040" cy="230832"/>
          </a:xfrm>
          <a:prstGeom prst="rect">
            <a:avLst/>
          </a:prstGeom>
          <a:noFill/>
        </p:spPr>
        <p:txBody>
          <a:bodyPr wrap="square" lIns="0" tIns="0" rIns="0" bIns="0" anchor="ctr">
            <a:spAutoFit/>
          </a:bodyPr>
          <a:lstStyle/>
          <a:p>
            <a:pPr algn="l">
              <a:spcAft>
                <a:spcPts val="0"/>
              </a:spcAft>
            </a:pPr>
            <a:r>
              <a:rPr lang="es-CO" sz="750" b="0" i="1" noProof="0" dirty="0">
                <a:solidFill>
                  <a:srgbClr val="55636E"/>
                </a:solidFill>
                <a:latin typeface="Calibri"/>
              </a:rPr>
              <a:t>BD1 (1/07 al 20/10; octubre = 20 días, 915 días válidos). Tarjetas y gráfico: 35 casas con ≥ 10 días válidos en cada mes. Portafolio: totales de BD1; la Casa 101 (sin kWp) cuenta en generación y demanda, no en rendimiento ni yield. El reporte (diapositiva 2) usa los 20 días completos: 13.631 kWh de generación y 19.465 kWh de demanda frente a 13.129 y 18.638 de BD1.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EVOLUCIÓN JUL–OCT · YIELD</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1800" b="1" i="0" noProof="0" dirty="0">
                <a:solidFill>
                  <a:srgbClr val="1B3A6B"/>
                </a:solidFill>
                <a:latin typeface="Calibri"/>
              </a:rPr>
              <a:t>El yield bajó de septiembre a octubre en 6 de 9 conjuntos; Reservas de Pance cayó de 1.048 a 819 kWh/kWp/año</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15</a:t>
            </a:r>
          </a:p>
        </p:txBody>
      </p:sp>
      <p:sp>
        <p:nvSpPr>
          <p:cNvPr id="8" name="panel yield"/>
          <p:cNvSpPr/>
          <p:nvPr/>
        </p:nvSpPr>
        <p:spPr>
          <a:xfrm>
            <a:off x="411480" y="1188720"/>
            <a:ext cx="4754880" cy="333756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9" name="título panel yield"/>
          <p:cNvSpPr txBox="1"/>
          <p:nvPr/>
        </p:nvSpPr>
        <p:spPr>
          <a:xfrm>
            <a:off x="548640" y="1225296"/>
            <a:ext cx="4480560" cy="21945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Yield real por conjunto y mes (kWh/kWp/año)</a:t>
            </a:r>
          </a:p>
        </p:txBody>
      </p:sp>
      <p:graphicFrame>
        <p:nvGraphicFramePr>
          <p:cNvPr id="10" name="Gráfico"/>
          <p:cNvGraphicFramePr>
            <a:graphicFrameLocks noGrp="1"/>
          </p:cNvGraphicFramePr>
          <p:nvPr/>
        </p:nvGraphicFramePr>
        <p:xfrm>
          <a:off x="457200" y="1444752"/>
          <a:ext cx="4663440" cy="3017520"/>
        </p:xfrm>
        <a:graphic>
          <a:graphicData uri="http://schemas.openxmlformats.org/drawingml/2006/chart">
            <c:chart xmlns:c="http://schemas.openxmlformats.org/drawingml/2006/chart" r:id="rId2"/>
          </a:graphicData>
        </a:graphic>
      </p:graphicFrame>
      <p:sp>
        <p:nvSpPr>
          <p:cNvPr id="10" name="panel tabla yield"/>
          <p:cNvSpPr/>
          <p:nvPr/>
        </p:nvSpPr>
        <p:spPr>
          <a:xfrm>
            <a:off x="5349240" y="1188720"/>
            <a:ext cx="3383280" cy="333756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1" name="título panel tabla yield"/>
          <p:cNvSpPr txBox="1"/>
          <p:nvPr/>
        </p:nvSpPr>
        <p:spPr>
          <a:xfrm>
            <a:off x="5486400" y="1225296"/>
            <a:ext cx="3108960" cy="21945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Yield por mes y cambio de septiembre a octubre</a:t>
            </a:r>
          </a:p>
        </p:txBody>
      </p:sp>
      <p:graphicFrame>
        <p:nvGraphicFramePr>
          <p:cNvPr id="12" name="Tabla yield"/>
          <p:cNvGraphicFramePr>
            <a:graphicFrameLocks noGrp="1"/>
          </p:cNvGraphicFramePr>
          <p:nvPr/>
        </p:nvGraphicFramePr>
        <p:xfrm>
          <a:off x="5486400" y="1517904"/>
          <a:ext cx="3108960" cy="2578608"/>
        </p:xfrm>
        <a:graphic>
          <a:graphicData uri="http://schemas.openxmlformats.org/drawingml/2006/table">
            <a:tbl>
              <a:tblPr>
                <a:tableStyleId>{2D5ABB26-0587-4C30-8999-92F81FD0307C}</a:tableStyleId>
              </a:tblPr>
              <a:tblGrid>
                <a:gridCol w="960120"/>
                <a:gridCol w="380000"/>
                <a:gridCol w="380000"/>
                <a:gridCol w="380000"/>
                <a:gridCol w="380000"/>
                <a:gridCol w="628840"/>
              </a:tblGrid>
              <a:tr h="246888">
                <a:tc>
                  <a:txBody>
                    <a:bodyPr/>
                    <a:lstStyle/>
                    <a:p>
                      <a:pPr algn="l"/>
                      <a:r>
                        <a:rPr lang="es-CO" sz="750" b="1" noProof="0" dirty="0">
                          <a:solidFill>
                            <a:srgbClr val="FFFFFF"/>
                          </a:solidFill>
                          <a:latin typeface="Calibri"/>
                        </a:rPr>
                        <a:t>Conjunto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Jul</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Ago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Sep</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Oct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Δ sep→oct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r>
              <a:tr h="233172">
                <a:tc>
                  <a:txBody>
                    <a:bodyPr/>
                    <a:lstStyle/>
                    <a:p>
                      <a:pPr algn="l"/>
                      <a:r>
                        <a:rPr lang="es-CO" sz="800" b="1" noProof="0" dirty="0">
                          <a:solidFill>
                            <a:srgbClr val="333333"/>
                          </a:solidFill>
                          <a:latin typeface="Calibri"/>
                        </a:rPr>
                        <a:t>Reservas de Pance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938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1.059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1.048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1B3A6B"/>
                          </a:solidFill>
                          <a:latin typeface="Calibri"/>
                        </a:rPr>
                        <a:t>819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CA6F1E"/>
                          </a:solidFill>
                          <a:latin typeface="Calibri"/>
                        </a:rPr>
                        <a:t>−229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r>
              <a:tr h="233172">
                <a:tc>
                  <a:txBody>
                    <a:bodyPr/>
                    <a:lstStyle/>
                    <a:p>
                      <a:pPr algn="l"/>
                      <a:r>
                        <a:rPr lang="es-CO" sz="800" b="1" noProof="0" dirty="0">
                          <a:solidFill>
                            <a:srgbClr val="333333"/>
                          </a:solidFill>
                          <a:latin typeface="Calibri"/>
                        </a:rPr>
                        <a:t>Prado Verde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1.166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1.200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1.111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1B3A6B"/>
                          </a:solidFill>
                          <a:latin typeface="Calibri"/>
                        </a:rPr>
                        <a:t>1.040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CA6F1E"/>
                          </a:solidFill>
                          <a:latin typeface="Calibri"/>
                        </a:rPr>
                        <a:t>−71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r>
              <a:tr h="233172">
                <a:tc>
                  <a:txBody>
                    <a:bodyPr/>
                    <a:lstStyle/>
                    <a:p>
                      <a:pPr algn="l"/>
                      <a:r>
                        <a:rPr lang="es-CO" sz="800" b="1" noProof="0" dirty="0">
                          <a:solidFill>
                            <a:srgbClr val="333333"/>
                          </a:solidFill>
                          <a:latin typeface="Calibri"/>
                        </a:rPr>
                        <a:t>Terra by Kaia</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1.183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1.306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1.186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1B3A6B"/>
                          </a:solidFill>
                          <a:latin typeface="Calibri"/>
                        </a:rPr>
                        <a:t>1.144</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CA6F1E"/>
                          </a:solidFill>
                          <a:latin typeface="Calibri"/>
                        </a:rPr>
                        <a:t>−42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r>
              <a:tr h="233172">
                <a:tc>
                  <a:txBody>
                    <a:bodyPr/>
                    <a:lstStyle/>
                    <a:p>
                      <a:pPr algn="l"/>
                      <a:r>
                        <a:rPr lang="es-CO" sz="800" b="1" noProof="0" dirty="0">
                          <a:solidFill>
                            <a:srgbClr val="333333"/>
                          </a:solidFill>
                          <a:latin typeface="Calibri"/>
                        </a:rPr>
                        <a:t>Terranova</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203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1.287</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1B3A6B"/>
                          </a:solidFill>
                          <a:latin typeface="Calibri"/>
                        </a:rPr>
                        <a:t>1.321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1E8449"/>
                          </a:solidFill>
                          <a:latin typeface="Calibri"/>
                        </a:rPr>
                        <a:t>+34</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r>
              <a:tr h="233172">
                <a:tc>
                  <a:txBody>
                    <a:bodyPr/>
                    <a:lstStyle/>
                    <a:p>
                      <a:pPr algn="l"/>
                      <a:r>
                        <a:rPr lang="es-CO" sz="800" b="1" noProof="0" dirty="0">
                          <a:solidFill>
                            <a:srgbClr val="333333"/>
                          </a:solidFill>
                          <a:latin typeface="Calibri"/>
                        </a:rPr>
                        <a:t>Los Abedules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995</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1.013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962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1B3A6B"/>
                          </a:solidFill>
                          <a:latin typeface="Calibri"/>
                        </a:rPr>
                        <a:t>863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CA6F1E"/>
                          </a:solidFill>
                          <a:latin typeface="Calibri"/>
                        </a:rPr>
                        <a:t>−99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r>
              <a:tr h="233172">
                <a:tc>
                  <a:txBody>
                    <a:bodyPr/>
                    <a:lstStyle/>
                    <a:p>
                      <a:pPr algn="l"/>
                      <a:r>
                        <a:rPr lang="es-CO" sz="800" b="1" noProof="0" dirty="0">
                          <a:solidFill>
                            <a:srgbClr val="333333"/>
                          </a:solidFill>
                          <a:latin typeface="Calibri"/>
                        </a:rPr>
                        <a:t>Llanos de Pance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1.126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1.114</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1B3A6B"/>
                          </a:solidFill>
                          <a:latin typeface="Calibri"/>
                        </a:rPr>
                        <a:t>925</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CA6F1E"/>
                          </a:solidFill>
                          <a:latin typeface="Calibri"/>
                        </a:rPr>
                        <a:t>−189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r>
              <a:tr h="233172">
                <a:tc>
                  <a:txBody>
                    <a:bodyPr/>
                    <a:lstStyle/>
                    <a:p>
                      <a:pPr algn="l"/>
                      <a:r>
                        <a:rPr lang="es-CO" sz="800" b="1" noProof="0" dirty="0">
                          <a:solidFill>
                            <a:srgbClr val="333333"/>
                          </a:solidFill>
                          <a:latin typeface="Calibri"/>
                        </a:rPr>
                        <a:t>Portón de la Rivera</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996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1.077</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961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1B3A6B"/>
                          </a:solidFill>
                          <a:latin typeface="Calibri"/>
                        </a:rPr>
                        <a:t>894</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CA6F1E"/>
                          </a:solidFill>
                          <a:latin typeface="Calibri"/>
                        </a:rPr>
                        <a:t>−66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r>
              <a:tr h="233172">
                <a:tc>
                  <a:txBody>
                    <a:bodyPr/>
                    <a:lstStyle/>
                    <a:p>
                      <a:pPr algn="l"/>
                      <a:r>
                        <a:rPr lang="es-CO" sz="800" b="1" noProof="0" dirty="0">
                          <a:solidFill>
                            <a:srgbClr val="333333"/>
                          </a:solidFill>
                          <a:latin typeface="Calibri"/>
                        </a:rPr>
                        <a:t>Pance Campestre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771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582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1B3A6B"/>
                          </a:solidFill>
                          <a:latin typeface="Calibri"/>
                        </a:rPr>
                        <a:t>1.084</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1E8449"/>
                          </a:solidFill>
                          <a:latin typeface="Calibri"/>
                        </a:rPr>
                        <a:t>+502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r>
              <a:tr h="233172">
                <a:tc>
                  <a:txBody>
                    <a:bodyPr/>
                    <a:lstStyle/>
                    <a:p>
                      <a:pPr algn="l"/>
                      <a:r>
                        <a:rPr lang="es-CO" sz="800" b="1" noProof="0" dirty="0">
                          <a:solidFill>
                            <a:srgbClr val="333333"/>
                          </a:solidFill>
                          <a:latin typeface="Calibri"/>
                        </a:rPr>
                        <a:t>Gerona Club House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958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1B3A6B"/>
                          </a:solidFill>
                          <a:latin typeface="Calibri"/>
                        </a:rPr>
                        <a:t>1.086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1E8449"/>
                          </a:solidFill>
                          <a:latin typeface="Calibri"/>
                        </a:rPr>
                        <a:t>+128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r>
              <a:tr h="233172">
                <a:tc>
                  <a:txBody>
                    <a:bodyPr/>
                    <a:lstStyle/>
                    <a:p>
                      <a:pPr algn="l"/>
                      <a:r>
                        <a:rPr lang="es-CO" sz="800" b="1" noProof="0" dirty="0">
                          <a:solidFill>
                            <a:srgbClr val="333333"/>
                          </a:solidFill>
                          <a:latin typeface="Calibri"/>
                        </a:rPr>
                        <a:t>Castellana Real</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1B3A6B"/>
                          </a:solidFill>
                          <a:latin typeface="Calibri"/>
                        </a:rPr>
                        <a:t>1.035</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r>
            </a:tbl>
          </a:graphicData>
        </a:graphic>
      </p:graphicFrame>
      <p:sp>
        <p:nvSpPr>
          <p:cNvPr id="12" name="TextBox 11"/>
          <p:cNvSpPr txBox="1"/>
          <p:nvPr/>
        </p:nvSpPr>
        <p:spPr>
          <a:xfrm>
            <a:off x="5486400" y="4180000"/>
            <a:ext cx="3108960" cy="300000"/>
          </a:xfrm>
          <a:prstGeom prst="rect">
            <a:avLst/>
          </a:prstGeom>
          <a:noFill/>
        </p:spPr>
        <p:txBody>
          <a:bodyPr wrap="square" lIns="0" tIns="0" rIns="0" bIns="0" anchor="t">
            <a:spAutoFit/>
          </a:bodyPr>
          <a:lstStyle/>
          <a:p>
            <a:pPr algn="l">
              <a:spcAft>
                <a:spcPts val="0"/>
              </a:spcAft>
            </a:pPr>
            <a:r>
              <a:rPr lang="es-CO" sz="720" b="0" i="0" noProof="0" dirty="0">
                <a:solidFill>
                  <a:srgbClr val="55636E"/>
                </a:solidFill>
                <a:latin typeface="Calibri"/>
              </a:rPr>
              <a:t>Yield de diseño: Cali 1.188 y costa 1.323 kWh/kWp/año (≈ 1.225 ponderado en las 35 casas comparables).</a:t>
            </a:r>
          </a:p>
        </p:txBody>
      </p:sp>
      <p:sp>
        <p:nvSpPr>
          <p:cNvPr id="13" name="TextBox 12"/>
          <p:cNvSpPr txBox="1"/>
          <p:nvPr/>
        </p:nvSpPr>
        <p:spPr>
          <a:xfrm>
            <a:off x="411480" y="4617720"/>
            <a:ext cx="8321040" cy="237744"/>
          </a:xfrm>
          <a:prstGeom prst="rect">
            <a:avLst/>
          </a:prstGeom>
          <a:noFill/>
        </p:spPr>
        <p:txBody>
          <a:bodyPr wrap="square" lIns="0" tIns="0" rIns="0" bIns="0" anchor="ctr">
            <a:spAutoFit/>
          </a:bodyPr>
          <a:lstStyle/>
          <a:p>
            <a:pPr algn="l">
              <a:spcAft>
                <a:spcPts val="0"/>
              </a:spcAft>
            </a:pPr>
            <a:r>
              <a:rPr lang="es-CO" sz="750" b="0" i="1" noProof="0" dirty="0">
                <a:solidFill>
                  <a:srgbClr val="55636E"/>
                </a:solidFill>
                <a:latin typeface="Calibri"/>
              </a:rPr>
              <a:t>Yield real = generación ÷ kWp × 365 ÷ días válidos de BD1 (sin Casa 101); — = menos de 10 días válidos. Terranova (Casa 78T): julio–agosto con datos parciales y 15% del diseño en agosto. Pance Campestre: septiembre con 14 días de generación 0 (Casa 48PC). Octubre de BD1 puede diferir del de la diapositiva 8 (balance de 20 días): Castellana Real 1.035 frente a 976.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EVOLUCIÓN JUL–OCT · RENDIMIENTO</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1800" b="1" i="0" noProof="0" dirty="0">
                <a:solidFill>
                  <a:srgbClr val="1B3A6B"/>
                </a:solidFill>
                <a:latin typeface="Calibri"/>
              </a:rPr>
              <a:t>El rendimiento cayó de 87,2% a 73,2% del diseño: las casas bajo la meta de 80% pasaron de 9 a 22 de 35</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16</a:t>
            </a:r>
          </a:p>
        </p:txBody>
      </p:sp>
      <p:sp>
        <p:nvSpPr>
          <p:cNvPr id="8" name="panel bandas"/>
          <p:cNvSpPr/>
          <p:nvPr/>
        </p:nvSpPr>
        <p:spPr>
          <a:xfrm>
            <a:off x="411480" y="1188720"/>
            <a:ext cx="4754880" cy="333756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9" name="título panel bandas"/>
          <p:cNvSpPr txBox="1"/>
          <p:nvPr/>
        </p:nvSpPr>
        <p:spPr>
          <a:xfrm>
            <a:off x="548640" y="1225296"/>
            <a:ext cx="4480560" cy="21945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Casas por banda de rendimiento vs diseño (35 casas comparables)</a:t>
            </a:r>
          </a:p>
        </p:txBody>
      </p:sp>
      <p:graphicFrame>
        <p:nvGraphicFramePr>
          <p:cNvPr id="10" name="Gráfico"/>
          <p:cNvGraphicFramePr>
            <a:graphicFrameLocks noGrp="1"/>
          </p:cNvGraphicFramePr>
          <p:nvPr/>
        </p:nvGraphicFramePr>
        <p:xfrm>
          <a:off x="457200" y="1444752"/>
          <a:ext cx="4663440" cy="3017520"/>
        </p:xfrm>
        <a:graphic>
          <a:graphicData uri="http://schemas.openxmlformats.org/drawingml/2006/chart">
            <c:chart xmlns:c="http://schemas.openxmlformats.org/drawingml/2006/chart" r:id="rId2"/>
          </a:graphicData>
        </a:graphic>
      </p:graphicFrame>
      <p:sp>
        <p:nvSpPr>
          <p:cNvPr id="10" name="panel tabla rendimiento"/>
          <p:cNvSpPr/>
          <p:nvPr/>
        </p:nvSpPr>
        <p:spPr>
          <a:xfrm>
            <a:off x="5349240" y="1188720"/>
            <a:ext cx="3383280" cy="333756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1" name="título panel tabla rendimiento"/>
          <p:cNvSpPr txBox="1"/>
          <p:nvPr/>
        </p:nvSpPr>
        <p:spPr>
          <a:xfrm>
            <a:off x="5486400" y="1225296"/>
            <a:ext cx="3108960" cy="21945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Rendimiento vs diseño por conjunto (%)</a:t>
            </a:r>
          </a:p>
        </p:txBody>
      </p:sp>
      <p:graphicFrame>
        <p:nvGraphicFramePr>
          <p:cNvPr id="12" name="Tabla rendimiento"/>
          <p:cNvGraphicFramePr>
            <a:graphicFrameLocks noGrp="1"/>
          </p:cNvGraphicFramePr>
          <p:nvPr/>
        </p:nvGraphicFramePr>
        <p:xfrm>
          <a:off x="5486400" y="1517904"/>
          <a:ext cx="3108960" cy="2578608"/>
        </p:xfrm>
        <a:graphic>
          <a:graphicData uri="http://schemas.openxmlformats.org/drawingml/2006/table">
            <a:tbl>
              <a:tblPr>
                <a:tableStyleId>{2D5ABB26-0587-4C30-8999-92F81FD0307C}</a:tableStyleId>
              </a:tblPr>
              <a:tblGrid>
                <a:gridCol w="960120"/>
                <a:gridCol w="380000"/>
                <a:gridCol w="380000"/>
                <a:gridCol w="380000"/>
                <a:gridCol w="380000"/>
                <a:gridCol w="628840"/>
              </a:tblGrid>
              <a:tr h="246888">
                <a:tc>
                  <a:txBody>
                    <a:bodyPr/>
                    <a:lstStyle/>
                    <a:p>
                      <a:pPr algn="l"/>
                      <a:r>
                        <a:rPr lang="es-CO" sz="750" b="1" noProof="0" dirty="0">
                          <a:solidFill>
                            <a:srgbClr val="FFFFFF"/>
                          </a:solidFill>
                          <a:latin typeface="Calibri"/>
                        </a:rPr>
                        <a:t>Conjunto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Jul</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Ago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Sep</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Oct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Δ sep→oct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r>
              <a:tr h="233172">
                <a:tc>
                  <a:txBody>
                    <a:bodyPr/>
                    <a:lstStyle/>
                    <a:p>
                      <a:pPr algn="l"/>
                      <a:r>
                        <a:rPr lang="es-CO" sz="800" b="1" noProof="0" dirty="0">
                          <a:solidFill>
                            <a:srgbClr val="333333"/>
                          </a:solidFill>
                          <a:latin typeface="Calibri"/>
                        </a:rPr>
                        <a:t>Reservas de Pance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FFFFFF"/>
                          </a:solidFill>
                          <a:latin typeface="Calibri"/>
                        </a:rPr>
                        <a:t>79,0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A6F1E"/>
                    </a:solidFill>
                  </a:tcPr>
                </a:tc>
                <a:tc>
                  <a:txBody>
                    <a:bodyPr/>
                    <a:lstStyle/>
                    <a:p>
                      <a:pPr algn="ctr"/>
                      <a:r>
                        <a:rPr lang="es-CO" sz="800" b="1" noProof="0" dirty="0">
                          <a:solidFill>
                            <a:srgbClr val="FFFFFF"/>
                          </a:solidFill>
                          <a:latin typeface="Calibri"/>
                        </a:rPr>
                        <a:t>89,2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2B5BA3"/>
                    </a:solidFill>
                  </a:tcPr>
                </a:tc>
                <a:tc>
                  <a:txBody>
                    <a:bodyPr/>
                    <a:lstStyle/>
                    <a:p>
                      <a:pPr algn="ctr"/>
                      <a:r>
                        <a:rPr lang="es-CO" sz="800" b="1" noProof="0" dirty="0">
                          <a:solidFill>
                            <a:srgbClr val="FFFFFF"/>
                          </a:solidFill>
                          <a:latin typeface="Calibri"/>
                        </a:rPr>
                        <a:t>88,2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2B5BA3"/>
                    </a:solidFill>
                  </a:tcPr>
                </a:tc>
                <a:tc>
                  <a:txBody>
                    <a:bodyPr/>
                    <a:lstStyle/>
                    <a:p>
                      <a:pPr algn="ctr"/>
                      <a:r>
                        <a:rPr lang="es-CO" sz="800" b="1" noProof="0" dirty="0">
                          <a:solidFill>
                            <a:srgbClr val="FFFFFF"/>
                          </a:solidFill>
                          <a:latin typeface="Calibri"/>
                        </a:rPr>
                        <a:t>68,9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A6F1E"/>
                    </a:solidFill>
                  </a:tcPr>
                </a:tc>
                <a:tc>
                  <a:txBody>
                    <a:bodyPr/>
                    <a:lstStyle/>
                    <a:p>
                      <a:pPr algn="ctr"/>
                      <a:r>
                        <a:rPr lang="es-CO" sz="800" b="1" noProof="0" dirty="0">
                          <a:solidFill>
                            <a:srgbClr val="CA6F1E"/>
                          </a:solidFill>
                          <a:latin typeface="Calibri"/>
                        </a:rPr>
                        <a:t>−19,3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r>
              <a:tr h="233172">
                <a:tc>
                  <a:txBody>
                    <a:bodyPr/>
                    <a:lstStyle/>
                    <a:p>
                      <a:pPr algn="l"/>
                      <a:r>
                        <a:rPr lang="es-CO" sz="800" b="1" noProof="0" dirty="0">
                          <a:solidFill>
                            <a:srgbClr val="333333"/>
                          </a:solidFill>
                          <a:latin typeface="Calibri"/>
                        </a:rPr>
                        <a:t>Prado Verde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FFFFFF"/>
                          </a:solidFill>
                          <a:latin typeface="Calibri"/>
                        </a:rPr>
                        <a:t>88,2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2B5BA3"/>
                    </a:solidFill>
                  </a:tcPr>
                </a:tc>
                <a:tc>
                  <a:txBody>
                    <a:bodyPr/>
                    <a:lstStyle/>
                    <a:p>
                      <a:pPr algn="ctr"/>
                      <a:r>
                        <a:rPr lang="es-CO" sz="800" b="1" noProof="0" dirty="0">
                          <a:solidFill>
                            <a:srgbClr val="FFFFFF"/>
                          </a:solidFill>
                          <a:latin typeface="Calibri"/>
                        </a:rPr>
                        <a:t>90,7</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tc>
                  <a:txBody>
                    <a:bodyPr/>
                    <a:lstStyle/>
                    <a:p>
                      <a:pPr algn="ctr"/>
                      <a:r>
                        <a:rPr lang="es-CO" sz="800" b="1" noProof="0" dirty="0">
                          <a:solidFill>
                            <a:srgbClr val="FFFFFF"/>
                          </a:solidFill>
                          <a:latin typeface="Calibri"/>
                        </a:rPr>
                        <a:t>84,1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2B5BA3"/>
                    </a:solidFill>
                  </a:tcPr>
                </a:tc>
                <a:tc>
                  <a:txBody>
                    <a:bodyPr/>
                    <a:lstStyle/>
                    <a:p>
                      <a:pPr algn="ctr"/>
                      <a:r>
                        <a:rPr lang="es-CO" sz="800" b="1" noProof="0" dirty="0">
                          <a:solidFill>
                            <a:srgbClr val="FFFFFF"/>
                          </a:solidFill>
                          <a:latin typeface="Calibri"/>
                        </a:rPr>
                        <a:t>79,0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A6F1E"/>
                    </a:solidFill>
                  </a:tcPr>
                </a:tc>
                <a:tc>
                  <a:txBody>
                    <a:bodyPr/>
                    <a:lstStyle/>
                    <a:p>
                      <a:pPr algn="ctr"/>
                      <a:r>
                        <a:rPr lang="es-CO" sz="800" b="1" noProof="0" dirty="0">
                          <a:solidFill>
                            <a:srgbClr val="CA6F1E"/>
                          </a:solidFill>
                          <a:latin typeface="Calibri"/>
                        </a:rPr>
                        <a:t>−5,0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r>
              <a:tr h="233172">
                <a:tc>
                  <a:txBody>
                    <a:bodyPr/>
                    <a:lstStyle/>
                    <a:p>
                      <a:pPr algn="l"/>
                      <a:r>
                        <a:rPr lang="es-CO" sz="800" b="1" noProof="0" dirty="0">
                          <a:solidFill>
                            <a:srgbClr val="333333"/>
                          </a:solidFill>
                          <a:latin typeface="Calibri"/>
                        </a:rPr>
                        <a:t>Terra by Kaia</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FFFFFF"/>
                          </a:solidFill>
                          <a:latin typeface="Calibri"/>
                        </a:rPr>
                        <a:t>89,4</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2B5BA3"/>
                    </a:solidFill>
                  </a:tcPr>
                </a:tc>
                <a:tc>
                  <a:txBody>
                    <a:bodyPr/>
                    <a:lstStyle/>
                    <a:p>
                      <a:pPr algn="ctr"/>
                      <a:r>
                        <a:rPr lang="es-CO" sz="800" b="1" noProof="0" dirty="0">
                          <a:solidFill>
                            <a:srgbClr val="FFFFFF"/>
                          </a:solidFill>
                          <a:latin typeface="Calibri"/>
                        </a:rPr>
                        <a:t>98,7</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tc>
                  <a:txBody>
                    <a:bodyPr/>
                    <a:lstStyle/>
                    <a:p>
                      <a:pPr algn="ctr"/>
                      <a:r>
                        <a:rPr lang="es-CO" sz="800" b="1" noProof="0" dirty="0">
                          <a:solidFill>
                            <a:srgbClr val="FFFFFF"/>
                          </a:solidFill>
                          <a:latin typeface="Calibri"/>
                        </a:rPr>
                        <a:t>89,7</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2B5BA3"/>
                    </a:solidFill>
                  </a:tcPr>
                </a:tc>
                <a:tc>
                  <a:txBody>
                    <a:bodyPr/>
                    <a:lstStyle/>
                    <a:p>
                      <a:pPr algn="ctr"/>
                      <a:r>
                        <a:rPr lang="es-CO" sz="800" b="1" noProof="0" dirty="0">
                          <a:solidFill>
                            <a:srgbClr val="FFFFFF"/>
                          </a:solidFill>
                          <a:latin typeface="Calibri"/>
                        </a:rPr>
                        <a:t>86,5</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2B5BA3"/>
                    </a:solidFill>
                  </a:tcPr>
                </a:tc>
                <a:tc>
                  <a:txBody>
                    <a:bodyPr/>
                    <a:lstStyle/>
                    <a:p>
                      <a:pPr algn="ctr"/>
                      <a:r>
                        <a:rPr lang="es-CO" sz="800" b="1" noProof="0" dirty="0">
                          <a:solidFill>
                            <a:srgbClr val="CA6F1E"/>
                          </a:solidFill>
                          <a:latin typeface="Calibri"/>
                        </a:rPr>
                        <a:t>−3,2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r>
              <a:tr h="233172">
                <a:tc>
                  <a:txBody>
                    <a:bodyPr/>
                    <a:lstStyle/>
                    <a:p>
                      <a:pPr algn="l"/>
                      <a:r>
                        <a:rPr lang="es-CO" sz="800" b="1" noProof="0" dirty="0">
                          <a:solidFill>
                            <a:srgbClr val="333333"/>
                          </a:solidFill>
                          <a:latin typeface="Calibri"/>
                        </a:rPr>
                        <a:t>Terranova</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FFFFFF"/>
                          </a:solidFill>
                          <a:latin typeface="Calibri"/>
                        </a:rPr>
                        <a:t>15,3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0392B"/>
                    </a:solidFill>
                  </a:tcPr>
                </a:tc>
                <a:tc>
                  <a:txBody>
                    <a:bodyPr/>
                    <a:lstStyle/>
                    <a:p>
                      <a:pPr algn="ctr"/>
                      <a:r>
                        <a:rPr lang="es-CO" sz="800" b="1" noProof="0" dirty="0">
                          <a:solidFill>
                            <a:srgbClr val="FFFFFF"/>
                          </a:solidFill>
                          <a:latin typeface="Calibri"/>
                        </a:rPr>
                        <a:t>97,3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tc>
                  <a:txBody>
                    <a:bodyPr/>
                    <a:lstStyle/>
                    <a:p>
                      <a:pPr algn="ctr"/>
                      <a:r>
                        <a:rPr lang="es-CO" sz="800" b="1" noProof="0" dirty="0">
                          <a:solidFill>
                            <a:srgbClr val="FFFFFF"/>
                          </a:solidFill>
                          <a:latin typeface="Calibri"/>
                        </a:rPr>
                        <a:t>99,9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tc>
                  <a:txBody>
                    <a:bodyPr/>
                    <a:lstStyle/>
                    <a:p>
                      <a:pPr algn="ctr"/>
                      <a:r>
                        <a:rPr lang="es-CO" sz="800" b="1" noProof="0" dirty="0">
                          <a:solidFill>
                            <a:srgbClr val="1E8449"/>
                          </a:solidFill>
                          <a:latin typeface="Calibri"/>
                        </a:rPr>
                        <a:t>+2,6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r>
              <a:tr h="233172">
                <a:tc>
                  <a:txBody>
                    <a:bodyPr/>
                    <a:lstStyle/>
                    <a:p>
                      <a:pPr algn="l"/>
                      <a:r>
                        <a:rPr lang="es-CO" sz="800" b="1" noProof="0" dirty="0">
                          <a:solidFill>
                            <a:srgbClr val="333333"/>
                          </a:solidFill>
                          <a:latin typeface="Calibri"/>
                        </a:rPr>
                        <a:t>Los Abedules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FFFFFF"/>
                          </a:solidFill>
                          <a:latin typeface="Calibri"/>
                        </a:rPr>
                        <a:t>83,7</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2B5BA3"/>
                    </a:solidFill>
                  </a:tcPr>
                </a:tc>
                <a:tc>
                  <a:txBody>
                    <a:bodyPr/>
                    <a:lstStyle/>
                    <a:p>
                      <a:pPr algn="ctr"/>
                      <a:r>
                        <a:rPr lang="es-CO" sz="800" b="1" noProof="0" dirty="0">
                          <a:solidFill>
                            <a:srgbClr val="FFFFFF"/>
                          </a:solidFill>
                          <a:latin typeface="Calibri"/>
                        </a:rPr>
                        <a:t>85,3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2B5BA3"/>
                    </a:solidFill>
                  </a:tcPr>
                </a:tc>
                <a:tc>
                  <a:txBody>
                    <a:bodyPr/>
                    <a:lstStyle/>
                    <a:p>
                      <a:pPr algn="ctr"/>
                      <a:r>
                        <a:rPr lang="es-CO" sz="800" b="1" noProof="0" dirty="0">
                          <a:solidFill>
                            <a:srgbClr val="FFFFFF"/>
                          </a:solidFill>
                          <a:latin typeface="Calibri"/>
                        </a:rPr>
                        <a:t>81,0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2B5BA3"/>
                    </a:solidFill>
                  </a:tcPr>
                </a:tc>
                <a:tc>
                  <a:txBody>
                    <a:bodyPr/>
                    <a:lstStyle/>
                    <a:p>
                      <a:pPr algn="ctr"/>
                      <a:r>
                        <a:rPr lang="es-CO" sz="800" b="1" noProof="0" dirty="0">
                          <a:solidFill>
                            <a:srgbClr val="FFFFFF"/>
                          </a:solidFill>
                          <a:latin typeface="Calibri"/>
                        </a:rPr>
                        <a:t>72,7</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A6F1E"/>
                    </a:solidFill>
                  </a:tcPr>
                </a:tc>
                <a:tc>
                  <a:txBody>
                    <a:bodyPr/>
                    <a:lstStyle/>
                    <a:p>
                      <a:pPr algn="ctr"/>
                      <a:r>
                        <a:rPr lang="es-CO" sz="800" b="1" noProof="0" dirty="0">
                          <a:solidFill>
                            <a:srgbClr val="CA6F1E"/>
                          </a:solidFill>
                          <a:latin typeface="Calibri"/>
                        </a:rPr>
                        <a:t>−8,3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r>
              <a:tr h="233172">
                <a:tc>
                  <a:txBody>
                    <a:bodyPr/>
                    <a:lstStyle/>
                    <a:p>
                      <a:pPr algn="l"/>
                      <a:r>
                        <a:rPr lang="es-CO" sz="800" b="1" noProof="0" dirty="0">
                          <a:solidFill>
                            <a:srgbClr val="333333"/>
                          </a:solidFill>
                          <a:latin typeface="Calibri"/>
                        </a:rPr>
                        <a:t>Llanos de Pance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FFFFFF"/>
                          </a:solidFill>
                          <a:latin typeface="Calibri"/>
                        </a:rPr>
                        <a:t>94,8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tc>
                  <a:txBody>
                    <a:bodyPr/>
                    <a:lstStyle/>
                    <a:p>
                      <a:pPr algn="ctr"/>
                      <a:r>
                        <a:rPr lang="es-CO" sz="800" b="1" noProof="0" dirty="0">
                          <a:solidFill>
                            <a:srgbClr val="FFFFFF"/>
                          </a:solidFill>
                          <a:latin typeface="Calibri"/>
                        </a:rPr>
                        <a:t>93,8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tc>
                  <a:txBody>
                    <a:bodyPr/>
                    <a:lstStyle/>
                    <a:p>
                      <a:pPr algn="ctr"/>
                      <a:r>
                        <a:rPr lang="es-CO" sz="800" b="1" noProof="0" dirty="0">
                          <a:solidFill>
                            <a:srgbClr val="FFFFFF"/>
                          </a:solidFill>
                          <a:latin typeface="Calibri"/>
                        </a:rPr>
                        <a:t>77,9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A6F1E"/>
                    </a:solidFill>
                  </a:tcPr>
                </a:tc>
                <a:tc>
                  <a:txBody>
                    <a:bodyPr/>
                    <a:lstStyle/>
                    <a:p>
                      <a:pPr algn="ctr"/>
                      <a:r>
                        <a:rPr lang="es-CO" sz="800" b="1" noProof="0" dirty="0">
                          <a:solidFill>
                            <a:srgbClr val="CA6F1E"/>
                          </a:solidFill>
                          <a:latin typeface="Calibri"/>
                        </a:rPr>
                        <a:t>−15,9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r>
              <a:tr h="233172">
                <a:tc>
                  <a:txBody>
                    <a:bodyPr/>
                    <a:lstStyle/>
                    <a:p>
                      <a:pPr algn="l"/>
                      <a:r>
                        <a:rPr lang="es-CO" sz="800" b="1" noProof="0" dirty="0">
                          <a:solidFill>
                            <a:srgbClr val="333333"/>
                          </a:solidFill>
                          <a:latin typeface="Calibri"/>
                        </a:rPr>
                        <a:t>Portón de la Rivera</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FFFFFF"/>
                          </a:solidFill>
                          <a:latin typeface="Calibri"/>
                        </a:rPr>
                        <a:t>83,9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2B5BA3"/>
                    </a:solidFill>
                  </a:tcPr>
                </a:tc>
                <a:tc>
                  <a:txBody>
                    <a:bodyPr/>
                    <a:lstStyle/>
                    <a:p>
                      <a:pPr algn="ctr"/>
                      <a:r>
                        <a:rPr lang="es-CO" sz="800" b="1" noProof="0" dirty="0">
                          <a:solidFill>
                            <a:srgbClr val="FFFFFF"/>
                          </a:solidFill>
                          <a:latin typeface="Calibri"/>
                        </a:rPr>
                        <a:t>90,6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tc>
                  <a:txBody>
                    <a:bodyPr/>
                    <a:lstStyle/>
                    <a:p>
                      <a:pPr algn="ctr"/>
                      <a:r>
                        <a:rPr lang="es-CO" sz="800" b="1" noProof="0" dirty="0">
                          <a:solidFill>
                            <a:srgbClr val="FFFFFF"/>
                          </a:solidFill>
                          <a:latin typeface="Calibri"/>
                        </a:rPr>
                        <a:t>80,9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2B5BA3"/>
                    </a:solidFill>
                  </a:tcPr>
                </a:tc>
                <a:tc>
                  <a:txBody>
                    <a:bodyPr/>
                    <a:lstStyle/>
                    <a:p>
                      <a:pPr algn="ctr"/>
                      <a:r>
                        <a:rPr lang="es-CO" sz="800" b="1" noProof="0" dirty="0">
                          <a:solidFill>
                            <a:srgbClr val="FFFFFF"/>
                          </a:solidFill>
                          <a:latin typeface="Calibri"/>
                        </a:rPr>
                        <a:t>75,3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A6F1E"/>
                    </a:solidFill>
                  </a:tcPr>
                </a:tc>
                <a:tc>
                  <a:txBody>
                    <a:bodyPr/>
                    <a:lstStyle/>
                    <a:p>
                      <a:pPr algn="ctr"/>
                      <a:r>
                        <a:rPr lang="es-CO" sz="800" b="1" noProof="0" dirty="0">
                          <a:solidFill>
                            <a:srgbClr val="CA6F1E"/>
                          </a:solidFill>
                          <a:latin typeface="Calibri"/>
                        </a:rPr>
                        <a:t>−5,6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r>
              <a:tr h="233172">
                <a:tc>
                  <a:txBody>
                    <a:bodyPr/>
                    <a:lstStyle/>
                    <a:p>
                      <a:pPr algn="l"/>
                      <a:r>
                        <a:rPr lang="es-CO" sz="800" b="1" noProof="0" dirty="0">
                          <a:solidFill>
                            <a:srgbClr val="333333"/>
                          </a:solidFill>
                          <a:latin typeface="Calibri"/>
                        </a:rPr>
                        <a:t>Pance Campestre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FFFFFF"/>
                          </a:solidFill>
                          <a:latin typeface="Calibri"/>
                        </a:rPr>
                        <a:t>64,9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A6F1E"/>
                    </a:solidFill>
                  </a:tcPr>
                </a:tc>
                <a:tc>
                  <a:txBody>
                    <a:bodyPr/>
                    <a:lstStyle/>
                    <a:p>
                      <a:pPr algn="ctr"/>
                      <a:r>
                        <a:rPr lang="es-CO" sz="800" b="1" noProof="0" dirty="0">
                          <a:solidFill>
                            <a:srgbClr val="FFFFFF"/>
                          </a:solidFill>
                          <a:latin typeface="Calibri"/>
                        </a:rPr>
                        <a:t>49,0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0392B"/>
                    </a:solidFill>
                  </a:tcPr>
                </a:tc>
                <a:tc>
                  <a:txBody>
                    <a:bodyPr/>
                    <a:lstStyle/>
                    <a:p>
                      <a:pPr algn="ctr"/>
                      <a:r>
                        <a:rPr lang="es-CO" sz="800" b="1" noProof="0" dirty="0">
                          <a:solidFill>
                            <a:srgbClr val="FFFFFF"/>
                          </a:solidFill>
                          <a:latin typeface="Calibri"/>
                        </a:rPr>
                        <a:t>91,2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tc>
                  <a:txBody>
                    <a:bodyPr/>
                    <a:lstStyle/>
                    <a:p>
                      <a:pPr algn="ctr"/>
                      <a:r>
                        <a:rPr lang="es-CO" sz="800" b="1" noProof="0" dirty="0">
                          <a:solidFill>
                            <a:srgbClr val="1E8449"/>
                          </a:solidFill>
                          <a:latin typeface="Calibri"/>
                        </a:rPr>
                        <a:t>+42,3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r>
              <a:tr h="233172">
                <a:tc>
                  <a:txBody>
                    <a:bodyPr/>
                    <a:lstStyle/>
                    <a:p>
                      <a:pPr algn="l"/>
                      <a:r>
                        <a:rPr lang="es-CO" sz="800" b="1" noProof="0" dirty="0">
                          <a:solidFill>
                            <a:srgbClr val="333333"/>
                          </a:solidFill>
                          <a:latin typeface="Calibri"/>
                        </a:rPr>
                        <a:t>Gerona Club House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FFFFFF"/>
                          </a:solidFill>
                          <a:latin typeface="Calibri"/>
                        </a:rPr>
                        <a:t>72,4</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A6F1E"/>
                    </a:solidFill>
                  </a:tcPr>
                </a:tc>
                <a:tc>
                  <a:txBody>
                    <a:bodyPr/>
                    <a:lstStyle/>
                    <a:p>
                      <a:pPr algn="ctr"/>
                      <a:r>
                        <a:rPr lang="es-CO" sz="800" b="1" noProof="0" dirty="0">
                          <a:solidFill>
                            <a:srgbClr val="FFFFFF"/>
                          </a:solidFill>
                          <a:latin typeface="Calibri"/>
                        </a:rPr>
                        <a:t>82,1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2B5BA3"/>
                    </a:solidFill>
                  </a:tcPr>
                </a:tc>
                <a:tc>
                  <a:txBody>
                    <a:bodyPr/>
                    <a:lstStyle/>
                    <a:p>
                      <a:pPr algn="ctr"/>
                      <a:r>
                        <a:rPr lang="es-CO" sz="800" b="1" noProof="0" dirty="0">
                          <a:solidFill>
                            <a:srgbClr val="1E8449"/>
                          </a:solidFill>
                          <a:latin typeface="Calibri"/>
                        </a:rPr>
                        <a:t>+9,7</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r>
              <a:tr h="233172">
                <a:tc>
                  <a:txBody>
                    <a:bodyPr/>
                    <a:lstStyle/>
                    <a:p>
                      <a:pPr algn="l"/>
                      <a:r>
                        <a:rPr lang="es-CO" sz="800" b="1" noProof="0" dirty="0">
                          <a:solidFill>
                            <a:srgbClr val="333333"/>
                          </a:solidFill>
                          <a:latin typeface="Calibri"/>
                        </a:rPr>
                        <a:t>Castellana Real</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FFFFFF"/>
                          </a:solidFill>
                          <a:latin typeface="Calibri"/>
                        </a:rPr>
                        <a:t>78,2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A6F1E"/>
                    </a:solidFill>
                  </a:tcPr>
                </a:tc>
                <a:tc>
                  <a:txBody>
                    <a:bodyPr/>
                    <a:lstStyle/>
                    <a:p>
                      <a:pPr algn="ctr"/>
                      <a:r>
                        <a:rPr lang="es-CO" sz="800" b="0" noProof="0" dirty="0">
                          <a:solidFill>
                            <a:srgbClr val="333333"/>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r>
            </a:tbl>
          </a:graphicData>
        </a:graphic>
      </p:graphicFrame>
      <p:sp>
        <p:nvSpPr>
          <p:cNvPr id="12" name="TextBox 11"/>
          <p:cNvSpPr txBox="1"/>
          <p:nvPr/>
        </p:nvSpPr>
        <p:spPr>
          <a:xfrm>
            <a:off x="5486400" y="4180000"/>
            <a:ext cx="3108960" cy="183000"/>
          </a:xfrm>
          <a:prstGeom prst="rect">
            <a:avLst/>
          </a:prstGeom>
          <a:noFill/>
        </p:spPr>
        <p:txBody>
          <a:bodyPr wrap="square" lIns="0" tIns="0" rIns="0" bIns="0" anchor="ctr">
            <a:spAutoFit/>
          </a:bodyPr>
          <a:lstStyle/>
          <a:p>
            <a:pPr algn="l">
              <a:spcAft>
                <a:spcPts val="0"/>
              </a:spcAft>
            </a:pPr>
            <a:r>
              <a:rPr lang="es-CO" sz="720" b="0" i="0" noProof="0" dirty="0">
                <a:solidFill>
                  <a:srgbClr val="1E8449"/>
                </a:solidFill>
                <a:latin typeface="Calibri"/>
              </a:rPr>
              <a:t xml:space="preserve">■ </a:t>
            </a:r>
            <a:r>
              <a:rPr lang="es-CO" sz="720" b="0" i="0" noProof="0" dirty="0">
                <a:solidFill>
                  <a:srgbClr val="55636E"/>
                </a:solidFill>
                <a:latin typeface="Calibri"/>
              </a:rPr>
              <a:t xml:space="preserve">≥ 90%    </a:t>
            </a:r>
            <a:r>
              <a:rPr lang="es-CO" sz="720" b="0" i="0" noProof="0" dirty="0">
                <a:solidFill>
                  <a:srgbClr val="2B5BA3"/>
                </a:solidFill>
                <a:latin typeface="Calibri"/>
              </a:rPr>
              <a:t xml:space="preserve">■ </a:t>
            </a:r>
            <a:r>
              <a:rPr lang="es-CO" sz="720" b="0" i="0" noProof="0" dirty="0">
                <a:solidFill>
                  <a:srgbClr val="55636E"/>
                </a:solidFill>
                <a:latin typeface="Calibri"/>
              </a:rPr>
              <a:t xml:space="preserve">80 – 90%    </a:t>
            </a:r>
            <a:r>
              <a:rPr lang="es-CO" sz="720" b="0" i="0" noProof="0" dirty="0">
                <a:solidFill>
                  <a:srgbClr val="CA6F1E"/>
                </a:solidFill>
                <a:latin typeface="Calibri"/>
              </a:rPr>
              <a:t xml:space="preserve">■ </a:t>
            </a:r>
            <a:r>
              <a:rPr lang="es-CO" sz="720" b="0" i="0" noProof="0" dirty="0">
                <a:solidFill>
                  <a:srgbClr val="55636E"/>
                </a:solidFill>
                <a:latin typeface="Calibri"/>
              </a:rPr>
              <a:t xml:space="preserve">60 – 80%    </a:t>
            </a:r>
            <a:r>
              <a:rPr lang="es-CO" sz="720" b="0" i="0" noProof="0" dirty="0">
                <a:solidFill>
                  <a:srgbClr val="C0392B"/>
                </a:solidFill>
                <a:latin typeface="Calibri"/>
              </a:rPr>
              <a:t xml:space="preserve">■ </a:t>
            </a:r>
            <a:r>
              <a:rPr lang="es-CO" sz="720" b="0" i="0" noProof="0" dirty="0">
                <a:solidFill>
                  <a:srgbClr val="55636E"/>
                </a:solidFill>
                <a:latin typeface="Calibri"/>
              </a:rPr>
              <a:t xml:space="preserve">&lt; 60%    </a:t>
            </a:r>
            <a:r>
              <a:rPr lang="es-CO" sz="720" b="1" i="0" noProof="0" dirty="0">
                <a:solidFill>
                  <a:srgbClr val="55636E"/>
                </a:solidFill>
                <a:latin typeface="Calibri"/>
              </a:rPr>
              <a:t>Meta ≥ 80%</a:t>
            </a:r>
          </a:p>
        </p:txBody>
      </p:sp>
      <p:sp>
        <p:nvSpPr>
          <p:cNvPr id="13" name="TextBox 12"/>
          <p:cNvSpPr txBox="1"/>
          <p:nvPr/>
        </p:nvSpPr>
        <p:spPr>
          <a:xfrm>
            <a:off x="411480" y="4617720"/>
            <a:ext cx="8321040" cy="237744"/>
          </a:xfrm>
          <a:prstGeom prst="rect">
            <a:avLst/>
          </a:prstGeom>
          <a:noFill/>
        </p:spPr>
        <p:txBody>
          <a:bodyPr wrap="square" lIns="0" tIns="0" rIns="0" bIns="0" anchor="ctr">
            <a:spAutoFit/>
          </a:bodyPr>
          <a:lstStyle/>
          <a:p>
            <a:pPr algn="l">
              <a:spcAft>
                <a:spcPts val="0"/>
              </a:spcAft>
            </a:pPr>
            <a:r>
              <a:rPr lang="es-CO" sz="750" b="0" i="1" noProof="0" dirty="0">
                <a:solidFill>
                  <a:srgbClr val="55636E"/>
                </a:solidFill>
                <a:latin typeface="Calibri"/>
              </a:rPr>
              <a:t>Rendimiento = generación ÷ generación de diseño (kWp × yield de diseño ÷ 365 × días válidos), ponderado por kWp; el promedio simple diario de BD1 para todo el portafolio da 82,7% · 88,2% · 86,3% · 74,7%. Bandas como en la diapositiva 9. — = menos de 10 días válidos. Reservas de Pance reúne 15 de las 22 casas bajo la meta en octubre.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EVOLUCIÓN JUL–OCT · COBERTURA SOLAR</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1800" b="1" i="0" noProof="0" dirty="0">
                <a:solidFill>
                  <a:srgbClr val="1B3A6B"/>
                </a:solidFill>
                <a:latin typeface="Calibri"/>
              </a:rPr>
              <a:t>La cobertura solar subió a 71,8% en octubre aunque la generación por casa cayó 15%: la demanda cayó 20%</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17</a:t>
            </a:r>
          </a:p>
        </p:txBody>
      </p:sp>
      <p:sp>
        <p:nvSpPr>
          <p:cNvPr id="8" name="panel cobertura"/>
          <p:cNvSpPr/>
          <p:nvPr/>
        </p:nvSpPr>
        <p:spPr>
          <a:xfrm>
            <a:off x="411480" y="1188720"/>
            <a:ext cx="4754880" cy="333756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9" name="título panel cobertura"/>
          <p:cNvSpPr txBox="1"/>
          <p:nvPr/>
        </p:nvSpPr>
        <p:spPr>
          <a:xfrm>
            <a:off x="548640" y="1225296"/>
            <a:ext cx="4480560" cy="21945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Cobertura solar por mes (%)</a:t>
            </a:r>
          </a:p>
        </p:txBody>
      </p:sp>
      <p:graphicFrame>
        <p:nvGraphicFramePr>
          <p:cNvPr id="10" name="Gráfico"/>
          <p:cNvGraphicFramePr>
            <a:graphicFrameLocks noGrp="1"/>
          </p:cNvGraphicFramePr>
          <p:nvPr/>
        </p:nvGraphicFramePr>
        <p:xfrm>
          <a:off x="457200" y="1417320"/>
          <a:ext cx="4663440" cy="1830000"/>
        </p:xfrm>
        <a:graphic>
          <a:graphicData uri="http://schemas.openxmlformats.org/drawingml/2006/chart">
            <c:chart xmlns:c="http://schemas.openxmlformats.org/drawingml/2006/chart" r:id="rId2"/>
          </a:graphicData>
        </a:graphic>
      </p:graphicFrame>
      <p:sp>
        <p:nvSpPr>
          <p:cNvPr id="10" name="TextBox 9"/>
          <p:cNvSpPr txBox="1"/>
          <p:nvPr/>
        </p:nvSpPr>
        <p:spPr>
          <a:xfrm>
            <a:off x="548640" y="3300000"/>
            <a:ext cx="4480560" cy="160000"/>
          </a:xfrm>
          <a:prstGeom prst="rect">
            <a:avLst/>
          </a:prstGeom>
          <a:noFill/>
        </p:spPr>
        <p:txBody>
          <a:bodyPr wrap="square" lIns="0" tIns="0" rIns="0" bIns="0" anchor="ctr">
            <a:spAutoFit/>
          </a:bodyPr>
          <a:lstStyle/>
          <a:p>
            <a:pPr algn="l">
              <a:spcAft>
                <a:spcPts val="0"/>
              </a:spcAft>
            </a:pPr>
            <a:r>
              <a:rPr lang="es-CO" sz="800" b="1" i="0" noProof="0" dirty="0">
                <a:solidFill>
                  <a:srgbClr val="1B3A6B"/>
                </a:solidFill>
                <a:latin typeface="Calibri"/>
              </a:rPr>
              <a:t>Generación y demanda por casa y día, 35 casas comparables (kWh)</a:t>
            </a:r>
          </a:p>
        </p:txBody>
      </p:sp>
      <p:graphicFrame>
        <p:nvGraphicFramePr>
          <p:cNvPr id="11" name="Tabla generación y demanda"/>
          <p:cNvGraphicFramePr>
            <a:graphicFrameLocks noGrp="1"/>
          </p:cNvGraphicFramePr>
          <p:nvPr/>
        </p:nvGraphicFramePr>
        <p:xfrm>
          <a:off x="548640" y="3470000"/>
          <a:ext cx="4480560" cy="630000"/>
        </p:xfrm>
        <a:graphic>
          <a:graphicData uri="http://schemas.openxmlformats.org/drawingml/2006/table">
            <a:tbl>
              <a:tblPr>
                <a:tableStyleId>{2D5ABB26-0587-4C30-8999-92F81FD0307C}</a:tableStyleId>
              </a:tblPr>
              <a:tblGrid>
                <a:gridCol w="1371600"/>
                <a:gridCol w="777240"/>
                <a:gridCol w="777240"/>
                <a:gridCol w="777240"/>
                <a:gridCol w="777240"/>
              </a:tblGrid>
              <a:tr h="210000">
                <a:tc>
                  <a:txBody>
                    <a:bodyPr/>
                    <a:lstStyle/>
                    <a:p>
                      <a:pPr algn="l"/>
                      <a:r>
                        <a:rPr lang="es-CO" sz="750" b="1" noProof="0" dirty="0">
                          <a:solidFill>
                            <a:srgbClr val="FFFFFF"/>
                          </a:solidFill>
                          <a:latin typeface="Calibri"/>
                        </a:rPr>
                        <a:t>kWh/casa/día</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Jul</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Ago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Sep</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Oct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r>
              <a:tr h="210000">
                <a:tc>
                  <a:txBody>
                    <a:bodyPr/>
                    <a:lstStyle/>
                    <a:p>
                      <a:pPr algn="l"/>
                      <a:r>
                        <a:rPr lang="es-CO" sz="800" b="1" noProof="0" dirty="0">
                          <a:solidFill>
                            <a:srgbClr val="333333"/>
                          </a:solidFill>
                          <a:latin typeface="Calibri"/>
                        </a:rPr>
                        <a:t>Generación</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14,5</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15,9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15,3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1B3A6B"/>
                          </a:solidFill>
                          <a:latin typeface="Calibri"/>
                        </a:rPr>
                        <a:t>13,0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r>
              <a:tr h="210000">
                <a:tc>
                  <a:txBody>
                    <a:bodyPr/>
                    <a:lstStyle/>
                    <a:p>
                      <a:pPr algn="l"/>
                      <a:r>
                        <a:rPr lang="es-CO" sz="800" b="1" noProof="0" dirty="0">
                          <a:solidFill>
                            <a:srgbClr val="333333"/>
                          </a:solidFill>
                          <a:latin typeface="Calibri"/>
                        </a:rPr>
                        <a:t>Demanda</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20,6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22,8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22,6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1B3A6B"/>
                          </a:solidFill>
                          <a:latin typeface="Calibri"/>
                        </a:rPr>
                        <a:t>18,1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r>
            </a:tbl>
          </a:graphicData>
        </a:graphic>
      </p:graphicFrame>
      <p:sp>
        <p:nvSpPr>
          <p:cNvPr id="11" name="TextBox 10"/>
          <p:cNvSpPr txBox="1"/>
          <p:nvPr/>
        </p:nvSpPr>
        <p:spPr>
          <a:xfrm>
            <a:off x="548640" y="4160000"/>
            <a:ext cx="4480560" cy="330000"/>
          </a:xfrm>
          <a:prstGeom prst="rect">
            <a:avLst/>
          </a:prstGeom>
          <a:noFill/>
        </p:spPr>
        <p:txBody>
          <a:bodyPr wrap="square" lIns="0" tIns="0" rIns="0" bIns="0" anchor="t">
            <a:spAutoFit/>
          </a:bodyPr>
          <a:lstStyle/>
          <a:p>
            <a:pPr algn="l">
              <a:spcAft>
                <a:spcPts val="0"/>
              </a:spcAft>
            </a:pPr>
            <a:r>
              <a:rPr lang="es-CO" sz="720" b="0" i="0" noProof="0" dirty="0">
                <a:solidFill>
                  <a:srgbClr val="55636E"/>
                </a:solidFill>
                <a:latin typeface="Calibri"/>
              </a:rPr>
              <a:t>Frente a septiembre la generación por casa baja 15% y la demanda 20%: la cobertura sube porque la demanda cae más que la generación, no porque se genere más.</a:t>
            </a:r>
          </a:p>
        </p:txBody>
      </p:sp>
      <p:sp>
        <p:nvSpPr>
          <p:cNvPr id="12" name="panel cobertura conjunto"/>
          <p:cNvSpPr/>
          <p:nvPr/>
        </p:nvSpPr>
        <p:spPr>
          <a:xfrm>
            <a:off x="5349240" y="1188720"/>
            <a:ext cx="3383280" cy="333756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3" name="título panel cobertura conjunto"/>
          <p:cNvSpPr txBox="1"/>
          <p:nvPr/>
        </p:nvSpPr>
        <p:spPr>
          <a:xfrm>
            <a:off x="5486400" y="1225296"/>
            <a:ext cx="3108960" cy="21945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Cobertura solar por conjunto: octubre y septiembre</a:t>
            </a:r>
          </a:p>
        </p:txBody>
      </p:sp>
      <p:sp>
        <p:nvSpPr>
          <p:cNvPr id="14" name="conjunto 0 nombre"/>
          <p:cNvSpPr txBox="1"/>
          <p:nvPr/>
        </p:nvSpPr>
        <p:spPr>
          <a:xfrm>
            <a:off x="5486400" y="1517904"/>
            <a:ext cx="1150000" cy="200000"/>
          </a:xfrm>
          <a:prstGeom prst="rect">
            <a:avLst/>
          </a:prstGeom>
          <a:noFill/>
        </p:spPr>
        <p:txBody>
          <a:bodyPr wrap="square" lIns="0" tIns="0" rIns="0" bIns="0" anchor="ctr">
            <a:spAutoFit/>
          </a:bodyPr>
          <a:lstStyle/>
          <a:p>
            <a:pPr algn="l">
              <a:spcAft>
                <a:spcPts val="0"/>
              </a:spcAft>
            </a:pPr>
            <a:r>
              <a:rPr lang="es-CO" sz="850" b="0" i="0" noProof="0" dirty="0">
                <a:solidFill>
                  <a:srgbClr val="1A1A2E"/>
                </a:solidFill>
                <a:latin typeface="Calibri"/>
              </a:rPr>
              <a:t>Reservas de Pance</a:t>
            </a:r>
          </a:p>
        </p:txBody>
      </p:sp>
      <p:sp>
        <p:nvSpPr>
          <p:cNvPr id="15" name="conjunto 0 pista"/>
          <p:cNvSpPr/>
          <p:nvPr/>
        </p:nvSpPr>
        <p:spPr>
          <a:xfrm>
            <a:off x="6665000" y="1526904"/>
            <a:ext cx="1000000" cy="182880"/>
          </a:xfrm>
          <a:prstGeom prst="rect">
            <a:avLst/>
          </a:prstGeom>
          <a:solidFill>
            <a:srgbClr val="E9EDF3"/>
          </a:solidFill>
          <a:ln w="12700">
            <a:solidFill>
              <a:srgbClr val="E9EDF3"/>
            </a:solidFill>
          </a:ln>
        </p:spPr>
        <p:txBody>
          <a:bodyPr rtlCol="0" anchor="ctr"/>
          <a:lstStyle/>
          <a:p>
            <a:pPr algn="ctr"/>
            <a:endParaRPr lang="es-CO" noProof="0" dirty="0"/>
          </a:p>
        </p:txBody>
      </p:sp>
      <p:sp>
        <p:nvSpPr>
          <p:cNvPr id="16" name="conjunto 0 barra oct"/>
          <p:cNvSpPr/>
          <p:nvPr/>
        </p:nvSpPr>
        <p:spPr>
          <a:xfrm>
            <a:off x="6665000" y="1526904"/>
            <a:ext cx="731959" cy="82296"/>
          </a:xfrm>
          <a:prstGeom prst="rect">
            <a:avLst/>
          </a:prstGeom>
          <a:solidFill>
            <a:srgbClr val="1E8449"/>
          </a:solidFill>
          <a:ln w="12700">
            <a:solidFill>
              <a:srgbClr val="1E8449"/>
            </a:solidFill>
          </a:ln>
        </p:spPr>
        <p:txBody>
          <a:bodyPr rtlCol="0" anchor="ctr"/>
          <a:lstStyle/>
          <a:p>
            <a:pPr algn="ctr"/>
            <a:endParaRPr lang="es-CO" noProof="0" dirty="0"/>
          </a:p>
        </p:txBody>
      </p:sp>
      <p:sp>
        <p:nvSpPr>
          <p:cNvPr id="17" name="conjunto 0 barra sep"/>
          <p:cNvSpPr/>
          <p:nvPr/>
        </p:nvSpPr>
        <p:spPr>
          <a:xfrm>
            <a:off x="6665000" y="1627488"/>
            <a:ext cx="676227" cy="82296"/>
          </a:xfrm>
          <a:prstGeom prst="rect">
            <a:avLst/>
          </a:prstGeom>
          <a:solidFill>
            <a:srgbClr val="C9D2E3"/>
          </a:solidFill>
          <a:ln w="12700">
            <a:solidFill>
              <a:srgbClr val="C9D2E3"/>
            </a:solidFill>
          </a:ln>
        </p:spPr>
        <p:txBody>
          <a:bodyPr rtlCol="0" anchor="ctr"/>
          <a:lstStyle/>
          <a:p>
            <a:pPr algn="ctr"/>
            <a:endParaRPr lang="es-CO" noProof="0" dirty="0"/>
          </a:p>
        </p:txBody>
      </p:sp>
      <p:sp>
        <p:nvSpPr>
          <p:cNvPr id="18" name="conjunto 0 referencia"/>
          <p:cNvSpPr/>
          <p:nvPr/>
        </p:nvSpPr>
        <p:spPr>
          <a:xfrm>
            <a:off x="7355856" y="1505904"/>
            <a:ext cx="18288" cy="2240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19" name="conjunto 0 valor"/>
          <p:cNvSpPr txBox="1"/>
          <p:nvPr/>
        </p:nvSpPr>
        <p:spPr>
          <a:xfrm>
            <a:off x="7720000" y="1517904"/>
            <a:ext cx="875360" cy="200000"/>
          </a:xfrm>
          <a:prstGeom prst="rect">
            <a:avLst/>
          </a:prstGeom>
          <a:noFill/>
        </p:spPr>
        <p:txBody>
          <a:bodyPr wrap="square" lIns="0" tIns="0" rIns="0" bIns="0" anchor="ctr">
            <a:spAutoFit/>
          </a:bodyPr>
          <a:lstStyle/>
          <a:p>
            <a:pPr algn="l">
              <a:spcAft>
                <a:spcPts val="0"/>
              </a:spcAft>
            </a:pPr>
            <a:r>
              <a:rPr lang="es-CO" sz="850" b="1" i="0" noProof="0" dirty="0">
                <a:solidFill>
                  <a:srgbClr val="1E8449"/>
                </a:solidFill>
                <a:latin typeface="Calibri"/>
              </a:rPr>
              <a:t>73,2%</a:t>
            </a:r>
            <a:r>
              <a:rPr lang="es-CO" sz="700" b="0" i="0" noProof="0" dirty="0">
                <a:solidFill>
                  <a:srgbClr val="55636E"/>
                </a:solidFill>
                <a:latin typeface="Calibri"/>
              </a:rPr>
              <a:t xml:space="preserve">  sep 67,6%</a:t>
            </a:r>
          </a:p>
        </p:txBody>
      </p:sp>
      <p:sp>
        <p:nvSpPr>
          <p:cNvPr id="20" name="conjunto 1 nombre"/>
          <p:cNvSpPr txBox="1"/>
          <p:nvPr/>
        </p:nvSpPr>
        <p:spPr>
          <a:xfrm>
            <a:off x="5486400" y="1779904"/>
            <a:ext cx="1150000" cy="200000"/>
          </a:xfrm>
          <a:prstGeom prst="rect">
            <a:avLst/>
          </a:prstGeom>
          <a:noFill/>
        </p:spPr>
        <p:txBody>
          <a:bodyPr wrap="square" lIns="0" tIns="0" rIns="0" bIns="0" anchor="ctr">
            <a:spAutoFit/>
          </a:bodyPr>
          <a:lstStyle/>
          <a:p>
            <a:pPr algn="l">
              <a:spcAft>
                <a:spcPts val="0"/>
              </a:spcAft>
            </a:pPr>
            <a:r>
              <a:rPr lang="es-CO" sz="850" b="0" i="0" noProof="0" dirty="0">
                <a:solidFill>
                  <a:srgbClr val="1A1A2E"/>
                </a:solidFill>
                <a:latin typeface="Calibri"/>
              </a:rPr>
              <a:t>Prado Verde</a:t>
            </a:r>
          </a:p>
        </p:txBody>
      </p:sp>
      <p:sp>
        <p:nvSpPr>
          <p:cNvPr id="21" name="conjunto 1 pista"/>
          <p:cNvSpPr/>
          <p:nvPr/>
        </p:nvSpPr>
        <p:spPr>
          <a:xfrm>
            <a:off x="6665000" y="1788904"/>
            <a:ext cx="1000000" cy="182880"/>
          </a:xfrm>
          <a:prstGeom prst="rect">
            <a:avLst/>
          </a:prstGeom>
          <a:solidFill>
            <a:srgbClr val="E9EDF3"/>
          </a:solidFill>
          <a:ln w="12700">
            <a:solidFill>
              <a:srgbClr val="E9EDF3"/>
            </a:solidFill>
          </a:ln>
        </p:spPr>
        <p:txBody>
          <a:bodyPr rtlCol="0" anchor="ctr"/>
          <a:lstStyle/>
          <a:p>
            <a:pPr algn="ctr"/>
            <a:endParaRPr lang="es-CO" noProof="0" dirty="0"/>
          </a:p>
        </p:txBody>
      </p:sp>
      <p:sp>
        <p:nvSpPr>
          <p:cNvPr id="22" name="conjunto 1 barra oct"/>
          <p:cNvSpPr/>
          <p:nvPr/>
        </p:nvSpPr>
        <p:spPr>
          <a:xfrm>
            <a:off x="6665000" y="1788904"/>
            <a:ext cx="693790" cy="82296"/>
          </a:xfrm>
          <a:prstGeom prst="rect">
            <a:avLst/>
          </a:prstGeom>
          <a:solidFill>
            <a:srgbClr val="CA6F1E"/>
          </a:solidFill>
          <a:ln w="12700">
            <a:solidFill>
              <a:srgbClr val="CA6F1E"/>
            </a:solidFill>
          </a:ln>
        </p:spPr>
        <p:txBody>
          <a:bodyPr rtlCol="0" anchor="ctr"/>
          <a:lstStyle/>
          <a:p>
            <a:pPr algn="ctr"/>
            <a:endParaRPr lang="es-CO" noProof="0" dirty="0"/>
          </a:p>
        </p:txBody>
      </p:sp>
      <p:sp>
        <p:nvSpPr>
          <p:cNvPr id="23" name="conjunto 1 barra sep"/>
          <p:cNvSpPr/>
          <p:nvPr/>
        </p:nvSpPr>
        <p:spPr>
          <a:xfrm>
            <a:off x="6665000" y="1889488"/>
            <a:ext cx="702346" cy="82296"/>
          </a:xfrm>
          <a:prstGeom prst="rect">
            <a:avLst/>
          </a:prstGeom>
          <a:solidFill>
            <a:srgbClr val="C9D2E3"/>
          </a:solidFill>
          <a:ln w="12700">
            <a:solidFill>
              <a:srgbClr val="C9D2E3"/>
            </a:solidFill>
          </a:ln>
        </p:spPr>
        <p:txBody>
          <a:bodyPr rtlCol="0" anchor="ctr"/>
          <a:lstStyle/>
          <a:p>
            <a:pPr algn="ctr"/>
            <a:endParaRPr lang="es-CO" noProof="0" dirty="0"/>
          </a:p>
        </p:txBody>
      </p:sp>
      <p:sp>
        <p:nvSpPr>
          <p:cNvPr id="24" name="conjunto 1 referencia"/>
          <p:cNvSpPr/>
          <p:nvPr/>
        </p:nvSpPr>
        <p:spPr>
          <a:xfrm>
            <a:off x="7355856" y="1767904"/>
            <a:ext cx="18288" cy="2240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25" name="conjunto 1 valor"/>
          <p:cNvSpPr txBox="1"/>
          <p:nvPr/>
        </p:nvSpPr>
        <p:spPr>
          <a:xfrm>
            <a:off x="7720000" y="1779904"/>
            <a:ext cx="875360" cy="200000"/>
          </a:xfrm>
          <a:prstGeom prst="rect">
            <a:avLst/>
          </a:prstGeom>
          <a:noFill/>
        </p:spPr>
        <p:txBody>
          <a:bodyPr wrap="square" lIns="0" tIns="0" rIns="0" bIns="0" anchor="ctr">
            <a:spAutoFit/>
          </a:bodyPr>
          <a:lstStyle/>
          <a:p>
            <a:pPr algn="l">
              <a:spcAft>
                <a:spcPts val="0"/>
              </a:spcAft>
            </a:pPr>
            <a:r>
              <a:rPr lang="es-CO" sz="850" b="1" i="0" noProof="0" dirty="0">
                <a:solidFill>
                  <a:srgbClr val="CA6F1E"/>
                </a:solidFill>
                <a:latin typeface="Calibri"/>
              </a:rPr>
              <a:t>69,4%</a:t>
            </a:r>
            <a:r>
              <a:rPr lang="es-CO" sz="700" b="0" i="0" noProof="0" dirty="0">
                <a:solidFill>
                  <a:srgbClr val="55636E"/>
                </a:solidFill>
                <a:latin typeface="Calibri"/>
              </a:rPr>
              <a:t xml:space="preserve">  sep 70,2%</a:t>
            </a:r>
          </a:p>
        </p:txBody>
      </p:sp>
      <p:sp>
        <p:nvSpPr>
          <p:cNvPr id="26" name="conjunto 2 nombre"/>
          <p:cNvSpPr txBox="1"/>
          <p:nvPr/>
        </p:nvSpPr>
        <p:spPr>
          <a:xfrm>
            <a:off x="5486400" y="2041904"/>
            <a:ext cx="1150000" cy="200000"/>
          </a:xfrm>
          <a:prstGeom prst="rect">
            <a:avLst/>
          </a:prstGeom>
          <a:noFill/>
        </p:spPr>
        <p:txBody>
          <a:bodyPr wrap="square" lIns="0" tIns="0" rIns="0" bIns="0" anchor="ctr">
            <a:spAutoFit/>
          </a:bodyPr>
          <a:lstStyle/>
          <a:p>
            <a:pPr algn="l">
              <a:spcAft>
                <a:spcPts val="0"/>
              </a:spcAft>
            </a:pPr>
            <a:r>
              <a:rPr lang="es-CO" sz="850" b="0" i="0" noProof="0" dirty="0">
                <a:solidFill>
                  <a:srgbClr val="1A1A2E"/>
                </a:solidFill>
                <a:latin typeface="Calibri"/>
              </a:rPr>
              <a:t>Terra by Kaia</a:t>
            </a:r>
          </a:p>
        </p:txBody>
      </p:sp>
      <p:sp>
        <p:nvSpPr>
          <p:cNvPr id="27" name="conjunto 2 pista"/>
          <p:cNvSpPr/>
          <p:nvPr/>
        </p:nvSpPr>
        <p:spPr>
          <a:xfrm>
            <a:off x="6665000" y="2050904"/>
            <a:ext cx="1000000" cy="182880"/>
          </a:xfrm>
          <a:prstGeom prst="rect">
            <a:avLst/>
          </a:prstGeom>
          <a:solidFill>
            <a:srgbClr val="E9EDF3"/>
          </a:solidFill>
          <a:ln w="12700">
            <a:solidFill>
              <a:srgbClr val="E9EDF3"/>
            </a:solidFill>
          </a:ln>
        </p:spPr>
        <p:txBody>
          <a:bodyPr rtlCol="0" anchor="ctr"/>
          <a:lstStyle/>
          <a:p>
            <a:pPr algn="ctr"/>
            <a:endParaRPr lang="es-CO" noProof="0" dirty="0"/>
          </a:p>
        </p:txBody>
      </p:sp>
      <p:sp>
        <p:nvSpPr>
          <p:cNvPr id="28" name="conjunto 2 barra oct"/>
          <p:cNvSpPr/>
          <p:nvPr/>
        </p:nvSpPr>
        <p:spPr>
          <a:xfrm>
            <a:off x="6665000" y="2050904"/>
            <a:ext cx="708888" cy="82296"/>
          </a:xfrm>
          <a:prstGeom prst="rect">
            <a:avLst/>
          </a:prstGeom>
          <a:solidFill>
            <a:srgbClr val="1E8449"/>
          </a:solidFill>
          <a:ln w="12700">
            <a:solidFill>
              <a:srgbClr val="1E8449"/>
            </a:solidFill>
          </a:ln>
        </p:spPr>
        <p:txBody>
          <a:bodyPr rtlCol="0" anchor="ctr"/>
          <a:lstStyle/>
          <a:p>
            <a:pPr algn="ctr"/>
            <a:endParaRPr lang="es-CO" noProof="0" dirty="0"/>
          </a:p>
        </p:txBody>
      </p:sp>
      <p:sp>
        <p:nvSpPr>
          <p:cNvPr id="29" name="conjunto 2 barra sep"/>
          <p:cNvSpPr/>
          <p:nvPr/>
        </p:nvSpPr>
        <p:spPr>
          <a:xfrm>
            <a:off x="6665000" y="2151488"/>
            <a:ext cx="656440" cy="82296"/>
          </a:xfrm>
          <a:prstGeom prst="rect">
            <a:avLst/>
          </a:prstGeom>
          <a:solidFill>
            <a:srgbClr val="C9D2E3"/>
          </a:solidFill>
          <a:ln w="12700">
            <a:solidFill>
              <a:srgbClr val="C9D2E3"/>
            </a:solidFill>
          </a:ln>
        </p:spPr>
        <p:txBody>
          <a:bodyPr rtlCol="0" anchor="ctr"/>
          <a:lstStyle/>
          <a:p>
            <a:pPr algn="ctr"/>
            <a:endParaRPr lang="es-CO" noProof="0" dirty="0"/>
          </a:p>
        </p:txBody>
      </p:sp>
      <p:sp>
        <p:nvSpPr>
          <p:cNvPr id="30" name="conjunto 2 referencia"/>
          <p:cNvSpPr/>
          <p:nvPr/>
        </p:nvSpPr>
        <p:spPr>
          <a:xfrm>
            <a:off x="7355856" y="2029904"/>
            <a:ext cx="18288" cy="2240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1" name="conjunto 2 valor"/>
          <p:cNvSpPr txBox="1"/>
          <p:nvPr/>
        </p:nvSpPr>
        <p:spPr>
          <a:xfrm>
            <a:off x="7720000" y="2041904"/>
            <a:ext cx="875360" cy="200000"/>
          </a:xfrm>
          <a:prstGeom prst="rect">
            <a:avLst/>
          </a:prstGeom>
          <a:noFill/>
        </p:spPr>
        <p:txBody>
          <a:bodyPr wrap="square" lIns="0" tIns="0" rIns="0" bIns="0" anchor="ctr">
            <a:spAutoFit/>
          </a:bodyPr>
          <a:lstStyle/>
          <a:p>
            <a:pPr algn="l">
              <a:spcAft>
                <a:spcPts val="0"/>
              </a:spcAft>
            </a:pPr>
            <a:r>
              <a:rPr lang="es-CO" sz="850" b="1" i="0" noProof="0" dirty="0">
                <a:solidFill>
                  <a:srgbClr val="1E8449"/>
                </a:solidFill>
                <a:latin typeface="Calibri"/>
              </a:rPr>
              <a:t>70,9%</a:t>
            </a:r>
            <a:r>
              <a:rPr lang="es-CO" sz="700" b="0" i="0" noProof="0" dirty="0">
                <a:solidFill>
                  <a:srgbClr val="55636E"/>
                </a:solidFill>
                <a:latin typeface="Calibri"/>
              </a:rPr>
              <a:t xml:space="preserve">  sep 65,6%</a:t>
            </a:r>
          </a:p>
        </p:txBody>
      </p:sp>
      <p:sp>
        <p:nvSpPr>
          <p:cNvPr id="32" name="conjunto 3 nombre"/>
          <p:cNvSpPr txBox="1"/>
          <p:nvPr/>
        </p:nvSpPr>
        <p:spPr>
          <a:xfrm>
            <a:off x="5486400" y="2303904"/>
            <a:ext cx="1150000" cy="200000"/>
          </a:xfrm>
          <a:prstGeom prst="rect">
            <a:avLst/>
          </a:prstGeom>
          <a:noFill/>
        </p:spPr>
        <p:txBody>
          <a:bodyPr wrap="square" lIns="0" tIns="0" rIns="0" bIns="0" anchor="ctr">
            <a:spAutoFit/>
          </a:bodyPr>
          <a:lstStyle/>
          <a:p>
            <a:pPr algn="l">
              <a:spcAft>
                <a:spcPts val="0"/>
              </a:spcAft>
            </a:pPr>
            <a:r>
              <a:rPr lang="es-CO" sz="850" b="0" i="0" noProof="0" dirty="0">
                <a:solidFill>
                  <a:srgbClr val="1A1A2E"/>
                </a:solidFill>
                <a:latin typeface="Calibri"/>
              </a:rPr>
              <a:t>Terranova</a:t>
            </a:r>
          </a:p>
        </p:txBody>
      </p:sp>
      <p:sp>
        <p:nvSpPr>
          <p:cNvPr id="33" name="conjunto 3 pista"/>
          <p:cNvSpPr/>
          <p:nvPr/>
        </p:nvSpPr>
        <p:spPr>
          <a:xfrm>
            <a:off x="6665000" y="2312904"/>
            <a:ext cx="1000000" cy="182880"/>
          </a:xfrm>
          <a:prstGeom prst="rect">
            <a:avLst/>
          </a:prstGeom>
          <a:solidFill>
            <a:srgbClr val="E9EDF3"/>
          </a:solidFill>
          <a:ln w="12700">
            <a:solidFill>
              <a:srgbClr val="E9EDF3"/>
            </a:solidFill>
          </a:ln>
        </p:spPr>
        <p:txBody>
          <a:bodyPr rtlCol="0" anchor="ctr"/>
          <a:lstStyle/>
          <a:p>
            <a:pPr algn="ctr"/>
            <a:endParaRPr lang="es-CO" noProof="0" dirty="0"/>
          </a:p>
        </p:txBody>
      </p:sp>
      <p:sp>
        <p:nvSpPr>
          <p:cNvPr id="34" name="conjunto 3 barra oct"/>
          <p:cNvSpPr/>
          <p:nvPr/>
        </p:nvSpPr>
        <p:spPr>
          <a:xfrm>
            <a:off x="6665000" y="2312904"/>
            <a:ext cx="611849" cy="82296"/>
          </a:xfrm>
          <a:prstGeom prst="rect">
            <a:avLst/>
          </a:prstGeom>
          <a:solidFill>
            <a:srgbClr val="CA6F1E"/>
          </a:solidFill>
          <a:ln w="12700">
            <a:solidFill>
              <a:srgbClr val="CA6F1E"/>
            </a:solidFill>
          </a:ln>
        </p:spPr>
        <p:txBody>
          <a:bodyPr rtlCol="0" anchor="ctr"/>
          <a:lstStyle/>
          <a:p>
            <a:pPr algn="ctr"/>
            <a:endParaRPr lang="es-CO" noProof="0" dirty="0"/>
          </a:p>
        </p:txBody>
      </p:sp>
      <p:sp>
        <p:nvSpPr>
          <p:cNvPr id="35" name="conjunto 3 barra sep"/>
          <p:cNvSpPr/>
          <p:nvPr/>
        </p:nvSpPr>
        <p:spPr>
          <a:xfrm>
            <a:off x="6665000" y="2413488"/>
            <a:ext cx="501722" cy="82296"/>
          </a:xfrm>
          <a:prstGeom prst="rect">
            <a:avLst/>
          </a:prstGeom>
          <a:solidFill>
            <a:srgbClr val="C9D2E3"/>
          </a:solidFill>
          <a:ln w="12700">
            <a:solidFill>
              <a:srgbClr val="C9D2E3"/>
            </a:solidFill>
          </a:ln>
        </p:spPr>
        <p:txBody>
          <a:bodyPr rtlCol="0" anchor="ctr"/>
          <a:lstStyle/>
          <a:p>
            <a:pPr algn="ctr"/>
            <a:endParaRPr lang="es-CO" noProof="0" dirty="0"/>
          </a:p>
        </p:txBody>
      </p:sp>
      <p:sp>
        <p:nvSpPr>
          <p:cNvPr id="36" name="conjunto 3 referencia"/>
          <p:cNvSpPr/>
          <p:nvPr/>
        </p:nvSpPr>
        <p:spPr>
          <a:xfrm>
            <a:off x="7355856" y="2291904"/>
            <a:ext cx="18288" cy="2240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7" name="conjunto 3 valor"/>
          <p:cNvSpPr txBox="1"/>
          <p:nvPr/>
        </p:nvSpPr>
        <p:spPr>
          <a:xfrm>
            <a:off x="7720000" y="2303904"/>
            <a:ext cx="875360" cy="200000"/>
          </a:xfrm>
          <a:prstGeom prst="rect">
            <a:avLst/>
          </a:prstGeom>
          <a:noFill/>
        </p:spPr>
        <p:txBody>
          <a:bodyPr wrap="square" lIns="0" tIns="0" rIns="0" bIns="0" anchor="ctr">
            <a:spAutoFit/>
          </a:bodyPr>
          <a:lstStyle/>
          <a:p>
            <a:pPr algn="l">
              <a:spcAft>
                <a:spcPts val="0"/>
              </a:spcAft>
            </a:pPr>
            <a:r>
              <a:rPr lang="es-CO" sz="850" b="1" i="0" noProof="0" dirty="0">
                <a:solidFill>
                  <a:srgbClr val="CA6F1E"/>
                </a:solidFill>
                <a:latin typeface="Calibri"/>
              </a:rPr>
              <a:t>61,2%</a:t>
            </a:r>
            <a:r>
              <a:rPr lang="es-CO" sz="700" b="0" i="0" noProof="0" dirty="0">
                <a:solidFill>
                  <a:srgbClr val="55636E"/>
                </a:solidFill>
                <a:latin typeface="Calibri"/>
              </a:rPr>
              <a:t xml:space="preserve">  sep 50,2%</a:t>
            </a:r>
          </a:p>
        </p:txBody>
      </p:sp>
      <p:sp>
        <p:nvSpPr>
          <p:cNvPr id="38" name="conjunto 4 nombre"/>
          <p:cNvSpPr txBox="1"/>
          <p:nvPr/>
        </p:nvSpPr>
        <p:spPr>
          <a:xfrm>
            <a:off x="5486400" y="2565904"/>
            <a:ext cx="1150000" cy="200000"/>
          </a:xfrm>
          <a:prstGeom prst="rect">
            <a:avLst/>
          </a:prstGeom>
          <a:noFill/>
        </p:spPr>
        <p:txBody>
          <a:bodyPr wrap="square" lIns="0" tIns="0" rIns="0" bIns="0" anchor="ctr">
            <a:spAutoFit/>
          </a:bodyPr>
          <a:lstStyle/>
          <a:p>
            <a:pPr algn="l">
              <a:spcAft>
                <a:spcPts val="0"/>
              </a:spcAft>
            </a:pPr>
            <a:r>
              <a:rPr lang="es-CO" sz="850" b="0" i="0" noProof="0" dirty="0">
                <a:solidFill>
                  <a:srgbClr val="1A1A2E"/>
                </a:solidFill>
                <a:latin typeface="Calibri"/>
              </a:rPr>
              <a:t>Los Abedules</a:t>
            </a:r>
          </a:p>
        </p:txBody>
      </p:sp>
      <p:sp>
        <p:nvSpPr>
          <p:cNvPr id="39" name="conjunto 4 pista"/>
          <p:cNvSpPr/>
          <p:nvPr/>
        </p:nvSpPr>
        <p:spPr>
          <a:xfrm>
            <a:off x="6665000" y="2574904"/>
            <a:ext cx="1000000" cy="182880"/>
          </a:xfrm>
          <a:prstGeom prst="rect">
            <a:avLst/>
          </a:prstGeom>
          <a:solidFill>
            <a:srgbClr val="E9EDF3"/>
          </a:solidFill>
          <a:ln w="12700">
            <a:solidFill>
              <a:srgbClr val="E9EDF3"/>
            </a:solidFill>
          </a:ln>
        </p:spPr>
        <p:txBody>
          <a:bodyPr rtlCol="0" anchor="ctr"/>
          <a:lstStyle/>
          <a:p>
            <a:pPr algn="ctr"/>
            <a:endParaRPr lang="es-CO" noProof="0" dirty="0"/>
          </a:p>
        </p:txBody>
      </p:sp>
      <p:sp>
        <p:nvSpPr>
          <p:cNvPr id="40" name="conjunto 4 barra oct"/>
          <p:cNvSpPr/>
          <p:nvPr/>
        </p:nvSpPr>
        <p:spPr>
          <a:xfrm>
            <a:off x="6665000" y="2574904"/>
            <a:ext cx="890263" cy="82296"/>
          </a:xfrm>
          <a:prstGeom prst="rect">
            <a:avLst/>
          </a:prstGeom>
          <a:solidFill>
            <a:srgbClr val="1E8449"/>
          </a:solidFill>
          <a:ln w="12700">
            <a:solidFill>
              <a:srgbClr val="1E8449"/>
            </a:solidFill>
          </a:ln>
        </p:spPr>
        <p:txBody>
          <a:bodyPr rtlCol="0" anchor="ctr"/>
          <a:lstStyle/>
          <a:p>
            <a:pPr algn="ctr"/>
            <a:endParaRPr lang="es-CO" noProof="0" dirty="0"/>
          </a:p>
        </p:txBody>
      </p:sp>
      <p:sp>
        <p:nvSpPr>
          <p:cNvPr id="41" name="conjunto 4 barra sep"/>
          <p:cNvSpPr/>
          <p:nvPr/>
        </p:nvSpPr>
        <p:spPr>
          <a:xfrm>
            <a:off x="6665000" y="2675488"/>
            <a:ext cx="719271" cy="82296"/>
          </a:xfrm>
          <a:prstGeom prst="rect">
            <a:avLst/>
          </a:prstGeom>
          <a:solidFill>
            <a:srgbClr val="C9D2E3"/>
          </a:solidFill>
          <a:ln w="12700">
            <a:solidFill>
              <a:srgbClr val="C9D2E3"/>
            </a:solidFill>
          </a:ln>
        </p:spPr>
        <p:txBody>
          <a:bodyPr rtlCol="0" anchor="ctr"/>
          <a:lstStyle/>
          <a:p>
            <a:pPr algn="ctr"/>
            <a:endParaRPr lang="es-CO" noProof="0" dirty="0"/>
          </a:p>
        </p:txBody>
      </p:sp>
      <p:sp>
        <p:nvSpPr>
          <p:cNvPr id="42" name="conjunto 4 referencia"/>
          <p:cNvSpPr/>
          <p:nvPr/>
        </p:nvSpPr>
        <p:spPr>
          <a:xfrm>
            <a:off x="7355856" y="2553904"/>
            <a:ext cx="18288" cy="2240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43" name="conjunto 4 valor"/>
          <p:cNvSpPr txBox="1"/>
          <p:nvPr/>
        </p:nvSpPr>
        <p:spPr>
          <a:xfrm>
            <a:off x="7720000" y="2565904"/>
            <a:ext cx="875360" cy="200000"/>
          </a:xfrm>
          <a:prstGeom prst="rect">
            <a:avLst/>
          </a:prstGeom>
          <a:noFill/>
        </p:spPr>
        <p:txBody>
          <a:bodyPr wrap="square" lIns="0" tIns="0" rIns="0" bIns="0" anchor="ctr">
            <a:spAutoFit/>
          </a:bodyPr>
          <a:lstStyle/>
          <a:p>
            <a:pPr algn="l">
              <a:spcAft>
                <a:spcPts val="0"/>
              </a:spcAft>
            </a:pPr>
            <a:r>
              <a:rPr lang="es-CO" sz="850" b="1" i="0" noProof="0" dirty="0">
                <a:solidFill>
                  <a:srgbClr val="1E8449"/>
                </a:solidFill>
                <a:latin typeface="Calibri"/>
              </a:rPr>
              <a:t>89,0%</a:t>
            </a:r>
            <a:r>
              <a:rPr lang="es-CO" sz="700" b="0" i="0" noProof="0" dirty="0">
                <a:solidFill>
                  <a:srgbClr val="55636E"/>
                </a:solidFill>
                <a:latin typeface="Calibri"/>
              </a:rPr>
              <a:t xml:space="preserve">  sep 71,9%</a:t>
            </a:r>
          </a:p>
        </p:txBody>
      </p:sp>
      <p:sp>
        <p:nvSpPr>
          <p:cNvPr id="44" name="conjunto 5 nombre"/>
          <p:cNvSpPr txBox="1"/>
          <p:nvPr/>
        </p:nvSpPr>
        <p:spPr>
          <a:xfrm>
            <a:off x="5486400" y="2827904"/>
            <a:ext cx="1150000" cy="200000"/>
          </a:xfrm>
          <a:prstGeom prst="rect">
            <a:avLst/>
          </a:prstGeom>
          <a:noFill/>
        </p:spPr>
        <p:txBody>
          <a:bodyPr wrap="square" lIns="0" tIns="0" rIns="0" bIns="0" anchor="ctr">
            <a:spAutoFit/>
          </a:bodyPr>
          <a:lstStyle/>
          <a:p>
            <a:pPr algn="l">
              <a:spcAft>
                <a:spcPts val="0"/>
              </a:spcAft>
            </a:pPr>
            <a:r>
              <a:rPr lang="es-CO" sz="850" b="0" i="0" noProof="0" dirty="0">
                <a:solidFill>
                  <a:srgbClr val="1A1A2E"/>
                </a:solidFill>
                <a:latin typeface="Calibri"/>
              </a:rPr>
              <a:t>Llanos de Pance</a:t>
            </a:r>
          </a:p>
        </p:txBody>
      </p:sp>
      <p:sp>
        <p:nvSpPr>
          <p:cNvPr id="45" name="conjunto 5 pista"/>
          <p:cNvSpPr/>
          <p:nvPr/>
        </p:nvSpPr>
        <p:spPr>
          <a:xfrm>
            <a:off x="6665000" y="2836904"/>
            <a:ext cx="1000000" cy="182880"/>
          </a:xfrm>
          <a:prstGeom prst="rect">
            <a:avLst/>
          </a:prstGeom>
          <a:solidFill>
            <a:srgbClr val="E9EDF3"/>
          </a:solidFill>
          <a:ln w="12700">
            <a:solidFill>
              <a:srgbClr val="E9EDF3"/>
            </a:solidFill>
          </a:ln>
        </p:spPr>
        <p:txBody>
          <a:bodyPr rtlCol="0" anchor="ctr"/>
          <a:lstStyle/>
          <a:p>
            <a:pPr algn="ctr"/>
            <a:endParaRPr lang="es-CO" noProof="0" dirty="0"/>
          </a:p>
        </p:txBody>
      </p:sp>
      <p:sp>
        <p:nvSpPr>
          <p:cNvPr id="46" name="conjunto 5 barra oct"/>
          <p:cNvSpPr/>
          <p:nvPr/>
        </p:nvSpPr>
        <p:spPr>
          <a:xfrm>
            <a:off x="6665000" y="2836904"/>
            <a:ext cx="756692" cy="82296"/>
          </a:xfrm>
          <a:prstGeom prst="rect">
            <a:avLst/>
          </a:prstGeom>
          <a:solidFill>
            <a:srgbClr val="1E8449"/>
          </a:solidFill>
          <a:ln w="12700">
            <a:solidFill>
              <a:srgbClr val="1E8449"/>
            </a:solidFill>
          </a:ln>
        </p:spPr>
        <p:txBody>
          <a:bodyPr rtlCol="0" anchor="ctr"/>
          <a:lstStyle/>
          <a:p>
            <a:pPr algn="ctr"/>
            <a:endParaRPr lang="es-CO" noProof="0" dirty="0"/>
          </a:p>
        </p:txBody>
      </p:sp>
      <p:sp>
        <p:nvSpPr>
          <p:cNvPr id="47" name="conjunto 5 barra sep"/>
          <p:cNvSpPr/>
          <p:nvPr/>
        </p:nvSpPr>
        <p:spPr>
          <a:xfrm>
            <a:off x="6665000" y="2937488"/>
            <a:ext cx="617240" cy="82296"/>
          </a:xfrm>
          <a:prstGeom prst="rect">
            <a:avLst/>
          </a:prstGeom>
          <a:solidFill>
            <a:srgbClr val="C9D2E3"/>
          </a:solidFill>
          <a:ln w="12700">
            <a:solidFill>
              <a:srgbClr val="C9D2E3"/>
            </a:solidFill>
          </a:ln>
        </p:spPr>
        <p:txBody>
          <a:bodyPr rtlCol="0" anchor="ctr"/>
          <a:lstStyle/>
          <a:p>
            <a:pPr algn="ctr"/>
            <a:endParaRPr lang="es-CO" noProof="0" dirty="0"/>
          </a:p>
        </p:txBody>
      </p:sp>
      <p:sp>
        <p:nvSpPr>
          <p:cNvPr id="48" name="conjunto 5 referencia"/>
          <p:cNvSpPr/>
          <p:nvPr/>
        </p:nvSpPr>
        <p:spPr>
          <a:xfrm>
            <a:off x="7355856" y="2815904"/>
            <a:ext cx="18288" cy="2240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49" name="conjunto 5 valor"/>
          <p:cNvSpPr txBox="1"/>
          <p:nvPr/>
        </p:nvSpPr>
        <p:spPr>
          <a:xfrm>
            <a:off x="7720000" y="2827904"/>
            <a:ext cx="875360" cy="200000"/>
          </a:xfrm>
          <a:prstGeom prst="rect">
            <a:avLst/>
          </a:prstGeom>
          <a:noFill/>
        </p:spPr>
        <p:txBody>
          <a:bodyPr wrap="square" lIns="0" tIns="0" rIns="0" bIns="0" anchor="ctr">
            <a:spAutoFit/>
          </a:bodyPr>
          <a:lstStyle/>
          <a:p>
            <a:pPr algn="l">
              <a:spcAft>
                <a:spcPts val="0"/>
              </a:spcAft>
            </a:pPr>
            <a:r>
              <a:rPr lang="es-CO" sz="850" b="1" i="0" noProof="0" dirty="0">
                <a:solidFill>
                  <a:srgbClr val="1E8449"/>
                </a:solidFill>
                <a:latin typeface="Calibri"/>
              </a:rPr>
              <a:t>75,7%</a:t>
            </a:r>
            <a:r>
              <a:rPr lang="es-CO" sz="700" b="0" i="0" noProof="0" dirty="0">
                <a:solidFill>
                  <a:srgbClr val="55636E"/>
                </a:solidFill>
                <a:latin typeface="Calibri"/>
              </a:rPr>
              <a:t xml:space="preserve">  sep 61,7%</a:t>
            </a:r>
          </a:p>
        </p:txBody>
      </p:sp>
      <p:sp>
        <p:nvSpPr>
          <p:cNvPr id="50" name="conjunto 6 nombre"/>
          <p:cNvSpPr txBox="1"/>
          <p:nvPr/>
        </p:nvSpPr>
        <p:spPr>
          <a:xfrm>
            <a:off x="5486400" y="3089904"/>
            <a:ext cx="1150000" cy="200000"/>
          </a:xfrm>
          <a:prstGeom prst="rect">
            <a:avLst/>
          </a:prstGeom>
          <a:noFill/>
        </p:spPr>
        <p:txBody>
          <a:bodyPr wrap="square" lIns="0" tIns="0" rIns="0" bIns="0" anchor="ctr">
            <a:spAutoFit/>
          </a:bodyPr>
          <a:lstStyle/>
          <a:p>
            <a:pPr algn="l">
              <a:spcAft>
                <a:spcPts val="0"/>
              </a:spcAft>
            </a:pPr>
            <a:r>
              <a:rPr lang="es-CO" sz="850" b="0" i="0" noProof="0" dirty="0">
                <a:solidFill>
                  <a:srgbClr val="1A1A2E"/>
                </a:solidFill>
                <a:latin typeface="Calibri"/>
              </a:rPr>
              <a:t>Portón de la Rivera</a:t>
            </a:r>
          </a:p>
        </p:txBody>
      </p:sp>
      <p:sp>
        <p:nvSpPr>
          <p:cNvPr id="51" name="conjunto 6 pista"/>
          <p:cNvSpPr/>
          <p:nvPr/>
        </p:nvSpPr>
        <p:spPr>
          <a:xfrm>
            <a:off x="6665000" y="3098904"/>
            <a:ext cx="1000000" cy="182880"/>
          </a:xfrm>
          <a:prstGeom prst="rect">
            <a:avLst/>
          </a:prstGeom>
          <a:solidFill>
            <a:srgbClr val="E9EDF3"/>
          </a:solidFill>
          <a:ln w="12700">
            <a:solidFill>
              <a:srgbClr val="E9EDF3"/>
            </a:solidFill>
          </a:ln>
        </p:spPr>
        <p:txBody>
          <a:bodyPr rtlCol="0" anchor="ctr"/>
          <a:lstStyle/>
          <a:p>
            <a:pPr algn="ctr"/>
            <a:endParaRPr lang="es-CO" noProof="0" dirty="0"/>
          </a:p>
        </p:txBody>
      </p:sp>
      <p:sp>
        <p:nvSpPr>
          <p:cNvPr id="52" name="conjunto 6 barra oct"/>
          <p:cNvSpPr/>
          <p:nvPr/>
        </p:nvSpPr>
        <p:spPr>
          <a:xfrm>
            <a:off x="6665000" y="3098904"/>
            <a:ext cx="563903" cy="82296"/>
          </a:xfrm>
          <a:prstGeom prst="rect">
            <a:avLst/>
          </a:prstGeom>
          <a:solidFill>
            <a:srgbClr val="CA6F1E"/>
          </a:solidFill>
          <a:ln w="12700">
            <a:solidFill>
              <a:srgbClr val="CA6F1E"/>
            </a:solidFill>
          </a:ln>
        </p:spPr>
        <p:txBody>
          <a:bodyPr rtlCol="0" anchor="ctr"/>
          <a:lstStyle/>
          <a:p>
            <a:pPr algn="ctr"/>
            <a:endParaRPr lang="es-CO" noProof="0" dirty="0"/>
          </a:p>
        </p:txBody>
      </p:sp>
      <p:sp>
        <p:nvSpPr>
          <p:cNvPr id="53" name="conjunto 6 barra sep"/>
          <p:cNvSpPr/>
          <p:nvPr/>
        </p:nvSpPr>
        <p:spPr>
          <a:xfrm>
            <a:off x="6665000" y="3199488"/>
            <a:ext cx="580742" cy="82296"/>
          </a:xfrm>
          <a:prstGeom prst="rect">
            <a:avLst/>
          </a:prstGeom>
          <a:solidFill>
            <a:srgbClr val="C9D2E3"/>
          </a:solidFill>
          <a:ln w="12700">
            <a:solidFill>
              <a:srgbClr val="C9D2E3"/>
            </a:solidFill>
          </a:ln>
        </p:spPr>
        <p:txBody>
          <a:bodyPr rtlCol="0" anchor="ctr"/>
          <a:lstStyle/>
          <a:p>
            <a:pPr algn="ctr"/>
            <a:endParaRPr lang="es-CO" noProof="0" dirty="0"/>
          </a:p>
        </p:txBody>
      </p:sp>
      <p:sp>
        <p:nvSpPr>
          <p:cNvPr id="54" name="conjunto 6 referencia"/>
          <p:cNvSpPr/>
          <p:nvPr/>
        </p:nvSpPr>
        <p:spPr>
          <a:xfrm>
            <a:off x="7355856" y="3077904"/>
            <a:ext cx="18288" cy="2240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55" name="conjunto 6 valor"/>
          <p:cNvSpPr txBox="1"/>
          <p:nvPr/>
        </p:nvSpPr>
        <p:spPr>
          <a:xfrm>
            <a:off x="7720000" y="3089904"/>
            <a:ext cx="875360" cy="200000"/>
          </a:xfrm>
          <a:prstGeom prst="rect">
            <a:avLst/>
          </a:prstGeom>
          <a:noFill/>
        </p:spPr>
        <p:txBody>
          <a:bodyPr wrap="square" lIns="0" tIns="0" rIns="0" bIns="0" anchor="ctr">
            <a:spAutoFit/>
          </a:bodyPr>
          <a:lstStyle/>
          <a:p>
            <a:pPr algn="l">
              <a:spcAft>
                <a:spcPts val="0"/>
              </a:spcAft>
            </a:pPr>
            <a:r>
              <a:rPr lang="es-CO" sz="850" b="1" i="0" noProof="0" dirty="0">
                <a:solidFill>
                  <a:srgbClr val="CA6F1E"/>
                </a:solidFill>
                <a:latin typeface="Calibri"/>
              </a:rPr>
              <a:t>56,4%</a:t>
            </a:r>
            <a:r>
              <a:rPr lang="es-CO" sz="700" b="0" i="0" noProof="0" dirty="0">
                <a:solidFill>
                  <a:srgbClr val="55636E"/>
                </a:solidFill>
                <a:latin typeface="Calibri"/>
              </a:rPr>
              <a:t xml:space="preserve">  sep 58,1%</a:t>
            </a:r>
          </a:p>
        </p:txBody>
      </p:sp>
      <p:sp>
        <p:nvSpPr>
          <p:cNvPr id="56" name="conjunto 7 nombre"/>
          <p:cNvSpPr txBox="1"/>
          <p:nvPr/>
        </p:nvSpPr>
        <p:spPr>
          <a:xfrm>
            <a:off x="5486400" y="3351904"/>
            <a:ext cx="1150000" cy="200000"/>
          </a:xfrm>
          <a:prstGeom prst="rect">
            <a:avLst/>
          </a:prstGeom>
          <a:noFill/>
        </p:spPr>
        <p:txBody>
          <a:bodyPr wrap="square" lIns="0" tIns="0" rIns="0" bIns="0" anchor="ctr">
            <a:spAutoFit/>
          </a:bodyPr>
          <a:lstStyle/>
          <a:p>
            <a:pPr algn="l">
              <a:spcAft>
                <a:spcPts val="0"/>
              </a:spcAft>
            </a:pPr>
            <a:r>
              <a:rPr lang="es-CO" sz="850" b="0" i="0" noProof="0" dirty="0">
                <a:solidFill>
                  <a:srgbClr val="1A1A2E"/>
                </a:solidFill>
                <a:latin typeface="Calibri"/>
              </a:rPr>
              <a:t>Pance Campestre</a:t>
            </a:r>
          </a:p>
        </p:txBody>
      </p:sp>
      <p:sp>
        <p:nvSpPr>
          <p:cNvPr id="57" name="conjunto 7 pista"/>
          <p:cNvSpPr/>
          <p:nvPr/>
        </p:nvSpPr>
        <p:spPr>
          <a:xfrm>
            <a:off x="6665000" y="3360904"/>
            <a:ext cx="1000000" cy="182880"/>
          </a:xfrm>
          <a:prstGeom prst="rect">
            <a:avLst/>
          </a:prstGeom>
          <a:solidFill>
            <a:srgbClr val="E9EDF3"/>
          </a:solidFill>
          <a:ln w="12700">
            <a:solidFill>
              <a:srgbClr val="E9EDF3"/>
            </a:solidFill>
          </a:ln>
        </p:spPr>
        <p:txBody>
          <a:bodyPr rtlCol="0" anchor="ctr"/>
          <a:lstStyle/>
          <a:p>
            <a:pPr algn="ctr"/>
            <a:endParaRPr lang="es-CO" noProof="0" dirty="0"/>
          </a:p>
        </p:txBody>
      </p:sp>
      <p:sp>
        <p:nvSpPr>
          <p:cNvPr id="58" name="conjunto 7 barra oct"/>
          <p:cNvSpPr/>
          <p:nvPr/>
        </p:nvSpPr>
        <p:spPr>
          <a:xfrm>
            <a:off x="6665000" y="3360904"/>
            <a:ext cx="764769" cy="82296"/>
          </a:xfrm>
          <a:prstGeom prst="rect">
            <a:avLst/>
          </a:prstGeom>
          <a:solidFill>
            <a:srgbClr val="1E8449"/>
          </a:solidFill>
          <a:ln w="12700">
            <a:solidFill>
              <a:srgbClr val="1E8449"/>
            </a:solidFill>
          </a:ln>
        </p:spPr>
        <p:txBody>
          <a:bodyPr rtlCol="0" anchor="ctr"/>
          <a:lstStyle/>
          <a:p>
            <a:pPr algn="ctr"/>
            <a:endParaRPr lang="es-CO" noProof="0" dirty="0"/>
          </a:p>
        </p:txBody>
      </p:sp>
      <p:sp>
        <p:nvSpPr>
          <p:cNvPr id="59" name="conjunto 7 barra sep"/>
          <p:cNvSpPr/>
          <p:nvPr/>
        </p:nvSpPr>
        <p:spPr>
          <a:xfrm>
            <a:off x="6665000" y="3461488"/>
            <a:ext cx="652752" cy="82296"/>
          </a:xfrm>
          <a:prstGeom prst="rect">
            <a:avLst/>
          </a:prstGeom>
          <a:solidFill>
            <a:srgbClr val="C9D2E3"/>
          </a:solidFill>
          <a:ln w="12700">
            <a:solidFill>
              <a:srgbClr val="C9D2E3"/>
            </a:solidFill>
          </a:ln>
        </p:spPr>
        <p:txBody>
          <a:bodyPr rtlCol="0" anchor="ctr"/>
          <a:lstStyle/>
          <a:p>
            <a:pPr algn="ctr"/>
            <a:endParaRPr lang="es-CO" noProof="0" dirty="0"/>
          </a:p>
        </p:txBody>
      </p:sp>
      <p:sp>
        <p:nvSpPr>
          <p:cNvPr id="60" name="conjunto 7 referencia"/>
          <p:cNvSpPr/>
          <p:nvPr/>
        </p:nvSpPr>
        <p:spPr>
          <a:xfrm>
            <a:off x="7355856" y="3339904"/>
            <a:ext cx="18288" cy="2240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61" name="conjunto 7 valor"/>
          <p:cNvSpPr txBox="1"/>
          <p:nvPr/>
        </p:nvSpPr>
        <p:spPr>
          <a:xfrm>
            <a:off x="7720000" y="3351904"/>
            <a:ext cx="875360" cy="200000"/>
          </a:xfrm>
          <a:prstGeom prst="rect">
            <a:avLst/>
          </a:prstGeom>
          <a:noFill/>
        </p:spPr>
        <p:txBody>
          <a:bodyPr wrap="square" lIns="0" tIns="0" rIns="0" bIns="0" anchor="ctr">
            <a:spAutoFit/>
          </a:bodyPr>
          <a:lstStyle/>
          <a:p>
            <a:pPr algn="l">
              <a:spcAft>
                <a:spcPts val="0"/>
              </a:spcAft>
            </a:pPr>
            <a:r>
              <a:rPr lang="es-CO" sz="850" b="1" i="0" noProof="0" dirty="0">
                <a:solidFill>
                  <a:srgbClr val="1E8449"/>
                </a:solidFill>
                <a:latin typeface="Calibri"/>
              </a:rPr>
              <a:t>76,5%</a:t>
            </a:r>
            <a:r>
              <a:rPr lang="es-CO" sz="700" b="0" i="0" noProof="0" dirty="0">
                <a:solidFill>
                  <a:srgbClr val="55636E"/>
                </a:solidFill>
                <a:latin typeface="Calibri"/>
              </a:rPr>
              <a:t xml:space="preserve">  sep 65,3%</a:t>
            </a:r>
          </a:p>
        </p:txBody>
      </p:sp>
      <p:sp>
        <p:nvSpPr>
          <p:cNvPr id="62" name="conjunto 8 nombre"/>
          <p:cNvSpPr txBox="1"/>
          <p:nvPr/>
        </p:nvSpPr>
        <p:spPr>
          <a:xfrm>
            <a:off x="5486400" y="3613904"/>
            <a:ext cx="1150000" cy="200000"/>
          </a:xfrm>
          <a:prstGeom prst="rect">
            <a:avLst/>
          </a:prstGeom>
          <a:noFill/>
        </p:spPr>
        <p:txBody>
          <a:bodyPr wrap="square" lIns="0" tIns="0" rIns="0" bIns="0" anchor="ctr">
            <a:spAutoFit/>
          </a:bodyPr>
          <a:lstStyle/>
          <a:p>
            <a:pPr algn="l">
              <a:spcAft>
                <a:spcPts val="0"/>
              </a:spcAft>
            </a:pPr>
            <a:r>
              <a:rPr lang="es-CO" sz="850" b="0" i="0" noProof="0" dirty="0">
                <a:solidFill>
                  <a:srgbClr val="1A1A2E"/>
                </a:solidFill>
                <a:latin typeface="Calibri"/>
              </a:rPr>
              <a:t>Gerona Club House</a:t>
            </a:r>
          </a:p>
        </p:txBody>
      </p:sp>
      <p:sp>
        <p:nvSpPr>
          <p:cNvPr id="63" name="conjunto 8 pista"/>
          <p:cNvSpPr/>
          <p:nvPr/>
        </p:nvSpPr>
        <p:spPr>
          <a:xfrm>
            <a:off x="6665000" y="3622904"/>
            <a:ext cx="1000000" cy="182880"/>
          </a:xfrm>
          <a:prstGeom prst="rect">
            <a:avLst/>
          </a:prstGeom>
          <a:solidFill>
            <a:srgbClr val="E9EDF3"/>
          </a:solidFill>
          <a:ln w="12700">
            <a:solidFill>
              <a:srgbClr val="E9EDF3"/>
            </a:solidFill>
          </a:ln>
        </p:spPr>
        <p:txBody>
          <a:bodyPr rtlCol="0" anchor="ctr"/>
          <a:lstStyle/>
          <a:p>
            <a:pPr algn="ctr"/>
            <a:endParaRPr lang="es-CO" noProof="0" dirty="0"/>
          </a:p>
        </p:txBody>
      </p:sp>
      <p:sp>
        <p:nvSpPr>
          <p:cNvPr id="64" name="conjunto 8 barra oct"/>
          <p:cNvSpPr/>
          <p:nvPr/>
        </p:nvSpPr>
        <p:spPr>
          <a:xfrm>
            <a:off x="6665000" y="3622904"/>
            <a:ext cx="703220" cy="82296"/>
          </a:xfrm>
          <a:prstGeom prst="rect">
            <a:avLst/>
          </a:prstGeom>
          <a:solidFill>
            <a:srgbClr val="1E8449"/>
          </a:solidFill>
          <a:ln w="12700">
            <a:solidFill>
              <a:srgbClr val="1E8449"/>
            </a:solidFill>
          </a:ln>
        </p:spPr>
        <p:txBody>
          <a:bodyPr rtlCol="0" anchor="ctr"/>
          <a:lstStyle/>
          <a:p>
            <a:pPr algn="ctr"/>
            <a:endParaRPr lang="es-CO" noProof="0" dirty="0"/>
          </a:p>
        </p:txBody>
      </p:sp>
      <p:sp>
        <p:nvSpPr>
          <p:cNvPr id="65" name="conjunto 8 barra sep"/>
          <p:cNvSpPr/>
          <p:nvPr/>
        </p:nvSpPr>
        <p:spPr>
          <a:xfrm>
            <a:off x="6665000" y="3723488"/>
            <a:ext cx="667261" cy="82296"/>
          </a:xfrm>
          <a:prstGeom prst="rect">
            <a:avLst/>
          </a:prstGeom>
          <a:solidFill>
            <a:srgbClr val="C9D2E3"/>
          </a:solidFill>
          <a:ln w="12700">
            <a:solidFill>
              <a:srgbClr val="C9D2E3"/>
            </a:solidFill>
          </a:ln>
        </p:spPr>
        <p:txBody>
          <a:bodyPr rtlCol="0" anchor="ctr"/>
          <a:lstStyle/>
          <a:p>
            <a:pPr algn="ctr"/>
            <a:endParaRPr lang="es-CO" noProof="0" dirty="0"/>
          </a:p>
        </p:txBody>
      </p:sp>
      <p:sp>
        <p:nvSpPr>
          <p:cNvPr id="66" name="conjunto 8 referencia"/>
          <p:cNvSpPr/>
          <p:nvPr/>
        </p:nvSpPr>
        <p:spPr>
          <a:xfrm>
            <a:off x="7355856" y="3601904"/>
            <a:ext cx="18288" cy="2240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67" name="conjunto 8 valor"/>
          <p:cNvSpPr txBox="1"/>
          <p:nvPr/>
        </p:nvSpPr>
        <p:spPr>
          <a:xfrm>
            <a:off x="7720000" y="3613904"/>
            <a:ext cx="875360" cy="200000"/>
          </a:xfrm>
          <a:prstGeom prst="rect">
            <a:avLst/>
          </a:prstGeom>
          <a:noFill/>
        </p:spPr>
        <p:txBody>
          <a:bodyPr wrap="square" lIns="0" tIns="0" rIns="0" bIns="0" anchor="ctr">
            <a:spAutoFit/>
          </a:bodyPr>
          <a:lstStyle/>
          <a:p>
            <a:pPr algn="l">
              <a:spcAft>
                <a:spcPts val="0"/>
              </a:spcAft>
            </a:pPr>
            <a:r>
              <a:rPr lang="es-CO" sz="850" b="1" i="0" noProof="0" dirty="0">
                <a:solidFill>
                  <a:srgbClr val="1E8449"/>
                </a:solidFill>
                <a:latin typeface="Calibri"/>
              </a:rPr>
              <a:t>70,3%</a:t>
            </a:r>
            <a:r>
              <a:rPr lang="es-CO" sz="700" b="0" i="0" noProof="0" dirty="0">
                <a:solidFill>
                  <a:srgbClr val="55636E"/>
                </a:solidFill>
                <a:latin typeface="Calibri"/>
              </a:rPr>
              <a:t xml:space="preserve">  sep 66,7%</a:t>
            </a:r>
          </a:p>
        </p:txBody>
      </p:sp>
      <p:sp>
        <p:nvSpPr>
          <p:cNvPr id="68" name="conjunto 9 nombre"/>
          <p:cNvSpPr txBox="1"/>
          <p:nvPr/>
        </p:nvSpPr>
        <p:spPr>
          <a:xfrm>
            <a:off x="5486400" y="3875904"/>
            <a:ext cx="1150000" cy="200000"/>
          </a:xfrm>
          <a:prstGeom prst="rect">
            <a:avLst/>
          </a:prstGeom>
          <a:noFill/>
        </p:spPr>
        <p:txBody>
          <a:bodyPr wrap="square" lIns="0" tIns="0" rIns="0" bIns="0" anchor="ctr">
            <a:spAutoFit/>
          </a:bodyPr>
          <a:lstStyle/>
          <a:p>
            <a:pPr algn="l">
              <a:spcAft>
                <a:spcPts val="0"/>
              </a:spcAft>
            </a:pPr>
            <a:r>
              <a:rPr lang="es-CO" sz="850" b="0" i="0" noProof="0" dirty="0">
                <a:solidFill>
                  <a:srgbClr val="1A1A2E"/>
                </a:solidFill>
                <a:latin typeface="Calibri"/>
              </a:rPr>
              <a:t>Castellana Real</a:t>
            </a:r>
          </a:p>
        </p:txBody>
      </p:sp>
      <p:sp>
        <p:nvSpPr>
          <p:cNvPr id="69" name="conjunto 9 pista"/>
          <p:cNvSpPr/>
          <p:nvPr/>
        </p:nvSpPr>
        <p:spPr>
          <a:xfrm>
            <a:off x="6665000" y="3884904"/>
            <a:ext cx="1000000" cy="182880"/>
          </a:xfrm>
          <a:prstGeom prst="rect">
            <a:avLst/>
          </a:prstGeom>
          <a:solidFill>
            <a:srgbClr val="E9EDF3"/>
          </a:solidFill>
          <a:ln w="12700">
            <a:solidFill>
              <a:srgbClr val="E9EDF3"/>
            </a:solidFill>
          </a:ln>
        </p:spPr>
        <p:txBody>
          <a:bodyPr rtlCol="0" anchor="ctr"/>
          <a:lstStyle/>
          <a:p>
            <a:pPr algn="ctr"/>
            <a:endParaRPr lang="es-CO" noProof="0" dirty="0"/>
          </a:p>
        </p:txBody>
      </p:sp>
      <p:sp>
        <p:nvSpPr>
          <p:cNvPr id="70" name="conjunto 9 barra oct"/>
          <p:cNvSpPr/>
          <p:nvPr/>
        </p:nvSpPr>
        <p:spPr>
          <a:xfrm>
            <a:off x="6665000" y="3884904"/>
            <a:ext cx="548572" cy="82296"/>
          </a:xfrm>
          <a:prstGeom prst="rect">
            <a:avLst/>
          </a:prstGeom>
          <a:solidFill>
            <a:srgbClr val="C0392B"/>
          </a:solidFill>
          <a:ln w="12700">
            <a:solidFill>
              <a:srgbClr val="C0392B"/>
            </a:solidFill>
          </a:ln>
        </p:spPr>
        <p:txBody>
          <a:bodyPr rtlCol="0" anchor="ctr"/>
          <a:lstStyle/>
          <a:p>
            <a:pPr algn="ctr"/>
            <a:endParaRPr lang="es-CO" noProof="0" dirty="0"/>
          </a:p>
        </p:txBody>
      </p:sp>
      <p:sp>
        <p:nvSpPr>
          <p:cNvPr id="71" name="conjunto 9 referencia"/>
          <p:cNvSpPr/>
          <p:nvPr/>
        </p:nvSpPr>
        <p:spPr>
          <a:xfrm>
            <a:off x="7355856" y="3863904"/>
            <a:ext cx="18288" cy="2240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72" name="conjunto 9 valor"/>
          <p:cNvSpPr txBox="1"/>
          <p:nvPr/>
        </p:nvSpPr>
        <p:spPr>
          <a:xfrm>
            <a:off x="7720000" y="3875904"/>
            <a:ext cx="875360" cy="200000"/>
          </a:xfrm>
          <a:prstGeom prst="rect">
            <a:avLst/>
          </a:prstGeom>
          <a:noFill/>
        </p:spPr>
        <p:txBody>
          <a:bodyPr wrap="square" lIns="0" tIns="0" rIns="0" bIns="0" anchor="ctr">
            <a:spAutoFit/>
          </a:bodyPr>
          <a:lstStyle/>
          <a:p>
            <a:pPr algn="l">
              <a:spcAft>
                <a:spcPts val="0"/>
              </a:spcAft>
            </a:pPr>
            <a:r>
              <a:rPr lang="es-CO" sz="850" b="1" i="0" noProof="0" dirty="0">
                <a:solidFill>
                  <a:srgbClr val="C0392B"/>
                </a:solidFill>
                <a:latin typeface="Calibri"/>
              </a:rPr>
              <a:t>54,9%</a:t>
            </a:r>
            <a:r>
              <a:rPr lang="es-CO" sz="700" b="0" i="0" noProof="0" dirty="0">
                <a:solidFill>
                  <a:srgbClr val="55636E"/>
                </a:solidFill>
                <a:latin typeface="Calibri"/>
              </a:rPr>
              <a:t xml:space="preserve">  sin sep</a:t>
            </a:r>
          </a:p>
        </p:txBody>
      </p:sp>
      <p:sp>
        <p:nvSpPr>
          <p:cNvPr id="73" name="TextBox 72"/>
          <p:cNvSpPr txBox="1"/>
          <p:nvPr/>
        </p:nvSpPr>
        <p:spPr>
          <a:xfrm>
            <a:off x="5486400" y="4190000"/>
            <a:ext cx="3108960" cy="183000"/>
          </a:xfrm>
          <a:prstGeom prst="rect">
            <a:avLst/>
          </a:prstGeom>
          <a:noFill/>
        </p:spPr>
        <p:txBody>
          <a:bodyPr wrap="square" lIns="0" tIns="0" rIns="0" bIns="0" anchor="ctr">
            <a:spAutoFit/>
          </a:bodyPr>
          <a:lstStyle/>
          <a:p>
            <a:pPr algn="l">
              <a:spcAft>
                <a:spcPts val="0"/>
              </a:spcAft>
            </a:pPr>
            <a:r>
              <a:rPr lang="es-CO" sz="700" b="0" i="1" noProof="0" dirty="0">
                <a:solidFill>
                  <a:srgbClr val="55636E"/>
                </a:solidFill>
                <a:latin typeface="Calibri"/>
              </a:rPr>
              <a:t>Barra superior = oct · barra inferior = sep · línea = referencia de 70%</a:t>
            </a:r>
          </a:p>
        </p:txBody>
      </p:sp>
      <p:sp>
        <p:nvSpPr>
          <p:cNvPr id="74" name="TextBox 73"/>
          <p:cNvSpPr txBox="1"/>
          <p:nvPr/>
        </p:nvSpPr>
        <p:spPr>
          <a:xfrm>
            <a:off x="411480" y="4617720"/>
            <a:ext cx="8321040" cy="237744"/>
          </a:xfrm>
          <a:prstGeom prst="rect">
            <a:avLst/>
          </a:prstGeom>
          <a:noFill/>
        </p:spPr>
        <p:txBody>
          <a:bodyPr wrap="square" lIns="0" tIns="0" rIns="0" bIns="0" anchor="ctr">
            <a:spAutoFit/>
          </a:bodyPr>
          <a:lstStyle/>
          <a:p>
            <a:pPr algn="l">
              <a:spcAft>
                <a:spcPts val="0"/>
              </a:spcAft>
            </a:pPr>
            <a:r>
              <a:rPr lang="es-CO" sz="750" b="0" i="1" noProof="0" dirty="0">
                <a:solidFill>
                  <a:srgbClr val="55636E"/>
                </a:solidFill>
                <a:latin typeface="Calibri"/>
              </a:rPr>
              <a:t>Cobertura = generación ÷ demanda del medidor solar con los totales del período (días válidos de BD1, sin Casa 101 en los conjuntos). Verde ≥ 70% · naranja 55 – 70% · rojo &lt; 55%; referencia de 70% como en la diapositiva 8. Castellana Real: septiembre con 2 días válidos, no se muestra. Prado Verde pasa de 8 a 16 casas entre julio y septiembre.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EVOLUCIÓN JUL–OCT · DEMANDA</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1800" b="1" i="0" noProof="0" dirty="0">
                <a:solidFill>
                  <a:srgbClr val="1B3A6B"/>
                </a:solidFill>
                <a:latin typeface="Calibri"/>
              </a:rPr>
              <a:t>La demanda por casa cayó 20% en octubre; donde más bajó, más cayó el rendimiento (r = 0,83)</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18</a:t>
            </a:r>
          </a:p>
        </p:txBody>
      </p:sp>
      <p:sp>
        <p:nvSpPr>
          <p:cNvPr id="8" name="tarjeta 1"/>
          <p:cNvSpPr/>
          <p:nvPr/>
        </p:nvSpPr>
        <p:spPr>
          <a:xfrm>
            <a:off x="411480" y="1143000"/>
            <a:ext cx="2700528" cy="658368"/>
          </a:xfrm>
          <a:prstGeom prst="rect">
            <a:avLst/>
          </a:prstGeom>
          <a:solidFill>
            <a:srgbClr val="FFFFFF"/>
          </a:solidFill>
          <a:ln w="10160">
            <a:solidFill>
              <a:srgbClr val="E3E7EA"/>
            </a:solidFill>
          </a:ln>
        </p:spPr>
        <p:txBody>
          <a:bodyPr rtlCol="0" anchor="ctr"/>
          <a:lstStyle/>
          <a:p>
            <a:pPr algn="ctr"/>
            <a:endParaRPr lang="es-CO" noProof="0" dirty="0"/>
          </a:p>
        </p:txBody>
      </p:sp>
      <p:sp>
        <p:nvSpPr>
          <p:cNvPr id="9" name="barra tarjeta 1"/>
          <p:cNvSpPr/>
          <p:nvPr/>
        </p:nvSpPr>
        <p:spPr>
          <a:xfrm>
            <a:off x="411480" y="1143000"/>
            <a:ext cx="54864" cy="65836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10" name="cifra tarjeta 1"/>
          <p:cNvSpPr txBox="1"/>
          <p:nvPr/>
        </p:nvSpPr>
        <p:spPr>
          <a:xfrm>
            <a:off x="557784" y="1179576"/>
            <a:ext cx="2499360" cy="342351"/>
          </a:xfrm>
          <a:prstGeom prst="rect">
            <a:avLst/>
          </a:prstGeom>
          <a:noFill/>
        </p:spPr>
        <p:txBody>
          <a:bodyPr wrap="square" lIns="0" tIns="0" rIns="0" bIns="0" anchor="ctr">
            <a:spAutoFit/>
          </a:bodyPr>
          <a:lstStyle/>
          <a:p>
            <a:pPr algn="l">
              <a:spcAft>
                <a:spcPts val="0"/>
              </a:spcAft>
            </a:pPr>
            <a:r>
              <a:rPr lang="es-CO" sz="1700" b="1" i="0" noProof="0" dirty="0">
                <a:solidFill>
                  <a:srgbClr val="1F6F78"/>
                </a:solidFill>
                <a:latin typeface="Calibri"/>
              </a:rPr>
              <a:t>−20%</a:t>
            </a:r>
          </a:p>
        </p:txBody>
      </p:sp>
      <p:sp>
        <p:nvSpPr>
          <p:cNvPr id="11" name="etiqueta tarjeta 1"/>
          <p:cNvSpPr txBox="1"/>
          <p:nvPr/>
        </p:nvSpPr>
        <p:spPr>
          <a:xfrm>
            <a:off x="557784" y="1499616"/>
            <a:ext cx="2499360" cy="144840"/>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demanda media por casa, oct vs sep</a:t>
            </a:r>
          </a:p>
        </p:txBody>
      </p:sp>
      <p:sp>
        <p:nvSpPr>
          <p:cNvPr id="12" name="detalle tarjeta 1"/>
          <p:cNvSpPr txBox="1"/>
          <p:nvPr/>
        </p:nvSpPr>
        <p:spPr>
          <a:xfrm>
            <a:off x="557784" y="1627632"/>
            <a:ext cx="2499360" cy="158008"/>
          </a:xfrm>
          <a:prstGeom prst="rect">
            <a:avLst/>
          </a:prstGeom>
          <a:noFill/>
        </p:spPr>
        <p:txBody>
          <a:bodyPr wrap="square" lIns="0" tIns="0" rIns="0" bIns="0" anchor="ctr">
            <a:spAutoFit/>
          </a:bodyPr>
          <a:lstStyle/>
          <a:p>
            <a:pPr algn="l">
              <a:spcAft>
                <a:spcPts val="0"/>
              </a:spcAft>
            </a:pPr>
            <a:r>
              <a:rPr lang="es-CO" sz="720" b="0" i="0" noProof="0" dirty="0">
                <a:solidFill>
                  <a:srgbClr val="55636E"/>
                </a:solidFill>
                <a:latin typeface="Calibri"/>
              </a:rPr>
              <a:t>22,6 → 18,1 kWh/día en las 35 casas comparables</a:t>
            </a:r>
          </a:p>
        </p:txBody>
      </p:sp>
      <p:sp>
        <p:nvSpPr>
          <p:cNvPr id="13" name="tarjeta 2"/>
          <p:cNvSpPr/>
          <p:nvPr/>
        </p:nvSpPr>
        <p:spPr>
          <a:xfrm>
            <a:off x="3221736" y="1143000"/>
            <a:ext cx="2700528" cy="658368"/>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4" name="barra tarjeta 2"/>
          <p:cNvSpPr/>
          <p:nvPr/>
        </p:nvSpPr>
        <p:spPr>
          <a:xfrm>
            <a:off x="3221736" y="1143000"/>
            <a:ext cx="54864" cy="658368"/>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5" name="cifra tarjeta 2"/>
          <p:cNvSpPr txBox="1"/>
          <p:nvPr/>
        </p:nvSpPr>
        <p:spPr>
          <a:xfrm>
            <a:off x="3368040" y="1179576"/>
            <a:ext cx="2499360" cy="342351"/>
          </a:xfrm>
          <a:prstGeom prst="rect">
            <a:avLst/>
          </a:prstGeom>
          <a:noFill/>
        </p:spPr>
        <p:txBody>
          <a:bodyPr wrap="square" lIns="0" tIns="0" rIns="0" bIns="0" anchor="ctr">
            <a:spAutoFit/>
          </a:bodyPr>
          <a:lstStyle/>
          <a:p>
            <a:pPr algn="l">
              <a:spcAft>
                <a:spcPts val="0"/>
              </a:spcAft>
            </a:pPr>
            <a:r>
              <a:rPr lang="es-CO" sz="1700" b="1" i="0" noProof="0" dirty="0">
                <a:solidFill>
                  <a:srgbClr val="CA6F1E"/>
                </a:solidFill>
                <a:latin typeface="Calibri"/>
              </a:rPr>
              <a:t>−28%</a:t>
            </a:r>
          </a:p>
        </p:txBody>
      </p:sp>
      <p:sp>
        <p:nvSpPr>
          <p:cNvPr id="16" name="etiqueta tarjeta 2"/>
          <p:cNvSpPr txBox="1"/>
          <p:nvPr/>
        </p:nvSpPr>
        <p:spPr>
          <a:xfrm>
            <a:off x="3368040" y="1499616"/>
            <a:ext cx="2499360" cy="144840"/>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Reservas de Pance, oct vs sep</a:t>
            </a:r>
          </a:p>
        </p:txBody>
      </p:sp>
      <p:sp>
        <p:nvSpPr>
          <p:cNvPr id="17" name="detalle tarjeta 2"/>
          <p:cNvSpPr txBox="1"/>
          <p:nvPr/>
        </p:nvSpPr>
        <p:spPr>
          <a:xfrm>
            <a:off x="3368040" y="1627632"/>
            <a:ext cx="2499360" cy="158008"/>
          </a:xfrm>
          <a:prstGeom prst="rect">
            <a:avLst/>
          </a:prstGeom>
          <a:noFill/>
        </p:spPr>
        <p:txBody>
          <a:bodyPr wrap="square" lIns="0" tIns="0" rIns="0" bIns="0" anchor="ctr">
            <a:spAutoFit/>
          </a:bodyPr>
          <a:lstStyle/>
          <a:p>
            <a:pPr algn="l">
              <a:spcAft>
                <a:spcPts val="0"/>
              </a:spcAft>
            </a:pPr>
            <a:r>
              <a:rPr lang="es-CO" sz="720" b="0" i="0" noProof="0" dirty="0">
                <a:solidFill>
                  <a:srgbClr val="55636E"/>
                </a:solidFill>
                <a:latin typeface="Calibri"/>
              </a:rPr>
              <a:t>22,3 → 16,1 kWh/casa/día · 22 casas</a:t>
            </a:r>
          </a:p>
        </p:txBody>
      </p:sp>
      <p:sp>
        <p:nvSpPr>
          <p:cNvPr id="18" name="tarjeta 3"/>
          <p:cNvSpPr/>
          <p:nvPr/>
        </p:nvSpPr>
        <p:spPr>
          <a:xfrm>
            <a:off x="6031992" y="1143000"/>
            <a:ext cx="2700528" cy="658368"/>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9" name="barra tarjeta 3"/>
          <p:cNvSpPr/>
          <p:nvPr/>
        </p:nvSpPr>
        <p:spPr>
          <a:xfrm>
            <a:off x="6031992" y="1143000"/>
            <a:ext cx="54864" cy="65836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0" name="cifra tarjeta 3"/>
          <p:cNvSpPr txBox="1"/>
          <p:nvPr/>
        </p:nvSpPr>
        <p:spPr>
          <a:xfrm>
            <a:off x="6178296" y="1179576"/>
            <a:ext cx="2499360" cy="342351"/>
          </a:xfrm>
          <a:prstGeom prst="rect">
            <a:avLst/>
          </a:prstGeom>
          <a:noFill/>
        </p:spPr>
        <p:txBody>
          <a:bodyPr wrap="square" lIns="0" tIns="0" rIns="0" bIns="0" anchor="ctr">
            <a:spAutoFit/>
          </a:bodyPr>
          <a:lstStyle/>
          <a:p>
            <a:pPr algn="l">
              <a:spcAft>
                <a:spcPts val="0"/>
              </a:spcAft>
            </a:pPr>
            <a:r>
              <a:rPr lang="es-CO" sz="1700" b="1" i="0" noProof="0" dirty="0">
                <a:solidFill>
                  <a:srgbClr val="2B5BA3"/>
                </a:solidFill>
                <a:latin typeface="Calibri"/>
              </a:rPr>
              <a:t>r = 0,83</a:t>
            </a:r>
          </a:p>
        </p:txBody>
      </p:sp>
      <p:sp>
        <p:nvSpPr>
          <p:cNvPr id="21" name="etiqueta tarjeta 3"/>
          <p:cNvSpPr txBox="1"/>
          <p:nvPr/>
        </p:nvSpPr>
        <p:spPr>
          <a:xfrm>
            <a:off x="6178296" y="1499616"/>
            <a:ext cx="2499360" cy="144840"/>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cambio de demanda vs cambio de rendimiento</a:t>
            </a:r>
          </a:p>
        </p:txBody>
      </p:sp>
      <p:sp>
        <p:nvSpPr>
          <p:cNvPr id="22" name="detalle tarjeta 3"/>
          <p:cNvSpPr txBox="1"/>
          <p:nvPr/>
        </p:nvSpPr>
        <p:spPr>
          <a:xfrm>
            <a:off x="6178296" y="1627632"/>
            <a:ext cx="2499360" cy="158008"/>
          </a:xfrm>
          <a:prstGeom prst="rect">
            <a:avLst/>
          </a:prstGeom>
          <a:noFill/>
        </p:spPr>
        <p:txBody>
          <a:bodyPr wrap="square" lIns="0" tIns="0" rIns="0" bIns="0" anchor="ctr">
            <a:spAutoFit/>
          </a:bodyPr>
          <a:lstStyle/>
          <a:p>
            <a:pPr algn="l">
              <a:spcAft>
                <a:spcPts val="0"/>
              </a:spcAft>
            </a:pPr>
            <a:r>
              <a:rPr lang="es-CO" sz="720" b="0" i="0" noProof="0" dirty="0">
                <a:solidFill>
                  <a:srgbClr val="55636E"/>
                </a:solidFill>
                <a:latin typeface="Calibri"/>
              </a:rPr>
              <a:t>0,65 sin las Casas 104 y 57 · 35 casas</a:t>
            </a:r>
          </a:p>
        </p:txBody>
      </p:sp>
      <p:sp>
        <p:nvSpPr>
          <p:cNvPr id="23" name="panel demanda"/>
          <p:cNvSpPr/>
          <p:nvPr/>
        </p:nvSpPr>
        <p:spPr>
          <a:xfrm>
            <a:off x="411480" y="1920240"/>
            <a:ext cx="4754880" cy="2633472"/>
          </a:xfrm>
          <a:prstGeom prst="rect">
            <a:avLst/>
          </a:prstGeom>
          <a:solidFill>
            <a:srgbClr val="FFFFFF"/>
          </a:solidFill>
          <a:ln w="10160">
            <a:solidFill>
              <a:srgbClr val="E3E7EA"/>
            </a:solidFill>
          </a:ln>
        </p:spPr>
        <p:txBody>
          <a:bodyPr rtlCol="0" anchor="ctr"/>
          <a:lstStyle/>
          <a:p>
            <a:pPr algn="ctr"/>
            <a:endParaRPr lang="es-CO" noProof="0" dirty="0"/>
          </a:p>
        </p:txBody>
      </p:sp>
      <p:sp>
        <p:nvSpPr>
          <p:cNvPr id="24" name="título panel demanda"/>
          <p:cNvSpPr txBox="1"/>
          <p:nvPr/>
        </p:nvSpPr>
        <p:spPr>
          <a:xfrm>
            <a:off x="548640" y="1956816"/>
            <a:ext cx="4480560" cy="21945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Demanda media por casa y día, por conjunto (kWh)</a:t>
            </a:r>
          </a:p>
        </p:txBody>
      </p:sp>
      <p:graphicFrame>
        <p:nvGraphicFramePr>
          <p:cNvPr id="25" name="Gráfico"/>
          <p:cNvGraphicFramePr>
            <a:graphicFrameLocks noGrp="1"/>
          </p:cNvGraphicFramePr>
          <p:nvPr/>
        </p:nvGraphicFramePr>
        <p:xfrm>
          <a:off x="457200" y="2157984"/>
          <a:ext cx="4663440" cy="2359152"/>
        </p:xfrm>
        <a:graphic>
          <a:graphicData uri="http://schemas.openxmlformats.org/drawingml/2006/chart">
            <c:chart xmlns:c="http://schemas.openxmlformats.org/drawingml/2006/chart" r:id="rId2"/>
          </a:graphicData>
        </a:graphic>
      </p:graphicFrame>
      <p:sp>
        <p:nvSpPr>
          <p:cNvPr id="25" name="panel dispersión"/>
          <p:cNvSpPr/>
          <p:nvPr/>
        </p:nvSpPr>
        <p:spPr>
          <a:xfrm>
            <a:off x="5349240" y="1920240"/>
            <a:ext cx="3383280" cy="2633472"/>
          </a:xfrm>
          <a:prstGeom prst="rect">
            <a:avLst/>
          </a:prstGeom>
          <a:solidFill>
            <a:srgbClr val="FFFFFF"/>
          </a:solidFill>
          <a:ln w="10160">
            <a:solidFill>
              <a:srgbClr val="E3E7EA"/>
            </a:solidFill>
          </a:ln>
        </p:spPr>
        <p:txBody>
          <a:bodyPr rtlCol="0" anchor="ctr"/>
          <a:lstStyle/>
          <a:p>
            <a:pPr algn="ctr"/>
            <a:endParaRPr lang="es-CO" noProof="0" dirty="0"/>
          </a:p>
        </p:txBody>
      </p:sp>
      <p:sp>
        <p:nvSpPr>
          <p:cNvPr id="26" name="título panel dispersión"/>
          <p:cNvSpPr txBox="1"/>
          <p:nvPr/>
        </p:nvSpPr>
        <p:spPr>
          <a:xfrm>
            <a:off x="5486400" y="1956816"/>
            <a:ext cx="3108960" cy="21945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Cambio de demanda vs cambio de rendimiento por casa</a:t>
            </a:r>
          </a:p>
        </p:txBody>
      </p:sp>
      <p:graphicFrame>
        <p:nvGraphicFramePr>
          <p:cNvPr id="27" name="Gráfico dispersión"/>
          <p:cNvGraphicFramePr>
            <a:graphicFrameLocks noGrp="1"/>
          </p:cNvGraphicFramePr>
          <p:nvPr/>
        </p:nvGraphicFramePr>
        <p:xfrm>
          <a:off x="5394960" y="2157984"/>
          <a:ext cx="3291840" cy="2359152"/>
        </p:xfrm>
        <a:graphic>
          <a:graphicData uri="http://schemas.openxmlformats.org/drawingml/2006/chart">
            <c:chart xmlns:c="http://schemas.openxmlformats.org/drawingml/2006/chart" r:id="rId3"/>
          </a:graphicData>
        </a:graphic>
      </p:graphicFrame>
      <p:sp>
        <p:nvSpPr>
          <p:cNvPr id="27" name="TextBox 26"/>
          <p:cNvSpPr txBox="1"/>
          <p:nvPr/>
        </p:nvSpPr>
        <p:spPr>
          <a:xfrm>
            <a:off x="411480" y="4612032"/>
            <a:ext cx="8321040" cy="230832"/>
          </a:xfrm>
          <a:prstGeom prst="rect">
            <a:avLst/>
          </a:prstGeom>
          <a:noFill/>
        </p:spPr>
        <p:txBody>
          <a:bodyPr wrap="square" lIns="0" tIns="0" rIns="0" bIns="0" anchor="ctr">
            <a:spAutoFit/>
          </a:bodyPr>
          <a:lstStyle/>
          <a:p>
            <a:pPr algn="l">
              <a:spcAft>
                <a:spcPts val="0"/>
              </a:spcAft>
            </a:pPr>
            <a:r>
              <a:rPr lang="es-CO" sz="750" b="0" i="1" noProof="0" dirty="0">
                <a:solidFill>
                  <a:srgbClr val="55636E"/>
                </a:solidFill>
                <a:latin typeface="Calibri"/>
              </a:rPr>
              <a:t>Demanda = consumo del medidor solar, kWh por casa y día (días válidos de BD1). Cada punto es una casa de las 35 comparables; cambio = octubre frente al promedio de los promedios mensuales de jul–sep; rendimiento en puntos porcentuales. Coherente con el recorte por batería llena (diapositivas 10 y 11): con menos consumo diurno la batería se llena antes y el inversor limita la producción.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EVOLUCIÓN JUL–OCT · VARIACIÓN DE LA DEMANDA POR CASA</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1800" b="1" i="0" noProof="0" dirty="0">
                <a:solidFill>
                  <a:srgbClr val="1B3A6B"/>
                </a:solidFill>
                <a:latin typeface="Calibri"/>
              </a:rPr>
              <a:t>La demanda de 22 de 35 casas cayó más de 10% en octubre frente a julio–septiembre; ninguna subió más de 10%</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19</a:t>
            </a:r>
          </a:p>
        </p:txBody>
      </p:sp>
      <p:sp>
        <p:nvSpPr>
          <p:cNvPr id="8" name="tarjeta 1"/>
          <p:cNvSpPr/>
          <p:nvPr/>
        </p:nvSpPr>
        <p:spPr>
          <a:xfrm>
            <a:off x="411480" y="1143000"/>
            <a:ext cx="2700528" cy="658368"/>
          </a:xfrm>
          <a:prstGeom prst="rect">
            <a:avLst/>
          </a:prstGeom>
          <a:solidFill>
            <a:srgbClr val="FFFFFF"/>
          </a:solidFill>
          <a:ln w="10160">
            <a:solidFill>
              <a:srgbClr val="E3E7EA"/>
            </a:solidFill>
          </a:ln>
        </p:spPr>
        <p:txBody>
          <a:bodyPr rtlCol="0" anchor="ctr"/>
          <a:lstStyle/>
          <a:p>
            <a:pPr algn="ctr"/>
            <a:endParaRPr lang="es-CO" noProof="0" dirty="0"/>
          </a:p>
        </p:txBody>
      </p:sp>
      <p:sp>
        <p:nvSpPr>
          <p:cNvPr id="9" name="barra tarjeta 1"/>
          <p:cNvSpPr/>
          <p:nvPr/>
        </p:nvSpPr>
        <p:spPr>
          <a:xfrm>
            <a:off x="411480" y="1143000"/>
            <a:ext cx="54864" cy="658368"/>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0" name="cifra tarjeta 1"/>
          <p:cNvSpPr txBox="1"/>
          <p:nvPr/>
        </p:nvSpPr>
        <p:spPr>
          <a:xfrm>
            <a:off x="557784" y="1179576"/>
            <a:ext cx="2499360" cy="342351"/>
          </a:xfrm>
          <a:prstGeom prst="rect">
            <a:avLst/>
          </a:prstGeom>
          <a:noFill/>
        </p:spPr>
        <p:txBody>
          <a:bodyPr wrap="square" lIns="0" tIns="0" rIns="0" bIns="0" anchor="ctr">
            <a:spAutoFit/>
          </a:bodyPr>
          <a:lstStyle/>
          <a:p>
            <a:pPr algn="l">
              <a:spcAft>
                <a:spcPts val="0"/>
              </a:spcAft>
            </a:pPr>
            <a:r>
              <a:rPr lang="es-CO" sz="1700" b="1" i="0" noProof="0" dirty="0">
                <a:solidFill>
                  <a:srgbClr val="CA6F1E"/>
                </a:solidFill>
                <a:latin typeface="Calibri"/>
              </a:rPr>
              <a:t>22 de 35</a:t>
            </a:r>
          </a:p>
        </p:txBody>
      </p:sp>
      <p:sp>
        <p:nvSpPr>
          <p:cNvPr id="11" name="etiqueta tarjeta 1"/>
          <p:cNvSpPr txBox="1"/>
          <p:nvPr/>
        </p:nvSpPr>
        <p:spPr>
          <a:xfrm>
            <a:off x="557784" y="1499616"/>
            <a:ext cx="2499360" cy="144840"/>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casas con demanda más de 10% menor en octubre</a:t>
            </a:r>
          </a:p>
        </p:txBody>
      </p:sp>
      <p:sp>
        <p:nvSpPr>
          <p:cNvPr id="12" name="detalle tarjeta 1"/>
          <p:cNvSpPr txBox="1"/>
          <p:nvPr/>
        </p:nvSpPr>
        <p:spPr>
          <a:xfrm>
            <a:off x="557784" y="1627632"/>
            <a:ext cx="2499360" cy="158008"/>
          </a:xfrm>
          <a:prstGeom prst="rect">
            <a:avLst/>
          </a:prstGeom>
          <a:noFill/>
        </p:spPr>
        <p:txBody>
          <a:bodyPr wrap="square" lIns="0" tIns="0" rIns="0" bIns="0" anchor="ctr">
            <a:spAutoFit/>
          </a:bodyPr>
          <a:lstStyle/>
          <a:p>
            <a:pPr algn="l">
              <a:spcAft>
                <a:spcPts val="0"/>
              </a:spcAft>
            </a:pPr>
            <a:r>
              <a:rPr lang="es-CO" sz="720" b="0" i="0" noProof="0" dirty="0">
                <a:solidFill>
                  <a:srgbClr val="55636E"/>
                </a:solidFill>
                <a:latin typeface="Calibri"/>
              </a:rPr>
              <a:t>13 bajan más de 20%; ninguna sube más de 10%</a:t>
            </a:r>
          </a:p>
        </p:txBody>
      </p:sp>
      <p:sp>
        <p:nvSpPr>
          <p:cNvPr id="13" name="tarjeta 2"/>
          <p:cNvSpPr/>
          <p:nvPr/>
        </p:nvSpPr>
        <p:spPr>
          <a:xfrm>
            <a:off x="3221736" y="1143000"/>
            <a:ext cx="2700528" cy="658368"/>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4" name="barra tarjeta 2"/>
          <p:cNvSpPr/>
          <p:nvPr/>
        </p:nvSpPr>
        <p:spPr>
          <a:xfrm>
            <a:off x="3221736" y="1143000"/>
            <a:ext cx="54864" cy="65836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15" name="cifra tarjeta 2"/>
          <p:cNvSpPr txBox="1"/>
          <p:nvPr/>
        </p:nvSpPr>
        <p:spPr>
          <a:xfrm>
            <a:off x="3368040" y="1179576"/>
            <a:ext cx="2499360" cy="342351"/>
          </a:xfrm>
          <a:prstGeom prst="rect">
            <a:avLst/>
          </a:prstGeom>
          <a:noFill/>
        </p:spPr>
        <p:txBody>
          <a:bodyPr wrap="square" lIns="0" tIns="0" rIns="0" bIns="0" anchor="ctr">
            <a:spAutoFit/>
          </a:bodyPr>
          <a:lstStyle/>
          <a:p>
            <a:pPr algn="l">
              <a:spcAft>
                <a:spcPts val="0"/>
              </a:spcAft>
            </a:pPr>
            <a:r>
              <a:rPr lang="es-CO" sz="1700" b="1" i="0" noProof="0" dirty="0">
                <a:solidFill>
                  <a:srgbClr val="1F6F78"/>
                </a:solidFill>
                <a:latin typeface="Calibri"/>
              </a:rPr>
              <a:t>13%</a:t>
            </a:r>
          </a:p>
        </p:txBody>
      </p:sp>
      <p:sp>
        <p:nvSpPr>
          <p:cNvPr id="16" name="etiqueta tarjeta 2"/>
          <p:cNvSpPr txBox="1"/>
          <p:nvPr/>
        </p:nvSpPr>
        <p:spPr>
          <a:xfrm>
            <a:off x="3368040" y="1499616"/>
            <a:ext cx="2499360" cy="144840"/>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variación mensual mediana de la demanda</a:t>
            </a:r>
          </a:p>
        </p:txBody>
      </p:sp>
      <p:sp>
        <p:nvSpPr>
          <p:cNvPr id="17" name="detalle tarjeta 2"/>
          <p:cNvSpPr txBox="1"/>
          <p:nvPr/>
        </p:nvSpPr>
        <p:spPr>
          <a:xfrm>
            <a:off x="3368040" y="1627632"/>
            <a:ext cx="2499360" cy="158008"/>
          </a:xfrm>
          <a:prstGeom prst="rect">
            <a:avLst/>
          </a:prstGeom>
          <a:noFill/>
        </p:spPr>
        <p:txBody>
          <a:bodyPr wrap="square" lIns="0" tIns="0" rIns="0" bIns="0" anchor="ctr">
            <a:spAutoFit/>
          </a:bodyPr>
          <a:lstStyle/>
          <a:p>
            <a:pPr algn="l">
              <a:spcAft>
                <a:spcPts val="0"/>
              </a:spcAft>
            </a:pPr>
            <a:r>
              <a:rPr lang="es-CO" sz="720" b="0" i="0" noProof="0" dirty="0">
                <a:solidFill>
                  <a:srgbClr val="55636E"/>
                </a:solidFill>
                <a:latin typeface="Calibri"/>
              </a:rPr>
              <a:t>8 de 35 casas superan 20% (coef. de variación jul–oct)</a:t>
            </a:r>
          </a:p>
        </p:txBody>
      </p:sp>
      <p:sp>
        <p:nvSpPr>
          <p:cNvPr id="18" name="tarjeta 3"/>
          <p:cNvSpPr/>
          <p:nvPr/>
        </p:nvSpPr>
        <p:spPr>
          <a:xfrm>
            <a:off x="6031992" y="1143000"/>
            <a:ext cx="2700528" cy="658368"/>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9" name="barra tarjeta 3"/>
          <p:cNvSpPr/>
          <p:nvPr/>
        </p:nvSpPr>
        <p:spPr>
          <a:xfrm>
            <a:off x="6031992" y="1143000"/>
            <a:ext cx="54864" cy="658368"/>
          </a:xfrm>
          <a:prstGeom prst="rect">
            <a:avLst/>
          </a:prstGeom>
          <a:solidFill>
            <a:srgbClr val="C0392B"/>
          </a:solidFill>
          <a:ln w="12700">
            <a:solidFill>
              <a:srgbClr val="C0392B"/>
            </a:solidFill>
          </a:ln>
        </p:spPr>
        <p:txBody>
          <a:bodyPr rtlCol="0" anchor="ctr"/>
          <a:lstStyle/>
          <a:p>
            <a:pPr algn="ctr"/>
            <a:endParaRPr lang="es-CO" noProof="0" dirty="0"/>
          </a:p>
        </p:txBody>
      </p:sp>
      <p:sp>
        <p:nvSpPr>
          <p:cNvPr id="20" name="cifra tarjeta 3"/>
          <p:cNvSpPr txBox="1"/>
          <p:nvPr/>
        </p:nvSpPr>
        <p:spPr>
          <a:xfrm>
            <a:off x="6178296" y="1179576"/>
            <a:ext cx="2499360" cy="342351"/>
          </a:xfrm>
          <a:prstGeom prst="rect">
            <a:avLst/>
          </a:prstGeom>
          <a:noFill/>
        </p:spPr>
        <p:txBody>
          <a:bodyPr wrap="square" lIns="0" tIns="0" rIns="0" bIns="0" anchor="ctr">
            <a:spAutoFit/>
          </a:bodyPr>
          <a:lstStyle/>
          <a:p>
            <a:pPr algn="l">
              <a:spcAft>
                <a:spcPts val="0"/>
              </a:spcAft>
            </a:pPr>
            <a:r>
              <a:rPr lang="es-CO" sz="1700" b="1" i="0" noProof="0" dirty="0">
                <a:solidFill>
                  <a:srgbClr val="C0392B"/>
                </a:solidFill>
                <a:latin typeface="Calibri"/>
              </a:rPr>
              <a:t>−81%</a:t>
            </a:r>
          </a:p>
        </p:txBody>
      </p:sp>
      <p:sp>
        <p:nvSpPr>
          <p:cNvPr id="21" name="etiqueta tarjeta 3"/>
          <p:cNvSpPr txBox="1"/>
          <p:nvPr/>
        </p:nvSpPr>
        <p:spPr>
          <a:xfrm>
            <a:off x="6178296" y="1499616"/>
            <a:ext cx="2499360" cy="144840"/>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Casa 104: mayor caída de demanda</a:t>
            </a:r>
          </a:p>
        </p:txBody>
      </p:sp>
      <p:sp>
        <p:nvSpPr>
          <p:cNvPr id="22" name="detalle tarjeta 3"/>
          <p:cNvSpPr txBox="1"/>
          <p:nvPr/>
        </p:nvSpPr>
        <p:spPr>
          <a:xfrm>
            <a:off x="6178296" y="1627632"/>
            <a:ext cx="2499360" cy="158008"/>
          </a:xfrm>
          <a:prstGeom prst="rect">
            <a:avLst/>
          </a:prstGeom>
          <a:noFill/>
        </p:spPr>
        <p:txBody>
          <a:bodyPr wrap="square" lIns="0" tIns="0" rIns="0" bIns="0" anchor="ctr">
            <a:spAutoFit/>
          </a:bodyPr>
          <a:lstStyle/>
          <a:p>
            <a:pPr algn="l">
              <a:spcAft>
                <a:spcPts val="0"/>
              </a:spcAft>
            </a:pPr>
            <a:r>
              <a:rPr lang="es-CO" sz="720" b="0" i="0" noProof="0" dirty="0">
                <a:solidFill>
                  <a:srgbClr val="55636E"/>
                </a:solidFill>
                <a:latin typeface="Calibri"/>
              </a:rPr>
              <a:t>16,2 → 3,1 kWh/día · posible ausencia (diap. 12)</a:t>
            </a:r>
          </a:p>
        </p:txBody>
      </p:sp>
      <p:sp>
        <p:nvSpPr>
          <p:cNvPr id="23" name="TextBox 22"/>
          <p:cNvSpPr txBox="1"/>
          <p:nvPr/>
        </p:nvSpPr>
        <p:spPr>
          <a:xfrm>
            <a:off x="438912" y="1920240"/>
            <a:ext cx="640080" cy="182880"/>
          </a:xfrm>
          <a:prstGeom prst="rect">
            <a:avLst/>
          </a:prstGeom>
          <a:noFill/>
        </p:spPr>
        <p:txBody>
          <a:bodyPr wrap="square" lIns="0" tIns="0" rIns="0" bIns="0" anchor="ctr">
            <a:spAutoFit/>
          </a:bodyPr>
          <a:lstStyle/>
          <a:p>
            <a:pPr algn="l">
              <a:spcAft>
                <a:spcPts val="0"/>
              </a:spcAft>
            </a:pPr>
            <a:r>
              <a:rPr lang="es-CO" sz="680" b="1" i="0" noProof="0" dirty="0">
                <a:solidFill>
                  <a:srgbClr val="7F8C8D"/>
                </a:solidFill>
                <a:latin typeface="Calibri"/>
              </a:rPr>
              <a:t>Casa</a:t>
            </a:r>
          </a:p>
        </p:txBody>
      </p:sp>
      <p:sp>
        <p:nvSpPr>
          <p:cNvPr id="24" name="TextBox 23"/>
          <p:cNvSpPr txBox="1"/>
          <p:nvPr/>
        </p:nvSpPr>
        <p:spPr>
          <a:xfrm>
            <a:off x="1241480" y="1920240"/>
            <a:ext cx="1500000" cy="182880"/>
          </a:xfrm>
          <a:prstGeom prst="rect">
            <a:avLst/>
          </a:prstGeom>
          <a:noFill/>
        </p:spPr>
        <p:txBody>
          <a:bodyPr wrap="square" lIns="0" tIns="0" rIns="0" bIns="0" anchor="ctr">
            <a:spAutoFit/>
          </a:bodyPr>
          <a:lstStyle/>
          <a:p>
            <a:pPr algn="l">
              <a:spcAft>
                <a:spcPts val="0"/>
              </a:spcAft>
            </a:pPr>
            <a:r>
              <a:rPr lang="es-CO" sz="680" b="1" i="0" noProof="0" dirty="0">
                <a:solidFill>
                  <a:srgbClr val="7F8C8D"/>
                </a:solidFill>
                <a:latin typeface="Calibri"/>
              </a:rPr>
              <a:t>Cambio vs jul–sep</a:t>
            </a:r>
          </a:p>
        </p:txBody>
      </p:sp>
      <p:sp>
        <p:nvSpPr>
          <p:cNvPr id="25" name="TextBox 24"/>
          <p:cNvSpPr txBox="1"/>
          <p:nvPr/>
        </p:nvSpPr>
        <p:spPr>
          <a:xfrm>
            <a:off x="2711480" y="1920240"/>
            <a:ext cx="93000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kWh/día jul–sep → oct</a:t>
            </a:r>
          </a:p>
        </p:txBody>
      </p:sp>
      <p:sp>
        <p:nvSpPr>
          <p:cNvPr id="26" name="TextBox 25"/>
          <p:cNvSpPr txBox="1"/>
          <p:nvPr/>
        </p:nvSpPr>
        <p:spPr>
          <a:xfrm>
            <a:off x="3611480" y="1920240"/>
            <a:ext cx="86000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Δ rendimiento (pts)</a:t>
            </a:r>
          </a:p>
        </p:txBody>
      </p:sp>
      <p:sp>
        <p:nvSpPr>
          <p:cNvPr id="27" name="TextBox 26"/>
          <p:cNvSpPr txBox="1"/>
          <p:nvPr/>
        </p:nvSpPr>
        <p:spPr>
          <a:xfrm>
            <a:off x="4645152" y="1920240"/>
            <a:ext cx="640080" cy="182880"/>
          </a:xfrm>
          <a:prstGeom prst="rect">
            <a:avLst/>
          </a:prstGeom>
          <a:noFill/>
        </p:spPr>
        <p:txBody>
          <a:bodyPr wrap="square" lIns="0" tIns="0" rIns="0" bIns="0" anchor="ctr">
            <a:spAutoFit/>
          </a:bodyPr>
          <a:lstStyle/>
          <a:p>
            <a:pPr algn="l">
              <a:spcAft>
                <a:spcPts val="0"/>
              </a:spcAft>
            </a:pPr>
            <a:r>
              <a:rPr lang="es-CO" sz="680" b="1" i="0" noProof="0" dirty="0">
                <a:solidFill>
                  <a:srgbClr val="7F8C8D"/>
                </a:solidFill>
                <a:latin typeface="Calibri"/>
              </a:rPr>
              <a:t>Casa</a:t>
            </a:r>
          </a:p>
        </p:txBody>
      </p:sp>
      <p:sp>
        <p:nvSpPr>
          <p:cNvPr id="28" name="TextBox 27"/>
          <p:cNvSpPr txBox="1"/>
          <p:nvPr/>
        </p:nvSpPr>
        <p:spPr>
          <a:xfrm>
            <a:off x="5447720" y="1920240"/>
            <a:ext cx="1500000" cy="182880"/>
          </a:xfrm>
          <a:prstGeom prst="rect">
            <a:avLst/>
          </a:prstGeom>
          <a:noFill/>
        </p:spPr>
        <p:txBody>
          <a:bodyPr wrap="square" lIns="0" tIns="0" rIns="0" bIns="0" anchor="ctr">
            <a:spAutoFit/>
          </a:bodyPr>
          <a:lstStyle/>
          <a:p>
            <a:pPr algn="l">
              <a:spcAft>
                <a:spcPts val="0"/>
              </a:spcAft>
            </a:pPr>
            <a:r>
              <a:rPr lang="es-CO" sz="680" b="1" i="0" noProof="0" dirty="0">
                <a:solidFill>
                  <a:srgbClr val="7F8C8D"/>
                </a:solidFill>
                <a:latin typeface="Calibri"/>
              </a:rPr>
              <a:t>Cambio vs jul–sep</a:t>
            </a:r>
          </a:p>
        </p:txBody>
      </p:sp>
      <p:sp>
        <p:nvSpPr>
          <p:cNvPr id="29" name="TextBox 28"/>
          <p:cNvSpPr txBox="1"/>
          <p:nvPr/>
        </p:nvSpPr>
        <p:spPr>
          <a:xfrm>
            <a:off x="6917720" y="1920240"/>
            <a:ext cx="93000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kWh/día jul–sep → oct</a:t>
            </a:r>
          </a:p>
        </p:txBody>
      </p:sp>
      <p:sp>
        <p:nvSpPr>
          <p:cNvPr id="30" name="TextBox 29"/>
          <p:cNvSpPr txBox="1"/>
          <p:nvPr/>
        </p:nvSpPr>
        <p:spPr>
          <a:xfrm>
            <a:off x="7817720" y="1920240"/>
            <a:ext cx="86000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Δ rendimiento (pts)</a:t>
            </a:r>
          </a:p>
        </p:txBody>
      </p:sp>
      <p:sp>
        <p:nvSpPr>
          <p:cNvPr id="31" name="banda c0f0"/>
          <p:cNvSpPr/>
          <p:nvPr/>
        </p:nvSpPr>
        <p:spPr>
          <a:xfrm>
            <a:off x="411480" y="2167128"/>
            <a:ext cx="4114800" cy="118872"/>
          </a:xfrm>
          <a:prstGeom prst="rect">
            <a:avLst/>
          </a:prstGeom>
          <a:solidFill>
            <a:srgbClr val="FFFFFF"/>
          </a:solidFill>
        </p:spPr>
        <p:txBody>
          <a:bodyPr rtlCol="0" anchor="ctr"/>
          <a:lstStyle/>
          <a:p>
            <a:pPr algn="ctr"/>
            <a:endParaRPr lang="es-CO" noProof="0" dirty="0"/>
          </a:p>
        </p:txBody>
      </p:sp>
      <p:sp>
        <p:nvSpPr>
          <p:cNvPr id="32" name="nombre c0f0"/>
          <p:cNvSpPr txBox="1"/>
          <p:nvPr/>
        </p:nvSpPr>
        <p:spPr>
          <a:xfrm>
            <a:off x="438912" y="2167128"/>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 Casa 104</a:t>
            </a:r>
          </a:p>
        </p:txBody>
      </p:sp>
      <p:sp>
        <p:nvSpPr>
          <p:cNvPr id="33" name="barra c0f0"/>
          <p:cNvSpPr/>
          <p:nvPr/>
        </p:nvSpPr>
        <p:spPr>
          <a:xfrm>
            <a:off x="1241051" y="2194560"/>
            <a:ext cx="1105428" cy="64008"/>
          </a:xfrm>
          <a:prstGeom prst="rect">
            <a:avLst/>
          </a:prstGeom>
          <a:solidFill>
            <a:srgbClr val="C0392B"/>
          </a:solidFill>
          <a:ln w="12700">
            <a:solidFill>
              <a:srgbClr val="C0392B"/>
            </a:solidFill>
          </a:ln>
        </p:spPr>
        <p:txBody>
          <a:bodyPr rtlCol="0" anchor="ctr"/>
          <a:lstStyle/>
          <a:p>
            <a:pPr algn="ctr"/>
            <a:endParaRPr lang="es-CO" noProof="0" dirty="0"/>
          </a:p>
        </p:txBody>
      </p:sp>
      <p:sp>
        <p:nvSpPr>
          <p:cNvPr id="34" name="pct c0f0"/>
          <p:cNvSpPr txBox="1"/>
          <p:nvPr/>
        </p:nvSpPr>
        <p:spPr>
          <a:xfrm>
            <a:off x="2456208" y="2167128"/>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0392B"/>
                </a:solidFill>
                <a:latin typeface="Calibri"/>
              </a:rPr>
              <a:t>−81%</a:t>
            </a:r>
          </a:p>
        </p:txBody>
      </p:sp>
      <p:sp>
        <p:nvSpPr>
          <p:cNvPr id="35" name="dem c0f0"/>
          <p:cNvSpPr txBox="1"/>
          <p:nvPr/>
        </p:nvSpPr>
        <p:spPr>
          <a:xfrm>
            <a:off x="2811480" y="2167128"/>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16,2 → 3,1</a:t>
            </a:r>
          </a:p>
        </p:txBody>
      </p:sp>
      <p:sp>
        <p:nvSpPr>
          <p:cNvPr id="36" name="rend c0f0"/>
          <p:cNvSpPr txBox="1"/>
          <p:nvPr/>
        </p:nvSpPr>
        <p:spPr>
          <a:xfrm>
            <a:off x="3711480" y="2167128"/>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0392B"/>
                </a:solidFill>
                <a:latin typeface="Calibri"/>
              </a:rPr>
              <a:t>−59</a:t>
            </a:r>
          </a:p>
        </p:txBody>
      </p:sp>
      <p:sp>
        <p:nvSpPr>
          <p:cNvPr id="37" name="nombre c0f1"/>
          <p:cNvSpPr txBox="1"/>
          <p:nvPr/>
        </p:nvSpPr>
        <p:spPr>
          <a:xfrm>
            <a:off x="438912" y="2286000"/>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57</a:t>
            </a:r>
          </a:p>
        </p:txBody>
      </p:sp>
      <p:sp>
        <p:nvSpPr>
          <p:cNvPr id="38" name="barra c0f1"/>
          <p:cNvSpPr/>
          <p:nvPr/>
        </p:nvSpPr>
        <p:spPr>
          <a:xfrm>
            <a:off x="1584594" y="2313432"/>
            <a:ext cx="761885" cy="64008"/>
          </a:xfrm>
          <a:prstGeom prst="rect">
            <a:avLst/>
          </a:prstGeom>
          <a:solidFill>
            <a:srgbClr val="C0392B"/>
          </a:solidFill>
          <a:ln w="12700">
            <a:solidFill>
              <a:srgbClr val="C0392B"/>
            </a:solidFill>
          </a:ln>
        </p:spPr>
        <p:txBody>
          <a:bodyPr rtlCol="0" anchor="ctr"/>
          <a:lstStyle/>
          <a:p>
            <a:pPr algn="ctr"/>
            <a:endParaRPr lang="es-CO" noProof="0" dirty="0"/>
          </a:p>
        </p:txBody>
      </p:sp>
      <p:sp>
        <p:nvSpPr>
          <p:cNvPr id="39" name="pct c0f1"/>
          <p:cNvSpPr txBox="1"/>
          <p:nvPr/>
        </p:nvSpPr>
        <p:spPr>
          <a:xfrm>
            <a:off x="2456208" y="2286000"/>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0392B"/>
                </a:solidFill>
                <a:latin typeface="Calibri"/>
              </a:rPr>
              <a:t>−56%</a:t>
            </a:r>
          </a:p>
        </p:txBody>
      </p:sp>
      <p:sp>
        <p:nvSpPr>
          <p:cNvPr id="40" name="dem c0f1"/>
          <p:cNvSpPr txBox="1"/>
          <p:nvPr/>
        </p:nvSpPr>
        <p:spPr>
          <a:xfrm>
            <a:off x="2811480" y="2286000"/>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18,4 → 8,1</a:t>
            </a:r>
          </a:p>
        </p:txBody>
      </p:sp>
      <p:sp>
        <p:nvSpPr>
          <p:cNvPr id="41" name="rend c0f1"/>
          <p:cNvSpPr txBox="1"/>
          <p:nvPr/>
        </p:nvSpPr>
        <p:spPr>
          <a:xfrm>
            <a:off x="3711480" y="2286000"/>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0392B"/>
                </a:solidFill>
                <a:latin typeface="Calibri"/>
              </a:rPr>
              <a:t>−50</a:t>
            </a:r>
          </a:p>
        </p:txBody>
      </p:sp>
      <p:sp>
        <p:nvSpPr>
          <p:cNvPr id="42" name="banda c0f2"/>
          <p:cNvSpPr/>
          <p:nvPr/>
        </p:nvSpPr>
        <p:spPr>
          <a:xfrm>
            <a:off x="411480" y="2404872"/>
            <a:ext cx="4114800" cy="118872"/>
          </a:xfrm>
          <a:prstGeom prst="rect">
            <a:avLst/>
          </a:prstGeom>
          <a:solidFill>
            <a:srgbClr val="FFFFFF"/>
          </a:solidFill>
        </p:spPr>
        <p:txBody>
          <a:bodyPr rtlCol="0" anchor="ctr"/>
          <a:lstStyle/>
          <a:p>
            <a:pPr algn="ctr"/>
            <a:endParaRPr lang="es-CO" noProof="0" dirty="0"/>
          </a:p>
        </p:txBody>
      </p:sp>
      <p:sp>
        <p:nvSpPr>
          <p:cNvPr id="43" name="nombre c0f2"/>
          <p:cNvSpPr txBox="1"/>
          <p:nvPr/>
        </p:nvSpPr>
        <p:spPr>
          <a:xfrm>
            <a:off x="438912" y="2404872"/>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48</a:t>
            </a:r>
          </a:p>
        </p:txBody>
      </p:sp>
      <p:sp>
        <p:nvSpPr>
          <p:cNvPr id="44" name="barra c0f2"/>
          <p:cNvSpPr/>
          <p:nvPr/>
        </p:nvSpPr>
        <p:spPr>
          <a:xfrm>
            <a:off x="1815163" y="2432304"/>
            <a:ext cx="531316" cy="64008"/>
          </a:xfrm>
          <a:prstGeom prst="rect">
            <a:avLst/>
          </a:prstGeom>
          <a:solidFill>
            <a:srgbClr val="C0392B"/>
          </a:solidFill>
          <a:ln w="12700">
            <a:solidFill>
              <a:srgbClr val="C0392B"/>
            </a:solidFill>
          </a:ln>
        </p:spPr>
        <p:txBody>
          <a:bodyPr rtlCol="0" anchor="ctr"/>
          <a:lstStyle/>
          <a:p>
            <a:pPr algn="ctr"/>
            <a:endParaRPr lang="es-CO" noProof="0" dirty="0"/>
          </a:p>
        </p:txBody>
      </p:sp>
      <p:sp>
        <p:nvSpPr>
          <p:cNvPr id="45" name="pct c0f2"/>
          <p:cNvSpPr txBox="1"/>
          <p:nvPr/>
        </p:nvSpPr>
        <p:spPr>
          <a:xfrm>
            <a:off x="2456208" y="2404872"/>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0392B"/>
                </a:solidFill>
                <a:latin typeface="Calibri"/>
              </a:rPr>
              <a:t>−39%</a:t>
            </a:r>
          </a:p>
        </p:txBody>
      </p:sp>
      <p:sp>
        <p:nvSpPr>
          <p:cNvPr id="46" name="dem c0f2"/>
          <p:cNvSpPr txBox="1"/>
          <p:nvPr/>
        </p:nvSpPr>
        <p:spPr>
          <a:xfrm>
            <a:off x="2811480" y="2404872"/>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14,9 → 9,1</a:t>
            </a:r>
          </a:p>
        </p:txBody>
      </p:sp>
      <p:sp>
        <p:nvSpPr>
          <p:cNvPr id="47" name="rend c0f2"/>
          <p:cNvSpPr txBox="1"/>
          <p:nvPr/>
        </p:nvSpPr>
        <p:spPr>
          <a:xfrm>
            <a:off x="3711480" y="2404872"/>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0392B"/>
                </a:solidFill>
                <a:latin typeface="Calibri"/>
              </a:rPr>
              <a:t>−22</a:t>
            </a:r>
          </a:p>
        </p:txBody>
      </p:sp>
      <p:sp>
        <p:nvSpPr>
          <p:cNvPr id="48" name="nombre c0f3"/>
          <p:cNvSpPr txBox="1"/>
          <p:nvPr/>
        </p:nvSpPr>
        <p:spPr>
          <a:xfrm>
            <a:off x="438912" y="2523744"/>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18</a:t>
            </a:r>
          </a:p>
        </p:txBody>
      </p:sp>
      <p:sp>
        <p:nvSpPr>
          <p:cNvPr id="49" name="barra c0f3"/>
          <p:cNvSpPr/>
          <p:nvPr/>
        </p:nvSpPr>
        <p:spPr>
          <a:xfrm>
            <a:off x="1849907" y="2551176"/>
            <a:ext cx="496572" cy="64008"/>
          </a:xfrm>
          <a:prstGeom prst="rect">
            <a:avLst/>
          </a:prstGeom>
          <a:solidFill>
            <a:srgbClr val="C0392B"/>
          </a:solidFill>
          <a:ln w="12700">
            <a:solidFill>
              <a:srgbClr val="C0392B"/>
            </a:solidFill>
          </a:ln>
        </p:spPr>
        <p:txBody>
          <a:bodyPr rtlCol="0" anchor="ctr"/>
          <a:lstStyle/>
          <a:p>
            <a:pPr algn="ctr"/>
            <a:endParaRPr lang="es-CO" noProof="0" dirty="0"/>
          </a:p>
        </p:txBody>
      </p:sp>
      <p:sp>
        <p:nvSpPr>
          <p:cNvPr id="50" name="pct c0f3"/>
          <p:cNvSpPr txBox="1"/>
          <p:nvPr/>
        </p:nvSpPr>
        <p:spPr>
          <a:xfrm>
            <a:off x="2456208" y="2523744"/>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0392B"/>
                </a:solidFill>
                <a:latin typeface="Calibri"/>
              </a:rPr>
              <a:t>−36%</a:t>
            </a:r>
          </a:p>
        </p:txBody>
      </p:sp>
      <p:sp>
        <p:nvSpPr>
          <p:cNvPr id="51" name="dem c0f3"/>
          <p:cNvSpPr txBox="1"/>
          <p:nvPr/>
        </p:nvSpPr>
        <p:spPr>
          <a:xfrm>
            <a:off x="2811480" y="2523744"/>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21,1 → 13,4</a:t>
            </a:r>
          </a:p>
        </p:txBody>
      </p:sp>
      <p:sp>
        <p:nvSpPr>
          <p:cNvPr id="52" name="rend c0f3"/>
          <p:cNvSpPr txBox="1"/>
          <p:nvPr/>
        </p:nvSpPr>
        <p:spPr>
          <a:xfrm>
            <a:off x="3711480" y="2523744"/>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0392B"/>
                </a:solidFill>
                <a:latin typeface="Calibri"/>
              </a:rPr>
              <a:t>−22</a:t>
            </a:r>
          </a:p>
        </p:txBody>
      </p:sp>
      <p:sp>
        <p:nvSpPr>
          <p:cNvPr id="53" name="banda c0f4"/>
          <p:cNvSpPr/>
          <p:nvPr/>
        </p:nvSpPr>
        <p:spPr>
          <a:xfrm>
            <a:off x="411480" y="2642616"/>
            <a:ext cx="4114800" cy="118872"/>
          </a:xfrm>
          <a:prstGeom prst="rect">
            <a:avLst/>
          </a:prstGeom>
          <a:solidFill>
            <a:srgbClr val="FFFFFF"/>
          </a:solidFill>
        </p:spPr>
        <p:txBody>
          <a:bodyPr rtlCol="0" anchor="ctr"/>
          <a:lstStyle/>
          <a:p>
            <a:pPr algn="ctr"/>
            <a:endParaRPr lang="es-CO" noProof="0" dirty="0"/>
          </a:p>
        </p:txBody>
      </p:sp>
      <p:sp>
        <p:nvSpPr>
          <p:cNvPr id="54" name="nombre c0f4"/>
          <p:cNvSpPr txBox="1"/>
          <p:nvPr/>
        </p:nvSpPr>
        <p:spPr>
          <a:xfrm>
            <a:off x="438912" y="2642616"/>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30</a:t>
            </a:r>
          </a:p>
        </p:txBody>
      </p:sp>
      <p:sp>
        <p:nvSpPr>
          <p:cNvPr id="55" name="barra c0f4"/>
          <p:cNvSpPr/>
          <p:nvPr/>
        </p:nvSpPr>
        <p:spPr>
          <a:xfrm>
            <a:off x="1854024" y="2670048"/>
            <a:ext cx="492455" cy="64008"/>
          </a:xfrm>
          <a:prstGeom prst="rect">
            <a:avLst/>
          </a:prstGeom>
          <a:solidFill>
            <a:srgbClr val="C0392B"/>
          </a:solidFill>
          <a:ln w="12700">
            <a:solidFill>
              <a:srgbClr val="C0392B"/>
            </a:solidFill>
          </a:ln>
        </p:spPr>
        <p:txBody>
          <a:bodyPr rtlCol="0" anchor="ctr"/>
          <a:lstStyle/>
          <a:p>
            <a:pPr algn="ctr"/>
            <a:endParaRPr lang="es-CO" noProof="0" dirty="0"/>
          </a:p>
        </p:txBody>
      </p:sp>
      <p:sp>
        <p:nvSpPr>
          <p:cNvPr id="56" name="pct c0f4"/>
          <p:cNvSpPr txBox="1"/>
          <p:nvPr/>
        </p:nvSpPr>
        <p:spPr>
          <a:xfrm>
            <a:off x="2456208" y="2642616"/>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0392B"/>
                </a:solidFill>
                <a:latin typeface="Calibri"/>
              </a:rPr>
              <a:t>−36%</a:t>
            </a:r>
          </a:p>
        </p:txBody>
      </p:sp>
      <p:sp>
        <p:nvSpPr>
          <p:cNvPr id="57" name="dem c0f4"/>
          <p:cNvSpPr txBox="1"/>
          <p:nvPr/>
        </p:nvSpPr>
        <p:spPr>
          <a:xfrm>
            <a:off x="2811480" y="2642616"/>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20,1 → 12,9</a:t>
            </a:r>
          </a:p>
        </p:txBody>
      </p:sp>
      <p:sp>
        <p:nvSpPr>
          <p:cNvPr id="58" name="rend c0f4"/>
          <p:cNvSpPr txBox="1"/>
          <p:nvPr/>
        </p:nvSpPr>
        <p:spPr>
          <a:xfrm>
            <a:off x="3711480" y="2642616"/>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−18</a:t>
            </a:r>
          </a:p>
        </p:txBody>
      </p:sp>
      <p:sp>
        <p:nvSpPr>
          <p:cNvPr id="59" name="nombre c0f5"/>
          <p:cNvSpPr txBox="1"/>
          <p:nvPr/>
        </p:nvSpPr>
        <p:spPr>
          <a:xfrm>
            <a:off x="438912" y="2761488"/>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15</a:t>
            </a:r>
          </a:p>
        </p:txBody>
      </p:sp>
      <p:sp>
        <p:nvSpPr>
          <p:cNvPr id="60" name="barra c0f5"/>
          <p:cNvSpPr/>
          <p:nvPr/>
        </p:nvSpPr>
        <p:spPr>
          <a:xfrm>
            <a:off x="1881680" y="2788920"/>
            <a:ext cx="464799" cy="64008"/>
          </a:xfrm>
          <a:prstGeom prst="rect">
            <a:avLst/>
          </a:prstGeom>
          <a:solidFill>
            <a:srgbClr val="C0392B"/>
          </a:solidFill>
          <a:ln w="12700">
            <a:solidFill>
              <a:srgbClr val="C0392B"/>
            </a:solidFill>
          </a:ln>
        </p:spPr>
        <p:txBody>
          <a:bodyPr rtlCol="0" anchor="ctr"/>
          <a:lstStyle/>
          <a:p>
            <a:pPr algn="ctr"/>
            <a:endParaRPr lang="es-CO" noProof="0" dirty="0"/>
          </a:p>
        </p:txBody>
      </p:sp>
      <p:sp>
        <p:nvSpPr>
          <p:cNvPr id="61" name="pct c0f5"/>
          <p:cNvSpPr txBox="1"/>
          <p:nvPr/>
        </p:nvSpPr>
        <p:spPr>
          <a:xfrm>
            <a:off x="2456208" y="2761488"/>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0392B"/>
                </a:solidFill>
                <a:latin typeface="Calibri"/>
              </a:rPr>
              <a:t>−34%</a:t>
            </a:r>
          </a:p>
        </p:txBody>
      </p:sp>
      <p:sp>
        <p:nvSpPr>
          <p:cNvPr id="62" name="dem c0f5"/>
          <p:cNvSpPr txBox="1"/>
          <p:nvPr/>
        </p:nvSpPr>
        <p:spPr>
          <a:xfrm>
            <a:off x="2811480" y="2761488"/>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29,0 → 19,1</a:t>
            </a:r>
          </a:p>
        </p:txBody>
      </p:sp>
      <p:sp>
        <p:nvSpPr>
          <p:cNvPr id="63" name="rend c0f5"/>
          <p:cNvSpPr txBox="1"/>
          <p:nvPr/>
        </p:nvSpPr>
        <p:spPr>
          <a:xfrm>
            <a:off x="3711480" y="2761488"/>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0392B"/>
                </a:solidFill>
                <a:latin typeface="Calibri"/>
              </a:rPr>
              <a:t>−25</a:t>
            </a:r>
          </a:p>
        </p:txBody>
      </p:sp>
      <p:sp>
        <p:nvSpPr>
          <p:cNvPr id="64" name="banda c0f6"/>
          <p:cNvSpPr/>
          <p:nvPr/>
        </p:nvSpPr>
        <p:spPr>
          <a:xfrm>
            <a:off x="411480" y="2880360"/>
            <a:ext cx="4114800" cy="118872"/>
          </a:xfrm>
          <a:prstGeom prst="rect">
            <a:avLst/>
          </a:prstGeom>
          <a:solidFill>
            <a:srgbClr val="FFFFFF"/>
          </a:solidFill>
        </p:spPr>
        <p:txBody>
          <a:bodyPr rtlCol="0" anchor="ctr"/>
          <a:lstStyle/>
          <a:p>
            <a:pPr algn="ctr"/>
            <a:endParaRPr lang="es-CO" noProof="0" dirty="0"/>
          </a:p>
        </p:txBody>
      </p:sp>
      <p:sp>
        <p:nvSpPr>
          <p:cNvPr id="65" name="nombre c0f6"/>
          <p:cNvSpPr txBox="1"/>
          <p:nvPr/>
        </p:nvSpPr>
        <p:spPr>
          <a:xfrm>
            <a:off x="438912" y="2880360"/>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11</a:t>
            </a:r>
          </a:p>
        </p:txBody>
      </p:sp>
      <p:sp>
        <p:nvSpPr>
          <p:cNvPr id="66" name="barra c0f6"/>
          <p:cNvSpPr/>
          <p:nvPr/>
        </p:nvSpPr>
        <p:spPr>
          <a:xfrm>
            <a:off x="1925335" y="2907792"/>
            <a:ext cx="421144" cy="64008"/>
          </a:xfrm>
          <a:prstGeom prst="rect">
            <a:avLst/>
          </a:prstGeom>
          <a:solidFill>
            <a:srgbClr val="C0392B"/>
          </a:solidFill>
          <a:ln w="12700">
            <a:solidFill>
              <a:srgbClr val="C0392B"/>
            </a:solidFill>
          </a:ln>
        </p:spPr>
        <p:txBody>
          <a:bodyPr rtlCol="0" anchor="ctr"/>
          <a:lstStyle/>
          <a:p>
            <a:pPr algn="ctr"/>
            <a:endParaRPr lang="es-CO" noProof="0" dirty="0"/>
          </a:p>
        </p:txBody>
      </p:sp>
      <p:sp>
        <p:nvSpPr>
          <p:cNvPr id="67" name="pct c0f6"/>
          <p:cNvSpPr txBox="1"/>
          <p:nvPr/>
        </p:nvSpPr>
        <p:spPr>
          <a:xfrm>
            <a:off x="2456208" y="2880360"/>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0392B"/>
                </a:solidFill>
                <a:latin typeface="Calibri"/>
              </a:rPr>
              <a:t>−31%</a:t>
            </a:r>
          </a:p>
        </p:txBody>
      </p:sp>
      <p:sp>
        <p:nvSpPr>
          <p:cNvPr id="68" name="dem c0f6"/>
          <p:cNvSpPr txBox="1"/>
          <p:nvPr/>
        </p:nvSpPr>
        <p:spPr>
          <a:xfrm>
            <a:off x="2811480" y="2880360"/>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15,0 → 10,4</a:t>
            </a:r>
          </a:p>
        </p:txBody>
      </p:sp>
      <p:sp>
        <p:nvSpPr>
          <p:cNvPr id="69" name="rend c0f6"/>
          <p:cNvSpPr txBox="1"/>
          <p:nvPr/>
        </p:nvSpPr>
        <p:spPr>
          <a:xfrm>
            <a:off x="3711480" y="2880360"/>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0392B"/>
                </a:solidFill>
                <a:latin typeface="Calibri"/>
              </a:rPr>
              <a:t>−25</a:t>
            </a:r>
          </a:p>
        </p:txBody>
      </p:sp>
      <p:sp>
        <p:nvSpPr>
          <p:cNvPr id="70" name="nombre c0f7"/>
          <p:cNvSpPr txBox="1"/>
          <p:nvPr/>
        </p:nvSpPr>
        <p:spPr>
          <a:xfrm>
            <a:off x="438912" y="2999232"/>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12</a:t>
            </a:r>
          </a:p>
        </p:txBody>
      </p:sp>
      <p:sp>
        <p:nvSpPr>
          <p:cNvPr id="71" name="barra c0f7"/>
          <p:cNvSpPr/>
          <p:nvPr/>
        </p:nvSpPr>
        <p:spPr>
          <a:xfrm>
            <a:off x="1949067" y="3026664"/>
            <a:ext cx="397412" cy="64008"/>
          </a:xfrm>
          <a:prstGeom prst="rect">
            <a:avLst/>
          </a:prstGeom>
          <a:solidFill>
            <a:srgbClr val="CA6F1E"/>
          </a:solidFill>
          <a:ln w="12700">
            <a:solidFill>
              <a:srgbClr val="CA6F1E"/>
            </a:solidFill>
          </a:ln>
        </p:spPr>
        <p:txBody>
          <a:bodyPr rtlCol="0" anchor="ctr"/>
          <a:lstStyle/>
          <a:p>
            <a:pPr algn="ctr"/>
            <a:endParaRPr lang="es-CO" noProof="0" dirty="0"/>
          </a:p>
        </p:txBody>
      </p:sp>
      <p:sp>
        <p:nvSpPr>
          <p:cNvPr id="72" name="pct c0f7"/>
          <p:cNvSpPr txBox="1"/>
          <p:nvPr/>
        </p:nvSpPr>
        <p:spPr>
          <a:xfrm>
            <a:off x="2456208" y="2999232"/>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−29%</a:t>
            </a:r>
          </a:p>
        </p:txBody>
      </p:sp>
      <p:sp>
        <p:nvSpPr>
          <p:cNvPr id="73" name="dem c0f7"/>
          <p:cNvSpPr txBox="1"/>
          <p:nvPr/>
        </p:nvSpPr>
        <p:spPr>
          <a:xfrm>
            <a:off x="2811480" y="2999232"/>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49,1 → 34,8</a:t>
            </a:r>
          </a:p>
        </p:txBody>
      </p:sp>
      <p:sp>
        <p:nvSpPr>
          <p:cNvPr id="74" name="rend c0f7"/>
          <p:cNvSpPr txBox="1"/>
          <p:nvPr/>
        </p:nvSpPr>
        <p:spPr>
          <a:xfrm>
            <a:off x="3711480" y="2999232"/>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−11</a:t>
            </a:r>
          </a:p>
        </p:txBody>
      </p:sp>
      <p:sp>
        <p:nvSpPr>
          <p:cNvPr id="75" name="banda c0f8"/>
          <p:cNvSpPr/>
          <p:nvPr/>
        </p:nvSpPr>
        <p:spPr>
          <a:xfrm>
            <a:off x="411480" y="3118104"/>
            <a:ext cx="4114800" cy="118872"/>
          </a:xfrm>
          <a:prstGeom prst="rect">
            <a:avLst/>
          </a:prstGeom>
          <a:solidFill>
            <a:srgbClr val="FFFFFF"/>
          </a:solidFill>
        </p:spPr>
        <p:txBody>
          <a:bodyPr rtlCol="0" anchor="ctr"/>
          <a:lstStyle/>
          <a:p>
            <a:pPr algn="ctr"/>
            <a:endParaRPr lang="es-CO" noProof="0" dirty="0"/>
          </a:p>
        </p:txBody>
      </p:sp>
      <p:sp>
        <p:nvSpPr>
          <p:cNvPr id="76" name="nombre c0f8"/>
          <p:cNvSpPr txBox="1"/>
          <p:nvPr/>
        </p:nvSpPr>
        <p:spPr>
          <a:xfrm>
            <a:off x="438912" y="3118104"/>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29</a:t>
            </a:r>
          </a:p>
        </p:txBody>
      </p:sp>
      <p:sp>
        <p:nvSpPr>
          <p:cNvPr id="77" name="barra c0f8"/>
          <p:cNvSpPr/>
          <p:nvPr/>
        </p:nvSpPr>
        <p:spPr>
          <a:xfrm>
            <a:off x="1964647" y="3145536"/>
            <a:ext cx="381832" cy="64008"/>
          </a:xfrm>
          <a:prstGeom prst="rect">
            <a:avLst/>
          </a:prstGeom>
          <a:solidFill>
            <a:srgbClr val="CA6F1E"/>
          </a:solidFill>
          <a:ln w="12700">
            <a:solidFill>
              <a:srgbClr val="CA6F1E"/>
            </a:solidFill>
          </a:ln>
        </p:spPr>
        <p:txBody>
          <a:bodyPr rtlCol="0" anchor="ctr"/>
          <a:lstStyle/>
          <a:p>
            <a:pPr algn="ctr"/>
            <a:endParaRPr lang="es-CO" noProof="0" dirty="0"/>
          </a:p>
        </p:txBody>
      </p:sp>
      <p:sp>
        <p:nvSpPr>
          <p:cNvPr id="78" name="pct c0f8"/>
          <p:cNvSpPr txBox="1"/>
          <p:nvPr/>
        </p:nvSpPr>
        <p:spPr>
          <a:xfrm>
            <a:off x="2456208" y="3118104"/>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−28%</a:t>
            </a:r>
          </a:p>
        </p:txBody>
      </p:sp>
      <p:sp>
        <p:nvSpPr>
          <p:cNvPr id="79" name="dem c0f8"/>
          <p:cNvSpPr txBox="1"/>
          <p:nvPr/>
        </p:nvSpPr>
        <p:spPr>
          <a:xfrm>
            <a:off x="2811480" y="3118104"/>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18,8 → 13,6</a:t>
            </a:r>
          </a:p>
        </p:txBody>
      </p:sp>
      <p:sp>
        <p:nvSpPr>
          <p:cNvPr id="80" name="rend c0f8"/>
          <p:cNvSpPr txBox="1"/>
          <p:nvPr/>
        </p:nvSpPr>
        <p:spPr>
          <a:xfrm>
            <a:off x="3711480" y="3118104"/>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−20</a:t>
            </a:r>
          </a:p>
        </p:txBody>
      </p:sp>
      <p:sp>
        <p:nvSpPr>
          <p:cNvPr id="81" name="nombre c0f9"/>
          <p:cNvSpPr txBox="1"/>
          <p:nvPr/>
        </p:nvSpPr>
        <p:spPr>
          <a:xfrm>
            <a:off x="438912" y="3236976"/>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108</a:t>
            </a:r>
          </a:p>
        </p:txBody>
      </p:sp>
      <p:sp>
        <p:nvSpPr>
          <p:cNvPr id="82" name="barra c0f9"/>
          <p:cNvSpPr/>
          <p:nvPr/>
        </p:nvSpPr>
        <p:spPr>
          <a:xfrm>
            <a:off x="1984517" y="3264408"/>
            <a:ext cx="361962" cy="64008"/>
          </a:xfrm>
          <a:prstGeom prst="rect">
            <a:avLst/>
          </a:prstGeom>
          <a:solidFill>
            <a:srgbClr val="CA6F1E"/>
          </a:solidFill>
          <a:ln w="12700">
            <a:solidFill>
              <a:srgbClr val="CA6F1E"/>
            </a:solidFill>
          </a:ln>
        </p:spPr>
        <p:txBody>
          <a:bodyPr rtlCol="0" anchor="ctr"/>
          <a:lstStyle/>
          <a:p>
            <a:pPr algn="ctr"/>
            <a:endParaRPr lang="es-CO" noProof="0" dirty="0"/>
          </a:p>
        </p:txBody>
      </p:sp>
      <p:sp>
        <p:nvSpPr>
          <p:cNvPr id="83" name="pct c0f9"/>
          <p:cNvSpPr txBox="1"/>
          <p:nvPr/>
        </p:nvSpPr>
        <p:spPr>
          <a:xfrm>
            <a:off x="2456208" y="3236976"/>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−27%</a:t>
            </a:r>
          </a:p>
        </p:txBody>
      </p:sp>
      <p:sp>
        <p:nvSpPr>
          <p:cNvPr id="84" name="dem c0f9"/>
          <p:cNvSpPr txBox="1"/>
          <p:nvPr/>
        </p:nvSpPr>
        <p:spPr>
          <a:xfrm>
            <a:off x="2811480" y="3236976"/>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13,1 → 9,6</a:t>
            </a:r>
          </a:p>
        </p:txBody>
      </p:sp>
      <p:sp>
        <p:nvSpPr>
          <p:cNvPr id="85" name="rend c0f9"/>
          <p:cNvSpPr txBox="1"/>
          <p:nvPr/>
        </p:nvSpPr>
        <p:spPr>
          <a:xfrm>
            <a:off x="3711480" y="3236976"/>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−18</a:t>
            </a:r>
          </a:p>
        </p:txBody>
      </p:sp>
      <p:sp>
        <p:nvSpPr>
          <p:cNvPr id="86" name="banda c0f10"/>
          <p:cNvSpPr/>
          <p:nvPr/>
        </p:nvSpPr>
        <p:spPr>
          <a:xfrm>
            <a:off x="411480" y="3355848"/>
            <a:ext cx="4114800" cy="118872"/>
          </a:xfrm>
          <a:prstGeom prst="rect">
            <a:avLst/>
          </a:prstGeom>
          <a:solidFill>
            <a:srgbClr val="FFFFFF"/>
          </a:solidFill>
        </p:spPr>
        <p:txBody>
          <a:bodyPr rtlCol="0" anchor="ctr"/>
          <a:lstStyle/>
          <a:p>
            <a:pPr algn="ctr"/>
            <a:endParaRPr lang="es-CO" noProof="0" dirty="0"/>
          </a:p>
        </p:txBody>
      </p:sp>
      <p:sp>
        <p:nvSpPr>
          <p:cNvPr id="87" name="nombre c0f10"/>
          <p:cNvSpPr txBox="1"/>
          <p:nvPr/>
        </p:nvSpPr>
        <p:spPr>
          <a:xfrm>
            <a:off x="438912" y="3355848"/>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10</a:t>
            </a:r>
          </a:p>
        </p:txBody>
      </p:sp>
      <p:sp>
        <p:nvSpPr>
          <p:cNvPr id="88" name="barra c0f10"/>
          <p:cNvSpPr/>
          <p:nvPr/>
        </p:nvSpPr>
        <p:spPr>
          <a:xfrm>
            <a:off x="1984778" y="3383280"/>
            <a:ext cx="361701" cy="64008"/>
          </a:xfrm>
          <a:prstGeom prst="rect">
            <a:avLst/>
          </a:prstGeom>
          <a:solidFill>
            <a:srgbClr val="CA6F1E"/>
          </a:solidFill>
          <a:ln w="12700">
            <a:solidFill>
              <a:srgbClr val="CA6F1E"/>
            </a:solidFill>
          </a:ln>
        </p:spPr>
        <p:txBody>
          <a:bodyPr rtlCol="0" anchor="ctr"/>
          <a:lstStyle/>
          <a:p>
            <a:pPr algn="ctr"/>
            <a:endParaRPr lang="es-CO" noProof="0" dirty="0"/>
          </a:p>
        </p:txBody>
      </p:sp>
      <p:sp>
        <p:nvSpPr>
          <p:cNvPr id="89" name="pct c0f10"/>
          <p:cNvSpPr txBox="1"/>
          <p:nvPr/>
        </p:nvSpPr>
        <p:spPr>
          <a:xfrm>
            <a:off x="2456208" y="3355848"/>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−27%</a:t>
            </a:r>
          </a:p>
        </p:txBody>
      </p:sp>
      <p:sp>
        <p:nvSpPr>
          <p:cNvPr id="90" name="dem c0f10"/>
          <p:cNvSpPr txBox="1"/>
          <p:nvPr/>
        </p:nvSpPr>
        <p:spPr>
          <a:xfrm>
            <a:off x="2811480" y="3355848"/>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25,4 → 18,7</a:t>
            </a:r>
          </a:p>
        </p:txBody>
      </p:sp>
      <p:sp>
        <p:nvSpPr>
          <p:cNvPr id="91" name="rend c0f10"/>
          <p:cNvSpPr txBox="1"/>
          <p:nvPr/>
        </p:nvSpPr>
        <p:spPr>
          <a:xfrm>
            <a:off x="3711480" y="3355848"/>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−15</a:t>
            </a:r>
          </a:p>
        </p:txBody>
      </p:sp>
      <p:sp>
        <p:nvSpPr>
          <p:cNvPr id="92" name="nombre c0f11"/>
          <p:cNvSpPr txBox="1"/>
          <p:nvPr/>
        </p:nvSpPr>
        <p:spPr>
          <a:xfrm>
            <a:off x="438912" y="3474720"/>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35</a:t>
            </a:r>
          </a:p>
        </p:txBody>
      </p:sp>
      <p:sp>
        <p:nvSpPr>
          <p:cNvPr id="93" name="barra c0f11"/>
          <p:cNvSpPr/>
          <p:nvPr/>
        </p:nvSpPr>
        <p:spPr>
          <a:xfrm>
            <a:off x="1991483" y="3502152"/>
            <a:ext cx="354996" cy="64008"/>
          </a:xfrm>
          <a:prstGeom prst="rect">
            <a:avLst/>
          </a:prstGeom>
          <a:solidFill>
            <a:srgbClr val="CA6F1E"/>
          </a:solidFill>
          <a:ln w="12700">
            <a:solidFill>
              <a:srgbClr val="CA6F1E"/>
            </a:solidFill>
          </a:ln>
        </p:spPr>
        <p:txBody>
          <a:bodyPr rtlCol="0" anchor="ctr"/>
          <a:lstStyle/>
          <a:p>
            <a:pPr algn="ctr"/>
            <a:endParaRPr lang="es-CO" noProof="0" dirty="0"/>
          </a:p>
        </p:txBody>
      </p:sp>
      <p:sp>
        <p:nvSpPr>
          <p:cNvPr id="94" name="pct c0f11"/>
          <p:cNvSpPr txBox="1"/>
          <p:nvPr/>
        </p:nvSpPr>
        <p:spPr>
          <a:xfrm>
            <a:off x="2456208" y="3474720"/>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−26%</a:t>
            </a:r>
          </a:p>
        </p:txBody>
      </p:sp>
      <p:sp>
        <p:nvSpPr>
          <p:cNvPr id="95" name="dem c0f11"/>
          <p:cNvSpPr txBox="1"/>
          <p:nvPr/>
        </p:nvSpPr>
        <p:spPr>
          <a:xfrm>
            <a:off x="2811480" y="3474720"/>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23,6 → 17,4</a:t>
            </a:r>
          </a:p>
        </p:txBody>
      </p:sp>
      <p:sp>
        <p:nvSpPr>
          <p:cNvPr id="96" name="rend c0f11"/>
          <p:cNvSpPr txBox="1"/>
          <p:nvPr/>
        </p:nvSpPr>
        <p:spPr>
          <a:xfrm>
            <a:off x="3711480" y="3474720"/>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0392B"/>
                </a:solidFill>
                <a:latin typeface="Calibri"/>
              </a:rPr>
              <a:t>−35</a:t>
            </a:r>
          </a:p>
        </p:txBody>
      </p:sp>
      <p:sp>
        <p:nvSpPr>
          <p:cNvPr id="97" name="banda c0f12"/>
          <p:cNvSpPr/>
          <p:nvPr/>
        </p:nvSpPr>
        <p:spPr>
          <a:xfrm>
            <a:off x="411480" y="3593592"/>
            <a:ext cx="4114800" cy="118872"/>
          </a:xfrm>
          <a:prstGeom prst="rect">
            <a:avLst/>
          </a:prstGeom>
          <a:solidFill>
            <a:srgbClr val="FFFFFF"/>
          </a:solidFill>
        </p:spPr>
        <p:txBody>
          <a:bodyPr rtlCol="0" anchor="ctr"/>
          <a:lstStyle/>
          <a:p>
            <a:pPr algn="ctr"/>
            <a:endParaRPr lang="es-CO" noProof="0" dirty="0"/>
          </a:p>
        </p:txBody>
      </p:sp>
      <p:sp>
        <p:nvSpPr>
          <p:cNvPr id="98" name="nombre c0f12"/>
          <p:cNvSpPr txBox="1"/>
          <p:nvPr/>
        </p:nvSpPr>
        <p:spPr>
          <a:xfrm>
            <a:off x="438912" y="3593592"/>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435p</a:t>
            </a:r>
          </a:p>
        </p:txBody>
      </p:sp>
      <p:sp>
        <p:nvSpPr>
          <p:cNvPr id="99" name="barra c0f12"/>
          <p:cNvSpPr/>
          <p:nvPr/>
        </p:nvSpPr>
        <p:spPr>
          <a:xfrm>
            <a:off x="2059136" y="3621024"/>
            <a:ext cx="287343" cy="64008"/>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00" name="pct c0f12"/>
          <p:cNvSpPr txBox="1"/>
          <p:nvPr/>
        </p:nvSpPr>
        <p:spPr>
          <a:xfrm>
            <a:off x="2456208" y="3593592"/>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−21%</a:t>
            </a:r>
          </a:p>
        </p:txBody>
      </p:sp>
      <p:sp>
        <p:nvSpPr>
          <p:cNvPr id="101" name="dem c0f12"/>
          <p:cNvSpPr txBox="1"/>
          <p:nvPr/>
        </p:nvSpPr>
        <p:spPr>
          <a:xfrm>
            <a:off x="2811480" y="3593592"/>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15,5 → 12,2</a:t>
            </a:r>
          </a:p>
        </p:txBody>
      </p:sp>
      <p:sp>
        <p:nvSpPr>
          <p:cNvPr id="102" name="rend c0f12"/>
          <p:cNvSpPr txBox="1"/>
          <p:nvPr/>
        </p:nvSpPr>
        <p:spPr>
          <a:xfrm>
            <a:off x="3711480" y="3593592"/>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0392B"/>
                </a:solidFill>
                <a:latin typeface="Calibri"/>
              </a:rPr>
              <a:t>−20</a:t>
            </a:r>
          </a:p>
        </p:txBody>
      </p:sp>
      <p:sp>
        <p:nvSpPr>
          <p:cNvPr id="103" name="nombre c0f13"/>
          <p:cNvSpPr txBox="1"/>
          <p:nvPr/>
        </p:nvSpPr>
        <p:spPr>
          <a:xfrm>
            <a:off x="438912" y="3712464"/>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77</a:t>
            </a:r>
          </a:p>
        </p:txBody>
      </p:sp>
      <p:sp>
        <p:nvSpPr>
          <p:cNvPr id="104" name="barra c0f13"/>
          <p:cNvSpPr/>
          <p:nvPr/>
        </p:nvSpPr>
        <p:spPr>
          <a:xfrm>
            <a:off x="2087619" y="3739896"/>
            <a:ext cx="258860" cy="64008"/>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05" name="pct c0f13"/>
          <p:cNvSpPr txBox="1"/>
          <p:nvPr/>
        </p:nvSpPr>
        <p:spPr>
          <a:xfrm>
            <a:off x="2456208" y="3712464"/>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−19%</a:t>
            </a:r>
          </a:p>
        </p:txBody>
      </p:sp>
      <p:sp>
        <p:nvSpPr>
          <p:cNvPr id="106" name="dem c0f13"/>
          <p:cNvSpPr txBox="1"/>
          <p:nvPr/>
        </p:nvSpPr>
        <p:spPr>
          <a:xfrm>
            <a:off x="2811480" y="3712464"/>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20,2 → 16,4</a:t>
            </a:r>
          </a:p>
        </p:txBody>
      </p:sp>
      <p:sp>
        <p:nvSpPr>
          <p:cNvPr id="107" name="rend c0f13"/>
          <p:cNvSpPr txBox="1"/>
          <p:nvPr/>
        </p:nvSpPr>
        <p:spPr>
          <a:xfrm>
            <a:off x="3711480" y="3712464"/>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55636E"/>
                </a:solidFill>
                <a:latin typeface="Calibri"/>
              </a:rPr>
              <a:t>−4</a:t>
            </a:r>
          </a:p>
        </p:txBody>
      </p:sp>
      <p:sp>
        <p:nvSpPr>
          <p:cNvPr id="108" name="banda c0f14"/>
          <p:cNvSpPr/>
          <p:nvPr/>
        </p:nvSpPr>
        <p:spPr>
          <a:xfrm>
            <a:off x="411480" y="3831336"/>
            <a:ext cx="4114800" cy="118872"/>
          </a:xfrm>
          <a:prstGeom prst="rect">
            <a:avLst/>
          </a:prstGeom>
          <a:solidFill>
            <a:srgbClr val="FFFFFF"/>
          </a:solidFill>
        </p:spPr>
        <p:txBody>
          <a:bodyPr rtlCol="0" anchor="ctr"/>
          <a:lstStyle/>
          <a:p>
            <a:pPr algn="ctr"/>
            <a:endParaRPr lang="es-CO" noProof="0" dirty="0"/>
          </a:p>
        </p:txBody>
      </p:sp>
      <p:sp>
        <p:nvSpPr>
          <p:cNvPr id="109" name="nombre c0f14"/>
          <p:cNvSpPr txBox="1"/>
          <p:nvPr/>
        </p:nvSpPr>
        <p:spPr>
          <a:xfrm>
            <a:off x="438912" y="3831336"/>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76</a:t>
            </a:r>
          </a:p>
        </p:txBody>
      </p:sp>
      <p:sp>
        <p:nvSpPr>
          <p:cNvPr id="110" name="barra c0f14"/>
          <p:cNvSpPr/>
          <p:nvPr/>
        </p:nvSpPr>
        <p:spPr>
          <a:xfrm>
            <a:off x="2119418" y="3858768"/>
            <a:ext cx="227061" cy="64008"/>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11" name="pct c0f14"/>
          <p:cNvSpPr txBox="1"/>
          <p:nvPr/>
        </p:nvSpPr>
        <p:spPr>
          <a:xfrm>
            <a:off x="2456208" y="3831336"/>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−17%</a:t>
            </a:r>
          </a:p>
        </p:txBody>
      </p:sp>
      <p:sp>
        <p:nvSpPr>
          <p:cNvPr id="112" name="dem c0f14"/>
          <p:cNvSpPr txBox="1"/>
          <p:nvPr/>
        </p:nvSpPr>
        <p:spPr>
          <a:xfrm>
            <a:off x="2811480" y="3831336"/>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24,9 → 20,7</a:t>
            </a:r>
          </a:p>
        </p:txBody>
      </p:sp>
      <p:sp>
        <p:nvSpPr>
          <p:cNvPr id="113" name="rend c0f14"/>
          <p:cNvSpPr txBox="1"/>
          <p:nvPr/>
        </p:nvSpPr>
        <p:spPr>
          <a:xfrm>
            <a:off x="3711480" y="3831336"/>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−9</a:t>
            </a:r>
          </a:p>
        </p:txBody>
      </p:sp>
      <p:sp>
        <p:nvSpPr>
          <p:cNvPr id="114" name="nombre c0f15"/>
          <p:cNvSpPr txBox="1"/>
          <p:nvPr/>
        </p:nvSpPr>
        <p:spPr>
          <a:xfrm>
            <a:off x="438912" y="3950208"/>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56</a:t>
            </a:r>
          </a:p>
        </p:txBody>
      </p:sp>
      <p:sp>
        <p:nvSpPr>
          <p:cNvPr id="115" name="barra c0f15"/>
          <p:cNvSpPr/>
          <p:nvPr/>
        </p:nvSpPr>
        <p:spPr>
          <a:xfrm>
            <a:off x="2125911" y="3977640"/>
            <a:ext cx="220568" cy="64008"/>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16" name="pct c0f15"/>
          <p:cNvSpPr txBox="1"/>
          <p:nvPr/>
        </p:nvSpPr>
        <p:spPr>
          <a:xfrm>
            <a:off x="2456208" y="3950208"/>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−16%</a:t>
            </a:r>
          </a:p>
        </p:txBody>
      </p:sp>
      <p:sp>
        <p:nvSpPr>
          <p:cNvPr id="117" name="dem c0f15"/>
          <p:cNvSpPr txBox="1"/>
          <p:nvPr/>
        </p:nvSpPr>
        <p:spPr>
          <a:xfrm>
            <a:off x="2811480" y="3950208"/>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23,7 → 19,9</a:t>
            </a:r>
          </a:p>
        </p:txBody>
      </p:sp>
      <p:sp>
        <p:nvSpPr>
          <p:cNvPr id="118" name="rend c0f15"/>
          <p:cNvSpPr txBox="1"/>
          <p:nvPr/>
        </p:nvSpPr>
        <p:spPr>
          <a:xfrm>
            <a:off x="3711480" y="3950208"/>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−8</a:t>
            </a:r>
          </a:p>
        </p:txBody>
      </p:sp>
      <p:sp>
        <p:nvSpPr>
          <p:cNvPr id="119" name="banda c0f16"/>
          <p:cNvSpPr/>
          <p:nvPr/>
        </p:nvSpPr>
        <p:spPr>
          <a:xfrm>
            <a:off x="411480" y="4069080"/>
            <a:ext cx="4114800" cy="118872"/>
          </a:xfrm>
          <a:prstGeom prst="rect">
            <a:avLst/>
          </a:prstGeom>
          <a:solidFill>
            <a:srgbClr val="FFFFFF"/>
          </a:solidFill>
        </p:spPr>
        <p:txBody>
          <a:bodyPr rtlCol="0" anchor="ctr"/>
          <a:lstStyle/>
          <a:p>
            <a:pPr algn="ctr"/>
            <a:endParaRPr lang="es-CO" noProof="0" dirty="0"/>
          </a:p>
        </p:txBody>
      </p:sp>
      <p:sp>
        <p:nvSpPr>
          <p:cNvPr id="120" name="nombre c0f16"/>
          <p:cNvSpPr txBox="1"/>
          <p:nvPr/>
        </p:nvSpPr>
        <p:spPr>
          <a:xfrm>
            <a:off x="438912" y="4069080"/>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99</a:t>
            </a:r>
          </a:p>
        </p:txBody>
      </p:sp>
      <p:sp>
        <p:nvSpPr>
          <p:cNvPr id="121" name="barra c0f16"/>
          <p:cNvSpPr/>
          <p:nvPr/>
        </p:nvSpPr>
        <p:spPr>
          <a:xfrm>
            <a:off x="2131472" y="4096512"/>
            <a:ext cx="215007" cy="64008"/>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22" name="pct c0f16"/>
          <p:cNvSpPr txBox="1"/>
          <p:nvPr/>
        </p:nvSpPr>
        <p:spPr>
          <a:xfrm>
            <a:off x="2456208" y="4069080"/>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−16%</a:t>
            </a:r>
          </a:p>
        </p:txBody>
      </p:sp>
      <p:sp>
        <p:nvSpPr>
          <p:cNvPr id="123" name="dem c0f16"/>
          <p:cNvSpPr txBox="1"/>
          <p:nvPr/>
        </p:nvSpPr>
        <p:spPr>
          <a:xfrm>
            <a:off x="2811480" y="4069080"/>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17,2 → 14,5</a:t>
            </a:r>
          </a:p>
        </p:txBody>
      </p:sp>
      <p:sp>
        <p:nvSpPr>
          <p:cNvPr id="124" name="rend c0f16"/>
          <p:cNvSpPr txBox="1"/>
          <p:nvPr/>
        </p:nvSpPr>
        <p:spPr>
          <a:xfrm>
            <a:off x="3711480" y="4069080"/>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55636E"/>
                </a:solidFill>
                <a:latin typeface="Calibri"/>
              </a:rPr>
              <a:t>−4</a:t>
            </a:r>
          </a:p>
        </p:txBody>
      </p:sp>
      <p:sp>
        <p:nvSpPr>
          <p:cNvPr id="125" name="nombre c0f17"/>
          <p:cNvSpPr txBox="1"/>
          <p:nvPr/>
        </p:nvSpPr>
        <p:spPr>
          <a:xfrm>
            <a:off x="438912" y="4187952"/>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111</a:t>
            </a:r>
          </a:p>
        </p:txBody>
      </p:sp>
      <p:sp>
        <p:nvSpPr>
          <p:cNvPr id="126" name="barra c0f17"/>
          <p:cNvSpPr/>
          <p:nvPr/>
        </p:nvSpPr>
        <p:spPr>
          <a:xfrm>
            <a:off x="2141398" y="4215384"/>
            <a:ext cx="205081" cy="64008"/>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27" name="pct c0f17"/>
          <p:cNvSpPr txBox="1"/>
          <p:nvPr/>
        </p:nvSpPr>
        <p:spPr>
          <a:xfrm>
            <a:off x="2456208" y="4187952"/>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−15%</a:t>
            </a:r>
          </a:p>
        </p:txBody>
      </p:sp>
      <p:sp>
        <p:nvSpPr>
          <p:cNvPr id="128" name="dem c0f17"/>
          <p:cNvSpPr txBox="1"/>
          <p:nvPr/>
        </p:nvSpPr>
        <p:spPr>
          <a:xfrm>
            <a:off x="2811480" y="4187952"/>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26,5 → 22,5</a:t>
            </a:r>
          </a:p>
        </p:txBody>
      </p:sp>
      <p:sp>
        <p:nvSpPr>
          <p:cNvPr id="129" name="rend c0f17"/>
          <p:cNvSpPr txBox="1"/>
          <p:nvPr/>
        </p:nvSpPr>
        <p:spPr>
          <a:xfrm>
            <a:off x="3711480" y="4187952"/>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−8</a:t>
            </a:r>
          </a:p>
        </p:txBody>
      </p:sp>
      <p:sp>
        <p:nvSpPr>
          <p:cNvPr id="130" name="banda c1f0"/>
          <p:cNvSpPr/>
          <p:nvPr/>
        </p:nvSpPr>
        <p:spPr>
          <a:xfrm>
            <a:off x="4617720" y="2167128"/>
            <a:ext cx="4114800" cy="118872"/>
          </a:xfrm>
          <a:prstGeom prst="rect">
            <a:avLst/>
          </a:prstGeom>
          <a:solidFill>
            <a:srgbClr val="FFFFFF"/>
          </a:solidFill>
        </p:spPr>
        <p:txBody>
          <a:bodyPr rtlCol="0" anchor="ctr"/>
          <a:lstStyle/>
          <a:p>
            <a:pPr algn="ctr"/>
            <a:endParaRPr lang="es-CO" noProof="0" dirty="0"/>
          </a:p>
        </p:txBody>
      </p:sp>
      <p:sp>
        <p:nvSpPr>
          <p:cNvPr id="131" name="nombre c1f0"/>
          <p:cNvSpPr txBox="1"/>
          <p:nvPr/>
        </p:nvSpPr>
        <p:spPr>
          <a:xfrm>
            <a:off x="4645152" y="2167128"/>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63</a:t>
            </a:r>
          </a:p>
        </p:txBody>
      </p:sp>
      <p:sp>
        <p:nvSpPr>
          <p:cNvPr id="132" name="barra c1f0"/>
          <p:cNvSpPr/>
          <p:nvPr/>
        </p:nvSpPr>
        <p:spPr>
          <a:xfrm>
            <a:off x="6360266" y="2194560"/>
            <a:ext cx="192453" cy="64008"/>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33" name="pct c1f0"/>
          <p:cNvSpPr txBox="1"/>
          <p:nvPr/>
        </p:nvSpPr>
        <p:spPr>
          <a:xfrm>
            <a:off x="6662448" y="2167128"/>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−14%</a:t>
            </a:r>
          </a:p>
        </p:txBody>
      </p:sp>
      <p:sp>
        <p:nvSpPr>
          <p:cNvPr id="134" name="dem c1f0"/>
          <p:cNvSpPr txBox="1"/>
          <p:nvPr/>
        </p:nvSpPr>
        <p:spPr>
          <a:xfrm>
            <a:off x="7017720" y="2167128"/>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13,8 → 11,8</a:t>
            </a:r>
          </a:p>
        </p:txBody>
      </p:sp>
      <p:sp>
        <p:nvSpPr>
          <p:cNvPr id="135" name="rend c1f0"/>
          <p:cNvSpPr txBox="1"/>
          <p:nvPr/>
        </p:nvSpPr>
        <p:spPr>
          <a:xfrm>
            <a:off x="7917720" y="2167128"/>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−17</a:t>
            </a:r>
          </a:p>
        </p:txBody>
      </p:sp>
      <p:sp>
        <p:nvSpPr>
          <p:cNvPr id="136" name="nombre c1f1"/>
          <p:cNvSpPr txBox="1"/>
          <p:nvPr/>
        </p:nvSpPr>
        <p:spPr>
          <a:xfrm>
            <a:off x="4645152" y="2286000"/>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42</a:t>
            </a:r>
          </a:p>
        </p:txBody>
      </p:sp>
      <p:sp>
        <p:nvSpPr>
          <p:cNvPr id="137" name="barra c1f1"/>
          <p:cNvSpPr/>
          <p:nvPr/>
        </p:nvSpPr>
        <p:spPr>
          <a:xfrm>
            <a:off x="6368368" y="2313432"/>
            <a:ext cx="184351" cy="64008"/>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38" name="pct c1f1"/>
          <p:cNvSpPr txBox="1"/>
          <p:nvPr/>
        </p:nvSpPr>
        <p:spPr>
          <a:xfrm>
            <a:off x="6662448" y="2286000"/>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−14%</a:t>
            </a:r>
          </a:p>
        </p:txBody>
      </p:sp>
      <p:sp>
        <p:nvSpPr>
          <p:cNvPr id="139" name="dem c1f1"/>
          <p:cNvSpPr txBox="1"/>
          <p:nvPr/>
        </p:nvSpPr>
        <p:spPr>
          <a:xfrm>
            <a:off x="7017720" y="2286000"/>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16,9 → 14,7</a:t>
            </a:r>
          </a:p>
        </p:txBody>
      </p:sp>
      <p:sp>
        <p:nvSpPr>
          <p:cNvPr id="140" name="rend c1f1"/>
          <p:cNvSpPr txBox="1"/>
          <p:nvPr/>
        </p:nvSpPr>
        <p:spPr>
          <a:xfrm>
            <a:off x="7917720" y="2286000"/>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55636E"/>
                </a:solidFill>
                <a:latin typeface="Calibri"/>
              </a:rPr>
              <a:t>−3</a:t>
            </a:r>
          </a:p>
        </p:txBody>
      </p:sp>
      <p:sp>
        <p:nvSpPr>
          <p:cNvPr id="141" name="banda c1f2"/>
          <p:cNvSpPr/>
          <p:nvPr/>
        </p:nvSpPr>
        <p:spPr>
          <a:xfrm>
            <a:off x="4617720" y="2404872"/>
            <a:ext cx="4114800" cy="118872"/>
          </a:xfrm>
          <a:prstGeom prst="rect">
            <a:avLst/>
          </a:prstGeom>
          <a:solidFill>
            <a:srgbClr val="FFFFFF"/>
          </a:solidFill>
        </p:spPr>
        <p:txBody>
          <a:bodyPr rtlCol="0" anchor="ctr"/>
          <a:lstStyle/>
          <a:p>
            <a:pPr algn="ctr"/>
            <a:endParaRPr lang="es-CO" noProof="0" dirty="0"/>
          </a:p>
        </p:txBody>
      </p:sp>
      <p:sp>
        <p:nvSpPr>
          <p:cNvPr id="142" name="nombre c1f2"/>
          <p:cNvSpPr txBox="1"/>
          <p:nvPr/>
        </p:nvSpPr>
        <p:spPr>
          <a:xfrm>
            <a:off x="4645152" y="2404872"/>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70</a:t>
            </a:r>
          </a:p>
        </p:txBody>
      </p:sp>
      <p:sp>
        <p:nvSpPr>
          <p:cNvPr id="143" name="barra c1f2"/>
          <p:cNvSpPr/>
          <p:nvPr/>
        </p:nvSpPr>
        <p:spPr>
          <a:xfrm>
            <a:off x="6378134" y="2432304"/>
            <a:ext cx="174585" cy="64008"/>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44" name="pct c1f2"/>
          <p:cNvSpPr txBox="1"/>
          <p:nvPr/>
        </p:nvSpPr>
        <p:spPr>
          <a:xfrm>
            <a:off x="6662448" y="2404872"/>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−13%</a:t>
            </a:r>
          </a:p>
        </p:txBody>
      </p:sp>
      <p:sp>
        <p:nvSpPr>
          <p:cNvPr id="145" name="dem c1f2"/>
          <p:cNvSpPr txBox="1"/>
          <p:nvPr/>
        </p:nvSpPr>
        <p:spPr>
          <a:xfrm>
            <a:off x="7017720" y="2404872"/>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20,8 → 18,2</a:t>
            </a:r>
          </a:p>
        </p:txBody>
      </p:sp>
      <p:sp>
        <p:nvSpPr>
          <p:cNvPr id="146" name="rend c1f2"/>
          <p:cNvSpPr txBox="1"/>
          <p:nvPr/>
        </p:nvSpPr>
        <p:spPr>
          <a:xfrm>
            <a:off x="7917720" y="2404872"/>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55636E"/>
                </a:solidFill>
                <a:latin typeface="Calibri"/>
              </a:rPr>
              <a:t>0</a:t>
            </a:r>
          </a:p>
        </p:txBody>
      </p:sp>
      <p:sp>
        <p:nvSpPr>
          <p:cNvPr id="147" name="nombre c1f3"/>
          <p:cNvSpPr txBox="1"/>
          <p:nvPr/>
        </p:nvSpPr>
        <p:spPr>
          <a:xfrm>
            <a:off x="4645152" y="2523744"/>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23</a:t>
            </a:r>
          </a:p>
        </p:txBody>
      </p:sp>
      <p:sp>
        <p:nvSpPr>
          <p:cNvPr id="148" name="barra c1f3"/>
          <p:cNvSpPr/>
          <p:nvPr/>
        </p:nvSpPr>
        <p:spPr>
          <a:xfrm>
            <a:off x="6399518" y="2551176"/>
            <a:ext cx="153201" cy="64008"/>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49" name="pct c1f3"/>
          <p:cNvSpPr txBox="1"/>
          <p:nvPr/>
        </p:nvSpPr>
        <p:spPr>
          <a:xfrm>
            <a:off x="6662448" y="2523744"/>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−11%</a:t>
            </a:r>
          </a:p>
        </p:txBody>
      </p:sp>
      <p:sp>
        <p:nvSpPr>
          <p:cNvPr id="150" name="dem c1f3"/>
          <p:cNvSpPr txBox="1"/>
          <p:nvPr/>
        </p:nvSpPr>
        <p:spPr>
          <a:xfrm>
            <a:off x="7017720" y="2523744"/>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37,2 → 33,0</a:t>
            </a:r>
          </a:p>
        </p:txBody>
      </p:sp>
      <p:sp>
        <p:nvSpPr>
          <p:cNvPr id="151" name="rend c1f3"/>
          <p:cNvSpPr txBox="1"/>
          <p:nvPr/>
        </p:nvSpPr>
        <p:spPr>
          <a:xfrm>
            <a:off x="7917720" y="2523744"/>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−7</a:t>
            </a:r>
          </a:p>
        </p:txBody>
      </p:sp>
      <p:sp>
        <p:nvSpPr>
          <p:cNvPr id="152" name="banda c1f4"/>
          <p:cNvSpPr/>
          <p:nvPr/>
        </p:nvSpPr>
        <p:spPr>
          <a:xfrm>
            <a:off x="4617720" y="2642616"/>
            <a:ext cx="4114800" cy="118872"/>
          </a:xfrm>
          <a:prstGeom prst="rect">
            <a:avLst/>
          </a:prstGeom>
          <a:solidFill>
            <a:srgbClr val="FFFFFF"/>
          </a:solidFill>
        </p:spPr>
        <p:txBody>
          <a:bodyPr rtlCol="0" anchor="ctr"/>
          <a:lstStyle/>
          <a:p>
            <a:pPr algn="ctr"/>
            <a:endParaRPr lang="es-CO" noProof="0" dirty="0"/>
          </a:p>
        </p:txBody>
      </p:sp>
      <p:sp>
        <p:nvSpPr>
          <p:cNvPr id="153" name="nombre c1f4"/>
          <p:cNvSpPr txBox="1"/>
          <p:nvPr/>
        </p:nvSpPr>
        <p:spPr>
          <a:xfrm>
            <a:off x="4645152" y="2642616"/>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74</a:t>
            </a:r>
          </a:p>
        </p:txBody>
      </p:sp>
      <p:sp>
        <p:nvSpPr>
          <p:cNvPr id="154" name="barra c1f4"/>
          <p:cNvSpPr/>
          <p:nvPr/>
        </p:nvSpPr>
        <p:spPr>
          <a:xfrm>
            <a:off x="6423842" y="2670048"/>
            <a:ext cx="128877"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155" name="pct c1f4"/>
          <p:cNvSpPr txBox="1"/>
          <p:nvPr/>
        </p:nvSpPr>
        <p:spPr>
          <a:xfrm>
            <a:off x="6662448" y="2642616"/>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−9%</a:t>
            </a:r>
          </a:p>
        </p:txBody>
      </p:sp>
      <p:sp>
        <p:nvSpPr>
          <p:cNvPr id="156" name="dem c1f4"/>
          <p:cNvSpPr txBox="1"/>
          <p:nvPr/>
        </p:nvSpPr>
        <p:spPr>
          <a:xfrm>
            <a:off x="7017720" y="2642616"/>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24,3 → 22,0</a:t>
            </a:r>
          </a:p>
        </p:txBody>
      </p:sp>
      <p:sp>
        <p:nvSpPr>
          <p:cNvPr id="157" name="rend c1f4"/>
          <p:cNvSpPr txBox="1"/>
          <p:nvPr/>
        </p:nvSpPr>
        <p:spPr>
          <a:xfrm>
            <a:off x="7917720" y="2642616"/>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0392B"/>
                </a:solidFill>
                <a:latin typeface="Calibri"/>
              </a:rPr>
              <a:t>−23</a:t>
            </a:r>
          </a:p>
        </p:txBody>
      </p:sp>
      <p:sp>
        <p:nvSpPr>
          <p:cNvPr id="158" name="nombre c1f5"/>
          <p:cNvSpPr txBox="1"/>
          <p:nvPr/>
        </p:nvSpPr>
        <p:spPr>
          <a:xfrm>
            <a:off x="4645152" y="2761488"/>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55p</a:t>
            </a:r>
          </a:p>
        </p:txBody>
      </p:sp>
      <p:sp>
        <p:nvSpPr>
          <p:cNvPr id="159" name="barra c1f5"/>
          <p:cNvSpPr/>
          <p:nvPr/>
        </p:nvSpPr>
        <p:spPr>
          <a:xfrm>
            <a:off x="6424266" y="2788920"/>
            <a:ext cx="128453"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160" name="pct c1f5"/>
          <p:cNvSpPr txBox="1"/>
          <p:nvPr/>
        </p:nvSpPr>
        <p:spPr>
          <a:xfrm>
            <a:off x="6662448" y="2761488"/>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−9%</a:t>
            </a:r>
          </a:p>
        </p:txBody>
      </p:sp>
      <p:sp>
        <p:nvSpPr>
          <p:cNvPr id="161" name="dem c1f5"/>
          <p:cNvSpPr txBox="1"/>
          <p:nvPr/>
        </p:nvSpPr>
        <p:spPr>
          <a:xfrm>
            <a:off x="7017720" y="2761488"/>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13,6 → 12,3</a:t>
            </a:r>
          </a:p>
        </p:txBody>
      </p:sp>
      <p:sp>
        <p:nvSpPr>
          <p:cNvPr id="162" name="rend c1f5"/>
          <p:cNvSpPr txBox="1"/>
          <p:nvPr/>
        </p:nvSpPr>
        <p:spPr>
          <a:xfrm>
            <a:off x="7917720" y="2761488"/>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55636E"/>
                </a:solidFill>
                <a:latin typeface="Calibri"/>
              </a:rPr>
              <a:t>0</a:t>
            </a:r>
          </a:p>
        </p:txBody>
      </p:sp>
      <p:sp>
        <p:nvSpPr>
          <p:cNvPr id="163" name="banda c1f6"/>
          <p:cNvSpPr/>
          <p:nvPr/>
        </p:nvSpPr>
        <p:spPr>
          <a:xfrm>
            <a:off x="4617720" y="2880360"/>
            <a:ext cx="4114800" cy="118872"/>
          </a:xfrm>
          <a:prstGeom prst="rect">
            <a:avLst/>
          </a:prstGeom>
          <a:solidFill>
            <a:srgbClr val="FFFFFF"/>
          </a:solidFill>
        </p:spPr>
        <p:txBody>
          <a:bodyPr rtlCol="0" anchor="ctr"/>
          <a:lstStyle/>
          <a:p>
            <a:pPr algn="ctr"/>
            <a:endParaRPr lang="es-CO" noProof="0" dirty="0"/>
          </a:p>
        </p:txBody>
      </p:sp>
      <p:sp>
        <p:nvSpPr>
          <p:cNvPr id="164" name="nombre c1f6"/>
          <p:cNvSpPr txBox="1"/>
          <p:nvPr/>
        </p:nvSpPr>
        <p:spPr>
          <a:xfrm>
            <a:off x="4645152" y="2880360"/>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2</a:t>
            </a:r>
          </a:p>
        </p:txBody>
      </p:sp>
      <p:sp>
        <p:nvSpPr>
          <p:cNvPr id="165" name="barra c1f6"/>
          <p:cNvSpPr/>
          <p:nvPr/>
        </p:nvSpPr>
        <p:spPr>
          <a:xfrm>
            <a:off x="6428704" y="2907792"/>
            <a:ext cx="124015"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166" name="pct c1f6"/>
          <p:cNvSpPr txBox="1"/>
          <p:nvPr/>
        </p:nvSpPr>
        <p:spPr>
          <a:xfrm>
            <a:off x="6662448" y="2880360"/>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−9%</a:t>
            </a:r>
          </a:p>
        </p:txBody>
      </p:sp>
      <p:sp>
        <p:nvSpPr>
          <p:cNvPr id="167" name="dem c1f6"/>
          <p:cNvSpPr txBox="1"/>
          <p:nvPr/>
        </p:nvSpPr>
        <p:spPr>
          <a:xfrm>
            <a:off x="7017720" y="2880360"/>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27,4 → 25,0</a:t>
            </a:r>
          </a:p>
        </p:txBody>
      </p:sp>
      <p:sp>
        <p:nvSpPr>
          <p:cNvPr id="168" name="rend c1f6"/>
          <p:cNvSpPr txBox="1"/>
          <p:nvPr/>
        </p:nvSpPr>
        <p:spPr>
          <a:xfrm>
            <a:off x="7917720" y="2880360"/>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55636E"/>
                </a:solidFill>
                <a:latin typeface="Calibri"/>
              </a:rPr>
              <a:t>−2</a:t>
            </a:r>
          </a:p>
        </p:txBody>
      </p:sp>
      <p:sp>
        <p:nvSpPr>
          <p:cNvPr id="169" name="nombre c1f7"/>
          <p:cNvSpPr txBox="1"/>
          <p:nvPr/>
        </p:nvSpPr>
        <p:spPr>
          <a:xfrm>
            <a:off x="4645152" y="2999232"/>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24</a:t>
            </a:r>
          </a:p>
        </p:txBody>
      </p:sp>
      <p:sp>
        <p:nvSpPr>
          <p:cNvPr id="170" name="barra c1f7"/>
          <p:cNvSpPr/>
          <p:nvPr/>
        </p:nvSpPr>
        <p:spPr>
          <a:xfrm>
            <a:off x="6439100" y="3026664"/>
            <a:ext cx="113619"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171" name="pct c1f7"/>
          <p:cNvSpPr txBox="1"/>
          <p:nvPr/>
        </p:nvSpPr>
        <p:spPr>
          <a:xfrm>
            <a:off x="6662448" y="2999232"/>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−8%</a:t>
            </a:r>
          </a:p>
        </p:txBody>
      </p:sp>
      <p:sp>
        <p:nvSpPr>
          <p:cNvPr id="172" name="dem c1f7"/>
          <p:cNvSpPr txBox="1"/>
          <p:nvPr/>
        </p:nvSpPr>
        <p:spPr>
          <a:xfrm>
            <a:off x="7017720" y="2999232"/>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56,7 → 52,0</a:t>
            </a:r>
          </a:p>
        </p:txBody>
      </p:sp>
      <p:sp>
        <p:nvSpPr>
          <p:cNvPr id="173" name="rend c1f7"/>
          <p:cNvSpPr txBox="1"/>
          <p:nvPr/>
        </p:nvSpPr>
        <p:spPr>
          <a:xfrm>
            <a:off x="7917720" y="2999232"/>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−12</a:t>
            </a:r>
          </a:p>
        </p:txBody>
      </p:sp>
      <p:sp>
        <p:nvSpPr>
          <p:cNvPr id="174" name="banda c1f8"/>
          <p:cNvSpPr/>
          <p:nvPr/>
        </p:nvSpPr>
        <p:spPr>
          <a:xfrm>
            <a:off x="4617720" y="3118104"/>
            <a:ext cx="4114800" cy="118872"/>
          </a:xfrm>
          <a:prstGeom prst="rect">
            <a:avLst/>
          </a:prstGeom>
          <a:solidFill>
            <a:srgbClr val="FFFFFF"/>
          </a:solidFill>
        </p:spPr>
        <p:txBody>
          <a:bodyPr rtlCol="0" anchor="ctr"/>
          <a:lstStyle/>
          <a:p>
            <a:pPr algn="ctr"/>
            <a:endParaRPr lang="es-CO" noProof="0" dirty="0"/>
          </a:p>
        </p:txBody>
      </p:sp>
      <p:sp>
        <p:nvSpPr>
          <p:cNvPr id="175" name="nombre c1f8"/>
          <p:cNvSpPr txBox="1"/>
          <p:nvPr/>
        </p:nvSpPr>
        <p:spPr>
          <a:xfrm>
            <a:off x="4645152" y="3118104"/>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382p</a:t>
            </a:r>
          </a:p>
        </p:txBody>
      </p:sp>
      <p:sp>
        <p:nvSpPr>
          <p:cNvPr id="176" name="barra c1f8"/>
          <p:cNvSpPr/>
          <p:nvPr/>
        </p:nvSpPr>
        <p:spPr>
          <a:xfrm>
            <a:off x="6480921" y="3145536"/>
            <a:ext cx="71798"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177" name="pct c1f8"/>
          <p:cNvSpPr txBox="1"/>
          <p:nvPr/>
        </p:nvSpPr>
        <p:spPr>
          <a:xfrm>
            <a:off x="6662448" y="3118104"/>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−5%</a:t>
            </a:r>
          </a:p>
        </p:txBody>
      </p:sp>
      <p:sp>
        <p:nvSpPr>
          <p:cNvPr id="178" name="dem c1f8"/>
          <p:cNvSpPr txBox="1"/>
          <p:nvPr/>
        </p:nvSpPr>
        <p:spPr>
          <a:xfrm>
            <a:off x="7017720" y="3118104"/>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22,1 → 21,0</a:t>
            </a:r>
          </a:p>
        </p:txBody>
      </p:sp>
      <p:sp>
        <p:nvSpPr>
          <p:cNvPr id="179" name="rend c1f8"/>
          <p:cNvSpPr txBox="1"/>
          <p:nvPr/>
        </p:nvSpPr>
        <p:spPr>
          <a:xfrm>
            <a:off x="7917720" y="3118104"/>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55636E"/>
                </a:solidFill>
                <a:latin typeface="Calibri"/>
              </a:rPr>
              <a:t>−5</a:t>
            </a:r>
          </a:p>
        </p:txBody>
      </p:sp>
      <p:sp>
        <p:nvSpPr>
          <p:cNvPr id="180" name="nombre c1f9"/>
          <p:cNvSpPr txBox="1"/>
          <p:nvPr/>
        </p:nvSpPr>
        <p:spPr>
          <a:xfrm>
            <a:off x="4645152" y="3236976"/>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93p</a:t>
            </a:r>
          </a:p>
        </p:txBody>
      </p:sp>
      <p:sp>
        <p:nvSpPr>
          <p:cNvPr id="181" name="barra c1f9"/>
          <p:cNvSpPr/>
          <p:nvPr/>
        </p:nvSpPr>
        <p:spPr>
          <a:xfrm>
            <a:off x="6488356" y="3264408"/>
            <a:ext cx="64363"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182" name="pct c1f9"/>
          <p:cNvSpPr txBox="1"/>
          <p:nvPr/>
        </p:nvSpPr>
        <p:spPr>
          <a:xfrm>
            <a:off x="6662448" y="3236976"/>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−5%</a:t>
            </a:r>
          </a:p>
        </p:txBody>
      </p:sp>
      <p:sp>
        <p:nvSpPr>
          <p:cNvPr id="183" name="dem c1f9"/>
          <p:cNvSpPr txBox="1"/>
          <p:nvPr/>
        </p:nvSpPr>
        <p:spPr>
          <a:xfrm>
            <a:off x="7017720" y="3236976"/>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27,7 → 26,4</a:t>
            </a:r>
          </a:p>
        </p:txBody>
      </p:sp>
      <p:sp>
        <p:nvSpPr>
          <p:cNvPr id="184" name="rend c1f9"/>
          <p:cNvSpPr txBox="1"/>
          <p:nvPr/>
        </p:nvSpPr>
        <p:spPr>
          <a:xfrm>
            <a:off x="7917720" y="3236976"/>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−13</a:t>
            </a:r>
          </a:p>
        </p:txBody>
      </p:sp>
      <p:sp>
        <p:nvSpPr>
          <p:cNvPr id="185" name="banda c1f10"/>
          <p:cNvSpPr/>
          <p:nvPr/>
        </p:nvSpPr>
        <p:spPr>
          <a:xfrm>
            <a:off x="4617720" y="3355848"/>
            <a:ext cx="4114800" cy="118872"/>
          </a:xfrm>
          <a:prstGeom prst="rect">
            <a:avLst/>
          </a:prstGeom>
          <a:solidFill>
            <a:srgbClr val="FFFFFF"/>
          </a:solidFill>
        </p:spPr>
        <p:txBody>
          <a:bodyPr rtlCol="0" anchor="ctr"/>
          <a:lstStyle/>
          <a:p>
            <a:pPr algn="ctr"/>
            <a:endParaRPr lang="es-CO" noProof="0" dirty="0"/>
          </a:p>
        </p:txBody>
      </p:sp>
      <p:sp>
        <p:nvSpPr>
          <p:cNvPr id="186" name="nombre c1f10"/>
          <p:cNvSpPr txBox="1"/>
          <p:nvPr/>
        </p:nvSpPr>
        <p:spPr>
          <a:xfrm>
            <a:off x="4645152" y="3355848"/>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287</a:t>
            </a:r>
          </a:p>
        </p:txBody>
      </p:sp>
      <p:sp>
        <p:nvSpPr>
          <p:cNvPr id="187" name="barra c1f10"/>
          <p:cNvSpPr/>
          <p:nvPr/>
        </p:nvSpPr>
        <p:spPr>
          <a:xfrm>
            <a:off x="6525956" y="3383280"/>
            <a:ext cx="26763"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188" name="pct c1f10"/>
          <p:cNvSpPr txBox="1"/>
          <p:nvPr/>
        </p:nvSpPr>
        <p:spPr>
          <a:xfrm>
            <a:off x="6662448" y="3355848"/>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−2%</a:t>
            </a:r>
          </a:p>
        </p:txBody>
      </p:sp>
      <p:sp>
        <p:nvSpPr>
          <p:cNvPr id="189" name="dem c1f10"/>
          <p:cNvSpPr txBox="1"/>
          <p:nvPr/>
        </p:nvSpPr>
        <p:spPr>
          <a:xfrm>
            <a:off x="7017720" y="3355848"/>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10,9 → 10,7</a:t>
            </a:r>
          </a:p>
        </p:txBody>
      </p:sp>
      <p:sp>
        <p:nvSpPr>
          <p:cNvPr id="190" name="rend c1f10"/>
          <p:cNvSpPr txBox="1"/>
          <p:nvPr/>
        </p:nvSpPr>
        <p:spPr>
          <a:xfrm>
            <a:off x="7917720" y="3355848"/>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−10</a:t>
            </a:r>
          </a:p>
        </p:txBody>
      </p:sp>
      <p:sp>
        <p:nvSpPr>
          <p:cNvPr id="191" name="nombre c1f11"/>
          <p:cNvSpPr txBox="1"/>
          <p:nvPr/>
        </p:nvSpPr>
        <p:spPr>
          <a:xfrm>
            <a:off x="4645152" y="3474720"/>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18PR</a:t>
            </a:r>
          </a:p>
        </p:txBody>
      </p:sp>
      <p:sp>
        <p:nvSpPr>
          <p:cNvPr id="192" name="barra c1f11"/>
          <p:cNvSpPr/>
          <p:nvPr/>
        </p:nvSpPr>
        <p:spPr>
          <a:xfrm>
            <a:off x="6533910" y="3502152"/>
            <a:ext cx="18809"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193" name="pct c1f11"/>
          <p:cNvSpPr txBox="1"/>
          <p:nvPr/>
        </p:nvSpPr>
        <p:spPr>
          <a:xfrm>
            <a:off x="6662448" y="3474720"/>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−1%</a:t>
            </a:r>
          </a:p>
        </p:txBody>
      </p:sp>
      <p:sp>
        <p:nvSpPr>
          <p:cNvPr id="194" name="dem c1f11"/>
          <p:cNvSpPr txBox="1"/>
          <p:nvPr/>
        </p:nvSpPr>
        <p:spPr>
          <a:xfrm>
            <a:off x="7017720" y="3474720"/>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18,4 → 18,1</a:t>
            </a:r>
          </a:p>
        </p:txBody>
      </p:sp>
      <p:sp>
        <p:nvSpPr>
          <p:cNvPr id="195" name="rend c1f11"/>
          <p:cNvSpPr txBox="1"/>
          <p:nvPr/>
        </p:nvSpPr>
        <p:spPr>
          <a:xfrm>
            <a:off x="7917720" y="3474720"/>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−10</a:t>
            </a:r>
          </a:p>
        </p:txBody>
      </p:sp>
      <p:sp>
        <p:nvSpPr>
          <p:cNvPr id="196" name="banda c1f12"/>
          <p:cNvSpPr/>
          <p:nvPr/>
        </p:nvSpPr>
        <p:spPr>
          <a:xfrm>
            <a:off x="4617720" y="3593592"/>
            <a:ext cx="4114800" cy="118872"/>
          </a:xfrm>
          <a:prstGeom prst="rect">
            <a:avLst/>
          </a:prstGeom>
          <a:solidFill>
            <a:srgbClr val="FFFFFF"/>
          </a:solidFill>
        </p:spPr>
        <p:txBody>
          <a:bodyPr rtlCol="0" anchor="ctr"/>
          <a:lstStyle/>
          <a:p>
            <a:pPr algn="ctr"/>
            <a:endParaRPr lang="es-CO" noProof="0" dirty="0"/>
          </a:p>
        </p:txBody>
      </p:sp>
      <p:sp>
        <p:nvSpPr>
          <p:cNvPr id="197" name="nombre c1f12"/>
          <p:cNvSpPr txBox="1"/>
          <p:nvPr/>
        </p:nvSpPr>
        <p:spPr>
          <a:xfrm>
            <a:off x="4645152" y="3593592"/>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155</a:t>
            </a:r>
          </a:p>
        </p:txBody>
      </p:sp>
      <p:sp>
        <p:nvSpPr>
          <p:cNvPr id="198" name="barra c1f12"/>
          <p:cNvSpPr/>
          <p:nvPr/>
        </p:nvSpPr>
        <p:spPr>
          <a:xfrm>
            <a:off x="6552720" y="3621024"/>
            <a:ext cx="61802"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199" name="pct c1f12"/>
          <p:cNvSpPr txBox="1"/>
          <p:nvPr/>
        </p:nvSpPr>
        <p:spPr>
          <a:xfrm>
            <a:off x="6660242" y="3593592"/>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+5%</a:t>
            </a:r>
          </a:p>
        </p:txBody>
      </p:sp>
      <p:sp>
        <p:nvSpPr>
          <p:cNvPr id="200" name="dem c1f12"/>
          <p:cNvSpPr txBox="1"/>
          <p:nvPr/>
        </p:nvSpPr>
        <p:spPr>
          <a:xfrm>
            <a:off x="7017720" y="3593592"/>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22,9 → 23,9</a:t>
            </a:r>
          </a:p>
        </p:txBody>
      </p:sp>
      <p:sp>
        <p:nvSpPr>
          <p:cNvPr id="201" name="rend c1f12"/>
          <p:cNvSpPr txBox="1"/>
          <p:nvPr/>
        </p:nvSpPr>
        <p:spPr>
          <a:xfrm>
            <a:off x="7917720" y="3593592"/>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55636E"/>
                </a:solidFill>
                <a:latin typeface="Calibri"/>
              </a:rPr>
              <a:t>+4</a:t>
            </a:r>
          </a:p>
        </p:txBody>
      </p:sp>
      <p:sp>
        <p:nvSpPr>
          <p:cNvPr id="202" name="nombre c1f13"/>
          <p:cNvSpPr txBox="1"/>
          <p:nvPr/>
        </p:nvSpPr>
        <p:spPr>
          <a:xfrm>
            <a:off x="4645152" y="3712464"/>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446p</a:t>
            </a:r>
          </a:p>
        </p:txBody>
      </p:sp>
      <p:sp>
        <p:nvSpPr>
          <p:cNvPr id="203" name="barra c1f13"/>
          <p:cNvSpPr/>
          <p:nvPr/>
        </p:nvSpPr>
        <p:spPr>
          <a:xfrm>
            <a:off x="6552720" y="3739896"/>
            <a:ext cx="65996"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04" name="pct c1f13"/>
          <p:cNvSpPr txBox="1"/>
          <p:nvPr/>
        </p:nvSpPr>
        <p:spPr>
          <a:xfrm>
            <a:off x="6664436" y="3712464"/>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+5%</a:t>
            </a:r>
          </a:p>
        </p:txBody>
      </p:sp>
      <p:sp>
        <p:nvSpPr>
          <p:cNvPr id="205" name="dem c1f13"/>
          <p:cNvSpPr txBox="1"/>
          <p:nvPr/>
        </p:nvSpPr>
        <p:spPr>
          <a:xfrm>
            <a:off x="7017720" y="3712464"/>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15,8 → 16,6</a:t>
            </a:r>
          </a:p>
        </p:txBody>
      </p:sp>
      <p:sp>
        <p:nvSpPr>
          <p:cNvPr id="206" name="rend c1f13"/>
          <p:cNvSpPr txBox="1"/>
          <p:nvPr/>
        </p:nvSpPr>
        <p:spPr>
          <a:xfrm>
            <a:off x="7917720" y="3712464"/>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55636E"/>
                </a:solidFill>
                <a:latin typeface="Calibri"/>
              </a:rPr>
              <a:t>−3</a:t>
            </a:r>
          </a:p>
        </p:txBody>
      </p:sp>
      <p:sp>
        <p:nvSpPr>
          <p:cNvPr id="207" name="banda c1f14"/>
          <p:cNvSpPr/>
          <p:nvPr/>
        </p:nvSpPr>
        <p:spPr>
          <a:xfrm>
            <a:off x="4617720" y="3831336"/>
            <a:ext cx="4114800" cy="118872"/>
          </a:xfrm>
          <a:prstGeom prst="rect">
            <a:avLst/>
          </a:prstGeom>
          <a:solidFill>
            <a:srgbClr val="FFFFFF"/>
          </a:solidFill>
        </p:spPr>
        <p:txBody>
          <a:bodyPr rtlCol="0" anchor="ctr"/>
          <a:lstStyle/>
          <a:p>
            <a:pPr algn="ctr"/>
            <a:endParaRPr lang="es-CO" noProof="0" dirty="0"/>
          </a:p>
        </p:txBody>
      </p:sp>
      <p:sp>
        <p:nvSpPr>
          <p:cNvPr id="208" name="nombre c1f14"/>
          <p:cNvSpPr txBox="1"/>
          <p:nvPr/>
        </p:nvSpPr>
        <p:spPr>
          <a:xfrm>
            <a:off x="4645152" y="3831336"/>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102p</a:t>
            </a:r>
          </a:p>
        </p:txBody>
      </p:sp>
      <p:sp>
        <p:nvSpPr>
          <p:cNvPr id="209" name="barra c1f14"/>
          <p:cNvSpPr/>
          <p:nvPr/>
        </p:nvSpPr>
        <p:spPr>
          <a:xfrm>
            <a:off x="6552720" y="3858768"/>
            <a:ext cx="74183"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10" name="pct c1f14"/>
          <p:cNvSpPr txBox="1"/>
          <p:nvPr/>
        </p:nvSpPr>
        <p:spPr>
          <a:xfrm>
            <a:off x="6672623" y="3831336"/>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+5%</a:t>
            </a:r>
          </a:p>
        </p:txBody>
      </p:sp>
      <p:sp>
        <p:nvSpPr>
          <p:cNvPr id="211" name="dem c1f14"/>
          <p:cNvSpPr txBox="1"/>
          <p:nvPr/>
        </p:nvSpPr>
        <p:spPr>
          <a:xfrm>
            <a:off x="7017720" y="3831336"/>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14,1 → 14,9</a:t>
            </a:r>
          </a:p>
        </p:txBody>
      </p:sp>
      <p:sp>
        <p:nvSpPr>
          <p:cNvPr id="212" name="rend c1f14"/>
          <p:cNvSpPr txBox="1"/>
          <p:nvPr/>
        </p:nvSpPr>
        <p:spPr>
          <a:xfrm>
            <a:off x="7917720" y="3831336"/>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−11</a:t>
            </a:r>
          </a:p>
        </p:txBody>
      </p:sp>
      <p:sp>
        <p:nvSpPr>
          <p:cNvPr id="213" name="nombre c1f15"/>
          <p:cNvSpPr txBox="1"/>
          <p:nvPr/>
        </p:nvSpPr>
        <p:spPr>
          <a:xfrm>
            <a:off x="4645152" y="3950208"/>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18Ap</a:t>
            </a:r>
          </a:p>
        </p:txBody>
      </p:sp>
      <p:sp>
        <p:nvSpPr>
          <p:cNvPr id="214" name="barra c1f15"/>
          <p:cNvSpPr/>
          <p:nvPr/>
        </p:nvSpPr>
        <p:spPr>
          <a:xfrm>
            <a:off x="6552720" y="3977640"/>
            <a:ext cx="109871"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15" name="pct c1f15"/>
          <p:cNvSpPr txBox="1"/>
          <p:nvPr/>
        </p:nvSpPr>
        <p:spPr>
          <a:xfrm>
            <a:off x="6708311" y="3950208"/>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+8%</a:t>
            </a:r>
          </a:p>
        </p:txBody>
      </p:sp>
      <p:sp>
        <p:nvSpPr>
          <p:cNvPr id="216" name="dem c1f15"/>
          <p:cNvSpPr txBox="1"/>
          <p:nvPr/>
        </p:nvSpPr>
        <p:spPr>
          <a:xfrm>
            <a:off x="7017720" y="3950208"/>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20,9 → 22,6</a:t>
            </a:r>
          </a:p>
        </p:txBody>
      </p:sp>
      <p:sp>
        <p:nvSpPr>
          <p:cNvPr id="217" name="rend c1f15"/>
          <p:cNvSpPr txBox="1"/>
          <p:nvPr/>
        </p:nvSpPr>
        <p:spPr>
          <a:xfrm>
            <a:off x="7917720" y="3950208"/>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−14</a:t>
            </a:r>
          </a:p>
        </p:txBody>
      </p:sp>
      <p:sp>
        <p:nvSpPr>
          <p:cNvPr id="218" name="banda c1f16"/>
          <p:cNvSpPr/>
          <p:nvPr/>
        </p:nvSpPr>
        <p:spPr>
          <a:xfrm>
            <a:off x="4617720" y="4069080"/>
            <a:ext cx="4114800" cy="118872"/>
          </a:xfrm>
          <a:prstGeom prst="rect">
            <a:avLst/>
          </a:prstGeom>
          <a:solidFill>
            <a:srgbClr val="FFFFFF"/>
          </a:solidFill>
        </p:spPr>
        <p:txBody>
          <a:bodyPr rtlCol="0" anchor="ctr"/>
          <a:lstStyle/>
          <a:p>
            <a:pPr algn="ctr"/>
            <a:endParaRPr lang="es-CO" noProof="0" dirty="0"/>
          </a:p>
        </p:txBody>
      </p:sp>
      <p:sp>
        <p:nvSpPr>
          <p:cNvPr id="219" name="nombre c1f16"/>
          <p:cNvSpPr txBox="1"/>
          <p:nvPr/>
        </p:nvSpPr>
        <p:spPr>
          <a:xfrm>
            <a:off x="4645152" y="4069080"/>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23p</a:t>
            </a:r>
          </a:p>
        </p:txBody>
      </p:sp>
      <p:sp>
        <p:nvSpPr>
          <p:cNvPr id="220" name="barra c1f16"/>
          <p:cNvSpPr/>
          <p:nvPr/>
        </p:nvSpPr>
        <p:spPr>
          <a:xfrm>
            <a:off x="6552720" y="4096512"/>
            <a:ext cx="117183"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21" name="pct c1f16"/>
          <p:cNvSpPr txBox="1"/>
          <p:nvPr/>
        </p:nvSpPr>
        <p:spPr>
          <a:xfrm>
            <a:off x="6715623" y="4069080"/>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+9%</a:t>
            </a:r>
          </a:p>
        </p:txBody>
      </p:sp>
      <p:sp>
        <p:nvSpPr>
          <p:cNvPr id="222" name="dem c1f16"/>
          <p:cNvSpPr txBox="1"/>
          <p:nvPr/>
        </p:nvSpPr>
        <p:spPr>
          <a:xfrm>
            <a:off x="7017720" y="4069080"/>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12,8 → 13,9</a:t>
            </a:r>
          </a:p>
        </p:txBody>
      </p:sp>
      <p:sp>
        <p:nvSpPr>
          <p:cNvPr id="223" name="rend c1f16"/>
          <p:cNvSpPr txBox="1"/>
          <p:nvPr/>
        </p:nvSpPr>
        <p:spPr>
          <a:xfrm>
            <a:off x="7917720" y="4069080"/>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+11</a:t>
            </a:r>
          </a:p>
        </p:txBody>
      </p:sp>
      <p:sp>
        <p:nvSpPr>
          <p:cNvPr id="224" name="eje cero"/>
          <p:cNvSpPr/>
          <p:nvPr/>
        </p:nvSpPr>
        <p:spPr>
          <a:xfrm>
            <a:off x="2341908" y="2148840"/>
            <a:ext cx="9144" cy="2157984"/>
          </a:xfrm>
          <a:prstGeom prst="rect">
            <a:avLst/>
          </a:prstGeom>
          <a:solidFill>
            <a:srgbClr val="7F8C8D"/>
          </a:solidFill>
          <a:ln w="6350">
            <a:solidFill>
              <a:srgbClr val="7F8C8D"/>
            </a:solidFill>
          </a:ln>
        </p:spPr>
        <p:txBody>
          <a:bodyPr rtlCol="0" anchor="ctr"/>
          <a:lstStyle/>
          <a:p>
            <a:pPr algn="ctr"/>
            <a:endParaRPr lang="es-CO" noProof="0" dirty="0"/>
          </a:p>
        </p:txBody>
      </p:sp>
      <p:sp>
        <p:nvSpPr>
          <p:cNvPr id="225" name="eje cero"/>
          <p:cNvSpPr/>
          <p:nvPr/>
        </p:nvSpPr>
        <p:spPr>
          <a:xfrm>
            <a:off x="6548148" y="2148840"/>
            <a:ext cx="9144" cy="2039112"/>
          </a:xfrm>
          <a:prstGeom prst="rect">
            <a:avLst/>
          </a:prstGeom>
          <a:solidFill>
            <a:srgbClr val="7F8C8D"/>
          </a:solidFill>
          <a:ln w="6350">
            <a:solidFill>
              <a:srgbClr val="7F8C8D"/>
            </a:solidFill>
          </a:ln>
        </p:spPr>
        <p:txBody>
          <a:bodyPr rtlCol="0" anchor="ctr"/>
          <a:lstStyle/>
          <a:p>
            <a:pPr algn="ctr"/>
            <a:endParaRPr lang="es-CO" noProof="0" dirty="0"/>
          </a:p>
        </p:txBody>
      </p:sp>
      <p:sp>
        <p:nvSpPr>
          <p:cNvPr id="226" name="TextBox 225"/>
          <p:cNvSpPr txBox="1"/>
          <p:nvPr/>
        </p:nvSpPr>
        <p:spPr>
          <a:xfrm>
            <a:off x="411480" y="4617720"/>
            <a:ext cx="8321040" cy="237744"/>
          </a:xfrm>
          <a:prstGeom prst="rect">
            <a:avLst/>
          </a:prstGeom>
          <a:noFill/>
        </p:spPr>
        <p:txBody>
          <a:bodyPr wrap="square" lIns="0" tIns="0" rIns="0" bIns="0" anchor="ctr">
            <a:spAutoFit/>
          </a:bodyPr>
          <a:lstStyle/>
          <a:p>
            <a:pPr algn="l">
              <a:spcAft>
                <a:spcPts val="0"/>
              </a:spcAft>
            </a:pPr>
            <a:r>
              <a:rPr lang="es-CO" sz="750" b="0" i="1" noProof="0" dirty="0">
                <a:solidFill>
                  <a:srgbClr val="55636E"/>
                </a:solidFill>
                <a:latin typeface="Calibri"/>
              </a:rPr>
              <a:t>Cambio = demanda de octubre (kWh/día) frente al promedio de los promedios mensuales de jul–sep, días válidos de BD1. Rojo ≤ −30% · naranja −30 a −10% · azul ±10%. Variación mensual = coeficiente de variación de los cuatro promedios mensuales. 🧳 posible ausencia · † medición por validar (diapositiva 12). Excluye 13 casas sin 10 días válidos en cada mes.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4061</TotalTime>
  <Words>8381</Words>
  <Application>Microsoft Office PowerPoint</Application>
  <PresentationFormat>Presentación en pantalla (16:9)</PresentationFormat>
  <Paragraphs>1435</Paragraphs>
  <Slides>15</Slides>
  <Notes>15</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15</vt:i4>
      </vt:variant>
    </vt:vector>
  </HeadingPairs>
  <TitlesOfParts>
    <vt:vector size="18"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Sunny · Reporte ejecutivo de operación y mantenimiento · Octubre 2026 (01 al 20)</dc:title>
  <dc:subject/>
  <dc:creator>Oswaldo Orozco Salas</dc:creator>
  <cp:keywords/>
  <dc:description>generated using python-pptx</dc:description>
  <cp:lastModifiedBy>Oswaldo  Orozco Salas</cp:lastModifiedBy>
  <cp:revision>2</cp:revision>
  <dcterms:created xsi:type="dcterms:W3CDTF">2013-01-27T09:14:16Z</dcterms:created>
  <dcterms:modified xsi:type="dcterms:W3CDTF">2026-10-26T14:50:44Z</dcterms:modified>
  <cp:category/>
</cp:coreProperties>
</file>